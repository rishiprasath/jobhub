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5144d2f6134ad9" /><Relationship Type="http://schemas.openxmlformats.org/officeDocument/2006/relationships/extended-properties" Target="/docProps/app.xml" Id="R6344b516df16404f" /><Relationship Type="http://schemas.openxmlformats.org/officeDocument/2006/relationships/officeDocument" Target="/ppt/presentation.xml" Id="R1e0ba4ab4c4846d0" /></Relationships>
</file>

<file path=ppt/presentation.xml><?xml version="1.0" encoding="utf-8"?>
<p:presentation xmlns:p="http://schemas.openxmlformats.org/presentationml/2006/main">
  <p:sldMasterIdLst>
    <p:sldMasterId xmlns:r="http://schemas.openxmlformats.org/officeDocument/2006/relationships" id="2147483648" r:id="R7707a9a9e08348a1"/>
  </p:sldMasterIdLst>
  <p:notesMasterIdLst>
    <p:notesMasterId xmlns:r="http://schemas.openxmlformats.org/officeDocument/2006/relationships" r:id="R2582c1959b1a4755"/>
  </p:notesMasterIdLst>
  <p:sldIdLst>
    <p:sldId xmlns:r="http://schemas.openxmlformats.org/officeDocument/2006/relationships" id="256" r:id="R3ccdde2039c34072"/>
    <p:sldId xmlns:r="http://schemas.openxmlformats.org/officeDocument/2006/relationships" id="257" r:id="Raf1f45c3eae04e63"/>
    <p:sldId xmlns:r="http://schemas.openxmlformats.org/officeDocument/2006/relationships" id="258" r:id="R6a90eb65d27b47fe"/>
    <p:sldId xmlns:r="http://schemas.openxmlformats.org/officeDocument/2006/relationships" id="259" r:id="R2aafa8d06b2f4c37"/>
    <p:sldId xmlns:r="http://schemas.openxmlformats.org/officeDocument/2006/relationships" id="260" r:id="Red48dd98a54f4868"/>
    <p:sldId xmlns:r="http://schemas.openxmlformats.org/officeDocument/2006/relationships" id="261" r:id="R7e639ee8b44f4250"/>
    <p:sldId xmlns:r="http://schemas.openxmlformats.org/officeDocument/2006/relationships" id="262" r:id="R166e9dd022a34a3e"/>
    <p:sldId xmlns:r="http://schemas.openxmlformats.org/officeDocument/2006/relationships" id="263" r:id="R36b22a2d47274e2b"/>
    <p:sldId xmlns:r="http://schemas.openxmlformats.org/officeDocument/2006/relationships" id="264" r:id="Rb6714e24e8674fd8"/>
    <p:sldId xmlns:r="http://schemas.openxmlformats.org/officeDocument/2006/relationships" id="265" r:id="R3e7d5cc702a8405b"/>
    <p:sldId xmlns:r="http://schemas.openxmlformats.org/officeDocument/2006/relationships" id="266" r:id="Ra0e0a88216c34ac6"/>
    <p:sldId xmlns:r="http://schemas.openxmlformats.org/officeDocument/2006/relationships" id="267" r:id="R489b98b089e14c75"/>
    <p:sldId xmlns:r="http://schemas.openxmlformats.org/officeDocument/2006/relationships" id="268" r:id="Rd4dad3cde5cb4a20"/>
    <p:sldId xmlns:r="http://schemas.openxmlformats.org/officeDocument/2006/relationships" id="269" r:id="Red11bc4d528c400b"/>
    <p:sldId xmlns:r="http://schemas.openxmlformats.org/officeDocument/2006/relationships" id="270" r:id="R42c513982bb145a1"/>
    <p:sldId xmlns:r="http://schemas.openxmlformats.org/officeDocument/2006/relationships" id="271" r:id="R92ec6fefe851476e"/>
    <p:sldId xmlns:r="http://schemas.openxmlformats.org/officeDocument/2006/relationships" id="272" r:id="Rf5373f28799543ab"/>
    <p:sldId xmlns:r="http://schemas.openxmlformats.org/officeDocument/2006/relationships" id="273" r:id="R09fd691c3e164b35"/>
    <p:sldId xmlns:r="http://schemas.openxmlformats.org/officeDocument/2006/relationships" id="274" r:id="Ra11dcb14d4664f92"/>
    <p:sldId xmlns:r="http://schemas.openxmlformats.org/officeDocument/2006/relationships" id="275" r:id="Rf1e70ca52c03410c"/>
    <p:sldId xmlns:r="http://schemas.openxmlformats.org/officeDocument/2006/relationships" id="276" r:id="Rb489f6decf5647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2387657b8d4a01" /><Relationship Type="http://schemas.openxmlformats.org/officeDocument/2006/relationships/slideMaster" Target="/ppt/slideMasters/slideMaster1.xml" Id="R7707a9a9e08348a1" /><Relationship Type="http://schemas.openxmlformats.org/officeDocument/2006/relationships/notesMaster" Target="/ppt/notesMasters/notesMaster1.xml" Id="R2582c1959b1a4755" /><Relationship Type="http://schemas.openxmlformats.org/officeDocument/2006/relationships/presProps" Target="/ppt/presProps.xml" Id="R76e85ee070964721" /><Relationship Type="http://schemas.openxmlformats.org/officeDocument/2006/relationships/tableStyles" Target="/ppt/tableStyles.xml" Id="R2673cb2ac25e4bf2" /><Relationship Type="http://schemas.openxmlformats.org/officeDocument/2006/relationships/slide" Target="/ppt/slides/slide1.xml" Id="R3ccdde2039c34072" /><Relationship Type="http://schemas.openxmlformats.org/officeDocument/2006/relationships/slide" Target="/ppt/slides/slide2.xml" Id="Raf1f45c3eae04e63" /><Relationship Type="http://schemas.openxmlformats.org/officeDocument/2006/relationships/slide" Target="/ppt/slides/slide3.xml" Id="R6a90eb65d27b47fe" /><Relationship Type="http://schemas.openxmlformats.org/officeDocument/2006/relationships/slide" Target="/ppt/slides/slide4.xml" Id="R2aafa8d06b2f4c37" /><Relationship Type="http://schemas.openxmlformats.org/officeDocument/2006/relationships/slide" Target="/ppt/slides/slide5.xml" Id="Red48dd98a54f4868" /><Relationship Type="http://schemas.openxmlformats.org/officeDocument/2006/relationships/slide" Target="/ppt/slides/slide6.xml" Id="R7e639ee8b44f4250" /><Relationship Type="http://schemas.openxmlformats.org/officeDocument/2006/relationships/slide" Target="/ppt/slides/slide7.xml" Id="R166e9dd022a34a3e" /><Relationship Type="http://schemas.openxmlformats.org/officeDocument/2006/relationships/slide" Target="/ppt/slides/slide8.xml" Id="R36b22a2d47274e2b" /><Relationship Type="http://schemas.openxmlformats.org/officeDocument/2006/relationships/slide" Target="/ppt/slides/slide9.xml" Id="Rb6714e24e8674fd8" /><Relationship Type="http://schemas.openxmlformats.org/officeDocument/2006/relationships/slide" Target="/ppt/slides/slide10.xml" Id="R3e7d5cc702a8405b" /><Relationship Type="http://schemas.openxmlformats.org/officeDocument/2006/relationships/slide" Target="/ppt/slides/slide11.xml" Id="Ra0e0a88216c34ac6" /><Relationship Type="http://schemas.openxmlformats.org/officeDocument/2006/relationships/slide" Target="/ppt/slides/slide12.xml" Id="R489b98b089e14c75" /><Relationship Type="http://schemas.openxmlformats.org/officeDocument/2006/relationships/slide" Target="/ppt/slides/slide13.xml" Id="Rd4dad3cde5cb4a20" /><Relationship Type="http://schemas.openxmlformats.org/officeDocument/2006/relationships/slide" Target="/ppt/slides/slide14.xml" Id="Red11bc4d528c400b" /><Relationship Type="http://schemas.openxmlformats.org/officeDocument/2006/relationships/slide" Target="/ppt/slides/slide15.xml" Id="R42c513982bb145a1" /><Relationship Type="http://schemas.openxmlformats.org/officeDocument/2006/relationships/slide" Target="/ppt/slides/slide16.xml" Id="R92ec6fefe851476e" /><Relationship Type="http://schemas.openxmlformats.org/officeDocument/2006/relationships/slide" Target="/ppt/slides/slide17.xml" Id="Rf5373f28799543ab" /><Relationship Type="http://schemas.openxmlformats.org/officeDocument/2006/relationships/slide" Target="/ppt/slides/slide18.xml" Id="R09fd691c3e164b35" /><Relationship Type="http://schemas.openxmlformats.org/officeDocument/2006/relationships/slide" Target="/ppt/slides/slide19.xml" Id="Ra11dcb14d4664f92" /><Relationship Type="http://schemas.openxmlformats.org/officeDocument/2006/relationships/slide" Target="/ppt/slides/slide20.xml" Id="Rf1e70ca52c03410c" /><Relationship Type="http://schemas.openxmlformats.org/officeDocument/2006/relationships/slide" Target="/ppt/slides/slide21.xml" Id="Rb489f6decf5647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673187a86f4a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6dcfb447d6469b" /><Relationship Type="http://schemas.openxmlformats.org/officeDocument/2006/relationships/notesMaster" Target="/ppt/notesMasters/notesMaster1.xml" Id="R97ec889f6b7b4e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1d30c6aa604963" /><Relationship Type="http://schemas.openxmlformats.org/officeDocument/2006/relationships/notesMaster" Target="/ppt/notesMasters/notesMaster1.xml" Id="R3184e72d6ac24c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c9062d8b14444c" /><Relationship Type="http://schemas.openxmlformats.org/officeDocument/2006/relationships/notesMaster" Target="/ppt/notesMasters/notesMaster1.xml" Id="Rdc2d303a005345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5c3353f4744673" /><Relationship Type="http://schemas.openxmlformats.org/officeDocument/2006/relationships/notesMaster" Target="/ppt/notesMasters/notesMaster1.xml" Id="Rc89c93acf9e147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44b12f26464f9a" /><Relationship Type="http://schemas.openxmlformats.org/officeDocument/2006/relationships/notesMaster" Target="/ppt/notesMasters/notesMaster1.xml" Id="Ra9d62346fefa4e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dd9acb6ac34ae2" /><Relationship Type="http://schemas.openxmlformats.org/officeDocument/2006/relationships/notesMaster" Target="/ppt/notesMasters/notesMaster1.xml" Id="R6030540243b247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f42bc9c29d48f6" /><Relationship Type="http://schemas.openxmlformats.org/officeDocument/2006/relationships/notesMaster" Target="/ppt/notesMasters/notesMaster1.xml" Id="R09d675ba65fc4d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643eaf76254896" /><Relationship Type="http://schemas.openxmlformats.org/officeDocument/2006/relationships/notesMaster" Target="/ppt/notesMasters/notesMaster1.xml" Id="R82debf468cda46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6d908dde284ec1" /><Relationship Type="http://schemas.openxmlformats.org/officeDocument/2006/relationships/notesMaster" Target="/ppt/notesMasters/notesMaster1.xml" Id="R7de0ef4d308a4a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9dd770253140b6" /><Relationship Type="http://schemas.openxmlformats.org/officeDocument/2006/relationships/notesMaster" Target="/ppt/notesMasters/notesMaster1.xml" Id="R87cf80adabef45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bc1041b4114a45" /><Relationship Type="http://schemas.openxmlformats.org/officeDocument/2006/relationships/notesMaster" Target="/ppt/notesMasters/notesMaster1.xml" Id="R503b5815820740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60129c84a54fda" /><Relationship Type="http://schemas.openxmlformats.org/officeDocument/2006/relationships/notesMaster" Target="/ppt/notesMasters/notesMaster1.xml" Id="R6b471235351c44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d0eb8c2b8c429f" /><Relationship Type="http://schemas.openxmlformats.org/officeDocument/2006/relationships/notesMaster" Target="/ppt/notesMasters/notesMaster1.xml" Id="R9af09eaa92a948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acde5adcf0c44f8" /><Relationship Type="http://schemas.openxmlformats.org/officeDocument/2006/relationships/notesMaster" Target="/ppt/notesMasters/notesMaster1.xml" Id="R4bf7e7e0206249d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f361bcefd1451e" /><Relationship Type="http://schemas.openxmlformats.org/officeDocument/2006/relationships/notesMaster" Target="/ppt/notesMasters/notesMaster1.xml" Id="R73b3757d91fb413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3ba71959eba44fc" /><Relationship Type="http://schemas.openxmlformats.org/officeDocument/2006/relationships/notesMaster" Target="/ppt/notesMasters/notesMaster1.xml" Id="R3b2adfb9cffc42e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be039697c34f33" /><Relationship Type="http://schemas.openxmlformats.org/officeDocument/2006/relationships/notesMaster" Target="/ppt/notesMasters/notesMaster1.xml" Id="R8806f1e4a4b5417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b6b617d7baf4304" /><Relationship Type="http://schemas.openxmlformats.org/officeDocument/2006/relationships/notesMaster" Target="/ppt/notesMasters/notesMaster1.xml" Id="R8f92516c0db2410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5a8f25b6004c25" /><Relationship Type="http://schemas.openxmlformats.org/officeDocument/2006/relationships/notesMaster" Target="/ppt/notesMasters/notesMaster1.xml" Id="Rf6a83651e04140d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97529f617ae447a" /><Relationship Type="http://schemas.openxmlformats.org/officeDocument/2006/relationships/notesMaster" Target="/ppt/notesMasters/notesMaster1.xml" Id="R6b55e3b74b6c4b5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17d6a8c95fb4306" /><Relationship Type="http://schemas.openxmlformats.org/officeDocument/2006/relationships/notesMaster" Target="/ppt/notesMasters/notesMaster1.xml" Id="R32a9ba6800644a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briefing distils the research already in the repository. It introduces no new participant evidence. The expanded Round 02 pass has independent review. Its findings inform discussion, while product scope and platform remain open.</a:t>
            </a:r>
          </a:p>
          <a:p xmlns:a="http://schemas.openxmlformats.org/drawingml/2006/main">
            <a:r>
              <a:t/>
            </a:r>
          </a:p>
          <a:p xmlns:a="http://schemas.openxmlformats.org/drawingml/2006/main">
            <a:r>
              <a:t>REPOSITORY SOURCES</a:t>
            </a:r>
          </a:p>
          <a:p xmlns:a="http://schemas.openxmlformats.org/drawingml/2006/main">
            <a:r>
              <a:t>Round 02 synthesis: 02_research/03_research-rounds/02_synthetic-workflow-selection/round-synthesis.md</a:t>
            </a:r>
          </a:p>
          <a:p xmlns:a="http://schemas.openxmlformats.org/drawingml/2006/main">
            <a:r>
              <a:t>Round 01 public insights: 02_research/03_research-rounds/01_public-web-user-insights/round-synthesis.md</a:t>
            </a:r>
          </a:p>
          <a:p xmlns:a="http://schemas.openxmlformats.org/drawingml/2006/main">
            <a:r>
              <a:t>Round 00 research synthesis: 02_research/04_results/00_cross-research-synthesis.md</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02 F01–F10. Public accounts, guidance and internal process evidence support investigating these mechanisms. They do not rank user demand or establish a preferred initial segment.</a:t>
            </a:r>
          </a:p>
          <a:p xmlns:a="http://schemas.openxmlformats.org/drawingml/2006/main">
            <a:r>
              <a:t/>
            </a:r>
          </a:p>
          <a:p xmlns:a="http://schemas.openxmlformats.org/drawingml/2006/main">
            <a:r>
              <a:t>REPOSITORY SOURCES</a:t>
            </a:r>
          </a:p>
          <a:p xmlns:a="http://schemas.openxmlformats.org/drawingml/2006/main">
            <a:r>
              <a:t>Round 02 findings: 02_research/03_research-rounds/02_synthetic-workflow-selection/runs/2026-10-18-pain-practices-and-guidance/findings.md</a:t>
            </a:r>
          </a:p>
          <a:p xmlns:a="http://schemas.openxmlformats.org/drawingml/2006/main">
            <a:r>
              <a:t>Job-seeker practices and original sources: 02_research/03_research-rounds/02_synthetic-workflow-selection/runs/2026-10-18-pain-practices-and-guidance/practices-research.md</a:t>
            </a:r>
          </a:p>
          <a:p xmlns:a="http://schemas.openxmlformats.org/drawingml/2006/main">
            <a:r>
              <a:t>Job fit, pay and domain sources: 02_research/03_research-rounds/02_synthetic-workflow-selection/runs/2026-10-18-pain-practices-and-guidance/domain-research.md</a:t>
            </a:r>
          </a:p>
          <a:p xmlns:a="http://schemas.openxmlformats.org/drawingml/2006/main">
            <a:r>
              <a:t/>
            </a:r>
          </a:p>
          <a:p xmlns:a="http://schemas.openxmlformats.org/drawingml/2006/main">
            <a:r>
              <a:t>SELECTED ORIGINAL SOURCES</a:t>
            </a:r>
          </a:p>
          <a:p xmlns:a="http://schemas.openxmlformats.org/drawingml/2006/main">
            <a:r>
              <a:t>Western Sydney AI-use study: https://www.socialventures.org.au/wp-content/uploads/2026/01/Voices-on-Work_-AI-in-Job-Application-.pdf</a:t>
            </a:r>
          </a:p>
          <a:p xmlns:a="http://schemas.openxmlformats.org/drawingml/2006/main">
            <a:r>
              <a:t>NUS resume guidance: https://www.nus.edu.sg/cfg/students/career-resources/create-an-impressive-resume</a:t>
            </a:r>
          </a:p>
          <a:p xmlns:a="http://schemas.openxmlformats.org/drawingml/2006/main">
            <a:r>
              <a:t>NUS interview guidance: https://www.nus.edu.sg/cfg/students/career-resources/ace-your-job-interview</a:t>
            </a:r>
          </a:p>
          <a:p xmlns:a="http://schemas.openxmlformats.org/drawingml/2006/main">
            <a:r>
              <a:t>MOM occupational wage methodology: https://stats.mom.gov.sg/iMAS_Tables1/Wages/Wages_2025/Coverage-and-Methodology-of-OWS-2025.pdf</a:t>
            </a:r>
          </a:p>
          <a:p xmlns:a="http://schemas.openxmlformats.org/drawingml/2006/main">
            <a:r>
              <a:t>MOM key employment terms: https://www.mom.gov.sg/employment-practices/contract-of-service/key-employment-terms</a:t>
            </a:r>
          </a:p>
          <a:p xmlns:a="http://schemas.openxmlformats.org/drawingml/2006/main">
            <a:r>
              <a:t>NUS offer evaluation: https://nus.edu.sg/cfg/students/career-resources/evaluate-job-offers</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folder slug still says synthetic workflow selection because existing links were preserved. Later owner instructions expanded Round 02. The earlier fictional comparison cannot establish real user need. The baseline Codex configuration observation is historical and is not treated as a current setup audit.</a:t>
            </a:r>
          </a:p>
          <a:p xmlns:a="http://schemas.openxmlformats.org/drawingml/2006/main">
            <a:r>
              <a:t/>
            </a:r>
          </a:p>
          <a:p xmlns:a="http://schemas.openxmlformats.org/drawingml/2006/main">
            <a:r>
              <a:t>REPOSITORY SOURCES</a:t>
            </a:r>
          </a:p>
          <a:p xmlns:a="http://schemas.openxmlformats.org/drawingml/2006/main">
            <a:r>
              <a:t>Round 00 research synthesis: 02_research/04_results/00_cross-research-synthesis.md</a:t>
            </a:r>
          </a:p>
          <a:p xmlns:a="http://schemas.openxmlformats.org/drawingml/2006/main">
            <a:r>
              <a:t>Round 01 public insights: 02_research/03_research-rounds/01_public-web-user-insights/round-synthesis.md</a:t>
            </a:r>
          </a:p>
          <a:p xmlns:a="http://schemas.openxmlformats.org/drawingml/2006/main">
            <a:r>
              <a:t>Round 02 synthesis: 02_research/03_research-rounds/02_synthetic-workflow-selection/round-synthesis.md</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26 entries comprise P01–P12, D01–D12 and C01–C02. Related authorship and publisher families overlap. Ten captions comprise seven automatic tracks and three tracks listed as manual. No audio listening or visual verification occurred. No direct participant or JobHub usability test occurred.</a:t>
            </a:r>
          </a:p>
          <a:p xmlns:a="http://schemas.openxmlformats.org/drawingml/2006/main">
            <a:r>
              <a:t/>
            </a:r>
          </a:p>
          <a:p xmlns:a="http://schemas.openxmlformats.org/drawingml/2006/main">
            <a:r>
              <a:t>REPOSITORY SOURCES</a:t>
            </a:r>
          </a:p>
          <a:p xmlns:a="http://schemas.openxmlformats.org/drawingml/2006/main">
            <a:r>
              <a:t>Source index: 02_research/03_research-rounds/02_synthetic-workflow-selection/runs/2026-10-18-pain-practices-and-guidance/sources.md</a:t>
            </a:r>
          </a:p>
          <a:p xmlns:a="http://schemas.openxmlformats.org/drawingml/2006/main">
            <a:r>
              <a:t>Independent evidence and quality review: 02_research/03_research-rounds/02_synthetic-workflow-selection/runs/2026-10-18-pain-practices-and-guidance/review.md</a:t>
            </a:r>
          </a:p>
          <a:p xmlns:a="http://schemas.openxmlformats.org/drawingml/2006/main">
            <a:r>
              <a:t>Video insights and timestamped observations: 02_research/03_research-rounds/02_synthetic-workflow-selection/runs/2026-10-18-pain-practices-and-guidance/video-research.md</a:t>
            </a:r>
          </a:p>
          <a:p xmlns:a="http://schemas.openxmlformats.org/drawingml/2006/main">
            <a:r>
              <a:t>Sanitised internal process review: 02_research/03_research-rounds/02_synthetic-workflow-selection/runs/2026-10-18-pain-practices-and-guidance/internal-process-review.md</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Practices P01/P02/P05/P10/P12. P01 is a retrospective retail-to-healthcare-operations story. P02 is a Singapore forum discussion including non-tech interview burden. Keep separate people's experiences separate. The same sources include positive outcomes and successful alternatives.</a:t>
            </a:r>
          </a:p>
          <a:p xmlns:a="http://schemas.openxmlformats.org/drawingml/2006/main">
            <a:r>
              <a:t/>
            </a:r>
          </a:p>
          <a:p xmlns:a="http://schemas.openxmlformats.org/drawingml/2006/main">
            <a:r>
              <a:t>REPOSITORY SOURCES</a:t>
            </a:r>
          </a:p>
          <a:p xmlns:a="http://schemas.openxmlformats.org/drawingml/2006/main">
            <a:r>
              <a:t>Job-seeker practices and original sources: 02_research/03_research-rounds/02_synthetic-workflow-selection/runs/2026-10-18-pain-practices-and-guidance/practices-research.md</a:t>
            </a:r>
          </a:p>
          <a:p xmlns:a="http://schemas.openxmlformats.org/drawingml/2006/main">
            <a:r>
              <a:t/>
            </a:r>
          </a:p>
          <a:p xmlns:a="http://schemas.openxmlformats.org/drawingml/2006/main">
            <a:r>
              <a:t>SELECTED ORIGINAL SOURCES</a:t>
            </a:r>
          </a:p>
          <a:p xmlns:a="http://schemas.openxmlformats.org/drawingml/2006/main">
            <a:r>
              <a:t>Western Sydney AI-use study: https://www.socialventures.org.au/wp-content/uploads/2026/01/Voices-on-Work_-AI-in-Job-Application-.pdf</a:t>
            </a:r>
          </a:p>
          <a:p xmlns:a="http://schemas.openxmlformats.org/drawingml/2006/main">
            <a:r>
              <a:t>NUS resume guidance: https://www.nus.edu.sg/cfg/students/career-resources/create-an-impressive-resume</a:t>
            </a:r>
          </a:p>
          <a:p xmlns:a="http://schemas.openxmlformats.org/drawingml/2006/main">
            <a:r>
              <a:t>NUS interview guidance: https://www.nus.edu.sg/cfg/students/career-resources/ace-your-job-interview</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D01/D02/D05/D08/D09 and videos V01–V05. Distinguish authenticity concerns from personal fit and unclear conditions. Some warning signs may have legitimate explanations, including scarce skills, contracting, delayed headcount or multi-location hiring. ScamShield provides independently checkable authenticity guidance.</a:t>
            </a:r>
          </a:p>
          <a:p xmlns:a="http://schemas.openxmlformats.org/drawingml/2006/main">
            <a:r>
              <a:t/>
            </a:r>
          </a:p>
          <a:p xmlns:a="http://schemas.openxmlformats.org/drawingml/2006/main">
            <a:r>
              <a:t>REPOSITORY SOURCES</a:t>
            </a:r>
          </a:p>
          <a:p xmlns:a="http://schemas.openxmlformats.org/drawingml/2006/main">
            <a:r>
              <a:t>Job fit, pay and domain sources: 02_research/03_research-rounds/02_synthetic-workflow-selection/runs/2026-10-18-pain-practices-and-guidance/domain-research.md</a:t>
            </a:r>
          </a:p>
          <a:p xmlns:a="http://schemas.openxmlformats.org/drawingml/2006/main">
            <a:r>
              <a:t>Video insights and timestamped observations: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MOM occupational wage methodology: https://stats.mom.gov.sg/iMAS_Tables1/Wages/Wages_2025/Coverage-and-Methodology-of-OWS-2025.pdf</a:t>
            </a:r>
          </a:p>
          <a:p xmlns:a="http://schemas.openxmlformats.org/drawingml/2006/main">
            <a:r>
              <a:t>MOM key employment terms: https://www.mom.gov.sg/employment-practices/contract-of-service/key-employment-terms</a:t>
            </a:r>
          </a:p>
          <a:p xmlns:a="http://schemas.openxmlformats.org/drawingml/2006/main">
            <a:r>
              <a:t>NUS offer evaluation: https://nus.edu.sg/cfg/students/career-resources/evaluate-job-offers</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D03/D10/D12 and internal I03/I04/I13. WSG permits application despite a low portal match score. This does not waive current role-specific licensing or eligibility rules. No such role-specific legal assessment was conducted.</a:t>
            </a:r>
          </a:p>
          <a:p xmlns:a="http://schemas.openxmlformats.org/drawingml/2006/main">
            <a:r>
              <a:t/>
            </a:r>
          </a:p>
          <a:p xmlns:a="http://schemas.openxmlformats.org/drawingml/2006/main">
            <a:r>
              <a:t>REPOSITORY SOURCES</a:t>
            </a:r>
          </a:p>
          <a:p xmlns:a="http://schemas.openxmlformats.org/drawingml/2006/main">
            <a:r>
              <a:t>Job fit, pay and domain sources: 02_research/03_research-rounds/02_synthetic-workflow-selection/runs/2026-10-18-pain-practices-and-guidance/domain-research.md</a:t>
            </a:r>
          </a:p>
          <a:p xmlns:a="http://schemas.openxmlformats.org/drawingml/2006/main">
            <a:r>
              <a:t>Sanitised internal process review: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MOM occupational wage methodology: https://stats.mom.gov.sg/iMAS_Tables1/Wages/Wages_2025/Coverage-and-Methodology-of-OWS-2025.pdf</a:t>
            </a:r>
          </a:p>
          <a:p xmlns:a="http://schemas.openxmlformats.org/drawingml/2006/main">
            <a:r>
              <a:t>MOM key employment terms: https://www.mom.gov.sg/employment-practices/contract-of-service/key-employment-terms</a:t>
            </a:r>
          </a:p>
          <a:p xmlns:a="http://schemas.openxmlformats.org/drawingml/2006/main">
            <a:r>
              <a:t>NUS offer evaluation: https://nus.edu.sg/cfg/students/career-resources/evaluate-job-offers</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D04/D05/D06/D11. MOM definitions exclude different components from basic and gross wages, with survey population limits. Basic/gross figures are before employee CPF and income-tax deductions. Equity and variable pay should not be treated as guaranteed recurring cash. No personal salary calculation was made.</a:t>
            </a:r>
          </a:p>
          <a:p xmlns:a="http://schemas.openxmlformats.org/drawingml/2006/main">
            <a:r>
              <a:t/>
            </a:r>
          </a:p>
          <a:p xmlns:a="http://schemas.openxmlformats.org/drawingml/2006/main">
            <a:r>
              <a:t>REPOSITORY SOURCES</a:t>
            </a:r>
          </a:p>
          <a:p xmlns:a="http://schemas.openxmlformats.org/drawingml/2006/main">
            <a:r>
              <a:t>Job fit, pay and domain sources: 02_research/03_research-rounds/02_synthetic-workflow-selection/runs/2026-10-18-pain-practices-and-guidance/domain-research.md</a:t>
            </a:r>
          </a:p>
          <a:p xmlns:a="http://schemas.openxmlformats.org/drawingml/2006/main">
            <a:r>
              <a:t/>
            </a:r>
          </a:p>
          <a:p xmlns:a="http://schemas.openxmlformats.org/drawingml/2006/main">
            <a:r>
              <a:t>SELECTED ORIGINAL SOURCES</a:t>
            </a:r>
          </a:p>
          <a:p xmlns:a="http://schemas.openxmlformats.org/drawingml/2006/main">
            <a:r>
              <a:t>MOM occupational wage methodology: https://stats.mom.gov.sg/iMAS_Tables1/Wages/Wages_2025/Coverage-and-Methodology-of-OWS-2025.pdf</a:t>
            </a:r>
          </a:p>
          <a:p xmlns:a="http://schemas.openxmlformats.org/drawingml/2006/main">
            <a:r>
              <a:t>MOM key employment terms: https://www.mom.gov.sg/employment-practices/contract-of-service/key-employment-terms</a:t>
            </a:r>
          </a:p>
          <a:p xmlns:a="http://schemas.openxmlformats.org/drawingml/2006/main">
            <a:r>
              <a:t>NUS offer evaluation: https://nus.edu.sg/cfg/students/career-resources/evaluate-job-offers</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D06/D07/D11 and internal I08. NUS guidance, a US-tech field experiment and a Singapore forum account offer different levels of evidence. The internal strategist's categorical timing/counter rules should not become universal JobHub defaults. D07 independent recheck timed out, as recorded in review.</a:t>
            </a:r>
          </a:p>
          <a:p xmlns:a="http://schemas.openxmlformats.org/drawingml/2006/main">
            <a:r>
              <a:t/>
            </a:r>
          </a:p>
          <a:p xmlns:a="http://schemas.openxmlformats.org/drawingml/2006/main">
            <a:r>
              <a:t>REPOSITORY SOURCES</a:t>
            </a:r>
          </a:p>
          <a:p xmlns:a="http://schemas.openxmlformats.org/drawingml/2006/main">
            <a:r>
              <a:t>Job fit, pay and domain sources: 02_research/03_research-rounds/02_synthetic-workflow-selection/runs/2026-10-18-pain-practices-and-guidance/domain-research.md</a:t>
            </a:r>
          </a:p>
          <a:p xmlns:a="http://schemas.openxmlformats.org/drawingml/2006/main">
            <a:r>
              <a:t>Sanitised internal process review: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MOM occupational wage methodology: https://stats.mom.gov.sg/iMAS_Tables1/Wages/Wages_2025/Coverage-and-Methodology-of-OWS-2025.pdf</a:t>
            </a:r>
          </a:p>
          <a:p xmlns:a="http://schemas.openxmlformats.org/drawingml/2006/main">
            <a:r>
              <a:t>MOM key employment terms: https://www.mom.gov.sg/employment-practices/contract-of-service/key-employment-terms</a:t>
            </a:r>
          </a:p>
          <a:p xmlns:a="http://schemas.openxmlformats.org/drawingml/2006/main">
            <a:r>
              <a:t>NUS offer evaluation: https://nus.edu.sg/cfg/students/career-resources/evaluate-job-offers</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examples are newly authored fictional cases, not user research or the owner's career claims. Practices P07/P10, internal I04/I05 and videos V06/V07 support selecting relevant examples and checking changes. Do not convert a suggested metric or project into an established candidate achievement.</a:t>
            </a:r>
          </a:p>
          <a:p xmlns:a="http://schemas.openxmlformats.org/drawingml/2006/main">
            <a:r>
              <a:t/>
            </a:r>
          </a:p>
          <a:p xmlns:a="http://schemas.openxmlformats.org/drawingml/2006/main">
            <a:r>
              <a:t>REPOSITORY SOURCES</a:t>
            </a:r>
          </a:p>
          <a:p xmlns:a="http://schemas.openxmlformats.org/drawingml/2006/main">
            <a:r>
              <a:t>Job-seeker practices and original sources: 02_research/03_research-rounds/02_synthetic-workflow-selection/runs/2026-10-18-pain-practices-and-guidance/practices-research.md</a:t>
            </a:r>
          </a:p>
          <a:p xmlns:a="http://schemas.openxmlformats.org/drawingml/2006/main">
            <a:r>
              <a:t>Sanitised internal process review: 02_research/03_research-rounds/02_synthetic-workflow-selection/runs/2026-10-18-pain-practices-and-guidance/internal-process-review.md</a:t>
            </a:r>
          </a:p>
          <a:p xmlns:a="http://schemas.openxmlformats.org/drawingml/2006/main">
            <a:r>
              <a:t>Video insights and timestamped observations: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Western Sydney AI-use study: https://www.socialventures.org.au/wp-content/uploads/2026/01/Voices-on-Work_-AI-in-Job-Application-.pdf</a:t>
            </a:r>
          </a:p>
          <a:p xmlns:a="http://schemas.openxmlformats.org/drawingml/2006/main">
            <a:r>
              <a:t>NUS resume guidance: https://www.nus.edu.sg/cfg/students/career-resources/create-an-impressive-resume</a:t>
            </a:r>
          </a:p>
          <a:p xmlns:a="http://schemas.openxmlformats.org/drawingml/2006/main">
            <a:r>
              <a:t>NUS interview guidance: https://www.nus.edu.sg/cfg/students/career-resources/ace-your-job-interview</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P08/P09/P12, I06/I07, V08. Some advice comes from graduate/international contexts. The internal process prescribes attempts, retries and debriefs, but this review did not inspect completed private interview attempts. Scheduling and excessive employer rounds remain separate burdens.</a:t>
            </a:r>
          </a:p>
          <a:p xmlns:a="http://schemas.openxmlformats.org/drawingml/2006/main">
            <a:r>
              <a:t/>
            </a:r>
          </a:p>
          <a:p xmlns:a="http://schemas.openxmlformats.org/drawingml/2006/main">
            <a:r>
              <a:t>REPOSITORY SOURCES</a:t>
            </a:r>
          </a:p>
          <a:p xmlns:a="http://schemas.openxmlformats.org/drawingml/2006/main">
            <a:r>
              <a:t>Job-seeker practices and original sources: 02_research/03_research-rounds/02_synthetic-workflow-selection/runs/2026-10-18-pain-practices-and-guidance/practices-research.md</a:t>
            </a:r>
          </a:p>
          <a:p xmlns:a="http://schemas.openxmlformats.org/drawingml/2006/main">
            <a:r>
              <a:t>Sanitised internal process review: 02_research/03_research-rounds/02_synthetic-workflow-selection/runs/2026-10-18-pain-practices-and-guidance/internal-process-review.md</a:t>
            </a:r>
          </a:p>
          <a:p xmlns:a="http://schemas.openxmlformats.org/drawingml/2006/main">
            <a:r>
              <a:t>Video insights and timestamped observations: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Western Sydney AI-use study: https://www.socialventures.org.au/wp-content/uploads/2026/01/Voices-on-Work_-AI-in-Job-Application-.pdf</a:t>
            </a:r>
          </a:p>
          <a:p xmlns:a="http://schemas.openxmlformats.org/drawingml/2006/main">
            <a:r>
              <a:t>NUS resume guidance: https://www.nus.edu.sg/cfg/students/career-resources/create-an-impressive-resume</a:t>
            </a:r>
          </a:p>
          <a:p xmlns:a="http://schemas.openxmlformats.org/drawingml/2006/main">
            <a:r>
              <a:t>NUS interview guidance: https://www.nus.edu.sg/cfg/students/career-resources/ace-your-job-interview</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P03/P05/P06/P07/P09 and C01/C02. Included experiments report bounded outcomes for different interventions. This research conducted no original provider comparison or JobHub net-effort test. P06's file diagnosis was not independently verified. V09 supplies a weak narrated tutorial, not a verified successful application.</a:t>
            </a:r>
          </a:p>
          <a:p xmlns:a="http://schemas.openxmlformats.org/drawingml/2006/main">
            <a:r>
              <a:t/>
            </a:r>
          </a:p>
          <a:p xmlns:a="http://schemas.openxmlformats.org/drawingml/2006/main">
            <a:r>
              <a:t>REPOSITORY SOURCES</a:t>
            </a:r>
          </a:p>
          <a:p xmlns:a="http://schemas.openxmlformats.org/drawingml/2006/main">
            <a:r>
              <a:t>Job-seeker practices and original sources: 02_research/03_research-rounds/02_synthetic-workflow-selection/runs/2026-10-18-pain-practices-and-guidance/practices-research.md</a:t>
            </a:r>
          </a:p>
          <a:p xmlns:a="http://schemas.openxmlformats.org/drawingml/2006/main">
            <a:r>
              <a:t>Primary AI-writing study supplement: 02_research/03_research-rounds/02_synthetic-workflow-selection/runs/2026-10-18-pain-practices-and-guidance/coordinator-research.md</a:t>
            </a:r>
          </a:p>
          <a:p xmlns:a="http://schemas.openxmlformats.org/drawingml/2006/main">
            <a:r>
              <a:t>Video insights and timestamped observations: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Western Sydney AI-use study: https://www.socialventures.org.au/wp-content/uploads/2026/01/Voices-on-Work_-AI-in-Job-Application-.pdf</a:t>
            </a:r>
          </a:p>
          <a:p xmlns:a="http://schemas.openxmlformats.org/drawingml/2006/main">
            <a:r>
              <a:t>NUS resume guidance: https://www.nus.edu.sg/cfg/students/career-resources/create-an-impressive-resume</a:t>
            </a:r>
          </a:p>
          <a:p xmlns:a="http://schemas.openxmlformats.org/drawingml/2006/main">
            <a:r>
              <a:t>NUS interview guidance: https://www.nus.edu.sg/cfg/students/career-resources/ace-your-job-interview</a:t>
            </a:r>
          </a:p>
          <a:p xmlns:a="http://schemas.openxmlformats.org/drawingml/2006/main">
            <a:r>
              <a:t>Resume-writing experiment: https://arxiv.org/abs/2301.08083</a:t>
            </a:r>
          </a:p>
          <a:p xmlns:a="http://schemas.openxmlformats.org/drawingml/2006/main">
            <a:r>
              <a:t>Employer-post experiment, September 2026 revision: https://www.emmawiles.com/storage/jobot.pdf</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C01: arXiv abstract submitted 2023-01-19, algorithmic resume-writing assistance. C02: author-hosted More, but Worse working paper, 2026-09-04 revision, employer job-post generation. C01 reports an 8% relative hiring-probability increase in its setting. C02 reports reduced employer drafting time and no discernible net matching increase; its welfare accounting is model-based. Authors and intervention details overlap in provenance, but these are different experiments, not replications or a provider ranking. No JobHub or Singapore net-effort effect follows.</a:t>
            </a:r>
          </a:p>
          <a:p xmlns:a="http://schemas.openxmlformats.org/drawingml/2006/main">
            <a:r>
              <a:t/>
            </a:r>
          </a:p>
          <a:p xmlns:a="http://schemas.openxmlformats.org/drawingml/2006/main">
            <a:r>
              <a:t>REPOSITORY SOURCES</a:t>
            </a:r>
          </a:p>
          <a:p xmlns:a="http://schemas.openxmlformats.org/drawingml/2006/main">
            <a:r>
              <a:t>Primary AI-writing study supplement: 02_research/03_research-rounds/02_synthetic-workflow-selection/runs/2026-10-18-pain-practices-and-guidance/coordinator-research.md</a:t>
            </a:r>
          </a:p>
          <a:p xmlns:a="http://schemas.openxmlformats.org/drawingml/2006/main">
            <a:r>
              <a:t/>
            </a:r>
          </a:p>
          <a:p xmlns:a="http://schemas.openxmlformats.org/drawingml/2006/main">
            <a:r>
              <a:t>SELECTED ORIGINAL SOURCES</a:t>
            </a:r>
          </a:p>
          <a:p xmlns:a="http://schemas.openxmlformats.org/drawingml/2006/main">
            <a:r>
              <a:t>Resume-writing experiment: https://arxiv.org/abs/2301.08083</a:t>
            </a:r>
          </a:p>
          <a:p xmlns:a="http://schemas.openxmlformats.org/drawingml/2006/main">
            <a:r>
              <a:t>Employer-post experiment, September 2026 revision: https://www.emmawiles.com/storage/jobot.pdf</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P04/P05/P11 and I02/I07/I16. Some evidence is international. The exact sequence of discovering a job on a phone, deferring to a laptop and losing an opportunity is unsubstantiated. A work-state checkpoint is a test proposal, not an observed solution.</a:t>
            </a:r>
          </a:p>
          <a:p xmlns:a="http://schemas.openxmlformats.org/drawingml/2006/main">
            <a:r>
              <a:t/>
            </a:r>
          </a:p>
          <a:p xmlns:a="http://schemas.openxmlformats.org/drawingml/2006/main">
            <a:r>
              <a:t>REPOSITORY SOURCES</a:t>
            </a:r>
          </a:p>
          <a:p xmlns:a="http://schemas.openxmlformats.org/drawingml/2006/main">
            <a:r>
              <a:t>Job-seeker practices and original sources: 02_research/03_research-rounds/02_synthetic-workflow-selection/runs/2026-10-18-pain-practices-and-guidance/practices-research.md</a:t>
            </a:r>
          </a:p>
          <a:p xmlns:a="http://schemas.openxmlformats.org/drawingml/2006/main">
            <a:r>
              <a:t>Round 01 public insights: 02_research/03_research-rounds/01_public-web-user-insights/round-synthesis.md</a:t>
            </a:r>
          </a:p>
          <a:p xmlns:a="http://schemas.openxmlformats.org/drawingml/2006/main">
            <a:r>
              <a:t>Sanitised internal process review: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Western Sydney AI-use study: https://www.socialventures.org.au/wp-content/uploads/2026/01/Voices-on-Work_-AI-in-Job-Application-.pdf</a:t>
            </a:r>
          </a:p>
          <a:p xmlns:a="http://schemas.openxmlformats.org/drawingml/2006/main">
            <a:r>
              <a:t>NUS resume guidance: https://www.nus.edu.sg/cfg/students/career-resources/create-an-impressive-resume</a:t>
            </a:r>
          </a:p>
          <a:p xmlns:a="http://schemas.openxmlformats.org/drawingml/2006/main">
            <a:r>
              <a:t>NUS interview guidance: https://www.nus.edu.sg/cfg/students/career-resources/ace-your-job-interview</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I01–I16. The reviewer inspected 25 process files and five historical artifacts with sanitized references. Older positive transport statuses sometimes accompanied loading/error content, while later artifacts had structured results. Neither observation proves current end-to-end success or failure. No private source files were changed.</a:t>
            </a:r>
          </a:p>
          <a:p xmlns:a="http://schemas.openxmlformats.org/drawingml/2006/main">
            <a:r>
              <a:t/>
            </a:r>
          </a:p>
          <a:p xmlns:a="http://schemas.openxmlformats.org/drawingml/2006/main">
            <a:r>
              <a:t>REPOSITORY SOURCES</a:t>
            </a:r>
          </a:p>
          <a:p xmlns:a="http://schemas.openxmlformats.org/drawingml/2006/main">
            <a:r>
              <a:t>Sanitised internal process review: 02_research/03_research-rounds/02_synthetic-workflow-selection/runs/2026-10-18-pain-practices-and-guidance/internal-process-review.md</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V01–V10 span eight creator families. All five supplied captions and five additional captions were reviewed. Six additional candidate URL checks included one wrong-case failure. Three manual-track and seven automatic-track captures in total. The extra salary source is old international raise advice. Video statistics were excluded from quantitative synthesis.</a:t>
            </a:r>
          </a:p>
          <a:p xmlns:a="http://schemas.openxmlformats.org/drawingml/2006/main">
            <a:r>
              <a:t/>
            </a:r>
          </a:p>
          <a:p xmlns:a="http://schemas.openxmlformats.org/drawingml/2006/main">
            <a:r>
              <a:t>REPOSITORY SOURCES</a:t>
            </a:r>
          </a:p>
          <a:p xmlns:a="http://schemas.openxmlformats.org/drawingml/2006/main">
            <a:r>
              <a:t>Video insights and timestamped observations: 02_research/03_research-rounds/02_synthetic-workflow-selection/runs/2026-10-18-pain-practices-and-guidance/video-research.md</a:t>
            </a:r>
          </a:p>
          <a:p xmlns:a="http://schemas.openxmlformats.org/drawingml/2006/main">
            <a:r>
              <a:t>Video discovery and caption provenance: 02_research/03_research-rounds/02_synthetic-workflow-selection/runs/2026-10-18-pain-practices-and-guidance/youtube-discovery-log.md</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F12, P07 and I14. Independent review required clearer privacy coverage. Use fictional data for the first proposed comparison. No provider-policy audit, access-control test or deletion-enforcement test took place.</a:t>
            </a:r>
          </a:p>
          <a:p xmlns:a="http://schemas.openxmlformats.org/drawingml/2006/main">
            <a:r>
              <a:t/>
            </a:r>
          </a:p>
          <a:p xmlns:a="http://schemas.openxmlformats.org/drawingml/2006/main">
            <a:r>
              <a:t>REPOSITORY SOURCES</a:t>
            </a:r>
          </a:p>
          <a:p xmlns:a="http://schemas.openxmlformats.org/drawingml/2006/main">
            <a:r>
              <a:t>Round 02 findings: 02_research/03_research-rounds/02_synthetic-workflow-selection/runs/2026-10-18-pain-practices-and-guidance/findings.md</a:t>
            </a:r>
          </a:p>
          <a:p xmlns:a="http://schemas.openxmlformats.org/drawingml/2006/main">
            <a:r>
              <a:t>Sanitised internal process review: 02_research/03_research-rounds/02_synthetic-workflow-selection/runs/2026-10-18-pain-practices-and-guidance/internal-process-review.md</a:t>
            </a:r>
          </a:p>
          <a:p xmlns:a="http://schemas.openxmlformats.org/drawingml/2006/main">
            <a:r>
              <a:t>Job-seeker practices and original sources: 02_research/03_research-rounds/02_synthetic-workflow-selection/runs/2026-10-18-pain-practices-and-guidance/practices-research.md</a:t>
            </a:r>
          </a:p>
          <a:p xmlns:a="http://schemas.openxmlformats.org/drawingml/2006/main">
            <a:r>
              <a:t>Independent evidence and quality review: 02_research/03_research-rounds/02_synthetic-workflow-selection/runs/2026-10-18-pain-practices-and-guidance/review.md</a:t>
            </a:r>
          </a:p>
          <a:p xmlns:a="http://schemas.openxmlformats.org/drawingml/2006/main">
            <a:r>
              <a:t/>
            </a:r>
          </a:p>
          <a:p xmlns:a="http://schemas.openxmlformats.org/drawingml/2006/main">
            <a:r>
              <a:t>SELECTED ORIGINAL SOURCES</a:t>
            </a:r>
          </a:p>
          <a:p xmlns:a="http://schemas.openxmlformats.org/drawingml/2006/main">
            <a:r>
              <a:t>Western Sydney AI-use study: https://www.socialventures.org.au/wp-content/uploads/2026/01/Voices-on-Work_-AI-in-Job-Application-.pdf</a:t>
            </a:r>
          </a:p>
          <a:p xmlns:a="http://schemas.openxmlformats.org/drawingml/2006/main">
            <a:r>
              <a:t>NUS resume guidance: https://www.nus.edu.sg/cfg/students/career-resources/create-an-impressive-resume</a:t>
            </a:r>
          </a:p>
          <a:p xmlns:a="http://schemas.openxmlformats.org/drawingml/2006/main">
            <a:r>
              <a:t>NUS interview guidance: https://www.nus.edu.sg/cfg/students/career-resources/ace-your-job-interview</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earlier desk-research proposals, not refreshed current product comparisons. Do not repeat historical configuration observations as current facts. Product usefulness, method speed, commercial demand and provider superiority remain unvalidated.</a:t>
            </a:r>
          </a:p>
          <a:p xmlns:a="http://schemas.openxmlformats.org/drawingml/2006/main">
            <a:r>
              <a:t/>
            </a:r>
          </a:p>
          <a:p xmlns:a="http://schemas.openxmlformats.org/drawingml/2006/main">
            <a:r>
              <a:t>REPOSITORY SOURCES</a:t>
            </a:r>
          </a:p>
          <a:p xmlns:a="http://schemas.openxmlformats.org/drawingml/2006/main">
            <a:r>
              <a:t>Round 00 research synthesis: 02_research/04_results/00_cross-research-synthesis.md</a:t>
            </a:r>
          </a:p>
          <a:p xmlns:a="http://schemas.openxmlformats.org/drawingml/2006/main">
            <a:r>
              <a:t>Earlier development-method findings: 02_research/04_results/development-and-technology/2026-10-18-development-approach.md</a:t>
            </a:r>
          </a:p>
          <a:p xmlns:a="http://schemas.openxmlformats.org/drawingml/2006/main">
            <a:r>
              <a:t>Earlier competition and positioning findings: 02_research/04_results/market-and-competition/2026-10-18-positioning.md</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Bounded public evidence cannot substitute for direct participant research or product evaluation. This owner currently has no direct user access. The exact phone-to-laptop sequence and operational effectiveness of the personal workflow remain unresolved.</a:t>
            </a:r>
          </a:p>
          <a:p xmlns:a="http://schemas.openxmlformats.org/drawingml/2006/main">
            <a:r>
              <a:t/>
            </a:r>
          </a:p>
          <a:p xmlns:a="http://schemas.openxmlformats.org/drawingml/2006/main">
            <a:r>
              <a:t>REPOSITORY SOURCES</a:t>
            </a:r>
          </a:p>
          <a:p xmlns:a="http://schemas.openxmlformats.org/drawingml/2006/main">
            <a:r>
              <a:t>Objective coverage: 02_research/03_research-rounds/02_synthetic-workflow-selection/runs/2026-10-18-pain-practices-and-guidance/coverage.md</a:t>
            </a:r>
          </a:p>
          <a:p xmlns:a="http://schemas.openxmlformats.org/drawingml/2006/main">
            <a:r>
              <a:t>Research limitations: 02_research/03_research-rounds/02_synthetic-workflow-selection/runs/2026-10-18-pain-practices-and-guidance/limitations.md</a:t>
            </a:r>
          </a:p>
          <a:p xmlns:a="http://schemas.openxmlformats.org/drawingml/2006/main">
            <a:r>
              <a:t>Independent evidence and quality review: 02_research/03_research-rounds/02_synthetic-workflow-selection/runs/2026-10-18-pain-practices-and-guidance/review.md</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new experiment has been executed. Keep interviews and compensation as separate later task options to avoid obscuring what helps. Compare frontline/shift and career-change cases separately. Before proceeding, discuss which uncertainty matters most and what result would change direction.</a:t>
            </a:r>
          </a:p>
          <a:p xmlns:a="http://schemas.openxmlformats.org/drawingml/2006/main">
            <a:r>
              <a:t/>
            </a:r>
          </a:p>
          <a:p xmlns:a="http://schemas.openxmlformats.org/drawingml/2006/main">
            <a:r>
              <a:t>REPOSITORY SOURCES</a:t>
            </a:r>
          </a:p>
          <a:p xmlns:a="http://schemas.openxmlformats.org/drawingml/2006/main">
            <a:r>
              <a:t>Proposed next step: 02_research/03_research-rounds/02_synthetic-workflow-selection/decision-gate.md</a:t>
            </a:r>
          </a:p>
          <a:p xmlns:a="http://schemas.openxmlformats.org/drawingml/2006/main">
            <a:r>
              <a:t>Round 02 findings: 02_research/03_research-rounds/02_synthetic-workflow-selection/runs/2026-10-18-pain-practices-and-guidance/findings.md</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HTML reader notes for clickable sources. Source ledgers retain original URLs, publication/access dates, methods, inspected passages and limitations. Presenting a report does not constitute accepting its recommendations.</a:t>
            </a:r>
          </a:p>
          <a:p xmlns:a="http://schemas.openxmlformats.org/drawingml/2006/main">
            <a:r>
              <a:t/>
            </a:r>
          </a:p>
          <a:p xmlns:a="http://schemas.openxmlformats.org/drawingml/2006/main">
            <a:r>
              <a:t>REPOSITORY SOURCES</a:t>
            </a:r>
          </a:p>
          <a:p xmlns:a="http://schemas.openxmlformats.org/drawingml/2006/main">
            <a:r>
              <a:t>Source index: 02_research/03_research-rounds/02_synthetic-workflow-selection/runs/2026-10-18-pain-practices-and-guidance/sources.md</a:t>
            </a:r>
          </a:p>
          <a:p xmlns:a="http://schemas.openxmlformats.org/drawingml/2006/main">
            <a:r>
              <a:t>Round 02 findings: 02_research/03_research-rounds/02_synthetic-workflow-selection/runs/2026-10-18-pain-practices-and-guidance/findings.md</a:t>
            </a:r>
          </a:p>
          <a:p xmlns:a="http://schemas.openxmlformats.org/drawingml/2006/main">
            <a:r>
              <a:t>Independent evidence and quality review: 02_research/03_research-rounds/02_synthetic-workflow-selection/runs/2026-10-18-pain-practices-and-guidance/review.md</a:t>
            </a:r>
          </a:p>
          <a:p xmlns:a="http://schemas.openxmlformats.org/drawingml/2006/main">
            <a:r>
              <a:t>Round 00 research synthesis: 02_research/04_results/00_cross-research-synthesis.md</a:t>
            </a:r>
          </a:p>
          <a:p xmlns:a="http://schemas.openxmlformats.org/drawingml/2006/main">
            <a:r>
              <a:t>Round 01 public insights: 02_research/03_research-rounds/01_public-web-user-insights/round-synthesis.md</a:t>
            </a:r>
          </a:p>
          <a:p xmlns:a="http://schemas.openxmlformats.org/drawingml/2006/main">
            <a:r>
              <a:t/>
            </a:r>
          </a:p>
          <a:p xmlns:a="http://schemas.openxmlformats.org/drawingml/2006/main">
            <a:r>
              <a:t>Research cutoff: 2026-10-18. Original source dates and limits remain in the ledgers.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f82de64aef45b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afacb46ba064e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f73aa993a548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f8481c4eca4d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d1fa15393640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6483575feb40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CB0897-5D89-4328-AAEA-5548EFD51A0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1F805C5-CC5F-4E43-99E9-272C840821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11FFF2C-E1E7-41A0-8B40-117F4D5AF3D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F42D35-D4CC-4742-934E-226E2FFE54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D74DF23-28A8-4069-A005-56A4CAE5919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094C25E-A90D-452C-960C-8393AA848D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932713-0A70-4BF7-A2CB-964E73FAFE3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621D8E-23E4-4EDA-B7E0-E7AC018F6C8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6F095F-BF42-4448-A00A-FF0D5C8F9E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75A1F3-4A42-4227-A35A-5F60E19CC5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28878052ea49bc" /><Relationship Type="http://schemas.openxmlformats.org/officeDocument/2006/relationships/slideLayout" Target="/ppt/slideLayouts/slideLayout1.xml" Id="R814d5f39928d4cf4" /><Relationship Type="http://schemas.openxmlformats.org/officeDocument/2006/relationships/slideLayout" Target="/ppt/slideLayouts/slideLayout2.xml" Id="Ra32d70df24af442f" /><Relationship Type="http://schemas.openxmlformats.org/officeDocument/2006/relationships/slideLayout" Target="/ppt/slideLayouts/slideLayout3.xml" Id="R81a699755cd346a6" /><Relationship Type="http://schemas.openxmlformats.org/officeDocument/2006/relationships/slideLayout" Target="/ppt/slideLayouts/slideLayout4.xml" Id="Re2f9da726dd1453c" /><Relationship Type="http://schemas.openxmlformats.org/officeDocument/2006/relationships/slideLayout" Target="/ppt/slideLayouts/slideLayout5.xml" Id="R3dd0e213329c48c3" /><Relationship Type="http://schemas.openxmlformats.org/officeDocument/2006/relationships/slideLayout" Target="/ppt/slideLayouts/slideLayout6.xml" Id="Rf50c245c60b941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4d5f39928d4cf4"/>
    <p:sldLayoutId xmlns:r="http://schemas.openxmlformats.org/officeDocument/2006/relationships" id="2147483650" r:id="Ra32d70df24af442f"/>
    <p:sldLayoutId xmlns:r="http://schemas.openxmlformats.org/officeDocument/2006/relationships" id="2147483651" r:id="R81a699755cd346a6"/>
    <p:sldLayoutId xmlns:r="http://schemas.openxmlformats.org/officeDocument/2006/relationships" id="2147483652" r:id="Re2f9da726dd1453c"/>
    <p:sldLayoutId xmlns:r="http://schemas.openxmlformats.org/officeDocument/2006/relationships" id="2147483653" r:id="R3dd0e213329c48c3"/>
    <p:sldLayoutId xmlns:r="http://schemas.openxmlformats.org/officeDocument/2006/relationships" id="2147483654" r:id="Rf50c245c60b941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6da32f03e33480c" /><Relationship Type="http://schemas.openxmlformats.org/officeDocument/2006/relationships/notesSlide" Target="/ppt/notesSlides/notesSlide1.xml" Id="R7b939f7b41764d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f56e7a7c234eec" /><Relationship Type="http://schemas.openxmlformats.org/officeDocument/2006/relationships/notesSlide" Target="/ppt/notesSlides/notesSlide2.xml" Id="R3f79aa8eccef41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780ef4d9a744425" /><Relationship Type="http://schemas.openxmlformats.org/officeDocument/2006/relationships/notesSlide" Target="/ppt/notesSlides/notesSlide3.xml" Id="R5ee98271fb0a4d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6330b9361448b9" /><Relationship Type="http://schemas.openxmlformats.org/officeDocument/2006/relationships/notesSlide" Target="/ppt/notesSlides/notesSlide4.xml" Id="R82a8e13a26484d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03de7ae6bd54cec" /><Relationship Type="http://schemas.openxmlformats.org/officeDocument/2006/relationships/notesSlide" Target="/ppt/notesSlides/notesSlide5.xml" Id="R1ce0e6c521b84c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2cc6f57cad44725" /><Relationship Type="http://schemas.openxmlformats.org/officeDocument/2006/relationships/notesSlide" Target="/ppt/notesSlides/notesSlide6.xml" Id="Rabd9220bfb0b4d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110ee73d8d4482" /><Relationship Type="http://schemas.openxmlformats.org/officeDocument/2006/relationships/notesSlide" Target="/ppt/notesSlides/notesSlide7.xml" Id="Rc042fc9581d448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0703545cb0d423c" /><Relationship Type="http://schemas.openxmlformats.org/officeDocument/2006/relationships/notesSlide" Target="/ppt/notesSlides/notesSlide8.xml" Id="R25e4f4e14d7d45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3ff06d21e2f454c" /><Relationship Type="http://schemas.openxmlformats.org/officeDocument/2006/relationships/notesSlide" Target="/ppt/notesSlides/notesSlide9.xml" Id="R2d61097317d74a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f386f5049f74138" /><Relationship Type="http://schemas.openxmlformats.org/officeDocument/2006/relationships/notesSlide" Target="/ppt/notesSlides/notesSlide10.xml" Id="R72cbe95e264444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e2201427b9746a2" /><Relationship Type="http://schemas.openxmlformats.org/officeDocument/2006/relationships/notesSlide" Target="/ppt/notesSlides/notesSlide11.xml" Id="R228f0518030b4d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c28d83488764eae" /><Relationship Type="http://schemas.openxmlformats.org/officeDocument/2006/relationships/notesSlide" Target="/ppt/notesSlides/notesSlide12.xml" Id="R48b5abc242da46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c49afa39cc24627" /><Relationship Type="http://schemas.openxmlformats.org/officeDocument/2006/relationships/notesSlide" Target="/ppt/notesSlides/notesSlide13.xml" Id="Rb4197c83843740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1f222e8ffd14630" /><Relationship Type="http://schemas.openxmlformats.org/officeDocument/2006/relationships/notesSlide" Target="/ppt/notesSlides/notesSlide14.xml" Id="Rd1973bff47344eb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77fdb9c760d436c" /><Relationship Type="http://schemas.openxmlformats.org/officeDocument/2006/relationships/notesSlide" Target="/ppt/notesSlides/notesSlide15.xml" Id="R363aca7c58ea478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43242e64e674d84" /><Relationship Type="http://schemas.openxmlformats.org/officeDocument/2006/relationships/notesSlide" Target="/ppt/notesSlides/notesSlide16.xml" Id="Rcd181b2c46c44fb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fa46dd10fca4afd" /><Relationship Type="http://schemas.openxmlformats.org/officeDocument/2006/relationships/notesSlide" Target="/ppt/notesSlides/notesSlide17.xml" Id="R404a5180dc804e9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507c194e7284db9" /><Relationship Type="http://schemas.openxmlformats.org/officeDocument/2006/relationships/notesSlide" Target="/ppt/notesSlides/notesSlide18.xml" Id="Re2b7eaf300764d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63502469e294f1d" /><Relationship Type="http://schemas.openxmlformats.org/officeDocument/2006/relationships/notesSlide" Target="/ppt/notesSlides/notesSlide19.xml" Id="R2cfa5db53b9d4f7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d4be814e4df46dc" /><Relationship Type="http://schemas.openxmlformats.org/officeDocument/2006/relationships/notesSlide" Target="/ppt/notesSlides/notesSlide20.xml" Id="R5fee059036eb44f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588d65d69f04203" /><Relationship Type="http://schemas.openxmlformats.org/officeDocument/2006/relationships/notesSlide" Target="/ppt/notesSlides/notesSlide21.xml" Id="R89e2270844a74645" /></Relationships>
</file>

<file path=ppt/slides/slide1.xml><?xml version="1.0" encoding="utf-8"?>
<p:sld xmlns:p="http://schemas.openxmlformats.org/presentationml/2006/main">
  <p:cSld>
    <p:bg>
      <p:bgPr>
        <a:solidFill xmlns:a="http://schemas.openxmlformats.org/drawingml/2006/main">
          <a:srgbClr val="153C3A"/>
        </a:solidFill>
      </p:bgPr>
    </p:bg>
    <p:spTree>
      <p:nvGrpSpPr>
        <p:cNvPr id="1" name=""/>
        <p:cNvGrpSpPr/>
        <p:nvPr/>
      </p:nvGrpSpPr>
      <p:grpSpPr>
        <a:xfrm xmlns:a="http://schemas.openxmlformats.org/drawingml/2006/main"/>
      </p:grpSpPr>
      <p:sp>
        <p:nvSpPr>
          <p:cNvPr id="5" name="deck-subject">
            <a:extLst xmlns:a="http://schemas.openxmlformats.org/drawingml/2006/main">
              <a:ext uri="{FF2B5EF4-FFF2-40B4-BE49-F238E27FC236}">
                <a16:creationId xmlns:a16="http://schemas.microsoft.com/office/drawing/2014/main" id="{95B98FBA-84B1-4C34-9191-74DBF87B609F}"/>
              </a:ext>
            </a:extLst>
          </p:cNvPr>
          <p:cNvSpPr>
            <a:spLocks xmlns:a="http://schemas.openxmlformats.org/drawingml/2006/main" noGrp="1"/>
          </p:cNvSpPr>
          <p:nvPr/>
        </p:nvSpPr>
        <p:spPr>
          <a:xfrm xmlns:a="http://schemas.openxmlformats.org/drawingml/2006/main">
            <a:off x="685800" y="628650"/>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D6E6DF"/>
                </a:solidFill>
                <a:latin typeface="Arial"/>
                <a:ea typeface="Arial"/>
                <a:cs typeface="Arial"/>
              </a:defRPr>
            </a:defPPr>
            <a:lvl1pPr algn="l">
              <a:defRPr sz="1875" b="1">
                <a:solidFill>
                  <a:srgbClr val="D6E6DF"/>
                </a:solidFill>
                <a:latin typeface="Arial"/>
                <a:ea typeface="Arial"/>
                <a:cs typeface="Arial"/>
              </a:defRPr>
            </a:lvl1pPr>
            <a:lvl2pPr algn="l">
              <a:defRPr sz="1875" b="1">
                <a:solidFill>
                  <a:srgbClr val="D6E6DF"/>
                </a:solidFill>
                <a:latin typeface="Arial"/>
                <a:ea typeface="Arial"/>
                <a:cs typeface="Arial"/>
              </a:defRPr>
            </a:lvl2pPr>
            <a:lvl3pPr algn="l">
              <a:defRPr sz="1875" b="1">
                <a:solidFill>
                  <a:srgbClr val="D6E6DF"/>
                </a:solidFill>
                <a:latin typeface="Arial"/>
                <a:ea typeface="Arial"/>
                <a:cs typeface="Arial"/>
              </a:defRPr>
            </a:lvl3pPr>
            <a:lvl4pPr algn="l">
              <a:defRPr sz="1875" b="1">
                <a:solidFill>
                  <a:srgbClr val="D6E6DF"/>
                </a:solidFill>
                <a:latin typeface="Arial"/>
                <a:ea typeface="Arial"/>
                <a:cs typeface="Arial"/>
              </a:defRPr>
            </a:lvl4pPr>
            <a:lvl5pPr algn="l">
              <a:defRPr sz="1875" b="1">
                <a:solidFill>
                  <a:srgbClr val="D6E6DF"/>
                </a:solidFill>
                <a:latin typeface="Arial"/>
                <a:ea typeface="Arial"/>
                <a:cs typeface="Arial"/>
              </a:defRPr>
            </a:lvl5pPr>
            <a:lvl6pPr algn="l">
              <a:defRPr sz="1875" b="1">
                <a:solidFill>
                  <a:srgbClr val="D6E6DF"/>
                </a:solidFill>
                <a:latin typeface="Arial"/>
                <a:ea typeface="Arial"/>
                <a:cs typeface="Arial"/>
              </a:defRPr>
            </a:lvl6pPr>
            <a:lvl7pPr algn="l">
              <a:defRPr sz="1875" b="1">
                <a:solidFill>
                  <a:srgbClr val="D6E6DF"/>
                </a:solidFill>
                <a:latin typeface="Arial"/>
                <a:ea typeface="Arial"/>
                <a:cs typeface="Arial"/>
              </a:defRPr>
            </a:lvl7pPr>
            <a:lvl8pPr algn="l">
              <a:defRPr sz="1875" b="1">
                <a:solidFill>
                  <a:srgbClr val="D6E6DF"/>
                </a:solidFill>
                <a:latin typeface="Arial"/>
                <a:ea typeface="Arial"/>
                <a:cs typeface="Arial"/>
              </a:defRPr>
            </a:lvl8pPr>
            <a:lvl9pPr algn="l">
              <a:defRPr sz="1875" b="1">
                <a:solidFill>
                  <a:srgbClr val="D6E6DF"/>
                </a:solidFill>
                <a:latin typeface="Arial"/>
                <a:ea typeface="Arial"/>
                <a:cs typeface="Arial"/>
              </a:defRPr>
            </a:lvl9pPr>
          </a:lstStyle>
          <a:p xmlns:a="http://schemas.openxmlformats.org/drawingml/2006/main">
            <a:pPr algn="l">
              <a:defRPr sz="1875" b="1">
                <a:solidFill>
                  <a:srgbClr val="D6E6DF"/>
                </a:solidFill>
                <a:latin typeface="Arial"/>
                <a:ea typeface="Arial"/>
                <a:cs typeface="Arial"/>
              </a:defRPr>
            </a:pPr>
            <a:r>
              <a:rPr sz="1875" b="1">
                <a:solidFill>
                  <a:srgbClr val="D6E6DF"/>
                </a:solidFill>
                <a:latin typeface="Arial"/>
                <a:ea typeface="Arial"/>
                <a:cs typeface="Arial"/>
              </a:rPr>
              <a:t>JobHub research findings</a:t>
            </a:r>
          </a:p>
        </p:txBody>
      </p:sp>
      <p:sp>
        <p:nvSpPr>
          <p:cNvPr id="2" name="cover-title">
            <a:extLst xmlns:a="http://schemas.openxmlformats.org/drawingml/2006/main">
              <a:ext uri="{FF2B5EF4-FFF2-40B4-BE49-F238E27FC236}">
                <a16:creationId xmlns:a16="http://schemas.microsoft.com/office/drawing/2014/main" id="{BB1A5DDD-94C7-4D8C-A18D-BBAEB30D7FB0}"/>
              </a:ext>
            </a:extLst>
          </p:cNvPr>
          <p:cNvSpPr>
            <a:spLocks xmlns:a="http://schemas.openxmlformats.org/drawingml/2006/main" noGrp="1"/>
          </p:cNvSpPr>
          <p:nvPr/>
        </p:nvSpPr>
        <p:spPr>
          <a:xfrm xmlns:a="http://schemas.openxmlformats.org/drawingml/2006/main">
            <a:off x="685800" y="1714500"/>
            <a:ext cx="1057275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850" b="1">
                <a:solidFill>
                  <a:srgbClr val="FFFFFF"/>
                </a:solidFill>
                <a:latin typeface="Arial"/>
                <a:ea typeface="Arial"/>
                <a:cs typeface="Arial"/>
              </a:defRPr>
            </a:defPPr>
            <a:lvl1pPr algn="l">
              <a:defRPr sz="5850" b="1">
                <a:solidFill>
                  <a:srgbClr val="FFFFFF"/>
                </a:solidFill>
                <a:latin typeface="Arial"/>
                <a:ea typeface="Arial"/>
                <a:cs typeface="Arial"/>
              </a:defRPr>
            </a:lvl1pPr>
            <a:lvl2pPr algn="l">
              <a:defRPr sz="5850" b="1">
                <a:solidFill>
                  <a:srgbClr val="FFFFFF"/>
                </a:solidFill>
                <a:latin typeface="Arial"/>
                <a:ea typeface="Arial"/>
                <a:cs typeface="Arial"/>
              </a:defRPr>
            </a:lvl2pPr>
            <a:lvl3pPr algn="l">
              <a:defRPr sz="5850" b="1">
                <a:solidFill>
                  <a:srgbClr val="FFFFFF"/>
                </a:solidFill>
                <a:latin typeface="Arial"/>
                <a:ea typeface="Arial"/>
                <a:cs typeface="Arial"/>
              </a:defRPr>
            </a:lvl3pPr>
            <a:lvl4pPr algn="l">
              <a:defRPr sz="5850" b="1">
                <a:solidFill>
                  <a:srgbClr val="FFFFFF"/>
                </a:solidFill>
                <a:latin typeface="Arial"/>
                <a:ea typeface="Arial"/>
                <a:cs typeface="Arial"/>
              </a:defRPr>
            </a:lvl4pPr>
            <a:lvl5pPr algn="l">
              <a:defRPr sz="5850" b="1">
                <a:solidFill>
                  <a:srgbClr val="FFFFFF"/>
                </a:solidFill>
                <a:latin typeface="Arial"/>
                <a:ea typeface="Arial"/>
                <a:cs typeface="Arial"/>
              </a:defRPr>
            </a:lvl5pPr>
            <a:lvl6pPr algn="l">
              <a:defRPr sz="5850" b="1">
                <a:solidFill>
                  <a:srgbClr val="FFFFFF"/>
                </a:solidFill>
                <a:latin typeface="Arial"/>
                <a:ea typeface="Arial"/>
                <a:cs typeface="Arial"/>
              </a:defRPr>
            </a:lvl6pPr>
            <a:lvl7pPr algn="l">
              <a:defRPr sz="5850" b="1">
                <a:solidFill>
                  <a:srgbClr val="FFFFFF"/>
                </a:solidFill>
                <a:latin typeface="Arial"/>
                <a:ea typeface="Arial"/>
                <a:cs typeface="Arial"/>
              </a:defRPr>
            </a:lvl7pPr>
            <a:lvl8pPr algn="l">
              <a:defRPr sz="5850" b="1">
                <a:solidFill>
                  <a:srgbClr val="FFFFFF"/>
                </a:solidFill>
                <a:latin typeface="Arial"/>
                <a:ea typeface="Arial"/>
                <a:cs typeface="Arial"/>
              </a:defRPr>
            </a:lvl8pPr>
            <a:lvl9pPr algn="l">
              <a:defRPr sz="5850" b="1">
                <a:solidFill>
                  <a:srgbClr val="FFFFFF"/>
                </a:solidFill>
                <a:latin typeface="Arial"/>
                <a:ea typeface="Arial"/>
                <a:cs typeface="Arial"/>
              </a:defRPr>
            </a:lvl9pPr>
          </a:lstStyle>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Understanding the</a:t>
            </a:r>
          </a:p>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job hunt</a:t>
            </a:r>
          </a:p>
        </p:txBody>
      </p:sp>
      <p:sp>
        <p:nvSpPr>
          <p:cNvPr id="3" name="cover-subtitle">
            <a:extLst xmlns:a="http://schemas.openxmlformats.org/drawingml/2006/main">
              <a:ext uri="{FF2B5EF4-FFF2-40B4-BE49-F238E27FC236}">
                <a16:creationId xmlns:a16="http://schemas.microsoft.com/office/drawing/2014/main" id="{B5047409-CDA4-499B-B39C-A117EC9125FE}"/>
              </a:ext>
            </a:extLst>
          </p:cNvPr>
          <p:cNvSpPr>
            <a:spLocks xmlns:a="http://schemas.openxmlformats.org/drawingml/2006/main" noGrp="1"/>
          </p:cNvSpPr>
          <p:nvPr/>
        </p:nvSpPr>
        <p:spPr>
          <a:xfrm xmlns:a="http://schemas.openxmlformats.org/drawingml/2006/main">
            <a:off x="723900" y="4419600"/>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D6E6DF"/>
                </a:solidFill>
                <a:latin typeface="Arial"/>
                <a:ea typeface="Arial"/>
                <a:cs typeface="Arial"/>
              </a:defRPr>
            </a:defPPr>
            <a:lvl1pPr algn="l">
              <a:defRPr sz="2325" b="0">
                <a:solidFill>
                  <a:srgbClr val="D6E6DF"/>
                </a:solidFill>
                <a:latin typeface="Arial"/>
                <a:ea typeface="Arial"/>
                <a:cs typeface="Arial"/>
              </a:defRPr>
            </a:lvl1pPr>
            <a:lvl2pPr algn="l">
              <a:defRPr sz="2325" b="0">
                <a:solidFill>
                  <a:srgbClr val="D6E6DF"/>
                </a:solidFill>
                <a:latin typeface="Arial"/>
                <a:ea typeface="Arial"/>
                <a:cs typeface="Arial"/>
              </a:defRPr>
            </a:lvl2pPr>
            <a:lvl3pPr algn="l">
              <a:defRPr sz="2325" b="0">
                <a:solidFill>
                  <a:srgbClr val="D6E6DF"/>
                </a:solidFill>
                <a:latin typeface="Arial"/>
                <a:ea typeface="Arial"/>
                <a:cs typeface="Arial"/>
              </a:defRPr>
            </a:lvl3pPr>
            <a:lvl4pPr algn="l">
              <a:defRPr sz="2325" b="0">
                <a:solidFill>
                  <a:srgbClr val="D6E6DF"/>
                </a:solidFill>
                <a:latin typeface="Arial"/>
                <a:ea typeface="Arial"/>
                <a:cs typeface="Arial"/>
              </a:defRPr>
            </a:lvl4pPr>
            <a:lvl5pPr algn="l">
              <a:defRPr sz="2325" b="0">
                <a:solidFill>
                  <a:srgbClr val="D6E6DF"/>
                </a:solidFill>
                <a:latin typeface="Arial"/>
                <a:ea typeface="Arial"/>
                <a:cs typeface="Arial"/>
              </a:defRPr>
            </a:lvl5pPr>
            <a:lvl6pPr algn="l">
              <a:defRPr sz="2325" b="0">
                <a:solidFill>
                  <a:srgbClr val="D6E6DF"/>
                </a:solidFill>
                <a:latin typeface="Arial"/>
                <a:ea typeface="Arial"/>
                <a:cs typeface="Arial"/>
              </a:defRPr>
            </a:lvl6pPr>
            <a:lvl7pPr algn="l">
              <a:defRPr sz="2325" b="0">
                <a:solidFill>
                  <a:srgbClr val="D6E6DF"/>
                </a:solidFill>
                <a:latin typeface="Arial"/>
                <a:ea typeface="Arial"/>
                <a:cs typeface="Arial"/>
              </a:defRPr>
            </a:lvl7pPr>
            <a:lvl8pPr algn="l">
              <a:defRPr sz="2325" b="0">
                <a:solidFill>
                  <a:srgbClr val="D6E6DF"/>
                </a:solidFill>
                <a:latin typeface="Arial"/>
                <a:ea typeface="Arial"/>
                <a:cs typeface="Arial"/>
              </a:defRPr>
            </a:lvl8pPr>
            <a:lvl9pPr algn="l">
              <a:defRPr sz="2325" b="0">
                <a:solidFill>
                  <a:srgbClr val="D6E6DF"/>
                </a:solidFill>
                <a:latin typeface="Arial"/>
                <a:ea typeface="Arial"/>
                <a:cs typeface="Arial"/>
              </a:defRPr>
            </a:lvl9pPr>
          </a:lstStyle>
          <a:p xmlns:a="http://schemas.openxmlformats.org/drawingml/2006/main">
            <a:pPr algn="l">
              <a:defRPr sz="2325" b="0">
                <a:solidFill>
                  <a:srgbClr val="D6E6DF"/>
                </a:solidFill>
                <a:latin typeface="Arial"/>
                <a:ea typeface="Arial"/>
                <a:cs typeface="Arial"/>
              </a:defRPr>
            </a:pPr>
            <a:r>
              <a:rPr sz="2325" b="0">
                <a:solidFill>
                  <a:srgbClr val="D6E6DF"/>
                </a:solidFill>
                <a:latin typeface="Arial"/>
                <a:ea typeface="Arial"/>
                <a:cs typeface="Arial"/>
              </a:rPr>
              <a:t>A reading deck before product analysis</a:t>
            </a:r>
          </a:p>
        </p:txBody>
      </p:sp>
      <p:sp>
        <p:nvSpPr>
          <p:cNvPr id="4" name="cover-date">
            <a:extLst xmlns:a="http://schemas.openxmlformats.org/drawingml/2006/main">
              <a:ext uri="{FF2B5EF4-FFF2-40B4-BE49-F238E27FC236}">
                <a16:creationId xmlns:a16="http://schemas.microsoft.com/office/drawing/2014/main" id="{388B4540-7E8F-4834-9F24-4373B47F99E2}"/>
              </a:ext>
            </a:extLst>
          </p:cNvPr>
          <p:cNvSpPr>
            <a:spLocks xmlns:a="http://schemas.openxmlformats.org/drawingml/2006/main" noGrp="1"/>
          </p:cNvSpPr>
          <p:nvPr/>
        </p:nvSpPr>
        <p:spPr>
          <a:xfrm xmlns:a="http://schemas.openxmlformats.org/drawingml/2006/main">
            <a:off x="723900" y="60483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D6E6DF"/>
                </a:solidFill>
                <a:latin typeface="Arial"/>
                <a:ea typeface="Arial"/>
                <a:cs typeface="Arial"/>
              </a:defRPr>
            </a:defPPr>
            <a:lvl1pPr algn="l">
              <a:defRPr sz="1500" b="0">
                <a:solidFill>
                  <a:srgbClr val="D6E6DF"/>
                </a:solidFill>
                <a:latin typeface="Arial"/>
                <a:ea typeface="Arial"/>
                <a:cs typeface="Arial"/>
              </a:defRPr>
            </a:lvl1pPr>
            <a:lvl2pPr algn="l">
              <a:defRPr sz="1500" b="0">
                <a:solidFill>
                  <a:srgbClr val="D6E6DF"/>
                </a:solidFill>
                <a:latin typeface="Arial"/>
                <a:ea typeface="Arial"/>
                <a:cs typeface="Arial"/>
              </a:defRPr>
            </a:lvl2pPr>
            <a:lvl3pPr algn="l">
              <a:defRPr sz="1500" b="0">
                <a:solidFill>
                  <a:srgbClr val="D6E6DF"/>
                </a:solidFill>
                <a:latin typeface="Arial"/>
                <a:ea typeface="Arial"/>
                <a:cs typeface="Arial"/>
              </a:defRPr>
            </a:lvl3pPr>
            <a:lvl4pPr algn="l">
              <a:defRPr sz="1500" b="0">
                <a:solidFill>
                  <a:srgbClr val="D6E6DF"/>
                </a:solidFill>
                <a:latin typeface="Arial"/>
                <a:ea typeface="Arial"/>
                <a:cs typeface="Arial"/>
              </a:defRPr>
            </a:lvl4pPr>
            <a:lvl5pPr algn="l">
              <a:defRPr sz="1500" b="0">
                <a:solidFill>
                  <a:srgbClr val="D6E6DF"/>
                </a:solidFill>
                <a:latin typeface="Arial"/>
                <a:ea typeface="Arial"/>
                <a:cs typeface="Arial"/>
              </a:defRPr>
            </a:lvl5pPr>
            <a:lvl6pPr algn="l">
              <a:defRPr sz="1500" b="0">
                <a:solidFill>
                  <a:srgbClr val="D6E6DF"/>
                </a:solidFill>
                <a:latin typeface="Arial"/>
                <a:ea typeface="Arial"/>
                <a:cs typeface="Arial"/>
              </a:defRPr>
            </a:lvl6pPr>
            <a:lvl7pPr algn="l">
              <a:defRPr sz="1500" b="0">
                <a:solidFill>
                  <a:srgbClr val="D6E6DF"/>
                </a:solidFill>
                <a:latin typeface="Arial"/>
                <a:ea typeface="Arial"/>
                <a:cs typeface="Arial"/>
              </a:defRPr>
            </a:lvl7pPr>
            <a:lvl8pPr algn="l">
              <a:defRPr sz="1500" b="0">
                <a:solidFill>
                  <a:srgbClr val="D6E6DF"/>
                </a:solidFill>
                <a:latin typeface="Arial"/>
                <a:ea typeface="Arial"/>
                <a:cs typeface="Arial"/>
              </a:defRPr>
            </a:lvl8pPr>
            <a:lvl9pPr algn="l">
              <a:defRPr sz="1500" b="0">
                <a:solidFill>
                  <a:srgbClr val="D6E6DF"/>
                </a:solidFill>
                <a:latin typeface="Arial"/>
                <a:ea typeface="Arial"/>
                <a:cs typeface="Arial"/>
              </a:defRPr>
            </a:lvl9pPr>
          </a:lstStyle>
          <a:p xmlns:a="http://schemas.openxmlformats.org/drawingml/2006/main">
            <a:pPr algn="l">
              <a:defRPr sz="1500" b="0">
                <a:solidFill>
                  <a:srgbClr val="D6E6DF"/>
                </a:solidFill>
                <a:latin typeface="Arial"/>
                <a:ea typeface="Arial"/>
                <a:cs typeface="Arial"/>
              </a:defRPr>
            </a:pPr>
            <a:r>
              <a:rPr sz="1500" b="0">
                <a:solidFill>
                  <a:srgbClr val="D6E6DF"/>
                </a:solidFill>
                <a:latin typeface="Arial"/>
                <a:ea typeface="Arial"/>
                <a:cs typeface="Arial"/>
              </a:rPr>
              <a:t>Rounds 00–02 / Research reviewed 18 October 2026</a:t>
            </a:r>
          </a:p>
        </p:txBody>
      </p:sp>
    </p:spTree>
    <p:extLst>
      <p:ext uri="{BB962C8B-B14F-4D97-AF65-F5344CB8AC3E}">
        <p14:creationId xmlns:p14="http://schemas.microsoft.com/office/powerpoint/2010/main" val="892426098"/>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F509D3CA-77C3-48F9-B65B-F0A9FA085CA0}"/>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What the research suggests</a:t>
            </a:r>
          </a:p>
        </p:txBody>
      </p:sp>
      <p:sp>
        <p:nvSpPr>
          <p:cNvPr id="2" name="slide-lead">
            <a:extLst xmlns:a="http://schemas.openxmlformats.org/drawingml/2006/main">
              <a:ext uri="{FF2B5EF4-FFF2-40B4-BE49-F238E27FC236}">
                <a16:creationId xmlns:a16="http://schemas.microsoft.com/office/drawing/2014/main" id="{A225B92D-2DB1-45F1-B47E-ABC79BE45FCD}"/>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Useful support may reduce uncertainty and repeated effort.</a:t>
            </a:r>
          </a:p>
        </p:txBody>
      </p:sp>
      <p:sp>
        <p:nvSpPr>
          <p:cNvPr id="3" name="statement-heading-0">
            <a:extLst xmlns:a="http://schemas.openxmlformats.org/drawingml/2006/main">
              <a:ext uri="{FF2B5EF4-FFF2-40B4-BE49-F238E27FC236}">
                <a16:creationId xmlns:a16="http://schemas.microsoft.com/office/drawing/2014/main" id="{92FAED2A-512D-425C-85BB-AB220C6A8E88}"/>
              </a:ext>
            </a:extLst>
          </p:cNvPr>
          <p:cNvSpPr>
            <a:spLocks xmlns:a="http://schemas.openxmlformats.org/drawingml/2006/main" noGrp="1"/>
          </p:cNvSpPr>
          <p:nvPr/>
        </p:nvSpPr>
        <p:spPr>
          <a:xfrm xmlns:a="http://schemas.openxmlformats.org/drawingml/2006/main">
            <a:off x="704850" y="220980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People need help judging opportunities</a:t>
            </a:r>
          </a:p>
        </p:txBody>
      </p:sp>
      <p:sp>
        <p:nvSpPr>
          <p:cNvPr id="4" name="statement-body-0">
            <a:extLst xmlns:a="http://schemas.openxmlformats.org/drawingml/2006/main">
              <a:ext uri="{FF2B5EF4-FFF2-40B4-BE49-F238E27FC236}">
                <a16:creationId xmlns:a16="http://schemas.microsoft.com/office/drawing/2014/main" id="{C61F986D-A9BA-43ED-B51C-5158EC1B2550}"/>
              </a:ext>
            </a:extLst>
          </p:cNvPr>
          <p:cNvSpPr>
            <a:spLocks xmlns:a="http://schemas.openxmlformats.org/drawingml/2006/main" noGrp="1"/>
          </p:cNvSpPr>
          <p:nvPr/>
        </p:nvSpPr>
        <p:spPr>
          <a:xfrm xmlns:a="http://schemas.openxmlformats.org/drawingml/2006/main">
            <a:off x="704850" y="258127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Actual duties, working conditions and verified experience matter alongside job titles.</a:t>
            </a:r>
          </a:p>
        </p:txBody>
      </p:sp>
      <p:sp>
        <p:nvSpPr>
          <p:cNvPr id="5" name="statement-heading-1">
            <a:extLst xmlns:a="http://schemas.openxmlformats.org/drawingml/2006/main">
              <a:ext uri="{FF2B5EF4-FFF2-40B4-BE49-F238E27FC236}">
                <a16:creationId xmlns:a16="http://schemas.microsoft.com/office/drawing/2014/main" id="{E965DBE3-9315-4212-9899-6CD134950F2E}"/>
              </a:ext>
            </a:extLst>
          </p:cNvPr>
          <p:cNvSpPr>
            <a:spLocks xmlns:a="http://schemas.openxmlformats.org/drawingml/2006/main" noGrp="1"/>
          </p:cNvSpPr>
          <p:nvPr/>
        </p:nvSpPr>
        <p:spPr>
          <a:xfrm xmlns:a="http://schemas.openxmlformats.org/drawingml/2006/main">
            <a:off x="704850" y="307657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Preparation includes checking and recovery</a:t>
            </a:r>
          </a:p>
        </p:txBody>
      </p:sp>
      <p:sp>
        <p:nvSpPr>
          <p:cNvPr id="6" name="statement-body-1">
            <a:extLst xmlns:a="http://schemas.openxmlformats.org/drawingml/2006/main">
              <a:ext uri="{FF2B5EF4-FFF2-40B4-BE49-F238E27FC236}">
                <a16:creationId xmlns:a16="http://schemas.microsoft.com/office/drawing/2014/main" id="{3B2AE858-3D95-4D9E-9737-214D64004ED8}"/>
              </a:ext>
            </a:extLst>
          </p:cNvPr>
          <p:cNvSpPr>
            <a:spLocks xmlns:a="http://schemas.openxmlformats.org/drawingml/2006/main" noGrp="1"/>
          </p:cNvSpPr>
          <p:nvPr/>
        </p:nvSpPr>
        <p:spPr>
          <a:xfrm xmlns:a="http://schemas.openxmlformats.org/drawingml/2006/main">
            <a:off x="704850" y="344805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Re-entry, corrections, scheduling and unfinished work add to the writing itself.</a:t>
            </a:r>
          </a:p>
        </p:txBody>
      </p:sp>
      <p:sp>
        <p:nvSpPr>
          <p:cNvPr id="7" name="statement-heading-2">
            <a:extLst xmlns:a="http://schemas.openxmlformats.org/drawingml/2006/main">
              <a:ext uri="{FF2B5EF4-FFF2-40B4-BE49-F238E27FC236}">
                <a16:creationId xmlns:a16="http://schemas.microsoft.com/office/drawing/2014/main" id="{002CC347-0AD0-462E-8DFA-15344CBE4C19}"/>
              </a:ext>
            </a:extLst>
          </p:cNvPr>
          <p:cNvSpPr>
            <a:spLocks xmlns:a="http://schemas.openxmlformats.org/drawingml/2006/main" noGrp="1"/>
          </p:cNvSpPr>
          <p:nvPr/>
        </p:nvSpPr>
        <p:spPr>
          <a:xfrm xmlns:a="http://schemas.openxmlformats.org/drawingml/2006/main">
            <a:off x="704850" y="394335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Truthful reuse is worth testing</a:t>
            </a:r>
          </a:p>
        </p:txBody>
      </p:sp>
      <p:sp>
        <p:nvSpPr>
          <p:cNvPr id="8" name="statement-body-2">
            <a:extLst xmlns:a="http://schemas.openxmlformats.org/drawingml/2006/main">
              <a:ext uri="{FF2B5EF4-FFF2-40B4-BE49-F238E27FC236}">
                <a16:creationId xmlns:a16="http://schemas.microsoft.com/office/drawing/2014/main" id="{BFBCD88E-3715-4D4F-B4B1-5F9DFD53444E}"/>
              </a:ext>
            </a:extLst>
          </p:cNvPr>
          <p:cNvSpPr>
            <a:spLocks xmlns:a="http://schemas.openxmlformats.org/drawingml/2006/main" noGrp="1"/>
          </p:cNvSpPr>
          <p:nvPr/>
        </p:nvSpPr>
        <p:spPr>
          <a:xfrm xmlns:a="http://schemas.openxmlformats.org/drawingml/2006/main">
            <a:off x="704850" y="431482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Real examples can support resumes and interview practice without invented achievements.</a:t>
            </a:r>
          </a:p>
        </p:txBody>
      </p:sp>
      <p:sp>
        <p:nvSpPr>
          <p:cNvPr id="9" name="statement-heading-3">
            <a:extLst xmlns:a="http://schemas.openxmlformats.org/drawingml/2006/main">
              <a:ext uri="{FF2B5EF4-FFF2-40B4-BE49-F238E27FC236}">
                <a16:creationId xmlns:a16="http://schemas.microsoft.com/office/drawing/2014/main" id="{E90BB4AA-33A7-4186-8367-5C58F5EE8DF5}"/>
              </a:ext>
            </a:extLst>
          </p:cNvPr>
          <p:cNvSpPr>
            <a:spLocks xmlns:a="http://schemas.openxmlformats.org/drawingml/2006/main" noGrp="1"/>
          </p:cNvSpPr>
          <p:nvPr/>
        </p:nvSpPr>
        <p:spPr>
          <a:xfrm xmlns:a="http://schemas.openxmlformats.org/drawingml/2006/main">
            <a:off x="704850" y="481012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The simplest useful workflow remains open</a:t>
            </a:r>
          </a:p>
        </p:txBody>
      </p:sp>
      <p:sp>
        <p:nvSpPr>
          <p:cNvPr id="10" name="statement-body-3">
            <a:extLst xmlns:a="http://schemas.openxmlformats.org/drawingml/2006/main">
              <a:ext uri="{FF2B5EF4-FFF2-40B4-BE49-F238E27FC236}">
                <a16:creationId xmlns:a16="http://schemas.microsoft.com/office/drawing/2014/main" id="{8BCE63C2-AA7B-4487-905F-06E224AF852C}"/>
              </a:ext>
            </a:extLst>
          </p:cNvPr>
          <p:cNvSpPr>
            <a:spLocks xmlns:a="http://schemas.openxmlformats.org/drawingml/2006/main" noGrp="1"/>
          </p:cNvSpPr>
          <p:nvPr/>
        </p:nvSpPr>
        <p:spPr>
          <a:xfrm xmlns:a="http://schemas.openxmlformats.org/drawingml/2006/main">
            <a:off x="704850" y="518160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Manual documents, peers and career coaching offer meaningful alternatives.</a:t>
            </a:r>
          </a:p>
        </p:txBody>
      </p:sp>
      <p:sp>
        <p:nvSpPr>
          <p:cNvPr id="11" name="evidence-note">
            <a:extLst xmlns:a="http://schemas.openxmlformats.org/drawingml/2006/main">
              <a:ext uri="{FF2B5EF4-FFF2-40B4-BE49-F238E27FC236}">
                <a16:creationId xmlns:a16="http://schemas.microsoft.com/office/drawing/2014/main" id="{FF8A8292-6003-470A-9140-4DEE64BCD31D}"/>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Synthesis of reported mechanisms. Their prevalence and JobHub benefit remain unmeasured.</a:t>
            </a:r>
          </a:p>
        </p:txBody>
      </p:sp>
      <p:sp>
        <p:nvSpPr>
          <p:cNvPr id="12" name="page-number">
            <a:extLst xmlns:a="http://schemas.openxmlformats.org/drawingml/2006/main">
              <a:ext uri="{FF2B5EF4-FFF2-40B4-BE49-F238E27FC236}">
                <a16:creationId xmlns:a16="http://schemas.microsoft.com/office/drawing/2014/main" id="{89ADCFB8-AC1E-4345-9082-FD195C0FAABF}"/>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02</a:t>
            </a:r>
          </a:p>
        </p:txBody>
      </p:sp>
    </p:spTree>
    <p:extLst>
      <p:ext uri="{BB962C8B-B14F-4D97-AF65-F5344CB8AC3E}">
        <p14:creationId xmlns:p14="http://schemas.microsoft.com/office/powerpoint/2010/main" val="905702077"/>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D540B14-4EF5-40E9-92F6-D05AFBD413BF}"/>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How the research developed</a:t>
            </a:r>
          </a:p>
        </p:txBody>
      </p:sp>
      <p:sp>
        <p:nvSpPr>
          <p:cNvPr id="2" name="slide-lead">
            <a:extLst xmlns:a="http://schemas.openxmlformats.org/drawingml/2006/main">
              <a:ext uri="{FF2B5EF4-FFF2-40B4-BE49-F238E27FC236}">
                <a16:creationId xmlns:a16="http://schemas.microsoft.com/office/drawing/2014/main" id="{CE846AC5-AC93-4F99-A452-686FA1E71A93}"/>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Each round answers a different kind of question.</a:t>
            </a:r>
          </a:p>
        </p:txBody>
      </p:sp>
      <p:graphicFrame>
        <p:nvGraphicFramePr>
          <p:cNvPr id="3" name="">
            <a:extLst xmlns:a="http://schemas.openxmlformats.org/drawingml/2006/main">
              <a:ext uri="{FF2B5EF4-FFF2-40B4-BE49-F238E27FC236}">
                <a16:creationId xmlns:a16="http://schemas.microsoft.com/office/drawing/2014/main" id="{AC909EB6-7083-4395-A3BA-B9552AB90BC7}"/>
              </a:ext>
            </a:extLst>
          </p:cNvPr>
          <p:cNvGraphicFramePr/>
          <p:nvPr/>
        </p:nvGraphicFramePr>
        <p:xfrm>
          <a:off xmlns:a="http://schemas.openxmlformats.org/drawingml/2006/main" x="685800" y="2171700"/>
          <a:ext xmlns:a="http://schemas.openxmlformats.org/drawingml/2006/main" cx="10820400" cy="3143250"/>
        </p:xfrm>
        <a:graphic xmlns:a="http://schemas.openxmlformats.org/drawingml/2006/main">
          <a:graphicData uri="http://schemas.openxmlformats.org/drawingml/2006/table">
            <a:tbl>
              <a:tblPr firstRow="1" bandRow="0"/>
              <a:tblGrid>
                <a:gridCol w="1714500"/>
                <a:gridCol w="4572000"/>
                <a:gridCol w="4533900"/>
              </a:tblGrid>
              <a:tr h="466725">
                <a:tc>
                  <a:txBody>
                    <a:bodyPr wrap="square" lIns="133350" tIns="85725" rIns="133350" bIns="85725">
                      <a:noAutofit/>
                    </a:bodyPr>
                    <a:lstStyle/>
                    <a:p>
                      <a:r>
                        <a:rPr sz="1725" b="1">
                          <a:solidFill>
                            <a:srgbClr val="FFFFFF"/>
                          </a:solidFill>
                          <a:latin typeface="Arial"/>
                          <a:ea typeface="Arial"/>
                          <a:cs typeface="Arial"/>
                        </a:rPr>
                        <a:t>Round</a:t>
                      </a:r>
                    </a:p>
                  </a:txBody>
                  <a:tcPr marL="91440" marR="91440" marT="45720" marB="45720" anchor="ctr">
                    <a:lnL w="6668">
                      <a:solidFill>
                        <a:srgbClr val="D2DDDA"/>
                      </a:solidFill>
                      <a:prstDash val="solid"/>
                    </a:lnL>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c>
                  <a:txBody>
                    <a:bodyPr wrap="square" lIns="133350" tIns="85725" rIns="133350" bIns="85725">
                      <a:noAutofit/>
                    </a:bodyPr>
                    <a:lstStyle/>
                    <a:p>
                      <a:r>
                        <a:rPr sz="1725" b="1">
                          <a:solidFill>
                            <a:srgbClr val="FFFFFF"/>
                          </a:solidFill>
                          <a:latin typeface="Arial"/>
                          <a:ea typeface="Arial"/>
                          <a:cs typeface="Arial"/>
                        </a:rPr>
                        <a:t>Contribution</a:t>
                      </a:r>
                    </a:p>
                  </a:txBody>
                  <a:tcPr marL="91440" marR="91440" marT="45720" marB="45720" anchor="ctr">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c>
                  <a:txBody>
                    <a:bodyPr wrap="square" lIns="133350" tIns="85725" rIns="133350" bIns="85725">
                      <a:noAutofit/>
                    </a:bodyPr>
                    <a:lstStyle/>
                    <a:p>
                      <a:r>
                        <a:rPr sz="1725" b="1">
                          <a:solidFill>
                            <a:srgbClr val="FFFFFF"/>
                          </a:solidFill>
                          <a:latin typeface="Arial"/>
                          <a:ea typeface="Arial"/>
                          <a:cs typeface="Arial"/>
                        </a:rPr>
                        <a:t>Reading boundary</a:t>
                      </a:r>
                    </a:p>
                  </a:txBody>
                  <a:tcPr marL="91440" marR="91440" marT="45720" marB="45720" anchor="ctr">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r>
              <a:tr h="892175">
                <a:tc>
                  <a:txBody>
                    <a:bodyPr wrap="square" lIns="133350" tIns="85725" rIns="133350" bIns="85725">
                      <a:noAutofit/>
                    </a:bodyPr>
                    <a:lstStyle/>
                    <a:p>
                      <a:r>
                        <a:rPr sz="1800" b="0">
                          <a:solidFill>
                            <a:srgbClr val="263B3A"/>
                          </a:solidFill>
                          <a:latin typeface="Arial"/>
                          <a:ea typeface="Arial"/>
                          <a:cs typeface="Arial"/>
                        </a:rPr>
                        <a:t>00  Baseline</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Domain, alternatives, development methods and technical questions</a:t>
                      </a:r>
                    </a:p>
                  </a:txBody>
                  <a:tcPr marL="91440" marR="91440" marT="45720" marB="45720" anchor="ctr">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Desk evidence and proposed directions</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892175">
                <a:tc>
                  <a:txBody>
                    <a:bodyPr wrap="square" lIns="133350" tIns="85725" rIns="133350" bIns="85725">
                      <a:noAutofit/>
                    </a:bodyPr>
                    <a:lstStyle/>
                    <a:p>
                      <a:r>
                        <a:rPr sz="1800" b="0">
                          <a:solidFill>
                            <a:srgbClr val="263B3A"/>
                          </a:solidFill>
                          <a:latin typeface="Arial"/>
                          <a:ea typeface="Arial"/>
                          <a:cs typeface="Arial"/>
                        </a:rPr>
                        <a:t>01  Public insights</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Reported experiences, AI use, workarounds and device context</a:t>
                      </a:r>
                    </a:p>
                  </a:txBody>
                  <a:tcPr marL="91440" marR="91440" marT="45720" marB="45720" anchor="ctr">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Bounded public pass with unranked hypotheses</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892175">
                <a:tc>
                  <a:txBody>
                    <a:bodyPr wrap="square" lIns="133350" tIns="85725" rIns="133350" bIns="85725">
                      <a:noAutofit/>
                    </a:bodyPr>
                    <a:lstStyle/>
                    <a:p>
                      <a:r>
                        <a:rPr sz="1800" b="0">
                          <a:solidFill>
                            <a:srgbClr val="263B3A"/>
                          </a:solidFill>
                          <a:latin typeface="Arial"/>
                          <a:ea typeface="Arial"/>
                          <a:cs typeface="Arial"/>
                        </a:rPr>
                        <a:t>02  Expanded pass</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Pains, guidance, videos and the owner's existing process</a:t>
                      </a:r>
                    </a:p>
                  </a:txBody>
                  <a:tcPr marL="91440" marR="91440" marT="45720" marB="45720" anchor="ctr">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Reviewed synthesis with explicit evidence gaps</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bl>
          </a:graphicData>
        </a:graphic>
      </p:graphicFrame>
      <p:sp>
        <p:nvSpPr>
          <p:cNvPr id="4" name="evidence-note">
            <a:extLst xmlns:a="http://schemas.openxmlformats.org/drawingml/2006/main">
              <a:ext uri="{FF2B5EF4-FFF2-40B4-BE49-F238E27FC236}">
                <a16:creationId xmlns:a16="http://schemas.microsoft.com/office/drawing/2014/main" id="{EDBE3DB0-E859-4558-AA41-D4276DE322C1}"/>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An earlier Round 02 fictional walkthrough remains historical design work.</a:t>
            </a:r>
          </a:p>
        </p:txBody>
      </p:sp>
      <p:sp>
        <p:nvSpPr>
          <p:cNvPr id="5" name="page-number">
            <a:extLst xmlns:a="http://schemas.openxmlformats.org/drawingml/2006/main">
              <a:ext uri="{FF2B5EF4-FFF2-40B4-BE49-F238E27FC236}">
                <a16:creationId xmlns:a16="http://schemas.microsoft.com/office/drawing/2014/main" id="{83217CB4-CBEC-4AA0-A8E7-511C83F96B1C}"/>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03</a:t>
            </a:r>
          </a:p>
        </p:txBody>
      </p:sp>
    </p:spTree>
    <p:extLst>
      <p:ext uri="{BB962C8B-B14F-4D97-AF65-F5344CB8AC3E}">
        <p14:creationId xmlns:p14="http://schemas.microsoft.com/office/powerpoint/2010/main" val="1469755821"/>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A9E119B3-AEF5-4DF7-9333-74E14E3A07B0}"/>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What supports the findings</a:t>
            </a:r>
          </a:p>
        </p:txBody>
      </p:sp>
      <p:sp>
        <p:nvSpPr>
          <p:cNvPr id="2" name="slide-lead">
            <a:extLst xmlns:a="http://schemas.openxmlformats.org/drawingml/2006/main">
              <a:ext uri="{FF2B5EF4-FFF2-40B4-BE49-F238E27FC236}">
                <a16:creationId xmlns:a16="http://schemas.microsoft.com/office/drawing/2014/main" id="{659885A7-359E-445D-AB96-93E8DE181B5C}"/>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Round 02 combined public sources with a separate internal review.</a:t>
            </a:r>
          </a:p>
        </p:txBody>
      </p:sp>
      <p:sp>
        <p:nvSpPr>
          <p:cNvPr id="3" name="column-heading-0">
            <a:extLst xmlns:a="http://schemas.openxmlformats.org/drawingml/2006/main">
              <a:ext uri="{FF2B5EF4-FFF2-40B4-BE49-F238E27FC236}">
                <a16:creationId xmlns:a16="http://schemas.microsoft.com/office/drawing/2014/main" id="{E05056DD-684E-46CA-BBAB-B12DA52EFF06}"/>
              </a:ext>
            </a:extLst>
          </p:cNvPr>
          <p:cNvSpPr>
            <a:spLocks xmlns:a="http://schemas.openxmlformats.org/drawingml/2006/main" noGrp="1"/>
          </p:cNvSpPr>
          <p:nvPr/>
        </p:nvSpPr>
        <p:spPr>
          <a:xfrm xmlns:a="http://schemas.openxmlformats.org/drawingml/2006/main">
            <a:off x="7048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Collected material</a:t>
            </a:r>
          </a:p>
        </p:txBody>
      </p:sp>
      <p:sp>
        <p:nvSpPr>
          <p:cNvPr id="4" name="column-0-item-0">
            <a:extLst xmlns:a="http://schemas.openxmlformats.org/drawingml/2006/main">
              <a:ext uri="{FF2B5EF4-FFF2-40B4-BE49-F238E27FC236}">
                <a16:creationId xmlns:a16="http://schemas.microsoft.com/office/drawing/2014/main" id="{39227E44-166F-4AFA-89A5-0B612DBFE6CB}"/>
              </a:ext>
            </a:extLst>
          </p:cNvPr>
          <p:cNvSpPr>
            <a:spLocks xmlns:a="http://schemas.openxmlformats.org/drawingml/2006/main" noGrp="1"/>
          </p:cNvSpPr>
          <p:nvPr/>
        </p:nvSpPr>
        <p:spPr>
          <a:xfrm xmlns:a="http://schemas.openxmlformats.org/drawingml/2006/main">
            <a:off x="7048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26 public-source records beyond the videos</a:t>
            </a:r>
          </a:p>
        </p:txBody>
      </p:sp>
      <p:sp>
        <p:nvSpPr>
          <p:cNvPr id="5" name="column-0-item-1">
            <a:extLst xmlns:a="http://schemas.openxmlformats.org/drawingml/2006/main">
              <a:ext uri="{FF2B5EF4-FFF2-40B4-BE49-F238E27FC236}">
                <a16:creationId xmlns:a16="http://schemas.microsoft.com/office/drawing/2014/main" id="{ED04B5A1-BE12-4363-B625-BC242EAB742C}"/>
              </a:ext>
            </a:extLst>
          </p:cNvPr>
          <p:cNvSpPr>
            <a:spLocks xmlns:a="http://schemas.openxmlformats.org/drawingml/2006/main" noGrp="1"/>
          </p:cNvSpPr>
          <p:nvPr/>
        </p:nvSpPr>
        <p:spPr>
          <a:xfrm xmlns:a="http://schemas.openxmlformats.org/drawingml/2006/main">
            <a:off x="7048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10 English caption reviews across eight creator families</a:t>
            </a:r>
          </a:p>
        </p:txBody>
      </p:sp>
      <p:sp>
        <p:nvSpPr>
          <p:cNvPr id="6" name="column-0-item-2">
            <a:extLst xmlns:a="http://schemas.openxmlformats.org/drawingml/2006/main">
              <a:ext uri="{FF2B5EF4-FFF2-40B4-BE49-F238E27FC236}">
                <a16:creationId xmlns:a16="http://schemas.microsoft.com/office/drawing/2014/main" id="{9285D6D7-454E-4D2F-83D9-C6F6AD3A7906}"/>
              </a:ext>
            </a:extLst>
          </p:cNvPr>
          <p:cNvSpPr>
            <a:spLocks xmlns:a="http://schemas.openxmlformats.org/drawingml/2006/main" noGrp="1"/>
          </p:cNvSpPr>
          <p:nvPr/>
        </p:nvSpPr>
        <p:spPr>
          <a:xfrm xmlns:a="http://schemas.openxmlformats.org/drawingml/2006/main">
            <a:off x="7048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25 internal process documents and five historical artifacts</a:t>
            </a:r>
          </a:p>
        </p:txBody>
      </p:sp>
      <p:sp>
        <p:nvSpPr>
          <p:cNvPr id="7" name="column-0-item-3">
            <a:extLst xmlns:a="http://schemas.openxmlformats.org/drawingml/2006/main">
              <a:ext uri="{FF2B5EF4-FFF2-40B4-BE49-F238E27FC236}">
                <a16:creationId xmlns:a16="http://schemas.microsoft.com/office/drawing/2014/main" id="{C9C7C20F-8F91-4130-B30D-AB759E5F49F8}"/>
              </a:ext>
            </a:extLst>
          </p:cNvPr>
          <p:cNvSpPr>
            <a:spLocks xmlns:a="http://schemas.openxmlformats.org/drawingml/2006/main" noGrp="1"/>
          </p:cNvSpPr>
          <p:nvPr/>
        </p:nvSpPr>
        <p:spPr>
          <a:xfrm xmlns:a="http://schemas.openxmlformats.org/drawingml/2006/main">
            <a:off x="7048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46 recorded search-query strings</a:t>
            </a:r>
          </a:p>
        </p:txBody>
      </p:sp>
      <p:sp>
        <p:nvSpPr>
          <p:cNvPr id="8" name="column-heading-1">
            <a:extLst xmlns:a="http://schemas.openxmlformats.org/drawingml/2006/main">
              <a:ext uri="{FF2B5EF4-FFF2-40B4-BE49-F238E27FC236}">
                <a16:creationId xmlns:a16="http://schemas.microsoft.com/office/drawing/2014/main" id="{4BA5D2C2-1BD0-4EE1-A89E-BBCC04CBB18B}"/>
              </a:ext>
            </a:extLst>
          </p:cNvPr>
          <p:cNvSpPr>
            <a:spLocks xmlns:a="http://schemas.openxmlformats.org/drawingml/2006/main" noGrp="1"/>
          </p:cNvSpPr>
          <p:nvPr/>
        </p:nvSpPr>
        <p:spPr>
          <a:xfrm xmlns:a="http://schemas.openxmlformats.org/drawingml/2006/main">
            <a:off x="63055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What those counts mean</a:t>
            </a:r>
          </a:p>
        </p:txBody>
      </p:sp>
      <p:sp>
        <p:nvSpPr>
          <p:cNvPr id="9" name="column-1-item-0">
            <a:extLst xmlns:a="http://schemas.openxmlformats.org/drawingml/2006/main">
              <a:ext uri="{FF2B5EF4-FFF2-40B4-BE49-F238E27FC236}">
                <a16:creationId xmlns:a16="http://schemas.microsoft.com/office/drawing/2014/main" id="{AC2F5758-DA75-4740-9D6B-129940376B9D}"/>
              </a:ext>
            </a:extLst>
          </p:cNvPr>
          <p:cNvSpPr>
            <a:spLocks xmlns:a="http://schemas.openxmlformats.org/drawingml/2006/main" noGrp="1"/>
          </p:cNvSpPr>
          <p:nvPr/>
        </p:nvSpPr>
        <p:spPr>
          <a:xfrm xmlns:a="http://schemas.openxmlformats.org/drawingml/2006/main">
            <a:off x="63055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Accounts show what people report</a:t>
            </a:r>
          </a:p>
        </p:txBody>
      </p:sp>
      <p:sp>
        <p:nvSpPr>
          <p:cNvPr id="10" name="column-1-item-1">
            <a:extLst xmlns:a="http://schemas.openxmlformats.org/drawingml/2006/main">
              <a:ext uri="{FF2B5EF4-FFF2-40B4-BE49-F238E27FC236}">
                <a16:creationId xmlns:a16="http://schemas.microsoft.com/office/drawing/2014/main" id="{EEE201AC-CD53-435D-9BE9-1B61C498A5D4}"/>
              </a:ext>
            </a:extLst>
          </p:cNvPr>
          <p:cNvSpPr>
            <a:spLocks xmlns:a="http://schemas.openxmlformats.org/drawingml/2006/main" noGrp="1"/>
          </p:cNvSpPr>
          <p:nvPr/>
        </p:nvSpPr>
        <p:spPr>
          <a:xfrm xmlns:a="http://schemas.openxmlformats.org/drawingml/2006/main">
            <a:off x="63055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Guidance offers practices to consider</a:t>
            </a:r>
          </a:p>
        </p:txBody>
      </p:sp>
      <p:sp>
        <p:nvSpPr>
          <p:cNvPr id="11" name="column-1-item-2">
            <a:extLst xmlns:a="http://schemas.openxmlformats.org/drawingml/2006/main">
              <a:ext uri="{FF2B5EF4-FFF2-40B4-BE49-F238E27FC236}">
                <a16:creationId xmlns:a16="http://schemas.microsoft.com/office/drawing/2014/main" id="{E54E1677-6536-43BF-89E1-E5C7C6FE1BA5}"/>
              </a:ext>
            </a:extLst>
          </p:cNvPr>
          <p:cNvSpPr>
            <a:spLocks xmlns:a="http://schemas.openxmlformats.org/drawingml/2006/main" noGrp="1"/>
          </p:cNvSpPr>
          <p:nvPr/>
        </p:nvSpPr>
        <p:spPr>
          <a:xfrm xmlns:a="http://schemas.openxmlformats.org/drawingml/2006/main">
            <a:off x="63055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Studies have specific populations and methods</a:t>
            </a:r>
          </a:p>
        </p:txBody>
      </p:sp>
      <p:sp>
        <p:nvSpPr>
          <p:cNvPr id="12" name="column-1-item-3">
            <a:extLst xmlns:a="http://schemas.openxmlformats.org/drawingml/2006/main">
              <a:ext uri="{FF2B5EF4-FFF2-40B4-BE49-F238E27FC236}">
                <a16:creationId xmlns:a16="http://schemas.microsoft.com/office/drawing/2014/main" id="{F84C988F-EBFE-4B85-8FA9-4CFB5F9CE45C}"/>
              </a:ext>
            </a:extLst>
          </p:cNvPr>
          <p:cNvSpPr>
            <a:spLocks xmlns:a="http://schemas.openxmlformats.org/drawingml/2006/main" noGrp="1"/>
          </p:cNvSpPr>
          <p:nvPr/>
        </p:nvSpPr>
        <p:spPr>
          <a:xfrm xmlns:a="http://schemas.openxmlformats.org/drawingml/2006/main">
            <a:off x="63055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Documents describe intended processes and recorded artifacts</a:t>
            </a:r>
          </a:p>
        </p:txBody>
      </p:sp>
      <p:sp>
        <p:nvSpPr>
          <p:cNvPr id="13" name="evidence-note">
            <a:extLst xmlns:a="http://schemas.openxmlformats.org/drawingml/2006/main">
              <a:ext uri="{FF2B5EF4-FFF2-40B4-BE49-F238E27FC236}">
                <a16:creationId xmlns:a16="http://schemas.microsoft.com/office/drawing/2014/main" id="{8C6A3F8B-82BB-4086-A732-C500CA559A74}"/>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These are record counts. Repeated publishers, authors and creators limit independence.</a:t>
            </a:r>
          </a:p>
        </p:txBody>
      </p:sp>
      <p:sp>
        <p:nvSpPr>
          <p:cNvPr id="14" name="page-number">
            <a:extLst xmlns:a="http://schemas.openxmlformats.org/drawingml/2006/main">
              <a:ext uri="{FF2B5EF4-FFF2-40B4-BE49-F238E27FC236}">
                <a16:creationId xmlns:a16="http://schemas.microsoft.com/office/drawing/2014/main" id="{C7A74898-0B9B-4414-B9BA-747D9968FFEE}"/>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04</a:t>
            </a:r>
          </a:p>
        </p:txBody>
      </p:sp>
    </p:spTree>
    <p:extLst>
      <p:ext uri="{BB962C8B-B14F-4D97-AF65-F5344CB8AC3E}">
        <p14:creationId xmlns:p14="http://schemas.microsoft.com/office/powerpoint/2010/main" val="2084048699"/>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EB916C3-EA8C-4423-B221-84019F99F1BE}"/>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Pain across the job-search journey</a:t>
            </a:r>
          </a:p>
        </p:txBody>
      </p:sp>
      <p:sp>
        <p:nvSpPr>
          <p:cNvPr id="2" name="slide-lead">
            <a:extLst xmlns:a="http://schemas.openxmlformats.org/drawingml/2006/main">
              <a:ext uri="{FF2B5EF4-FFF2-40B4-BE49-F238E27FC236}">
                <a16:creationId xmlns:a16="http://schemas.microsoft.com/office/drawing/2014/main" id="{21D9F300-E094-4AE2-9439-D7BDB95B9831}"/>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Preparation work and employer-controlled delays can overlap.</a:t>
            </a:r>
          </a:p>
        </p:txBody>
      </p:sp>
      <p:graphicFrame>
        <p:nvGraphicFramePr>
          <p:cNvPr id="3" name="">
            <a:extLst xmlns:a="http://schemas.openxmlformats.org/drawingml/2006/main">
              <a:ext uri="{FF2B5EF4-FFF2-40B4-BE49-F238E27FC236}">
                <a16:creationId xmlns:a16="http://schemas.microsoft.com/office/drawing/2014/main" id="{F562D9E1-3A31-4FA9-9B45-303E978809A7}"/>
              </a:ext>
            </a:extLst>
          </p:cNvPr>
          <p:cNvGraphicFramePr/>
          <p:nvPr/>
        </p:nvGraphicFramePr>
        <p:xfrm>
          <a:off xmlns:a="http://schemas.openxmlformats.org/drawingml/2006/main" x="685800" y="2171700"/>
          <a:ext xmlns:a="http://schemas.openxmlformats.org/drawingml/2006/main" cx="10820400" cy="3524250"/>
        </p:xfrm>
        <a:graphic xmlns:a="http://schemas.openxmlformats.org/drawingml/2006/main">
          <a:graphicData uri="http://schemas.openxmlformats.org/drawingml/2006/table">
            <a:tbl>
              <a:tblPr firstRow="1" bandRow="0"/>
              <a:tblGrid>
                <a:gridCol w="3238500"/>
                <a:gridCol w="7581900"/>
              </a:tblGrid>
              <a:tr h="466725">
                <a:tc>
                  <a:txBody>
                    <a:bodyPr wrap="square" lIns="133350" tIns="85725" rIns="133350" bIns="85725">
                      <a:noAutofit/>
                    </a:bodyPr>
                    <a:lstStyle/>
                    <a:p>
                      <a:r>
                        <a:rPr sz="1725" b="1">
                          <a:solidFill>
                            <a:srgbClr val="FFFFFF"/>
                          </a:solidFill>
                          <a:latin typeface="Arial"/>
                          <a:ea typeface="Arial"/>
                          <a:cs typeface="Arial"/>
                        </a:rPr>
                        <a:t>Moment</a:t>
                      </a:r>
                    </a:p>
                  </a:txBody>
                  <a:tcPr marL="91440" marR="91440" marT="45720" marB="45720" anchor="ctr">
                    <a:lnL w="6668">
                      <a:solidFill>
                        <a:srgbClr val="D2DDDA"/>
                      </a:solidFill>
                      <a:prstDash val="solid"/>
                    </a:lnL>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c>
                  <a:txBody>
                    <a:bodyPr wrap="square" lIns="133350" tIns="85725" rIns="133350" bIns="85725">
                      <a:noAutofit/>
                    </a:bodyPr>
                    <a:lstStyle/>
                    <a:p>
                      <a:r>
                        <a:rPr sz="1725" b="1">
                          <a:solidFill>
                            <a:srgbClr val="FFFFFF"/>
                          </a:solidFill>
                          <a:latin typeface="Arial"/>
                          <a:ea typeface="Arial"/>
                          <a:cs typeface="Arial"/>
                        </a:rPr>
                        <a:t>Reported difficulty</a:t>
                      </a:r>
                    </a:p>
                  </a:txBody>
                  <a:tcPr marL="91440" marR="91440" marT="45720" marB="45720" anchor="ctr">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r>
              <a:tr h="611505">
                <a:tc>
                  <a:txBody>
                    <a:bodyPr wrap="square" lIns="133350" tIns="85725" rIns="133350" bIns="85725">
                      <a:noAutofit/>
                    </a:bodyPr>
                    <a:lstStyle/>
                    <a:p>
                      <a:r>
                        <a:rPr sz="1800" b="0">
                          <a:solidFill>
                            <a:srgbClr val="263B3A"/>
                          </a:solidFill>
                          <a:latin typeface="Arial"/>
                          <a:ea typeface="Arial"/>
                          <a:cs typeface="Arial"/>
                        </a:rPr>
                        <a:t>Assess an opening</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Unclear duties, conditions and requirements</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611505">
                <a:tc>
                  <a:txBody>
                    <a:bodyPr wrap="square" lIns="133350" tIns="85725" rIns="133350" bIns="85725">
                      <a:noAutofit/>
                    </a:bodyPr>
                    <a:lstStyle/>
                    <a:p>
                      <a:r>
                        <a:rPr sz="1800" b="0">
                          <a:solidFill>
                            <a:srgbClr val="263B3A"/>
                          </a:solidFill>
                          <a:latin typeface="Arial"/>
                          <a:ea typeface="Arial"/>
                          <a:cs typeface="Arial"/>
                        </a:rPr>
                        <a:t>Prepare an application</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Repeated tailoring, parsed-field corrections and re-entry</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611505">
                <a:tc>
                  <a:txBody>
                    <a:bodyPr wrap="square" lIns="133350" tIns="85725" rIns="133350" bIns="85725">
                      <a:noAutofit/>
                    </a:bodyPr>
                    <a:lstStyle/>
                    <a:p>
                      <a:r>
                        <a:rPr sz="1800" b="0">
                          <a:solidFill>
                            <a:srgbClr val="263B3A"/>
                          </a:solidFill>
                          <a:latin typeface="Arial"/>
                          <a:ea typeface="Arial"/>
                          <a:cs typeface="Arial"/>
                        </a:rPr>
                        <a:t>Attend interviews</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Leave, scheduling, assessments and uncertain round counts</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611505">
                <a:tc>
                  <a:txBody>
                    <a:bodyPr wrap="square" lIns="133350" tIns="85725" rIns="133350" bIns="85725">
                      <a:noAutofit/>
                    </a:bodyPr>
                    <a:lstStyle/>
                    <a:p>
                      <a:r>
                        <a:rPr sz="1800" b="0">
                          <a:solidFill>
                            <a:srgbClr val="263B3A"/>
                          </a:solidFill>
                          <a:latin typeface="Arial"/>
                          <a:ea typeface="Arial"/>
                          <a:cs typeface="Arial"/>
                        </a:rPr>
                        <a:t>Return after a pause</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Unfinished drafts and lost context</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611505">
                <a:tc>
                  <a:txBody>
                    <a:bodyPr wrap="square" lIns="133350" tIns="85725" rIns="133350" bIns="85725">
                      <a:noAutofit/>
                    </a:bodyPr>
                    <a:lstStyle/>
                    <a:p>
                      <a:r>
                        <a:rPr sz="1800" b="0">
                          <a:solidFill>
                            <a:srgbClr val="263B3A"/>
                          </a:solidFill>
                          <a:latin typeface="Arial"/>
                          <a:ea typeface="Arial"/>
                          <a:cs typeface="Arial"/>
                        </a:rPr>
                        <a:t>Wait for an outcome</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Silence, rejection and competing responsibilities</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bl>
          </a:graphicData>
        </a:graphic>
      </p:graphicFrame>
      <p:sp>
        <p:nvSpPr>
          <p:cNvPr id="4" name="evidence-note">
            <a:extLst xmlns:a="http://schemas.openxmlformats.org/drawingml/2006/main">
              <a:ext uri="{FF2B5EF4-FFF2-40B4-BE49-F238E27FC236}">
                <a16:creationId xmlns:a16="http://schemas.microsoft.com/office/drawing/2014/main" id="{23FBFE93-EA5A-4016-8461-F570E7969646}"/>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Accounts describe mechanisms. This pass did not measure their frequency or total time cost.</a:t>
            </a:r>
          </a:p>
        </p:txBody>
      </p:sp>
      <p:sp>
        <p:nvSpPr>
          <p:cNvPr id="5" name="page-number">
            <a:extLst xmlns:a="http://schemas.openxmlformats.org/drawingml/2006/main">
              <a:ext uri="{FF2B5EF4-FFF2-40B4-BE49-F238E27FC236}">
                <a16:creationId xmlns:a16="http://schemas.microsoft.com/office/drawing/2014/main" id="{FA9F6362-92FA-498E-BD15-273C13AE5F69}"/>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05</a:t>
            </a:r>
          </a:p>
        </p:txBody>
      </p:sp>
    </p:spTree>
    <p:extLst>
      <p:ext uri="{BB962C8B-B14F-4D97-AF65-F5344CB8AC3E}">
        <p14:creationId xmlns:p14="http://schemas.microsoft.com/office/powerpoint/2010/main" val="2115785898"/>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2DCAACD-7F33-440D-9D22-5D776E0AA9CF}"/>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Red flags become verification questions</a:t>
            </a:r>
          </a:p>
        </p:txBody>
      </p:sp>
      <p:sp>
        <p:nvSpPr>
          <p:cNvPr id="2" name="slide-lead">
            <a:extLst xmlns:a="http://schemas.openxmlformats.org/drawingml/2006/main">
              <a:ext uri="{FF2B5EF4-FFF2-40B4-BE49-F238E27FC236}">
                <a16:creationId xmlns:a16="http://schemas.microsoft.com/office/drawing/2014/main" id="{499C8434-5ACF-4D33-B9D7-C291CED1465B}"/>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Specific checks make concerns more useful.</a:t>
            </a:r>
          </a:p>
        </p:txBody>
      </p:sp>
      <p:graphicFrame>
        <p:nvGraphicFramePr>
          <p:cNvPr id="3" name="">
            <a:extLst xmlns:a="http://schemas.openxmlformats.org/drawingml/2006/main">
              <a:ext uri="{FF2B5EF4-FFF2-40B4-BE49-F238E27FC236}">
                <a16:creationId xmlns:a16="http://schemas.microsoft.com/office/drawing/2014/main" id="{C28353C9-35F8-432B-8C4B-046A56E4832B}"/>
              </a:ext>
            </a:extLst>
          </p:cNvPr>
          <p:cNvGraphicFramePr/>
          <p:nvPr/>
        </p:nvGraphicFramePr>
        <p:xfrm>
          <a:off xmlns:a="http://schemas.openxmlformats.org/drawingml/2006/main" x="685800" y="2171700"/>
          <a:ext xmlns:a="http://schemas.openxmlformats.org/drawingml/2006/main" cx="10820400" cy="3524250"/>
        </p:xfrm>
        <a:graphic xmlns:a="http://schemas.openxmlformats.org/drawingml/2006/main">
          <a:graphicData uri="http://schemas.openxmlformats.org/drawingml/2006/table">
            <a:tbl>
              <a:tblPr firstRow="1" bandRow="0"/>
              <a:tblGrid>
                <a:gridCol w="4095750"/>
                <a:gridCol w="6724650"/>
              </a:tblGrid>
              <a:tr h="466725">
                <a:tc>
                  <a:txBody>
                    <a:bodyPr wrap="square" lIns="133350" tIns="85725" rIns="133350" bIns="85725">
                      <a:noAutofit/>
                    </a:bodyPr>
                    <a:lstStyle/>
                    <a:p>
                      <a:r>
                        <a:rPr sz="1725" b="1">
                          <a:solidFill>
                            <a:srgbClr val="FFFFFF"/>
                          </a:solidFill>
                          <a:latin typeface="Arial"/>
                          <a:ea typeface="Arial"/>
                          <a:cs typeface="Arial"/>
                        </a:rPr>
                        <a:t>Signal or uncertainty</a:t>
                      </a:r>
                    </a:p>
                  </a:txBody>
                  <a:tcPr marL="91440" marR="91440" marT="45720" marB="45720" anchor="ctr">
                    <a:lnL w="6668">
                      <a:solidFill>
                        <a:srgbClr val="D2DDDA"/>
                      </a:solidFill>
                      <a:prstDash val="solid"/>
                    </a:lnL>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c>
                  <a:txBody>
                    <a:bodyPr wrap="square" lIns="133350" tIns="85725" rIns="133350" bIns="85725">
                      <a:noAutofit/>
                    </a:bodyPr>
                    <a:lstStyle/>
                    <a:p>
                      <a:r>
                        <a:rPr sz="1725" b="1">
                          <a:solidFill>
                            <a:srgbClr val="FFFFFF"/>
                          </a:solidFill>
                          <a:latin typeface="Arial"/>
                          <a:ea typeface="Arial"/>
                          <a:cs typeface="Arial"/>
                        </a:rPr>
                        <a:t>Question or check</a:t>
                      </a:r>
                    </a:p>
                  </a:txBody>
                  <a:tcPr marL="91440" marR="91440" marT="45720" marB="45720" anchor="ctr">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r>
              <a:tr h="764381">
                <a:tc>
                  <a:txBody>
                    <a:bodyPr wrap="square" lIns="133350" tIns="85725" rIns="133350" bIns="85725">
                      <a:noAutofit/>
                    </a:bodyPr>
                    <a:lstStyle/>
                    <a:p>
                      <a:r>
                        <a:rPr sz="1800" b="0">
                          <a:solidFill>
                            <a:srgbClr val="263B3A"/>
                          </a:solidFill>
                          <a:latin typeface="Arial"/>
                          <a:ea typeface="Arial"/>
                          <a:cs typeface="Arial"/>
                        </a:rPr>
                        <a:t>Unclear recruiter identity</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Can the organisation independently confirm the contact and vacancy?</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764381">
                <a:tc>
                  <a:txBody>
                    <a:bodyPr wrap="square" lIns="133350" tIns="85725" rIns="133350" bIns="85725">
                      <a:noAutofit/>
                    </a:bodyPr>
                    <a:lstStyle/>
                    <a:p>
                      <a:r>
                        <a:rPr sz="1800" b="0">
                          <a:solidFill>
                            <a:srgbClr val="263B3A"/>
                          </a:solidFill>
                          <a:latin typeface="Arial"/>
                          <a:ea typeface="Arial"/>
                          <a:cs typeface="Arial"/>
                        </a:rPr>
                        <a:t>Vague or shifting duties</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What work will I do, and how will success be assessed?</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764381">
                <a:tc>
                  <a:txBody>
                    <a:bodyPr wrap="square" lIns="133350" tIns="85725" rIns="133350" bIns="85725">
                      <a:noAutofit/>
                    </a:bodyPr>
                    <a:lstStyle/>
                    <a:p>
                      <a:r>
                        <a:rPr sz="1800" b="0">
                          <a:solidFill>
                            <a:srgbClr val="263B3A"/>
                          </a:solidFill>
                          <a:latin typeface="Arial"/>
                          <a:ea typeface="Arial"/>
                          <a:cs typeface="Arial"/>
                        </a:rPr>
                        <a:t>Pressure or substantial unpaid work</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What is the deadline, assessment scope and reason?</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764381">
                <a:tc>
                  <a:txBody>
                    <a:bodyPr wrap="square" lIns="133350" tIns="85725" rIns="133350" bIns="85725">
                      <a:noAutofit/>
                    </a:bodyPr>
                    <a:lstStyle/>
                    <a:p>
                      <a:r>
                        <a:rPr sz="1800" b="0">
                          <a:solidFill>
                            <a:srgbClr val="263B3A"/>
                          </a:solidFill>
                          <a:latin typeface="Arial"/>
                          <a:ea typeface="Arial"/>
                          <a:cs typeface="Arial"/>
                        </a:rPr>
                        <a:t>Repeated listings or hostile language</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What explains the hiring history, expectations and working conditions?</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bl>
          </a:graphicData>
        </a:graphic>
      </p:graphicFrame>
      <p:sp>
        <p:nvSpPr>
          <p:cNvPr id="4" name="evidence-note">
            <a:extLst xmlns:a="http://schemas.openxmlformats.org/drawingml/2006/main">
              <a:ext uri="{FF2B5EF4-FFF2-40B4-BE49-F238E27FC236}">
                <a16:creationId xmlns:a16="http://schemas.microsoft.com/office/drawing/2014/main" id="{A4FB6A82-4235-4D0E-AE54-4B138E57BCEE}"/>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Research-derived guidance. A phrase, repeated listing or polished website cannot establish employer intent.</a:t>
            </a:r>
          </a:p>
        </p:txBody>
      </p:sp>
      <p:sp>
        <p:nvSpPr>
          <p:cNvPr id="5" name="page-number">
            <a:extLst xmlns:a="http://schemas.openxmlformats.org/drawingml/2006/main">
              <a:ext uri="{FF2B5EF4-FFF2-40B4-BE49-F238E27FC236}">
                <a16:creationId xmlns:a16="http://schemas.microsoft.com/office/drawing/2014/main" id="{8DC31A18-401A-49B2-9157-860ABA8AB809}"/>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06</a:t>
            </a:r>
          </a:p>
        </p:txBody>
      </p:sp>
    </p:spTree>
    <p:extLst>
      <p:ext uri="{BB962C8B-B14F-4D97-AF65-F5344CB8AC3E}">
        <p14:creationId xmlns:p14="http://schemas.microsoft.com/office/powerpoint/2010/main" val="908708967"/>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6799B813-08A0-48A7-A29F-3191556D9BA2}"/>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Job fit needs several kinds of evidence</a:t>
            </a:r>
          </a:p>
        </p:txBody>
      </p:sp>
      <p:sp>
        <p:nvSpPr>
          <p:cNvPr id="2" name="slide-lead">
            <a:extLst xmlns:a="http://schemas.openxmlformats.org/drawingml/2006/main">
              <a:ext uri="{FF2B5EF4-FFF2-40B4-BE49-F238E27FC236}">
                <a16:creationId xmlns:a16="http://schemas.microsoft.com/office/drawing/2014/main" id="{48B746E7-16C2-482F-A3C3-E1A5F8ABAB06}"/>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A low keyword score can hide relevant experience.</a:t>
            </a:r>
          </a:p>
        </p:txBody>
      </p:sp>
      <p:sp>
        <p:nvSpPr>
          <p:cNvPr id="3" name="statement-heading-0">
            <a:extLst xmlns:a="http://schemas.openxmlformats.org/drawingml/2006/main">
              <a:ext uri="{FF2B5EF4-FFF2-40B4-BE49-F238E27FC236}">
                <a16:creationId xmlns:a16="http://schemas.microsoft.com/office/drawing/2014/main" id="{6E3D5B9D-DF98-478F-8831-321DB9182833}"/>
              </a:ext>
            </a:extLst>
          </p:cNvPr>
          <p:cNvSpPr>
            <a:spLocks xmlns:a="http://schemas.openxmlformats.org/drawingml/2006/main" noGrp="1"/>
          </p:cNvSpPr>
          <p:nvPr/>
        </p:nvSpPr>
        <p:spPr>
          <a:xfrm xmlns:a="http://schemas.openxmlformats.org/drawingml/2006/main">
            <a:off x="704850" y="220980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Demonstrated experience</a:t>
            </a:r>
          </a:p>
        </p:txBody>
      </p:sp>
      <p:sp>
        <p:nvSpPr>
          <p:cNvPr id="4" name="statement-body-0">
            <a:extLst xmlns:a="http://schemas.openxmlformats.org/drawingml/2006/main">
              <a:ext uri="{FF2B5EF4-FFF2-40B4-BE49-F238E27FC236}">
                <a16:creationId xmlns:a16="http://schemas.microsoft.com/office/drawing/2014/main" id="{FC902B82-0249-4D49-B322-18EA6B54928A}"/>
              </a:ext>
            </a:extLst>
          </p:cNvPr>
          <p:cNvSpPr>
            <a:spLocks xmlns:a="http://schemas.openxmlformats.org/drawingml/2006/main" noGrp="1"/>
          </p:cNvSpPr>
          <p:nvPr/>
        </p:nvSpPr>
        <p:spPr>
          <a:xfrm xmlns:a="http://schemas.openxmlformats.org/drawingml/2006/main">
            <a:off x="704850" y="258127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Which real tasks or outcomes support the requirement?</a:t>
            </a:r>
          </a:p>
        </p:txBody>
      </p:sp>
      <p:sp>
        <p:nvSpPr>
          <p:cNvPr id="5" name="statement-heading-1">
            <a:extLst xmlns:a="http://schemas.openxmlformats.org/drawingml/2006/main">
              <a:ext uri="{FF2B5EF4-FFF2-40B4-BE49-F238E27FC236}">
                <a16:creationId xmlns:a16="http://schemas.microsoft.com/office/drawing/2014/main" id="{E0BACF13-F518-48A6-9CA5-C2B44109AF81}"/>
              </a:ext>
            </a:extLst>
          </p:cNvPr>
          <p:cNvSpPr>
            <a:spLocks xmlns:a="http://schemas.openxmlformats.org/drawingml/2006/main" noGrp="1"/>
          </p:cNvSpPr>
          <p:nvPr/>
        </p:nvSpPr>
        <p:spPr>
          <a:xfrm xmlns:a="http://schemas.openxmlformats.org/drawingml/2006/main">
            <a:off x="704850" y="307657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Transferable skills</a:t>
            </a:r>
          </a:p>
        </p:txBody>
      </p:sp>
      <p:sp>
        <p:nvSpPr>
          <p:cNvPr id="6" name="statement-body-1">
            <a:extLst xmlns:a="http://schemas.openxmlformats.org/drawingml/2006/main">
              <a:ext uri="{FF2B5EF4-FFF2-40B4-BE49-F238E27FC236}">
                <a16:creationId xmlns:a16="http://schemas.microsoft.com/office/drawing/2014/main" id="{D5B0E943-BCE9-41AB-9AB2-2129104EEE8D}"/>
              </a:ext>
            </a:extLst>
          </p:cNvPr>
          <p:cNvSpPr>
            <a:spLocks xmlns:a="http://schemas.openxmlformats.org/drawingml/2006/main" noGrp="1"/>
          </p:cNvSpPr>
          <p:nvPr/>
        </p:nvSpPr>
        <p:spPr>
          <a:xfrm xmlns:a="http://schemas.openxmlformats.org/drawingml/2006/main">
            <a:off x="704850" y="344805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How does that experience apply in the new setting?</a:t>
            </a:r>
          </a:p>
        </p:txBody>
      </p:sp>
      <p:sp>
        <p:nvSpPr>
          <p:cNvPr id="7" name="statement-heading-2">
            <a:extLst xmlns:a="http://schemas.openxmlformats.org/drawingml/2006/main">
              <a:ext uri="{FF2B5EF4-FFF2-40B4-BE49-F238E27FC236}">
                <a16:creationId xmlns:a16="http://schemas.microsoft.com/office/drawing/2014/main" id="{B0280631-442B-432C-8589-DF83BF2BD813}"/>
              </a:ext>
            </a:extLst>
          </p:cNvPr>
          <p:cNvSpPr>
            <a:spLocks xmlns:a="http://schemas.openxmlformats.org/drawingml/2006/main" noGrp="1"/>
          </p:cNvSpPr>
          <p:nvPr/>
        </p:nvSpPr>
        <p:spPr>
          <a:xfrm xmlns:a="http://schemas.openxmlformats.org/drawingml/2006/main">
            <a:off x="704850" y="394335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A real gap or missing information</a:t>
            </a:r>
          </a:p>
        </p:txBody>
      </p:sp>
      <p:sp>
        <p:nvSpPr>
          <p:cNvPr id="8" name="statement-body-2">
            <a:extLst xmlns:a="http://schemas.openxmlformats.org/drawingml/2006/main">
              <a:ext uri="{FF2B5EF4-FFF2-40B4-BE49-F238E27FC236}">
                <a16:creationId xmlns:a16="http://schemas.microsoft.com/office/drawing/2014/main" id="{A379A049-CF03-40C6-9F2E-415D397522E6}"/>
              </a:ext>
            </a:extLst>
          </p:cNvPr>
          <p:cNvSpPr>
            <a:spLocks xmlns:a="http://schemas.openxmlformats.org/drawingml/2006/main" noGrp="1"/>
          </p:cNvSpPr>
          <p:nvPr/>
        </p:nvSpPr>
        <p:spPr>
          <a:xfrm xmlns:a="http://schemas.openxmlformats.org/drawingml/2006/main">
            <a:off x="704850" y="431482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Does the person lack the skill, or does the record need clarification?</a:t>
            </a:r>
          </a:p>
        </p:txBody>
      </p:sp>
      <p:sp>
        <p:nvSpPr>
          <p:cNvPr id="9" name="statement-heading-3">
            <a:extLst xmlns:a="http://schemas.openxmlformats.org/drawingml/2006/main">
              <a:ext uri="{FF2B5EF4-FFF2-40B4-BE49-F238E27FC236}">
                <a16:creationId xmlns:a16="http://schemas.microsoft.com/office/drawing/2014/main" id="{76F35EE4-85D1-40A2-8492-9A1A3E3CF9EF}"/>
              </a:ext>
            </a:extLst>
          </p:cNvPr>
          <p:cNvSpPr>
            <a:spLocks xmlns:a="http://schemas.openxmlformats.org/drawingml/2006/main" noGrp="1"/>
          </p:cNvSpPr>
          <p:nvPr/>
        </p:nvSpPr>
        <p:spPr>
          <a:xfrm xmlns:a="http://schemas.openxmlformats.org/drawingml/2006/main">
            <a:off x="704850" y="481012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Essential criteria and personal conditions</a:t>
            </a:r>
          </a:p>
        </p:txBody>
      </p:sp>
      <p:sp>
        <p:nvSpPr>
          <p:cNvPr id="10" name="statement-body-3">
            <a:extLst xmlns:a="http://schemas.openxmlformats.org/drawingml/2006/main">
              <a:ext uri="{FF2B5EF4-FFF2-40B4-BE49-F238E27FC236}">
                <a16:creationId xmlns:a16="http://schemas.microsoft.com/office/drawing/2014/main" id="{0CF655B2-AA85-4D1C-AE47-D9DE3F7E7526}"/>
              </a:ext>
            </a:extLst>
          </p:cNvPr>
          <p:cNvSpPr>
            <a:spLocks xmlns:a="http://schemas.openxmlformats.org/drawingml/2006/main" noGrp="1"/>
          </p:cNvSpPr>
          <p:nvPr/>
        </p:nvSpPr>
        <p:spPr>
          <a:xfrm xmlns:a="http://schemas.openxmlformats.org/drawingml/2006/main">
            <a:off x="704850" y="518160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Verify requirements, shifts, location and constraints before judging suitability.</a:t>
            </a:r>
          </a:p>
        </p:txBody>
      </p:sp>
      <p:sp>
        <p:nvSpPr>
          <p:cNvPr id="11" name="evidence-note">
            <a:extLst xmlns:a="http://schemas.openxmlformats.org/drawingml/2006/main">
              <a:ext uri="{FF2B5EF4-FFF2-40B4-BE49-F238E27FC236}">
                <a16:creationId xmlns:a16="http://schemas.microsoft.com/office/drawing/2014/main" id="{A10D085C-EFD5-428F-9498-67A9A8F8AFB6}"/>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Research-derived guidance. No validated fit score or individual eligibility assessment resulted from this research.</a:t>
            </a:r>
          </a:p>
        </p:txBody>
      </p:sp>
      <p:sp>
        <p:nvSpPr>
          <p:cNvPr id="12" name="page-number">
            <a:extLst xmlns:a="http://schemas.openxmlformats.org/drawingml/2006/main">
              <a:ext uri="{FF2B5EF4-FFF2-40B4-BE49-F238E27FC236}">
                <a16:creationId xmlns:a16="http://schemas.microsoft.com/office/drawing/2014/main" id="{29DFA495-0594-491F-AE80-B956F5A5CC4F}"/>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07</a:t>
            </a:r>
          </a:p>
        </p:txBody>
      </p:sp>
    </p:spTree>
    <p:extLst>
      <p:ext uri="{BB962C8B-B14F-4D97-AF65-F5344CB8AC3E}">
        <p14:creationId xmlns:p14="http://schemas.microsoft.com/office/powerpoint/2010/main" val="1615952208"/>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9EBC56C-FF95-4A7C-8B5C-79C7A2E95190}"/>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Pay comparisons need a common basis</a:t>
            </a:r>
          </a:p>
        </p:txBody>
      </p:sp>
      <p:sp>
        <p:nvSpPr>
          <p:cNvPr id="2" name="slide-lead">
            <a:extLst xmlns:a="http://schemas.openxmlformats.org/drawingml/2006/main">
              <a:ext uri="{FF2B5EF4-FFF2-40B4-BE49-F238E27FC236}">
                <a16:creationId xmlns:a16="http://schemas.microsoft.com/office/drawing/2014/main" id="{B0B01915-690F-4077-90C3-193BE32FB24A}"/>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Market pay, the full offer and personal priorities answer different questions.</a:t>
            </a:r>
          </a:p>
        </p:txBody>
      </p:sp>
      <p:graphicFrame>
        <p:nvGraphicFramePr>
          <p:cNvPr id="3" name="">
            <a:extLst xmlns:a="http://schemas.openxmlformats.org/drawingml/2006/main">
              <a:ext uri="{FF2B5EF4-FFF2-40B4-BE49-F238E27FC236}">
                <a16:creationId xmlns:a16="http://schemas.microsoft.com/office/drawing/2014/main" id="{B1B0E63A-80D8-4946-A869-CF9B43AE1E42}"/>
              </a:ext>
            </a:extLst>
          </p:cNvPr>
          <p:cNvGraphicFramePr/>
          <p:nvPr/>
        </p:nvGraphicFramePr>
        <p:xfrm>
          <a:off xmlns:a="http://schemas.openxmlformats.org/drawingml/2006/main" x="685800" y="2171700"/>
          <a:ext xmlns:a="http://schemas.openxmlformats.org/drawingml/2006/main" cx="10820400" cy="3524250"/>
        </p:xfrm>
        <a:graphic xmlns:a="http://schemas.openxmlformats.org/drawingml/2006/main">
          <a:graphicData uri="http://schemas.openxmlformats.org/drawingml/2006/table">
            <a:tbl>
              <a:tblPr firstRow="1" bandRow="0"/>
              <a:tblGrid>
                <a:gridCol w="3238500"/>
                <a:gridCol w="7581900"/>
              </a:tblGrid>
              <a:tr h="466725">
                <a:tc>
                  <a:txBody>
                    <a:bodyPr wrap="square" lIns="133350" tIns="85725" rIns="133350" bIns="85725">
                      <a:noAutofit/>
                    </a:bodyPr>
                    <a:lstStyle/>
                    <a:p>
                      <a:r>
                        <a:rPr sz="1725" b="1">
                          <a:solidFill>
                            <a:srgbClr val="FFFFFF"/>
                          </a:solidFill>
                          <a:latin typeface="Arial"/>
                          <a:ea typeface="Arial"/>
                          <a:cs typeface="Arial"/>
                        </a:rPr>
                        <a:t>Compare</a:t>
                      </a:r>
                    </a:p>
                  </a:txBody>
                  <a:tcPr marL="91440" marR="91440" marT="45720" marB="45720" anchor="ctr">
                    <a:lnL w="6668">
                      <a:solidFill>
                        <a:srgbClr val="D2DDDA"/>
                      </a:solidFill>
                      <a:prstDash val="solid"/>
                    </a:lnL>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c>
                  <a:txBody>
                    <a:bodyPr wrap="square" lIns="133350" tIns="85725" rIns="133350" bIns="85725">
                      <a:noAutofit/>
                    </a:bodyPr>
                    <a:lstStyle/>
                    <a:p>
                      <a:r>
                        <a:rPr sz="1725" b="1">
                          <a:solidFill>
                            <a:srgbClr val="FFFFFF"/>
                          </a:solidFill>
                          <a:latin typeface="Arial"/>
                          <a:ea typeface="Arial"/>
                          <a:cs typeface="Arial"/>
                        </a:rPr>
                        <a:t>Record before judging</a:t>
                      </a:r>
                    </a:p>
                  </a:txBody>
                  <a:tcPr marL="91440" marR="91440" marT="45720" marB="45720" anchor="ctr">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r>
              <a:tr h="611505">
                <a:tc>
                  <a:txBody>
                    <a:bodyPr wrap="square" lIns="133350" tIns="85725" rIns="133350" bIns="85725">
                      <a:noAutofit/>
                    </a:bodyPr>
                    <a:lstStyle/>
                    <a:p>
                      <a:r>
                        <a:rPr sz="1800" b="0">
                          <a:solidFill>
                            <a:srgbClr val="263B3A"/>
                          </a:solidFill>
                          <a:latin typeface="Arial"/>
                          <a:ea typeface="Arial"/>
                          <a:cs typeface="Arial"/>
                        </a:rPr>
                        <a:t>Benchmark</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Role, scope, level, location and reference date</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611505">
                <a:tc>
                  <a:txBody>
                    <a:bodyPr wrap="square" lIns="133350" tIns="85725" rIns="133350" bIns="85725">
                      <a:noAutofit/>
                    </a:bodyPr>
                    <a:lstStyle/>
                    <a:p>
                      <a:r>
                        <a:rPr sz="1800" b="0">
                          <a:solidFill>
                            <a:srgbClr val="263B3A"/>
                          </a:solidFill>
                          <a:latin typeface="Arial"/>
                          <a:ea typeface="Arial"/>
                          <a:cs typeface="Arial"/>
                        </a:rPr>
                        <a:t>Recurring cash</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Basic pay, allowances and hours on a consistent basis</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611505">
                <a:tc>
                  <a:txBody>
                    <a:bodyPr wrap="square" lIns="133350" tIns="85725" rIns="133350" bIns="85725">
                      <a:noAutofit/>
                    </a:bodyPr>
                    <a:lstStyle/>
                    <a:p>
                      <a:r>
                        <a:rPr sz="1800" b="0">
                          <a:solidFill>
                            <a:srgbClr val="263B3A"/>
                          </a:solidFill>
                          <a:latin typeface="Arial"/>
                          <a:ea typeface="Arial"/>
                          <a:cs typeface="Arial"/>
                        </a:rPr>
                        <a:t>Conditional value</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Bonus, commission, equity, vesting and eligibility</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611505">
                <a:tc>
                  <a:txBody>
                    <a:bodyPr wrap="square" lIns="133350" tIns="85725" rIns="133350" bIns="85725">
                      <a:noAutofit/>
                    </a:bodyPr>
                    <a:lstStyle/>
                    <a:p>
                      <a:r>
                        <a:rPr sz="1800" b="0">
                          <a:solidFill>
                            <a:srgbClr val="263B3A"/>
                          </a:solidFill>
                          <a:latin typeface="Arial"/>
                          <a:ea typeface="Arial"/>
                          <a:cs typeface="Arial"/>
                        </a:rPr>
                        <a:t>Work package</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Leave, benefits, shifts, location and contract terms</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611505">
                <a:tc>
                  <a:txBody>
                    <a:bodyPr wrap="square" lIns="133350" tIns="85725" rIns="133350" bIns="85725">
                      <a:noAutofit/>
                    </a:bodyPr>
                    <a:lstStyle/>
                    <a:p>
                      <a:r>
                        <a:rPr sz="1800" b="0">
                          <a:solidFill>
                            <a:srgbClr val="263B3A"/>
                          </a:solidFill>
                          <a:latin typeface="Arial"/>
                          <a:ea typeface="Arial"/>
                          <a:cs typeface="Arial"/>
                        </a:rPr>
                        <a:t>Personal choice</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Acceptable minimum, priorities and alternatives</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bl>
          </a:graphicData>
        </a:graphic>
      </p:graphicFrame>
      <p:sp>
        <p:nvSpPr>
          <p:cNvPr id="4" name="evidence-note">
            <a:extLst xmlns:a="http://schemas.openxmlformats.org/drawingml/2006/main">
              <a:ext uri="{FF2B5EF4-FFF2-40B4-BE49-F238E27FC236}">
                <a16:creationId xmlns:a16="http://schemas.microsoft.com/office/drawing/2014/main" id="{D720E9AB-B0F7-4D12-90E0-79829F04DBF4}"/>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Research-derived guidance. MOM's 2025 wage data provide context without determining an individual's entitlement.</a:t>
            </a:r>
          </a:p>
        </p:txBody>
      </p:sp>
      <p:sp>
        <p:nvSpPr>
          <p:cNvPr id="5" name="page-number">
            <a:extLst xmlns:a="http://schemas.openxmlformats.org/drawingml/2006/main">
              <a:ext uri="{FF2B5EF4-FFF2-40B4-BE49-F238E27FC236}">
                <a16:creationId xmlns:a16="http://schemas.microsoft.com/office/drawing/2014/main" id="{BF142CC6-0111-4D4F-9FE2-0AE9D04EB5A3}"/>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08</a:t>
            </a:r>
          </a:p>
        </p:txBody>
      </p:sp>
    </p:spTree>
    <p:extLst>
      <p:ext uri="{BB962C8B-B14F-4D97-AF65-F5344CB8AC3E}">
        <p14:creationId xmlns:p14="http://schemas.microsoft.com/office/powerpoint/2010/main" val="1733076321"/>
      </p:ext>
    </p:extLst>
  </p:cSld>
</p:sld>
</file>

<file path=ppt/slides/slide9.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5F7609F0-560E-49F0-AC54-927B02F77D86}"/>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Negotiation depends on the opportunity</a:t>
            </a:r>
          </a:p>
        </p:txBody>
      </p:sp>
      <p:sp>
        <p:nvSpPr>
          <p:cNvPr id="2" name="slide-lead">
            <a:extLst xmlns:a="http://schemas.openxmlformats.org/drawingml/2006/main">
              <a:ext uri="{FF2B5EF4-FFF2-40B4-BE49-F238E27FC236}">
                <a16:creationId xmlns:a16="http://schemas.microsoft.com/office/drawing/2014/main" id="{0ACF6667-64E7-4660-9392-85D3645BCEC6}"/>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A prepared choice can include accepting, countering or declining.</a:t>
            </a:r>
          </a:p>
        </p:txBody>
      </p:sp>
      <p:sp>
        <p:nvSpPr>
          <p:cNvPr id="3" name="column-heading-0">
            <a:extLst xmlns:a="http://schemas.openxmlformats.org/drawingml/2006/main">
              <a:ext uri="{FF2B5EF4-FFF2-40B4-BE49-F238E27FC236}">
                <a16:creationId xmlns:a16="http://schemas.microsoft.com/office/drawing/2014/main" id="{55560038-BDE5-454B-89F6-147848E72406}"/>
              </a:ext>
            </a:extLst>
          </p:cNvPr>
          <p:cNvSpPr>
            <a:spLocks xmlns:a="http://schemas.openxmlformats.org/drawingml/2006/main" noGrp="1"/>
          </p:cNvSpPr>
          <p:nvPr/>
        </p:nvSpPr>
        <p:spPr>
          <a:xfrm xmlns:a="http://schemas.openxmlformats.org/drawingml/2006/main">
            <a:off x="7048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Preparation</a:t>
            </a:r>
          </a:p>
        </p:txBody>
      </p:sp>
      <p:sp>
        <p:nvSpPr>
          <p:cNvPr id="4" name="column-0-item-0">
            <a:extLst xmlns:a="http://schemas.openxmlformats.org/drawingml/2006/main">
              <a:ext uri="{FF2B5EF4-FFF2-40B4-BE49-F238E27FC236}">
                <a16:creationId xmlns:a16="http://schemas.microsoft.com/office/drawing/2014/main" id="{454C9622-ACA2-4130-B203-1CB8E955D4E2}"/>
              </a:ext>
            </a:extLst>
          </p:cNvPr>
          <p:cNvSpPr>
            <a:spLocks xmlns:a="http://schemas.openxmlformats.org/drawingml/2006/main" noGrp="1"/>
          </p:cNvSpPr>
          <p:nvPr/>
        </p:nvSpPr>
        <p:spPr>
          <a:xfrm xmlns:a="http://schemas.openxmlformats.org/drawingml/2006/main">
            <a:off x="7048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Find comparable evidence for the role</a:t>
            </a:r>
          </a:p>
        </p:txBody>
      </p:sp>
      <p:sp>
        <p:nvSpPr>
          <p:cNvPr id="5" name="column-0-item-1">
            <a:extLst xmlns:a="http://schemas.openxmlformats.org/drawingml/2006/main">
              <a:ext uri="{FF2B5EF4-FFF2-40B4-BE49-F238E27FC236}">
                <a16:creationId xmlns:a16="http://schemas.microsoft.com/office/drawing/2014/main" id="{5A07460D-2A51-490A-BD80-6AD1C95650F7}"/>
              </a:ext>
            </a:extLst>
          </p:cNvPr>
          <p:cNvSpPr>
            <a:spLocks xmlns:a="http://schemas.openxmlformats.org/drawingml/2006/main" noGrp="1"/>
          </p:cNvSpPr>
          <p:nvPr/>
        </p:nvSpPr>
        <p:spPr>
          <a:xfrm xmlns:a="http://schemas.openxmlformats.org/drawingml/2006/main">
            <a:off x="7048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Clarify what can change in the package</a:t>
            </a:r>
          </a:p>
        </p:txBody>
      </p:sp>
      <p:sp>
        <p:nvSpPr>
          <p:cNvPr id="6" name="column-0-item-2">
            <a:extLst xmlns:a="http://schemas.openxmlformats.org/drawingml/2006/main">
              <a:ext uri="{FF2B5EF4-FFF2-40B4-BE49-F238E27FC236}">
                <a16:creationId xmlns:a16="http://schemas.microsoft.com/office/drawing/2014/main" id="{66CE5F06-B439-4ED2-9067-E767D2E48406}"/>
              </a:ext>
            </a:extLst>
          </p:cNvPr>
          <p:cNvSpPr>
            <a:spLocks xmlns:a="http://schemas.openxmlformats.org/drawingml/2006/main" noGrp="1"/>
          </p:cNvSpPr>
          <p:nvPr/>
        </p:nvSpPr>
        <p:spPr>
          <a:xfrm xmlns:a="http://schemas.openxmlformats.org/drawingml/2006/main">
            <a:off x="7048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Understand the deadline and alternatives</a:t>
            </a:r>
          </a:p>
        </p:txBody>
      </p:sp>
      <p:sp>
        <p:nvSpPr>
          <p:cNvPr id="7" name="column-0-item-3">
            <a:extLst xmlns:a="http://schemas.openxmlformats.org/drawingml/2006/main">
              <a:ext uri="{FF2B5EF4-FFF2-40B4-BE49-F238E27FC236}">
                <a16:creationId xmlns:a16="http://schemas.microsoft.com/office/drawing/2014/main" id="{AF28E509-2FD1-4893-9EF1-97F1BB9BDE8C}"/>
              </a:ext>
            </a:extLst>
          </p:cNvPr>
          <p:cNvSpPr>
            <a:spLocks xmlns:a="http://schemas.openxmlformats.org/drawingml/2006/main" noGrp="1"/>
          </p:cNvSpPr>
          <p:nvPr/>
        </p:nvSpPr>
        <p:spPr>
          <a:xfrm xmlns:a="http://schemas.openxmlformats.org/drawingml/2006/main">
            <a:off x="7048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Prepare a supported request</a:t>
            </a:r>
          </a:p>
        </p:txBody>
      </p:sp>
      <p:sp>
        <p:nvSpPr>
          <p:cNvPr id="8" name="column-heading-1">
            <a:extLst xmlns:a="http://schemas.openxmlformats.org/drawingml/2006/main">
              <a:ext uri="{FF2B5EF4-FFF2-40B4-BE49-F238E27FC236}">
                <a16:creationId xmlns:a16="http://schemas.microsoft.com/office/drawing/2014/main" id="{3515AA6F-941C-439E-8B25-7BCC94FD05B8}"/>
              </a:ext>
            </a:extLst>
          </p:cNvPr>
          <p:cNvSpPr>
            <a:spLocks xmlns:a="http://schemas.openxmlformats.org/drawingml/2006/main" noGrp="1"/>
          </p:cNvSpPr>
          <p:nvPr/>
        </p:nvSpPr>
        <p:spPr>
          <a:xfrm xmlns:a="http://schemas.openxmlformats.org/drawingml/2006/main">
            <a:off x="63055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Conditions that change the advice</a:t>
            </a:r>
          </a:p>
        </p:txBody>
      </p:sp>
      <p:sp>
        <p:nvSpPr>
          <p:cNvPr id="9" name="column-1-item-0">
            <a:extLst xmlns:a="http://schemas.openxmlformats.org/drawingml/2006/main">
              <a:ext uri="{FF2B5EF4-FFF2-40B4-BE49-F238E27FC236}">
                <a16:creationId xmlns:a16="http://schemas.microsoft.com/office/drawing/2014/main" id="{06E036E1-3E2E-4266-96B9-9C10D5C78E04}"/>
              </a:ext>
            </a:extLst>
          </p:cNvPr>
          <p:cNvSpPr>
            <a:spLocks xmlns:a="http://schemas.openxmlformats.org/drawingml/2006/main" noGrp="1"/>
          </p:cNvSpPr>
          <p:nvPr/>
        </p:nvSpPr>
        <p:spPr>
          <a:xfrm xmlns:a="http://schemas.openxmlformats.org/drawingml/2006/main">
            <a:off x="63055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Fixed bands and standardised scales</a:t>
            </a:r>
          </a:p>
        </p:txBody>
      </p:sp>
      <p:sp>
        <p:nvSpPr>
          <p:cNvPr id="10" name="column-1-item-1">
            <a:extLst xmlns:a="http://schemas.openxmlformats.org/drawingml/2006/main">
              <a:ext uri="{FF2B5EF4-FFF2-40B4-BE49-F238E27FC236}">
                <a16:creationId xmlns:a16="http://schemas.microsoft.com/office/drawing/2014/main" id="{6FCAF22A-7270-4CA5-9ACC-CB42796866CC}"/>
              </a:ext>
            </a:extLst>
          </p:cNvPr>
          <p:cNvSpPr>
            <a:spLocks xmlns:a="http://schemas.openxmlformats.org/drawingml/2006/main" noGrp="1"/>
          </p:cNvSpPr>
          <p:nvPr/>
        </p:nvSpPr>
        <p:spPr>
          <a:xfrm xmlns:a="http://schemas.openxmlformats.org/drawingml/2006/main">
            <a:off x="63055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Variable pay or contract arrangements</a:t>
            </a:r>
          </a:p>
        </p:txBody>
      </p:sp>
      <p:sp>
        <p:nvSpPr>
          <p:cNvPr id="11" name="column-1-item-2">
            <a:extLst xmlns:a="http://schemas.openxmlformats.org/drawingml/2006/main">
              <a:ext uri="{FF2B5EF4-FFF2-40B4-BE49-F238E27FC236}">
                <a16:creationId xmlns:a16="http://schemas.microsoft.com/office/drawing/2014/main" id="{84D8AE90-AC09-48CD-AD4B-D78ADAF25600}"/>
              </a:ext>
            </a:extLst>
          </p:cNvPr>
          <p:cNvSpPr>
            <a:spLocks xmlns:a="http://schemas.openxmlformats.org/drawingml/2006/main" noGrp="1"/>
          </p:cNvSpPr>
          <p:nvPr/>
        </p:nvSpPr>
        <p:spPr>
          <a:xfrm xmlns:a="http://schemas.openxmlformats.org/drawingml/2006/main">
            <a:off x="63055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Urgency and bargaining position</a:t>
            </a:r>
          </a:p>
        </p:txBody>
      </p:sp>
      <p:sp>
        <p:nvSpPr>
          <p:cNvPr id="12" name="column-1-item-3">
            <a:extLst xmlns:a="http://schemas.openxmlformats.org/drawingml/2006/main">
              <a:ext uri="{FF2B5EF4-FFF2-40B4-BE49-F238E27FC236}">
                <a16:creationId xmlns:a16="http://schemas.microsoft.com/office/drawing/2014/main" id="{AE9357C7-BE35-4F39-A0DE-F0863BAFA4A9}"/>
              </a:ext>
            </a:extLst>
          </p:cNvPr>
          <p:cNvSpPr>
            <a:spLocks xmlns:a="http://schemas.openxmlformats.org/drawingml/2006/main" noGrp="1"/>
          </p:cNvSpPr>
          <p:nvPr/>
        </p:nvSpPr>
        <p:spPr>
          <a:xfrm xmlns:a="http://schemas.openxmlformats.org/drawingml/2006/main">
            <a:off x="63055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Tolerance for losing the offer</a:t>
            </a:r>
          </a:p>
        </p:txBody>
      </p:sp>
      <p:sp>
        <p:nvSpPr>
          <p:cNvPr id="13" name="evidence-note">
            <a:extLst xmlns:a="http://schemas.openxmlformats.org/drawingml/2006/main">
              <a:ext uri="{FF2B5EF4-FFF2-40B4-BE49-F238E27FC236}">
                <a16:creationId xmlns:a16="http://schemas.microsoft.com/office/drawing/2014/main" id="{AB2EE336-DA11-4E23-8AB5-C809AF920055}"/>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Research-derived guidance. No universal uplift or risk-free negotiation script is established.</a:t>
            </a:r>
          </a:p>
        </p:txBody>
      </p:sp>
      <p:sp>
        <p:nvSpPr>
          <p:cNvPr id="14" name="page-number">
            <a:extLst xmlns:a="http://schemas.openxmlformats.org/drawingml/2006/main">
              <a:ext uri="{FF2B5EF4-FFF2-40B4-BE49-F238E27FC236}">
                <a16:creationId xmlns:a16="http://schemas.microsoft.com/office/drawing/2014/main" id="{C9113190-27DF-4312-869B-1E22923674F4}"/>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09</a:t>
            </a:r>
          </a:p>
        </p:txBody>
      </p:sp>
    </p:spTree>
    <p:extLst>
      <p:ext uri="{BB962C8B-B14F-4D97-AF65-F5344CB8AC3E}">
        <p14:creationId xmlns:p14="http://schemas.microsoft.com/office/powerpoint/2010/main" val="1297644691"/>
      </p:ext>
    </p:extLst>
  </p:cSld>
</p:sld>
</file>

<file path=ppt/slides/slide10.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F461AEA-A914-4E6C-A9DF-240C7BB2B43A}"/>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Truthful tailoring starts with real facts</a:t>
            </a:r>
          </a:p>
        </p:txBody>
      </p:sp>
      <p:sp>
        <p:nvSpPr>
          <p:cNvPr id="2" name="slide-lead">
            <a:extLst xmlns:a="http://schemas.openxmlformats.org/drawingml/2006/main">
              <a:ext uri="{FF2B5EF4-FFF2-40B4-BE49-F238E27FC236}">
                <a16:creationId xmlns:a16="http://schemas.microsoft.com/office/drawing/2014/main" id="{8A1581C9-C2A6-4CA4-9575-550C3B437A55}"/>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Research-derived guidance uses fictional examples. Titles, dates and metrics stay factual.</a:t>
            </a:r>
          </a:p>
        </p:txBody>
      </p:sp>
      <p:graphicFrame>
        <p:nvGraphicFramePr>
          <p:cNvPr id="3" name="">
            <a:extLst xmlns:a="http://schemas.openxmlformats.org/drawingml/2006/main">
              <a:ext uri="{FF2B5EF4-FFF2-40B4-BE49-F238E27FC236}">
                <a16:creationId xmlns:a16="http://schemas.microsoft.com/office/drawing/2014/main" id="{D93EEF55-FC0A-456C-8E2E-1A660022D151}"/>
              </a:ext>
            </a:extLst>
          </p:cNvPr>
          <p:cNvGraphicFramePr/>
          <p:nvPr/>
        </p:nvGraphicFramePr>
        <p:xfrm>
          <a:off xmlns:a="http://schemas.openxmlformats.org/drawingml/2006/main" x="685800" y="2171700"/>
          <a:ext xmlns:a="http://schemas.openxmlformats.org/drawingml/2006/main" cx="10820400" cy="3143250"/>
        </p:xfrm>
        <a:graphic xmlns:a="http://schemas.openxmlformats.org/drawingml/2006/main">
          <a:graphicData uri="http://schemas.openxmlformats.org/drawingml/2006/table">
            <a:tbl>
              <a:tblPr firstRow="1" bandRow="0"/>
              <a:tblGrid>
                <a:gridCol w="3429000"/>
                <a:gridCol w="4048125"/>
                <a:gridCol w="3343275"/>
              </a:tblGrid>
              <a:tr h="466725">
                <a:tc>
                  <a:txBody>
                    <a:bodyPr wrap="square" lIns="133350" tIns="85725" rIns="133350" bIns="85725">
                      <a:noAutofit/>
                    </a:bodyPr>
                    <a:lstStyle/>
                    <a:p>
                      <a:r>
                        <a:rPr sz="1725" b="1">
                          <a:solidFill>
                            <a:srgbClr val="FFFFFF"/>
                          </a:solidFill>
                          <a:latin typeface="Arial"/>
                          <a:ea typeface="Arial"/>
                          <a:cs typeface="Arial"/>
                        </a:rPr>
                        <a:t>Existing evidence</a:t>
                      </a:r>
                    </a:p>
                  </a:txBody>
                  <a:tcPr marL="91440" marR="91440" marT="45720" marB="45720" anchor="ctr">
                    <a:lnL w="6668">
                      <a:solidFill>
                        <a:srgbClr val="D2DDDA"/>
                      </a:solidFill>
                      <a:prstDash val="solid"/>
                    </a:lnL>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c>
                  <a:txBody>
                    <a:bodyPr wrap="square" lIns="133350" tIns="85725" rIns="133350" bIns="85725">
                      <a:noAutofit/>
                    </a:bodyPr>
                    <a:lstStyle/>
                    <a:p>
                      <a:r>
                        <a:rPr sz="1725" b="1">
                          <a:solidFill>
                            <a:srgbClr val="FFFFFF"/>
                          </a:solidFill>
                          <a:latin typeface="Arial"/>
                          <a:ea typeface="Arial"/>
                          <a:cs typeface="Arial"/>
                        </a:rPr>
                        <a:t>Truthful use</a:t>
                      </a:r>
                    </a:p>
                  </a:txBody>
                  <a:tcPr marL="91440" marR="91440" marT="45720" marB="45720" anchor="ctr">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c>
                  <a:txBody>
                    <a:bodyPr wrap="square" lIns="133350" tIns="85725" rIns="133350" bIns="85725">
                      <a:noAutofit/>
                    </a:bodyPr>
                    <a:lstStyle/>
                    <a:p>
                      <a:r>
                        <a:rPr sz="1725" b="1">
                          <a:solidFill>
                            <a:srgbClr val="FFFFFF"/>
                          </a:solidFill>
                          <a:latin typeface="Arial"/>
                          <a:ea typeface="Arial"/>
                          <a:cs typeface="Arial"/>
                        </a:rPr>
                        <a:t>Unresolved gap</a:t>
                      </a:r>
                    </a:p>
                  </a:txBody>
                  <a:tcPr marL="91440" marR="91440" marT="45720" marB="45720" anchor="ctr">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r>
              <a:tr h="892175">
                <a:tc>
                  <a:txBody>
                    <a:bodyPr wrap="square" lIns="133350" tIns="85725" rIns="133350" bIns="85725">
                      <a:noAutofit/>
                    </a:bodyPr>
                    <a:lstStyle/>
                    <a:p>
                      <a:r>
                        <a:rPr sz="1800" b="0">
                          <a:solidFill>
                            <a:srgbClr val="263B3A"/>
                          </a:solidFill>
                          <a:latin typeface="Arial"/>
                          <a:ea typeface="Arial"/>
                          <a:cs typeface="Arial"/>
                        </a:rPr>
                        <a:t>Handled customer enquiries</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Explain relevant communication and problem-solving</a:t>
                      </a:r>
                    </a:p>
                  </a:txBody>
                  <a:tcPr marL="91440" marR="91440" marT="45720" marB="45720" anchor="ctr">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New role's technical tasks may differ</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892175">
                <a:tc>
                  <a:txBody>
                    <a:bodyPr wrap="square" lIns="133350" tIns="85725" rIns="133350" bIns="85725">
                      <a:noAutofit/>
                    </a:bodyPr>
                    <a:lstStyle/>
                    <a:p>
                      <a:r>
                        <a:rPr sz="1800" b="0">
                          <a:solidFill>
                            <a:srgbClr val="263B3A"/>
                          </a:solidFill>
                          <a:latin typeface="Arial"/>
                          <a:ea typeface="Arial"/>
                          <a:cs typeface="Arial"/>
                        </a:rPr>
                        <a:t>Kept a stock spreadsheet</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Describe the actual records and tools used</a:t>
                      </a:r>
                    </a:p>
                  </a:txBody>
                  <a:tcPr marL="91440" marR="91440" marT="45720" marB="45720" anchor="ctr">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SQL proficiency remains unconfirmed</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892175">
                <a:tc>
                  <a:txBody>
                    <a:bodyPr wrap="square" lIns="133350" tIns="85725" rIns="133350" bIns="85725">
                      <a:noAutofit/>
                    </a:bodyPr>
                    <a:lstStyle/>
                    <a:p>
                      <a:r>
                        <a:rPr sz="1800" b="0">
                          <a:solidFill>
                            <a:srgbClr val="263B3A"/>
                          </a:solidFill>
                          <a:latin typeface="Arial"/>
                          <a:ea typeface="Arial"/>
                          <a:cs typeface="Arial"/>
                        </a:rPr>
                        <a:t>Helped train a colleague</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State the support provided and real outcome</a:t>
                      </a:r>
                    </a:p>
                  </a:txBody>
                  <a:tcPr marL="91440" marR="91440" marT="45720" marB="45720" anchor="ctr">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Management experience needs separate evidence</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bl>
          </a:graphicData>
        </a:graphic>
      </p:graphicFrame>
      <p:sp>
        <p:nvSpPr>
          <p:cNvPr id="4" name="evidence-note">
            <a:extLst xmlns:a="http://schemas.openxmlformats.org/drawingml/2006/main">
              <a:ext uri="{FF2B5EF4-FFF2-40B4-BE49-F238E27FC236}">
                <a16:creationId xmlns:a16="http://schemas.microsoft.com/office/drawing/2014/main" id="{5763236C-3A81-4183-9FC4-4EB5D8E417B0}"/>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Accounts report benefits from both tailoring and resume reuse. Neither approach is established as best.</a:t>
            </a:r>
          </a:p>
        </p:txBody>
      </p:sp>
      <p:sp>
        <p:nvSpPr>
          <p:cNvPr id="5" name="page-number">
            <a:extLst xmlns:a="http://schemas.openxmlformats.org/drawingml/2006/main">
              <a:ext uri="{FF2B5EF4-FFF2-40B4-BE49-F238E27FC236}">
                <a16:creationId xmlns:a16="http://schemas.microsoft.com/office/drawing/2014/main" id="{4F02027E-5B15-4498-ABFF-447AE7DA33B1}"/>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10</a:t>
            </a:r>
          </a:p>
        </p:txBody>
      </p:sp>
    </p:spTree>
    <p:extLst>
      <p:ext uri="{BB962C8B-B14F-4D97-AF65-F5344CB8AC3E}">
        <p14:creationId xmlns:p14="http://schemas.microsoft.com/office/powerpoint/2010/main" val="1227169989"/>
      </p:ext>
    </p:extLst>
  </p:cSld>
</p:sld>
</file>

<file path=ppt/slides/slide1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F2072EF5-9DA4-4083-8826-0BD57D82E7B3}"/>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Interview preparation and practice</a:t>
            </a:r>
          </a:p>
        </p:txBody>
      </p:sp>
      <p:sp>
        <p:nvSpPr>
          <p:cNvPr id="2" name="slide-lead">
            <a:extLst xmlns:a="http://schemas.openxmlformats.org/drawingml/2006/main">
              <a:ext uri="{FF2B5EF4-FFF2-40B4-BE49-F238E27FC236}">
                <a16:creationId xmlns:a16="http://schemas.microsoft.com/office/drawing/2014/main" id="{8AC2A3A5-1201-46E3-B927-7A3C452EA862}"/>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Guidance recommends explaining real experience and rehearsing aloud.</a:t>
            </a:r>
          </a:p>
        </p:txBody>
      </p:sp>
      <p:sp>
        <p:nvSpPr>
          <p:cNvPr id="3" name="column-heading-0">
            <a:extLst xmlns:a="http://schemas.openxmlformats.org/drawingml/2006/main">
              <a:ext uri="{FF2B5EF4-FFF2-40B4-BE49-F238E27FC236}">
                <a16:creationId xmlns:a16="http://schemas.microsoft.com/office/drawing/2014/main" id="{0DD1961B-D73E-482D-B738-B405382E3746}"/>
              </a:ext>
            </a:extLst>
          </p:cNvPr>
          <p:cNvSpPr>
            <a:spLocks xmlns:a="http://schemas.openxmlformats.org/drawingml/2006/main" noGrp="1"/>
          </p:cNvSpPr>
          <p:nvPr/>
        </p:nvSpPr>
        <p:spPr>
          <a:xfrm xmlns:a="http://schemas.openxmlformats.org/drawingml/2006/main">
            <a:off x="7048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Preparation material</a:t>
            </a:r>
          </a:p>
        </p:txBody>
      </p:sp>
      <p:sp>
        <p:nvSpPr>
          <p:cNvPr id="4" name="column-0-item-0">
            <a:extLst xmlns:a="http://schemas.openxmlformats.org/drawingml/2006/main">
              <a:ext uri="{FF2B5EF4-FFF2-40B4-BE49-F238E27FC236}">
                <a16:creationId xmlns:a16="http://schemas.microsoft.com/office/drawing/2014/main" id="{2D762F3C-C98C-4926-8F0F-54F1D2F34E5E}"/>
              </a:ext>
            </a:extLst>
          </p:cNvPr>
          <p:cNvSpPr>
            <a:spLocks xmlns:a="http://schemas.openxmlformats.org/drawingml/2006/main" noGrp="1"/>
          </p:cNvSpPr>
          <p:nvPr/>
        </p:nvSpPr>
        <p:spPr>
          <a:xfrm xmlns:a="http://schemas.openxmlformats.org/drawingml/2006/main">
            <a:off x="7048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Role and employer research with sources</a:t>
            </a:r>
          </a:p>
        </p:txBody>
      </p:sp>
      <p:sp>
        <p:nvSpPr>
          <p:cNvPr id="5" name="column-0-item-1">
            <a:extLst xmlns:a="http://schemas.openxmlformats.org/drawingml/2006/main">
              <a:ext uri="{FF2B5EF4-FFF2-40B4-BE49-F238E27FC236}">
                <a16:creationId xmlns:a16="http://schemas.microsoft.com/office/drawing/2014/main" id="{D8869A66-17FD-42C9-B563-87F0144C2351}"/>
              </a:ext>
            </a:extLst>
          </p:cNvPr>
          <p:cNvSpPr>
            <a:spLocks xmlns:a="http://schemas.openxmlformats.org/drawingml/2006/main" noGrp="1"/>
          </p:cNvSpPr>
          <p:nvPr/>
        </p:nvSpPr>
        <p:spPr>
          <a:xfrm xmlns:a="http://schemas.openxmlformats.org/drawingml/2006/main">
            <a:off x="7048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A small bank of real experience stories</a:t>
            </a:r>
          </a:p>
        </p:txBody>
      </p:sp>
      <p:sp>
        <p:nvSpPr>
          <p:cNvPr id="6" name="column-0-item-2">
            <a:extLst xmlns:a="http://schemas.openxmlformats.org/drawingml/2006/main">
              <a:ext uri="{FF2B5EF4-FFF2-40B4-BE49-F238E27FC236}">
                <a16:creationId xmlns:a16="http://schemas.microsoft.com/office/drawing/2014/main" id="{E508F992-37D3-4432-936A-80638E1395B7}"/>
              </a:ext>
            </a:extLst>
          </p:cNvPr>
          <p:cNvSpPr>
            <a:spLocks xmlns:a="http://schemas.openxmlformats.org/drawingml/2006/main" noGrp="1"/>
          </p:cNvSpPr>
          <p:nvPr/>
        </p:nvSpPr>
        <p:spPr>
          <a:xfrm xmlns:a="http://schemas.openxmlformats.org/drawingml/2006/main">
            <a:off x="7048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Questions about duties and expectations</a:t>
            </a:r>
          </a:p>
        </p:txBody>
      </p:sp>
      <p:sp>
        <p:nvSpPr>
          <p:cNvPr id="7" name="column-0-item-3">
            <a:extLst xmlns:a="http://schemas.openxmlformats.org/drawingml/2006/main">
              <a:ext uri="{FF2B5EF4-FFF2-40B4-BE49-F238E27FC236}">
                <a16:creationId xmlns:a16="http://schemas.microsoft.com/office/drawing/2014/main" id="{ED3D15FE-DAB8-473C-A789-F4E46F30A1E5}"/>
              </a:ext>
            </a:extLst>
          </p:cNvPr>
          <p:cNvSpPr>
            <a:spLocks xmlns:a="http://schemas.openxmlformats.org/drawingml/2006/main" noGrp="1"/>
          </p:cNvSpPr>
          <p:nvPr/>
        </p:nvSpPr>
        <p:spPr>
          <a:xfrm xmlns:a="http://schemas.openxmlformats.org/drawingml/2006/main">
            <a:off x="7048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Interview format and practical arrangements</a:t>
            </a:r>
          </a:p>
        </p:txBody>
      </p:sp>
      <p:sp>
        <p:nvSpPr>
          <p:cNvPr id="8" name="column-heading-1">
            <a:extLst xmlns:a="http://schemas.openxmlformats.org/drawingml/2006/main">
              <a:ext uri="{FF2B5EF4-FFF2-40B4-BE49-F238E27FC236}">
                <a16:creationId xmlns:a16="http://schemas.microsoft.com/office/drawing/2014/main" id="{C8A48821-D4DB-415D-AF79-33A7B133EA6A}"/>
              </a:ext>
            </a:extLst>
          </p:cNvPr>
          <p:cNvSpPr>
            <a:spLocks xmlns:a="http://schemas.openxmlformats.org/drawingml/2006/main" noGrp="1"/>
          </p:cNvSpPr>
          <p:nvPr/>
        </p:nvSpPr>
        <p:spPr>
          <a:xfrm xmlns:a="http://schemas.openxmlformats.org/drawingml/2006/main">
            <a:off x="63055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Practice and return</a:t>
            </a:r>
          </a:p>
        </p:txBody>
      </p:sp>
      <p:sp>
        <p:nvSpPr>
          <p:cNvPr id="9" name="column-1-item-0">
            <a:extLst xmlns:a="http://schemas.openxmlformats.org/drawingml/2006/main">
              <a:ext uri="{FF2B5EF4-FFF2-40B4-BE49-F238E27FC236}">
                <a16:creationId xmlns:a16="http://schemas.microsoft.com/office/drawing/2014/main" id="{5403BDB0-BE13-42AB-8676-B1C7806B75D4}"/>
              </a:ext>
            </a:extLst>
          </p:cNvPr>
          <p:cNvSpPr>
            <a:spLocks xmlns:a="http://schemas.openxmlformats.org/drawingml/2006/main" noGrp="1"/>
          </p:cNvSpPr>
          <p:nvPr/>
        </p:nvSpPr>
        <p:spPr>
          <a:xfrm xmlns:a="http://schemas.openxmlformats.org/drawingml/2006/main">
            <a:off x="63055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Rehearse aloud with a peer, coach or tool</a:t>
            </a:r>
          </a:p>
        </p:txBody>
      </p:sp>
      <p:sp>
        <p:nvSpPr>
          <p:cNvPr id="10" name="column-1-item-1">
            <a:extLst xmlns:a="http://schemas.openxmlformats.org/drawingml/2006/main">
              <a:ext uri="{FF2B5EF4-FFF2-40B4-BE49-F238E27FC236}">
                <a16:creationId xmlns:a16="http://schemas.microsoft.com/office/drawing/2014/main" id="{42E6FAAB-04BB-4779-A414-2A1B06C27D0F}"/>
              </a:ext>
            </a:extLst>
          </p:cNvPr>
          <p:cNvSpPr>
            <a:spLocks xmlns:a="http://schemas.openxmlformats.org/drawingml/2006/main" noGrp="1"/>
          </p:cNvSpPr>
          <p:nvPr/>
        </p:nvSpPr>
        <p:spPr>
          <a:xfrm xmlns:a="http://schemas.openxmlformats.org/drawingml/2006/main">
            <a:off x="63055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Record what the attempt demonstrated</a:t>
            </a:r>
          </a:p>
        </p:txBody>
      </p:sp>
      <p:sp>
        <p:nvSpPr>
          <p:cNvPr id="11" name="column-1-item-2">
            <a:extLst xmlns:a="http://schemas.openxmlformats.org/drawingml/2006/main">
              <a:ext uri="{FF2B5EF4-FFF2-40B4-BE49-F238E27FC236}">
                <a16:creationId xmlns:a16="http://schemas.microsoft.com/office/drawing/2014/main" id="{56995EE9-1570-428A-B011-9B558DA180A5}"/>
              </a:ext>
            </a:extLst>
          </p:cNvPr>
          <p:cNvSpPr>
            <a:spLocks xmlns:a="http://schemas.openxmlformats.org/drawingml/2006/main" noGrp="1"/>
          </p:cNvSpPr>
          <p:nvPr/>
        </p:nvSpPr>
        <p:spPr>
          <a:xfrm xmlns:a="http://schemas.openxmlformats.org/drawingml/2006/main">
            <a:off x="63055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Revisit weak examples without inventing results</a:t>
            </a:r>
          </a:p>
        </p:txBody>
      </p:sp>
      <p:sp>
        <p:nvSpPr>
          <p:cNvPr id="12" name="column-1-item-3">
            <a:extLst xmlns:a="http://schemas.openxmlformats.org/drawingml/2006/main">
              <a:ext uri="{FF2B5EF4-FFF2-40B4-BE49-F238E27FC236}">
                <a16:creationId xmlns:a16="http://schemas.microsoft.com/office/drawing/2014/main" id="{4661541C-B722-48CC-831C-87F69C17EB1F}"/>
              </a:ext>
            </a:extLst>
          </p:cNvPr>
          <p:cNvSpPr>
            <a:spLocks xmlns:a="http://schemas.openxmlformats.org/drawingml/2006/main" noGrp="1"/>
          </p:cNvSpPr>
          <p:nvPr/>
        </p:nvSpPr>
        <p:spPr>
          <a:xfrm xmlns:a="http://schemas.openxmlformats.org/drawingml/2006/main">
            <a:off x="63055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Resume with one clear next session</a:t>
            </a:r>
          </a:p>
        </p:txBody>
      </p:sp>
      <p:sp>
        <p:nvSpPr>
          <p:cNvPr id="13" name="evidence-note">
            <a:extLst xmlns:a="http://schemas.openxmlformats.org/drawingml/2006/main">
              <a:ext uri="{FF2B5EF4-FFF2-40B4-BE49-F238E27FC236}">
                <a16:creationId xmlns:a16="http://schemas.microsoft.com/office/drawing/2014/main" id="{324574B7-0057-49B8-9621-894029EB20CA}"/>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Research-derived guidance. No calibrated readiness score or hiring-effect estimate for JobHub exists.</a:t>
            </a:r>
          </a:p>
        </p:txBody>
      </p:sp>
      <p:sp>
        <p:nvSpPr>
          <p:cNvPr id="14" name="page-number">
            <a:extLst xmlns:a="http://schemas.openxmlformats.org/drawingml/2006/main">
              <a:ext uri="{FF2B5EF4-FFF2-40B4-BE49-F238E27FC236}">
                <a16:creationId xmlns:a16="http://schemas.microsoft.com/office/drawing/2014/main" id="{E8FFB25C-B5D2-4FEA-ACFE-488F802081AF}"/>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11</a:t>
            </a:r>
          </a:p>
        </p:txBody>
      </p:sp>
    </p:spTree>
    <p:extLst>
      <p:ext uri="{BB962C8B-B14F-4D97-AF65-F5344CB8AC3E}">
        <p14:creationId xmlns:p14="http://schemas.microsoft.com/office/powerpoint/2010/main" val="2056407804"/>
      </p:ext>
    </p:extLst>
  </p:cSld>
</p:sld>
</file>

<file path=ppt/slides/slide1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1219CE3C-CFFC-4808-8F7A-BAB8906AFED4}"/>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AI assistance also creates checking work</a:t>
            </a:r>
          </a:p>
        </p:txBody>
      </p:sp>
      <p:sp>
        <p:nvSpPr>
          <p:cNvPr id="2" name="slide-lead">
            <a:extLst xmlns:a="http://schemas.openxmlformats.org/drawingml/2006/main">
              <a:ext uri="{FF2B5EF4-FFF2-40B4-BE49-F238E27FC236}">
                <a16:creationId xmlns:a16="http://schemas.microsoft.com/office/drawing/2014/main" id="{73F767E4-0077-4064-8375-841FC0598251}"/>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A useful evaluation includes the effort after generation.</a:t>
            </a:r>
          </a:p>
        </p:txBody>
      </p:sp>
      <p:sp>
        <p:nvSpPr>
          <p:cNvPr id="3" name="column-heading-0">
            <a:extLst xmlns:a="http://schemas.openxmlformats.org/drawingml/2006/main">
              <a:ext uri="{FF2B5EF4-FFF2-40B4-BE49-F238E27FC236}">
                <a16:creationId xmlns:a16="http://schemas.microsoft.com/office/drawing/2014/main" id="{9385277A-7737-438C-B8FD-B246BB1240A6}"/>
              </a:ext>
            </a:extLst>
          </p:cNvPr>
          <p:cNvSpPr>
            <a:spLocks xmlns:a="http://schemas.openxmlformats.org/drawingml/2006/main" noGrp="1"/>
          </p:cNvSpPr>
          <p:nvPr/>
        </p:nvSpPr>
        <p:spPr>
          <a:xfrm xmlns:a="http://schemas.openxmlformats.org/drawingml/2006/main">
            <a:off x="7048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Reported uses</a:t>
            </a:r>
          </a:p>
        </p:txBody>
      </p:sp>
      <p:sp>
        <p:nvSpPr>
          <p:cNvPr id="4" name="column-0-item-0">
            <a:extLst xmlns:a="http://schemas.openxmlformats.org/drawingml/2006/main">
              <a:ext uri="{FF2B5EF4-FFF2-40B4-BE49-F238E27FC236}">
                <a16:creationId xmlns:a16="http://schemas.microsoft.com/office/drawing/2014/main" id="{6CBA5580-547C-47AD-AD8E-6F60EEB8C8A1}"/>
              </a:ext>
            </a:extLst>
          </p:cNvPr>
          <p:cNvSpPr>
            <a:spLocks xmlns:a="http://schemas.openxmlformats.org/drawingml/2006/main" noGrp="1"/>
          </p:cNvSpPr>
          <p:nvPr/>
        </p:nvSpPr>
        <p:spPr>
          <a:xfrm xmlns:a="http://schemas.openxmlformats.org/drawingml/2006/main">
            <a:off x="7048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Rewording and selecting resume content</a:t>
            </a:r>
          </a:p>
        </p:txBody>
      </p:sp>
      <p:sp>
        <p:nvSpPr>
          <p:cNvPr id="5" name="column-0-item-1">
            <a:extLst xmlns:a="http://schemas.openxmlformats.org/drawingml/2006/main">
              <a:ext uri="{FF2B5EF4-FFF2-40B4-BE49-F238E27FC236}">
                <a16:creationId xmlns:a16="http://schemas.microsoft.com/office/drawing/2014/main" id="{0C6B9BA4-54F7-44D1-A468-DB37793B306E}"/>
              </a:ext>
            </a:extLst>
          </p:cNvPr>
          <p:cNvSpPr>
            <a:spLocks xmlns:a="http://schemas.openxmlformats.org/drawingml/2006/main" noGrp="1"/>
          </p:cNvSpPr>
          <p:nvPr/>
        </p:nvSpPr>
        <p:spPr>
          <a:xfrm xmlns:a="http://schemas.openxmlformats.org/drawingml/2006/main">
            <a:off x="7048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Drafting cover-letter material</a:t>
            </a:r>
          </a:p>
        </p:txBody>
      </p:sp>
      <p:sp>
        <p:nvSpPr>
          <p:cNvPr id="6" name="column-0-item-2">
            <a:extLst xmlns:a="http://schemas.openxmlformats.org/drawingml/2006/main">
              <a:ext uri="{FF2B5EF4-FFF2-40B4-BE49-F238E27FC236}">
                <a16:creationId xmlns:a16="http://schemas.microsoft.com/office/drawing/2014/main" id="{D6414AA8-BDED-4F36-A454-8779759581D7}"/>
              </a:ext>
            </a:extLst>
          </p:cNvPr>
          <p:cNvSpPr>
            <a:spLocks xmlns:a="http://schemas.openxmlformats.org/drawingml/2006/main" noGrp="1"/>
          </p:cNvSpPr>
          <p:nvPr/>
        </p:nvSpPr>
        <p:spPr>
          <a:xfrm xmlns:a="http://schemas.openxmlformats.org/drawingml/2006/main">
            <a:off x="7048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Generating questions and rehearsing answers</a:t>
            </a:r>
          </a:p>
        </p:txBody>
      </p:sp>
      <p:sp>
        <p:nvSpPr>
          <p:cNvPr id="7" name="column-0-item-3">
            <a:extLst xmlns:a="http://schemas.openxmlformats.org/drawingml/2006/main">
              <a:ext uri="{FF2B5EF4-FFF2-40B4-BE49-F238E27FC236}">
                <a16:creationId xmlns:a16="http://schemas.microsoft.com/office/drawing/2014/main" id="{35AA05C3-939E-4896-A2D8-333F366C0F83}"/>
              </a:ext>
            </a:extLst>
          </p:cNvPr>
          <p:cNvSpPr>
            <a:spLocks xmlns:a="http://schemas.openxmlformats.org/drawingml/2006/main" noGrp="1"/>
          </p:cNvSpPr>
          <p:nvPr/>
        </p:nvSpPr>
        <p:spPr>
          <a:xfrm xmlns:a="http://schemas.openxmlformats.org/drawingml/2006/main">
            <a:off x="7048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Searching and summarising opportunities</a:t>
            </a:r>
          </a:p>
        </p:txBody>
      </p:sp>
      <p:sp>
        <p:nvSpPr>
          <p:cNvPr id="8" name="column-heading-1">
            <a:extLst xmlns:a="http://schemas.openxmlformats.org/drawingml/2006/main">
              <a:ext uri="{FF2B5EF4-FFF2-40B4-BE49-F238E27FC236}">
                <a16:creationId xmlns:a16="http://schemas.microsoft.com/office/drawing/2014/main" id="{91C732FB-CB8D-48F9-BFBA-8B5C490E6A13}"/>
              </a:ext>
            </a:extLst>
          </p:cNvPr>
          <p:cNvSpPr>
            <a:spLocks xmlns:a="http://schemas.openxmlformats.org/drawingml/2006/main" noGrp="1"/>
          </p:cNvSpPr>
          <p:nvPr/>
        </p:nvSpPr>
        <p:spPr>
          <a:xfrm xmlns:a="http://schemas.openxmlformats.org/drawingml/2006/main">
            <a:off x="63055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Checks that remain</a:t>
            </a:r>
          </a:p>
        </p:txBody>
      </p:sp>
      <p:sp>
        <p:nvSpPr>
          <p:cNvPr id="9" name="column-1-item-0">
            <a:extLst xmlns:a="http://schemas.openxmlformats.org/drawingml/2006/main">
              <a:ext uri="{FF2B5EF4-FFF2-40B4-BE49-F238E27FC236}">
                <a16:creationId xmlns:a16="http://schemas.microsoft.com/office/drawing/2014/main" id="{27A7AF16-1B55-4C84-9FC6-5F0BFCC478C6}"/>
              </a:ext>
            </a:extLst>
          </p:cNvPr>
          <p:cNvSpPr>
            <a:spLocks xmlns:a="http://schemas.openxmlformats.org/drawingml/2006/main" noGrp="1"/>
          </p:cNvSpPr>
          <p:nvPr/>
        </p:nvSpPr>
        <p:spPr>
          <a:xfrm xmlns:a="http://schemas.openxmlformats.org/drawingml/2006/main">
            <a:off x="63055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Invented or exaggerated candidate claims</a:t>
            </a:r>
          </a:p>
        </p:txBody>
      </p:sp>
      <p:sp>
        <p:nvSpPr>
          <p:cNvPr id="10" name="column-1-item-1">
            <a:extLst xmlns:a="http://schemas.openxmlformats.org/drawingml/2006/main">
              <a:ext uri="{FF2B5EF4-FFF2-40B4-BE49-F238E27FC236}">
                <a16:creationId xmlns:a16="http://schemas.microsoft.com/office/drawing/2014/main" id="{EBED1913-C1E4-41F8-97B2-67F4F18CE681}"/>
              </a:ext>
            </a:extLst>
          </p:cNvPr>
          <p:cNvSpPr>
            <a:spLocks xmlns:a="http://schemas.openxmlformats.org/drawingml/2006/main" noGrp="1"/>
          </p:cNvSpPr>
          <p:nvPr/>
        </p:nvSpPr>
        <p:spPr>
          <a:xfrm xmlns:a="http://schemas.openxmlformats.org/drawingml/2006/main">
            <a:off x="63055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Changed meaning, titles and qualifications</a:t>
            </a:r>
          </a:p>
        </p:txBody>
      </p:sp>
      <p:sp>
        <p:nvSpPr>
          <p:cNvPr id="11" name="column-1-item-2">
            <a:extLst xmlns:a="http://schemas.openxmlformats.org/drawingml/2006/main">
              <a:ext uri="{FF2B5EF4-FFF2-40B4-BE49-F238E27FC236}">
                <a16:creationId xmlns:a16="http://schemas.microsoft.com/office/drawing/2014/main" id="{F581D59A-ABF2-40D4-8686-B98D6D61DE20}"/>
              </a:ext>
            </a:extLst>
          </p:cNvPr>
          <p:cNvSpPr>
            <a:spLocks xmlns:a="http://schemas.openxmlformats.org/drawingml/2006/main" noGrp="1"/>
          </p:cNvSpPr>
          <p:nvPr/>
        </p:nvSpPr>
        <p:spPr>
          <a:xfrm xmlns:a="http://schemas.openxmlformats.org/drawingml/2006/main">
            <a:off x="63055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Source accuracy, freshness and missing details</a:t>
            </a:r>
          </a:p>
        </p:txBody>
      </p:sp>
      <p:sp>
        <p:nvSpPr>
          <p:cNvPr id="12" name="column-1-item-3">
            <a:extLst xmlns:a="http://schemas.openxmlformats.org/drawingml/2006/main">
              <a:ext uri="{FF2B5EF4-FFF2-40B4-BE49-F238E27FC236}">
                <a16:creationId xmlns:a16="http://schemas.microsoft.com/office/drawing/2014/main" id="{7DCC09C2-249F-4066-86F2-8ADAEA49F12B}"/>
              </a:ext>
            </a:extLst>
          </p:cNvPr>
          <p:cNvSpPr>
            <a:spLocks xmlns:a="http://schemas.openxmlformats.org/drawingml/2006/main" noGrp="1"/>
          </p:cNvSpPr>
          <p:nvPr/>
        </p:nvSpPr>
        <p:spPr>
          <a:xfrm xmlns:a="http://schemas.openxmlformats.org/drawingml/2006/main">
            <a:off x="63055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Readable exports and personal-data disclosure</a:t>
            </a:r>
          </a:p>
        </p:txBody>
      </p:sp>
      <p:sp>
        <p:nvSpPr>
          <p:cNvPr id="13" name="evidence-note">
            <a:extLst xmlns:a="http://schemas.openxmlformats.org/drawingml/2006/main">
              <a:ext uri="{FF2B5EF4-FFF2-40B4-BE49-F238E27FC236}">
                <a16:creationId xmlns:a16="http://schemas.microsoft.com/office/drawing/2014/main" id="{D101E951-A11F-4A9A-8968-17E0F12B5324}"/>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Some people use human or manual alternatives. This pass does not rank ChatGPT, Claude or other tools.</a:t>
            </a:r>
          </a:p>
        </p:txBody>
      </p:sp>
      <p:sp>
        <p:nvSpPr>
          <p:cNvPr id="14" name="page-number">
            <a:extLst xmlns:a="http://schemas.openxmlformats.org/drawingml/2006/main">
              <a:ext uri="{FF2B5EF4-FFF2-40B4-BE49-F238E27FC236}">
                <a16:creationId xmlns:a16="http://schemas.microsoft.com/office/drawing/2014/main" id="{E93457FE-18A1-4DF5-B505-832952818D29}"/>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12</a:t>
            </a:r>
          </a:p>
        </p:txBody>
      </p:sp>
    </p:spTree>
    <p:extLst>
      <p:ext uri="{BB962C8B-B14F-4D97-AF65-F5344CB8AC3E}">
        <p14:creationId xmlns:p14="http://schemas.microsoft.com/office/powerpoint/2010/main" val="1645837730"/>
      </p:ext>
    </p:extLst>
  </p:cSld>
</p:sld>
</file>

<file path=ppt/slides/slide1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A37793D-83C9-4A48-9118-B7645F64A69C}"/>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Different AI interventions, different outcomes</a:t>
            </a:r>
          </a:p>
        </p:txBody>
      </p:sp>
      <p:sp>
        <p:nvSpPr>
          <p:cNvPr id="2" name="slide-lead">
            <a:extLst xmlns:a="http://schemas.openxmlformats.org/drawingml/2006/main">
              <a:ext uri="{FF2B5EF4-FFF2-40B4-BE49-F238E27FC236}">
                <a16:creationId xmlns:a16="http://schemas.microsoft.com/office/drawing/2014/main" id="{F58D0F28-B1D0-4562-8913-EE3FCFCA931C}"/>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Primary studies provide useful findings with specific transfer limits.</a:t>
            </a:r>
          </a:p>
        </p:txBody>
      </p:sp>
      <p:graphicFrame>
        <p:nvGraphicFramePr>
          <p:cNvPr id="3" name="">
            <a:extLst xmlns:a="http://schemas.openxmlformats.org/drawingml/2006/main">
              <a:ext uri="{FF2B5EF4-FFF2-40B4-BE49-F238E27FC236}">
                <a16:creationId xmlns:a16="http://schemas.microsoft.com/office/drawing/2014/main" id="{787DC9B8-DFFB-4E12-8392-79F27CD2ED54}"/>
              </a:ext>
            </a:extLst>
          </p:cNvPr>
          <p:cNvGraphicFramePr/>
          <p:nvPr/>
        </p:nvGraphicFramePr>
        <p:xfrm>
          <a:off xmlns:a="http://schemas.openxmlformats.org/drawingml/2006/main" x="685800" y="2171700"/>
          <a:ext xmlns:a="http://schemas.openxmlformats.org/drawingml/2006/main" cx="10820400" cy="3524250"/>
        </p:xfrm>
        <a:graphic xmlns:a="http://schemas.openxmlformats.org/drawingml/2006/main">
          <a:graphicData uri="http://schemas.openxmlformats.org/drawingml/2006/table">
            <a:tbl>
              <a:tblPr firstRow="1" bandRow="0"/>
              <a:tblGrid>
                <a:gridCol w="3238500"/>
                <a:gridCol w="4333875"/>
                <a:gridCol w="3248025"/>
              </a:tblGrid>
              <a:tr h="466725">
                <a:tc>
                  <a:txBody>
                    <a:bodyPr wrap="square" lIns="133350" tIns="85725" rIns="133350" bIns="85725">
                      <a:noAutofit/>
                    </a:bodyPr>
                    <a:lstStyle/>
                    <a:p>
                      <a:r>
                        <a:rPr sz="1725" b="1">
                          <a:solidFill>
                            <a:srgbClr val="FFFFFF"/>
                          </a:solidFill>
                          <a:latin typeface="Arial"/>
                          <a:ea typeface="Arial"/>
                          <a:cs typeface="Arial"/>
                        </a:rPr>
                        <a:t>Intervention</a:t>
                      </a:r>
                    </a:p>
                  </a:txBody>
                  <a:tcPr marL="91440" marR="91440" marT="45720" marB="45720" anchor="ctr">
                    <a:lnL w="6668">
                      <a:solidFill>
                        <a:srgbClr val="D2DDDA"/>
                      </a:solidFill>
                      <a:prstDash val="solid"/>
                    </a:lnL>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c>
                  <a:txBody>
                    <a:bodyPr wrap="square" lIns="133350" tIns="85725" rIns="133350" bIns="85725">
                      <a:noAutofit/>
                    </a:bodyPr>
                    <a:lstStyle/>
                    <a:p>
                      <a:r>
                        <a:rPr sz="1725" b="1">
                          <a:solidFill>
                            <a:srgbClr val="FFFFFF"/>
                          </a:solidFill>
                          <a:latin typeface="Arial"/>
                          <a:ea typeface="Arial"/>
                          <a:cs typeface="Arial"/>
                        </a:rPr>
                        <a:t>Reported result</a:t>
                      </a:r>
                    </a:p>
                  </a:txBody>
                  <a:tcPr marL="91440" marR="91440" marT="45720" marB="45720" anchor="ctr">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c>
                  <a:txBody>
                    <a:bodyPr wrap="square" lIns="133350" tIns="85725" rIns="133350" bIns="85725">
                      <a:noAutofit/>
                    </a:bodyPr>
                    <a:lstStyle/>
                    <a:p>
                      <a:r>
                        <a:rPr sz="1725" b="1">
                          <a:solidFill>
                            <a:srgbClr val="FFFFFF"/>
                          </a:solidFill>
                          <a:latin typeface="Arial"/>
                          <a:ea typeface="Arial"/>
                          <a:cs typeface="Arial"/>
                        </a:rPr>
                        <a:t>Boundary</a:t>
                      </a:r>
                    </a:p>
                  </a:txBody>
                  <a:tcPr marL="91440" marR="91440" marT="45720" marB="45720" anchor="ctr">
                    <a:lnR w="6668">
                      <a:solidFill>
                        <a:srgbClr val="D2DDDA"/>
                      </a:solidFill>
                      <a:prstDash val="solid"/>
                    </a:lnR>
                    <a:lnT w="6668">
                      <a:solidFill>
                        <a:srgbClr val="D2DDDA"/>
                      </a:solidFill>
                      <a:prstDash val="solid"/>
                    </a:lnT>
                    <a:lnB w="6668">
                      <a:solidFill>
                        <a:srgbClr val="D2DDDA"/>
                      </a:solidFill>
                      <a:prstDash val="solid"/>
                    </a:lnB>
                    <a:solidFill>
                      <a:srgbClr val="153C3A"/>
                    </a:solidFill>
                  </a:tcPr>
                </a:tc>
              </a:tr>
              <a:tr h="1528763">
                <a:tc>
                  <a:txBody>
                    <a:bodyPr wrap="square" lIns="133350" tIns="85725" rIns="133350" bIns="85725">
                      <a:noAutofit/>
                    </a:bodyPr>
                    <a:lstStyle/>
                    <a:p>
                      <a:r>
                        <a:rPr sz="1800" b="0">
                          <a:solidFill>
                            <a:srgbClr val="263B3A"/>
                          </a:solidFill>
                          <a:latin typeface="Arial"/>
                          <a:ea typeface="Arial"/>
                          <a:cs typeface="Arial"/>
                        </a:rPr>
                        <a:t>Algorithmic resume writing assistance</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Higher hiring probability, with no detected employer-satisfaction loss</a:t>
                      </a:r>
                    </a:p>
                  </a:txBody>
                  <a:tcPr marL="91440" marR="91440" marT="45720" marB="45720" anchor="ctr">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An online labour-market experiment, not a current chatbot comparison</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r h="1528763">
                <a:tc>
                  <a:txBody>
                    <a:bodyPr wrap="square" lIns="133350" tIns="85725" rIns="133350" bIns="85725">
                      <a:noAutofit/>
                    </a:bodyPr>
                    <a:lstStyle/>
                    <a:p>
                      <a:r>
                        <a:rPr sz="1800" b="0">
                          <a:solidFill>
                            <a:srgbClr val="263B3A"/>
                          </a:solidFill>
                          <a:latin typeface="Arial"/>
                          <a:ea typeface="Arial"/>
                          <a:cs typeface="Arial"/>
                        </a:rPr>
                        <a:t>Generative drafts for employer job posts</a:t>
                      </a:r>
                    </a:p>
                  </a:txBody>
                  <a:tcPr marL="91440" marR="91440" marT="45720" marB="45720" anchor="ctr">
                    <a:lnL w="6668">
                      <a:solidFill>
                        <a:srgbClr val="D2DDDA"/>
                      </a:solidFill>
                      <a:prstDash val="solid"/>
                    </a:lnL>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Less employer writing time and more posts, without a discernible increase in matches</a:t>
                      </a:r>
                    </a:p>
                  </a:txBody>
                  <a:tcPr marL="91440" marR="91440" marT="45720" marB="45720" anchor="ctr">
                    <a:lnR w="6668">
                      <a:solidFill>
                        <a:srgbClr val="D2DDDA"/>
                      </a:solidFill>
                      <a:prstDash val="solid"/>
                    </a:lnR>
                    <a:lnB w="6668">
                      <a:solidFill>
                        <a:srgbClr val="D2DDDA"/>
                      </a:solidFill>
                      <a:prstDash val="solid"/>
                    </a:lnB>
                    <a:solidFill>
                      <a:srgbClr val="F5F4EF"/>
                    </a:solidFill>
                  </a:tcPr>
                </a:tc>
                <a:tc>
                  <a:txBody>
                    <a:bodyPr wrap="square" lIns="133350" tIns="85725" rIns="133350" bIns="85725">
                      <a:noAutofit/>
                    </a:bodyPr>
                    <a:lstStyle/>
                    <a:p>
                      <a:r>
                        <a:rPr sz="1800" b="0">
                          <a:solidFill>
                            <a:srgbClr val="263B3A"/>
                          </a:solidFill>
                          <a:latin typeface="Arial"/>
                          <a:ea typeface="Arial"/>
                          <a:cs typeface="Arial"/>
                        </a:rPr>
                        <a:t>A different intervention in an online labour market</a:t>
                      </a:r>
                    </a:p>
                  </a:txBody>
                  <a:tcPr marL="91440" marR="91440" marT="45720" marB="45720" anchor="ctr">
                    <a:lnR w="6668">
                      <a:solidFill>
                        <a:srgbClr val="D2DDDA"/>
                      </a:solidFill>
                      <a:prstDash val="solid"/>
                    </a:lnR>
                    <a:lnB w="6668">
                      <a:solidFill>
                        <a:srgbClr val="D2DDDA"/>
                      </a:solidFill>
                      <a:prstDash val="solid"/>
                    </a:lnB>
                    <a:solidFill>
                      <a:srgbClr val="F5F4EF"/>
                    </a:solidFill>
                  </a:tcPr>
                </a:tc>
              </a:tr>
            </a:tbl>
          </a:graphicData>
        </a:graphic>
      </p:graphicFrame>
      <p:sp>
        <p:nvSpPr>
          <p:cNvPr id="4" name="evidence-note">
            <a:extLst xmlns:a="http://schemas.openxmlformats.org/drawingml/2006/main">
              <a:ext uri="{FF2B5EF4-FFF2-40B4-BE49-F238E27FC236}">
                <a16:creationId xmlns:a16="http://schemas.microsoft.com/office/drawing/2014/main" id="{6C2ED20E-2EDB-4313-B7E4-B83E8EF97875}"/>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Distinct experiments with overlapping authorship. Neither measures JobHub benefit.</a:t>
            </a:r>
          </a:p>
        </p:txBody>
      </p:sp>
      <p:sp>
        <p:nvSpPr>
          <p:cNvPr id="5" name="page-number">
            <a:extLst xmlns:a="http://schemas.openxmlformats.org/drawingml/2006/main">
              <a:ext uri="{FF2B5EF4-FFF2-40B4-BE49-F238E27FC236}">
                <a16:creationId xmlns:a16="http://schemas.microsoft.com/office/drawing/2014/main" id="{62F9A35C-1C08-40C7-9405-D7C091A69B95}"/>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13</a:t>
            </a:r>
          </a:p>
        </p:txBody>
      </p:sp>
    </p:spTree>
    <p:extLst>
      <p:ext uri="{BB962C8B-B14F-4D97-AF65-F5344CB8AC3E}">
        <p14:creationId xmlns:p14="http://schemas.microsoft.com/office/powerpoint/2010/main" val="1599688334"/>
      </p:ext>
    </p:extLst>
  </p:cSld>
</p:sld>
</file>

<file path=ppt/slides/slide1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980E1DAB-72EC-4A3E-94D6-EDE92FDBFA23}"/>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Interrupted work and device access</a:t>
            </a:r>
          </a:p>
        </p:txBody>
      </p:sp>
      <p:sp>
        <p:nvSpPr>
          <p:cNvPr id="2" name="slide-lead">
            <a:extLst xmlns:a="http://schemas.openxmlformats.org/drawingml/2006/main">
              <a:ext uri="{FF2B5EF4-FFF2-40B4-BE49-F238E27FC236}">
                <a16:creationId xmlns:a16="http://schemas.microsoft.com/office/drawing/2014/main" id="{21605BF0-2A69-4260-A0B5-38A5B0ABF2C3}"/>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Broader recovery problems have evidence. The exact handoff story remains open.</a:t>
            </a:r>
          </a:p>
        </p:txBody>
      </p:sp>
      <p:sp>
        <p:nvSpPr>
          <p:cNvPr id="3" name="column-heading-0">
            <a:extLst xmlns:a="http://schemas.openxmlformats.org/drawingml/2006/main">
              <a:ext uri="{FF2B5EF4-FFF2-40B4-BE49-F238E27FC236}">
                <a16:creationId xmlns:a16="http://schemas.microsoft.com/office/drawing/2014/main" id="{84B57C9E-2DF0-4694-B2ED-1652786A29F9}"/>
              </a:ext>
            </a:extLst>
          </p:cNvPr>
          <p:cNvSpPr>
            <a:spLocks xmlns:a="http://schemas.openxmlformats.org/drawingml/2006/main" noGrp="1"/>
          </p:cNvSpPr>
          <p:nvPr/>
        </p:nvSpPr>
        <p:spPr>
          <a:xfrm xmlns:a="http://schemas.openxmlformats.org/drawingml/2006/main">
            <a:off x="7048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What sources describe</a:t>
            </a:r>
          </a:p>
        </p:txBody>
      </p:sp>
      <p:sp>
        <p:nvSpPr>
          <p:cNvPr id="4" name="column-0-item-0">
            <a:extLst xmlns:a="http://schemas.openxmlformats.org/drawingml/2006/main">
              <a:ext uri="{FF2B5EF4-FFF2-40B4-BE49-F238E27FC236}">
                <a16:creationId xmlns:a16="http://schemas.microsoft.com/office/drawing/2014/main" id="{53D5CB6D-77DB-4F92-8267-309040FEC111}"/>
              </a:ext>
            </a:extLst>
          </p:cNvPr>
          <p:cNvSpPr>
            <a:spLocks xmlns:a="http://schemas.openxmlformats.org/drawingml/2006/main" noGrp="1"/>
          </p:cNvSpPr>
          <p:nvPr/>
        </p:nvSpPr>
        <p:spPr>
          <a:xfrm xmlns:a="http://schemas.openxmlformats.org/drawingml/2006/main">
            <a:off x="7048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Difficulty returning to an unfinished resume</a:t>
            </a:r>
          </a:p>
        </p:txBody>
      </p:sp>
      <p:sp>
        <p:nvSpPr>
          <p:cNvPr id="5" name="column-0-item-1">
            <a:extLst xmlns:a="http://schemas.openxmlformats.org/drawingml/2006/main">
              <a:ext uri="{FF2B5EF4-FFF2-40B4-BE49-F238E27FC236}">
                <a16:creationId xmlns:a16="http://schemas.microsoft.com/office/drawing/2014/main" id="{6127AEDA-C02C-43A6-99BD-54DB9285ACE1}"/>
              </a:ext>
            </a:extLst>
          </p:cNvPr>
          <p:cNvSpPr>
            <a:spLocks xmlns:a="http://schemas.openxmlformats.org/drawingml/2006/main" noGrp="1"/>
          </p:cNvSpPr>
          <p:nvPr/>
        </p:nvSpPr>
        <p:spPr>
          <a:xfrm xmlns:a="http://schemas.openxmlformats.org/drawingml/2006/main">
            <a:off x="7048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Shared devices and limited access time</a:t>
            </a:r>
          </a:p>
        </p:txBody>
      </p:sp>
      <p:sp>
        <p:nvSpPr>
          <p:cNvPr id="6" name="column-0-item-2">
            <a:extLst xmlns:a="http://schemas.openxmlformats.org/drawingml/2006/main">
              <a:ext uri="{FF2B5EF4-FFF2-40B4-BE49-F238E27FC236}">
                <a16:creationId xmlns:a16="http://schemas.microsoft.com/office/drawing/2014/main" id="{19E0598F-2CB4-4993-974B-89931C8E2CDC}"/>
              </a:ext>
            </a:extLst>
          </p:cNvPr>
          <p:cNvSpPr>
            <a:spLocks xmlns:a="http://schemas.openxmlformats.org/drawingml/2006/main" noGrp="1"/>
          </p:cNvSpPr>
          <p:nvPr/>
        </p:nvSpPr>
        <p:spPr>
          <a:xfrm xmlns:a="http://schemas.openxmlformats.org/drawingml/2006/main">
            <a:off x="7048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CV attachment or save problems</a:t>
            </a:r>
          </a:p>
        </p:txBody>
      </p:sp>
      <p:sp>
        <p:nvSpPr>
          <p:cNvPr id="7" name="column-0-item-3">
            <a:extLst xmlns:a="http://schemas.openxmlformats.org/drawingml/2006/main">
              <a:ext uri="{FF2B5EF4-FFF2-40B4-BE49-F238E27FC236}">
                <a16:creationId xmlns:a16="http://schemas.microsoft.com/office/drawing/2014/main" id="{10D61449-4B39-411E-B359-2C0C9E7EF77D}"/>
              </a:ext>
            </a:extLst>
          </p:cNvPr>
          <p:cNvSpPr>
            <a:spLocks xmlns:a="http://schemas.openxmlformats.org/drawingml/2006/main" noGrp="1"/>
          </p:cNvSpPr>
          <p:nvPr/>
        </p:nvSpPr>
        <p:spPr>
          <a:xfrm xmlns:a="http://schemas.openxmlformats.org/drawingml/2006/main">
            <a:off x="7048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Positive experiences with mobile access</a:t>
            </a:r>
          </a:p>
        </p:txBody>
      </p:sp>
      <p:sp>
        <p:nvSpPr>
          <p:cNvPr id="8" name="column-heading-1">
            <a:extLst xmlns:a="http://schemas.openxmlformats.org/drawingml/2006/main">
              <a:ext uri="{FF2B5EF4-FFF2-40B4-BE49-F238E27FC236}">
                <a16:creationId xmlns:a16="http://schemas.microsoft.com/office/drawing/2014/main" id="{4098B4C5-A539-4EAA-8FF3-9F22E1231407}"/>
              </a:ext>
            </a:extLst>
          </p:cNvPr>
          <p:cNvSpPr>
            <a:spLocks xmlns:a="http://schemas.openxmlformats.org/drawingml/2006/main" noGrp="1"/>
          </p:cNvSpPr>
          <p:nvPr/>
        </p:nvSpPr>
        <p:spPr>
          <a:xfrm xmlns:a="http://schemas.openxmlformats.org/drawingml/2006/main">
            <a:off x="63055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What still needs evidence</a:t>
            </a:r>
          </a:p>
        </p:txBody>
      </p:sp>
      <p:sp>
        <p:nvSpPr>
          <p:cNvPr id="9" name="column-1-item-0">
            <a:extLst xmlns:a="http://schemas.openxmlformats.org/drawingml/2006/main">
              <a:ext uri="{FF2B5EF4-FFF2-40B4-BE49-F238E27FC236}">
                <a16:creationId xmlns:a16="http://schemas.microsoft.com/office/drawing/2014/main" id="{1B69D2B4-E07D-4B36-99D7-BA60B23B1F63}"/>
              </a:ext>
            </a:extLst>
          </p:cNvPr>
          <p:cNvSpPr>
            <a:spLocks xmlns:a="http://schemas.openxmlformats.org/drawingml/2006/main" noGrp="1"/>
          </p:cNvSpPr>
          <p:nvPr/>
        </p:nvSpPr>
        <p:spPr>
          <a:xfrm xmlns:a="http://schemas.openxmlformats.org/drawingml/2006/main">
            <a:off x="63055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A complete Singapore phone-to-laptop loss episode</a:t>
            </a:r>
          </a:p>
        </p:txBody>
      </p:sp>
      <p:sp>
        <p:nvSpPr>
          <p:cNvPr id="10" name="column-1-item-1">
            <a:extLst xmlns:a="http://schemas.openxmlformats.org/drawingml/2006/main">
              <a:ext uri="{FF2B5EF4-FFF2-40B4-BE49-F238E27FC236}">
                <a16:creationId xmlns:a16="http://schemas.microsoft.com/office/drawing/2014/main" id="{363148C6-6487-4D98-9C2A-873C4C10A557}"/>
              </a:ext>
            </a:extLst>
          </p:cNvPr>
          <p:cNvSpPr>
            <a:spLocks xmlns:a="http://schemas.openxmlformats.org/drawingml/2006/main" noGrp="1"/>
          </p:cNvSpPr>
          <p:nvPr/>
        </p:nvSpPr>
        <p:spPr>
          <a:xfrm xmlns:a="http://schemas.openxmlformats.org/drawingml/2006/main">
            <a:off x="63055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Which recovery aids reduce effort</a:t>
            </a:r>
          </a:p>
        </p:txBody>
      </p:sp>
      <p:sp>
        <p:nvSpPr>
          <p:cNvPr id="11" name="column-1-item-2">
            <a:extLst xmlns:a="http://schemas.openxmlformats.org/drawingml/2006/main">
              <a:ext uri="{FF2B5EF4-FFF2-40B4-BE49-F238E27FC236}">
                <a16:creationId xmlns:a16="http://schemas.microsoft.com/office/drawing/2014/main" id="{C3B190BA-B5A6-4CEC-BE1A-24273FED06A8}"/>
              </a:ext>
            </a:extLst>
          </p:cNvPr>
          <p:cNvSpPr>
            <a:spLocks xmlns:a="http://schemas.openxmlformats.org/drawingml/2006/main" noGrp="1"/>
          </p:cNvSpPr>
          <p:nvPr/>
        </p:nvSpPr>
        <p:spPr>
          <a:xfrm xmlns:a="http://schemas.openxmlformats.org/drawingml/2006/main">
            <a:off x="63055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Local accessibility and language needs</a:t>
            </a:r>
          </a:p>
        </p:txBody>
      </p:sp>
      <p:sp>
        <p:nvSpPr>
          <p:cNvPr id="12" name="column-1-item-3">
            <a:extLst xmlns:a="http://schemas.openxmlformats.org/drawingml/2006/main">
              <a:ext uri="{FF2B5EF4-FFF2-40B4-BE49-F238E27FC236}">
                <a16:creationId xmlns:a16="http://schemas.microsoft.com/office/drawing/2014/main" id="{01CDC175-BCD1-482F-812B-85E95A7CFD20}"/>
              </a:ext>
            </a:extLst>
          </p:cNvPr>
          <p:cNvSpPr>
            <a:spLocks xmlns:a="http://schemas.openxmlformats.org/drawingml/2006/main" noGrp="1"/>
          </p:cNvSpPr>
          <p:nvPr/>
        </p:nvSpPr>
        <p:spPr>
          <a:xfrm xmlns:a="http://schemas.openxmlformats.org/drawingml/2006/main">
            <a:off x="63055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Whether one or several surfaces are useful</a:t>
            </a:r>
          </a:p>
        </p:txBody>
      </p:sp>
      <p:sp>
        <p:nvSpPr>
          <p:cNvPr id="13" name="evidence-note">
            <a:extLst xmlns:a="http://schemas.openxmlformats.org/drawingml/2006/main">
              <a:ext uri="{FF2B5EF4-FFF2-40B4-BE49-F238E27FC236}">
                <a16:creationId xmlns:a16="http://schemas.microsoft.com/office/drawing/2014/main" id="{FC62929C-D8D2-4B33-89C0-0C627D971015}"/>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A platform decision cannot be inferred by joining unrelated stories into one journey.</a:t>
            </a:r>
          </a:p>
        </p:txBody>
      </p:sp>
      <p:sp>
        <p:nvSpPr>
          <p:cNvPr id="14" name="page-number">
            <a:extLst xmlns:a="http://schemas.openxmlformats.org/drawingml/2006/main">
              <a:ext uri="{FF2B5EF4-FFF2-40B4-BE49-F238E27FC236}">
                <a16:creationId xmlns:a16="http://schemas.microsoft.com/office/drawing/2014/main" id="{BB237F01-584A-4659-BB7A-134FD0DCCF94}"/>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14</a:t>
            </a:r>
          </a:p>
        </p:txBody>
      </p:sp>
    </p:spTree>
    <p:extLst>
      <p:ext uri="{BB962C8B-B14F-4D97-AF65-F5344CB8AC3E}">
        <p14:creationId xmlns:p14="http://schemas.microsoft.com/office/powerpoint/2010/main" val="399227220"/>
      </p:ext>
    </p:extLst>
  </p:cSld>
</p:sld>
</file>

<file path=ppt/slides/slide1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446653F2-778A-45EF-ADFA-0E245CDEE0D8}"/>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The existing Job Hunt process</a:t>
            </a:r>
          </a:p>
        </p:txBody>
      </p:sp>
      <p:sp>
        <p:nvSpPr>
          <p:cNvPr id="2" name="slide-lead">
            <a:extLst xmlns:a="http://schemas.openxmlformats.org/drawingml/2006/main">
              <a:ext uri="{FF2B5EF4-FFF2-40B4-BE49-F238E27FC236}">
                <a16:creationId xmlns:a16="http://schemas.microsoft.com/office/drawing/2014/main" id="{EB92C6CB-A165-44F8-AF01-AFEFE8282954}"/>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A detailed personal workflow provides useful patterns and specific weaknesses.</a:t>
            </a:r>
          </a:p>
        </p:txBody>
      </p:sp>
      <p:sp>
        <p:nvSpPr>
          <p:cNvPr id="3" name="column-heading-0">
            <a:extLst xmlns:a="http://schemas.openxmlformats.org/drawingml/2006/main">
              <a:ext uri="{FF2B5EF4-FFF2-40B4-BE49-F238E27FC236}">
                <a16:creationId xmlns:a16="http://schemas.microsoft.com/office/drawing/2014/main" id="{3E6F0E8A-D183-49AE-85A0-F34D7A00ED21}"/>
              </a:ext>
            </a:extLst>
          </p:cNvPr>
          <p:cNvSpPr>
            <a:spLocks xmlns:a="http://schemas.openxmlformats.org/drawingml/2006/main" noGrp="1"/>
          </p:cNvSpPr>
          <p:nvPr/>
        </p:nvSpPr>
        <p:spPr>
          <a:xfrm xmlns:a="http://schemas.openxmlformats.org/drawingml/2006/main">
            <a:off x="7048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Documented strengths</a:t>
            </a:r>
          </a:p>
        </p:txBody>
      </p:sp>
      <p:sp>
        <p:nvSpPr>
          <p:cNvPr id="4" name="column-0-item-0">
            <a:extLst xmlns:a="http://schemas.openxmlformats.org/drawingml/2006/main">
              <a:ext uri="{FF2B5EF4-FFF2-40B4-BE49-F238E27FC236}">
                <a16:creationId xmlns:a16="http://schemas.microsoft.com/office/drawing/2014/main" id="{FCE5EFFA-645B-4C4F-BDCF-3F8A45719960}"/>
              </a:ext>
            </a:extLst>
          </p:cNvPr>
          <p:cNvSpPr>
            <a:spLocks xmlns:a="http://schemas.openxmlformats.org/drawingml/2006/main" noGrp="1"/>
          </p:cNvSpPr>
          <p:nvPr/>
        </p:nvSpPr>
        <p:spPr>
          <a:xfrm xmlns:a="http://schemas.openxmlformats.org/drawingml/2006/main">
            <a:off x="7048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A factual authority for career claims</a:t>
            </a:r>
          </a:p>
        </p:txBody>
      </p:sp>
      <p:sp>
        <p:nvSpPr>
          <p:cNvPr id="5" name="column-0-item-1">
            <a:extLst xmlns:a="http://schemas.openxmlformats.org/drawingml/2006/main">
              <a:ext uri="{FF2B5EF4-FFF2-40B4-BE49-F238E27FC236}">
                <a16:creationId xmlns:a16="http://schemas.microsoft.com/office/drawing/2014/main" id="{5BF9B85D-A819-45A6-961C-57EDE681CD27}"/>
              </a:ext>
            </a:extLst>
          </p:cNvPr>
          <p:cNvSpPr>
            <a:spLocks xmlns:a="http://schemas.openxmlformats.org/drawingml/2006/main" noGrp="1"/>
          </p:cNvSpPr>
          <p:nvPr/>
        </p:nvSpPr>
        <p:spPr>
          <a:xfrm xmlns:a="http://schemas.openxmlformats.org/drawingml/2006/main">
            <a:off x="7048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Separate authenticity and fit decisions</a:t>
            </a:r>
          </a:p>
        </p:txBody>
      </p:sp>
      <p:sp>
        <p:nvSpPr>
          <p:cNvPr id="6" name="column-0-item-2">
            <a:extLst xmlns:a="http://schemas.openxmlformats.org/drawingml/2006/main">
              <a:ext uri="{FF2B5EF4-FFF2-40B4-BE49-F238E27FC236}">
                <a16:creationId xmlns:a16="http://schemas.microsoft.com/office/drawing/2014/main" id="{C884B3BC-F459-43AA-810A-3DA997B42587}"/>
              </a:ext>
            </a:extLst>
          </p:cNvPr>
          <p:cNvSpPr>
            <a:spLocks xmlns:a="http://schemas.openxmlformats.org/drawingml/2006/main" noGrp="1"/>
          </p:cNvSpPr>
          <p:nvPr/>
        </p:nvSpPr>
        <p:spPr>
          <a:xfrm xmlns:a="http://schemas.openxmlformats.org/drawingml/2006/main">
            <a:off x="7048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Human confirmation of submission</a:t>
            </a:r>
          </a:p>
        </p:txBody>
      </p:sp>
      <p:sp>
        <p:nvSpPr>
          <p:cNvPr id="7" name="column-0-item-3">
            <a:extLst xmlns:a="http://schemas.openxmlformats.org/drawingml/2006/main">
              <a:ext uri="{FF2B5EF4-FFF2-40B4-BE49-F238E27FC236}">
                <a16:creationId xmlns:a16="http://schemas.microsoft.com/office/drawing/2014/main" id="{902B2E8D-DA07-47B6-B829-429E3A12A192}"/>
              </a:ext>
            </a:extLst>
          </p:cNvPr>
          <p:cNvSpPr>
            <a:spLocks xmlns:a="http://schemas.openxmlformats.org/drawingml/2006/main" noGrp="1"/>
          </p:cNvSpPr>
          <p:nvPr/>
        </p:nvSpPr>
        <p:spPr>
          <a:xfrm xmlns:a="http://schemas.openxmlformats.org/drawingml/2006/main">
            <a:off x="7048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Practice attempts and recovery procedures</a:t>
            </a:r>
          </a:p>
        </p:txBody>
      </p:sp>
      <p:sp>
        <p:nvSpPr>
          <p:cNvPr id="8" name="column-heading-1">
            <a:extLst xmlns:a="http://schemas.openxmlformats.org/drawingml/2006/main">
              <a:ext uri="{FF2B5EF4-FFF2-40B4-BE49-F238E27FC236}">
                <a16:creationId xmlns:a16="http://schemas.microsoft.com/office/drawing/2014/main" id="{D72F41A2-ED0A-4A7C-BB39-7B3DE0C7CB2D}"/>
              </a:ext>
            </a:extLst>
          </p:cNvPr>
          <p:cNvSpPr>
            <a:spLocks xmlns:a="http://schemas.openxmlformats.org/drawingml/2006/main" noGrp="1"/>
          </p:cNvSpPr>
          <p:nvPr/>
        </p:nvSpPr>
        <p:spPr>
          <a:xfrm xmlns:a="http://schemas.openxmlformats.org/drawingml/2006/main">
            <a:off x="63055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Weaknesses and open checks</a:t>
            </a:r>
          </a:p>
        </p:txBody>
      </p:sp>
      <p:sp>
        <p:nvSpPr>
          <p:cNvPr id="9" name="column-1-item-0">
            <a:extLst xmlns:a="http://schemas.openxmlformats.org/drawingml/2006/main">
              <a:ext uri="{FF2B5EF4-FFF2-40B4-BE49-F238E27FC236}">
                <a16:creationId xmlns:a16="http://schemas.microsoft.com/office/drawing/2014/main" id="{579D0350-0F87-4733-BB88-3B33825DCF3E}"/>
              </a:ext>
            </a:extLst>
          </p:cNvPr>
          <p:cNvSpPr>
            <a:spLocks xmlns:a="http://schemas.openxmlformats.org/drawingml/2006/main" noGrp="1"/>
          </p:cNvSpPr>
          <p:nvPr/>
        </p:nvSpPr>
        <p:spPr>
          <a:xfrm xmlns:a="http://schemas.openxmlformats.org/drawingml/2006/main">
            <a:off x="63055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Inconsistent references and versions</a:t>
            </a:r>
          </a:p>
        </p:txBody>
      </p:sp>
      <p:sp>
        <p:nvSpPr>
          <p:cNvPr id="10" name="column-1-item-1">
            <a:extLst xmlns:a="http://schemas.openxmlformats.org/drawingml/2006/main">
              <a:ext uri="{FF2B5EF4-FFF2-40B4-BE49-F238E27FC236}">
                <a16:creationId xmlns:a16="http://schemas.microsoft.com/office/drawing/2014/main" id="{A473A91D-0D41-4692-97A8-E6909E434FF6}"/>
              </a:ext>
            </a:extLst>
          </p:cNvPr>
          <p:cNvSpPr>
            <a:spLocks xmlns:a="http://schemas.openxmlformats.org/drawingml/2006/main" noGrp="1"/>
          </p:cNvSpPr>
          <p:nvPr/>
        </p:nvSpPr>
        <p:spPr>
          <a:xfrm xmlns:a="http://schemas.openxmlformats.org/drawingml/2006/main">
            <a:off x="63055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Technical-career assumptions in rubrics</a:t>
            </a:r>
          </a:p>
        </p:txBody>
      </p:sp>
      <p:sp>
        <p:nvSpPr>
          <p:cNvPr id="11" name="column-1-item-2">
            <a:extLst xmlns:a="http://schemas.openxmlformats.org/drawingml/2006/main">
              <a:ext uri="{FF2B5EF4-FFF2-40B4-BE49-F238E27FC236}">
                <a16:creationId xmlns:a16="http://schemas.microsoft.com/office/drawing/2014/main" id="{5E5066A1-E547-4902-B350-20C42F8FAB84}"/>
              </a:ext>
            </a:extLst>
          </p:cNvPr>
          <p:cNvSpPr>
            <a:spLocks xmlns:a="http://schemas.openxmlformats.org/drawingml/2006/main" noGrp="1"/>
          </p:cNvSpPr>
          <p:nvPr/>
        </p:nvSpPr>
        <p:spPr>
          <a:xfrm xmlns:a="http://schemas.openxmlformats.org/drawingml/2006/main">
            <a:off x="63055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Rigid compensation guidance</a:t>
            </a:r>
          </a:p>
        </p:txBody>
      </p:sp>
      <p:sp>
        <p:nvSpPr>
          <p:cNvPr id="12" name="column-1-item-3">
            <a:extLst xmlns:a="http://schemas.openxmlformats.org/drawingml/2006/main">
              <a:ext uri="{FF2B5EF4-FFF2-40B4-BE49-F238E27FC236}">
                <a16:creationId xmlns:a16="http://schemas.microsoft.com/office/drawing/2014/main" id="{4B9E981C-24E7-4F75-A91D-3D908201B292}"/>
              </a:ext>
            </a:extLst>
          </p:cNvPr>
          <p:cNvSpPr>
            <a:spLocks xmlns:a="http://schemas.openxmlformats.org/drawingml/2006/main" noGrp="1"/>
          </p:cNvSpPr>
          <p:nvPr/>
        </p:nvSpPr>
        <p:spPr>
          <a:xfrm xmlns:a="http://schemas.openxmlformats.org/drawingml/2006/main">
            <a:off x="63055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Current operation and coordination effort untested</a:t>
            </a:r>
          </a:p>
        </p:txBody>
      </p:sp>
      <p:sp>
        <p:nvSpPr>
          <p:cNvPr id="13" name="evidence-note">
            <a:extLst xmlns:a="http://schemas.openxmlformats.org/drawingml/2006/main">
              <a:ext uri="{FF2B5EF4-FFF2-40B4-BE49-F238E27FC236}">
                <a16:creationId xmlns:a16="http://schemas.microsoft.com/office/drawing/2014/main" id="{251F4F05-5335-4A10-AD93-646B0D62CC5C}"/>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One owner's documented process. Private resumes, contracts and correspondence stayed outside the deck.</a:t>
            </a:r>
          </a:p>
        </p:txBody>
      </p:sp>
      <p:sp>
        <p:nvSpPr>
          <p:cNvPr id="14" name="page-number">
            <a:extLst xmlns:a="http://schemas.openxmlformats.org/drawingml/2006/main">
              <a:ext uri="{FF2B5EF4-FFF2-40B4-BE49-F238E27FC236}">
                <a16:creationId xmlns:a16="http://schemas.microsoft.com/office/drawing/2014/main" id="{C94E3BBF-80E4-45EA-AAAA-E5B2DF5F9475}"/>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15</a:t>
            </a:r>
          </a:p>
        </p:txBody>
      </p:sp>
    </p:spTree>
    <p:extLst>
      <p:ext uri="{BB962C8B-B14F-4D97-AF65-F5344CB8AC3E}">
        <p14:creationId xmlns:p14="http://schemas.microsoft.com/office/powerpoint/2010/main" val="1925316723"/>
      </p:ext>
    </p:extLst>
  </p:cSld>
</p:sld>
</file>

<file path=ppt/slides/slide1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3ED9492C-3D32-4A26-B515-C3EAB672E50C}"/>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What the videos added</a:t>
            </a:r>
          </a:p>
        </p:txBody>
      </p:sp>
      <p:sp>
        <p:nvSpPr>
          <p:cNvPr id="2" name="slide-lead">
            <a:extLst xmlns:a="http://schemas.openxmlformats.org/drawingml/2006/main">
              <a:ext uri="{FF2B5EF4-FFF2-40B4-BE49-F238E27FC236}">
                <a16:creationId xmlns:a16="http://schemas.microsoft.com/office/drawing/2014/main" id="{6F429845-1566-4A1F-A1CE-A2B360DAA01B}"/>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Ten caption reviews broadened the questions and examples.</a:t>
            </a:r>
          </a:p>
        </p:txBody>
      </p:sp>
      <p:sp>
        <p:nvSpPr>
          <p:cNvPr id="3" name="statement-heading-0">
            <a:extLst xmlns:a="http://schemas.openxmlformats.org/drawingml/2006/main">
              <a:ext uri="{FF2B5EF4-FFF2-40B4-BE49-F238E27FC236}">
                <a16:creationId xmlns:a16="http://schemas.microsoft.com/office/drawing/2014/main" id="{3559A2A3-02D3-477F-9335-2BDD6A76BB96}"/>
              </a:ext>
            </a:extLst>
          </p:cNvPr>
          <p:cNvSpPr>
            <a:spLocks xmlns:a="http://schemas.openxmlformats.org/drawingml/2006/main" noGrp="1"/>
          </p:cNvSpPr>
          <p:nvPr/>
        </p:nvSpPr>
        <p:spPr>
          <a:xfrm xmlns:a="http://schemas.openxmlformats.org/drawingml/2006/main">
            <a:off x="704850" y="220980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Supplied red-flag discussions</a:t>
            </a:r>
          </a:p>
        </p:txBody>
      </p:sp>
      <p:sp>
        <p:nvSpPr>
          <p:cNvPr id="4" name="statement-body-0">
            <a:extLst xmlns:a="http://schemas.openxmlformats.org/drawingml/2006/main">
              <a:ext uri="{FF2B5EF4-FFF2-40B4-BE49-F238E27FC236}">
                <a16:creationId xmlns:a16="http://schemas.microsoft.com/office/drawing/2014/main" id="{CE583447-C9CF-4C82-8EB1-437B178B368E}"/>
              </a:ext>
            </a:extLst>
          </p:cNvPr>
          <p:cNvSpPr>
            <a:spLocks xmlns:a="http://schemas.openxmlformats.org/drawingml/2006/main" noGrp="1"/>
          </p:cNvSpPr>
          <p:nvPr/>
        </p:nvSpPr>
        <p:spPr>
          <a:xfrm xmlns:a="http://schemas.openxmlformats.org/drawingml/2006/main">
            <a:off x="704850" y="258127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Clarification questions, interview burden and legitimate alternative explanations</a:t>
            </a:r>
          </a:p>
        </p:txBody>
      </p:sp>
      <p:sp>
        <p:nvSpPr>
          <p:cNvPr id="5" name="statement-heading-1">
            <a:extLst xmlns:a="http://schemas.openxmlformats.org/drawingml/2006/main">
              <a:ext uri="{FF2B5EF4-FFF2-40B4-BE49-F238E27FC236}">
                <a16:creationId xmlns:a16="http://schemas.microsoft.com/office/drawing/2014/main" id="{A35966F6-E447-46CE-8D87-754D67547AE3}"/>
              </a:ext>
            </a:extLst>
          </p:cNvPr>
          <p:cNvSpPr>
            <a:spLocks xmlns:a="http://schemas.openxmlformats.org/drawingml/2006/main" noGrp="1"/>
          </p:cNvSpPr>
          <p:nvPr/>
        </p:nvSpPr>
        <p:spPr>
          <a:xfrm xmlns:a="http://schemas.openxmlformats.org/drawingml/2006/main">
            <a:off x="704850" y="307657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Additional resume and AI tutorials</a:t>
            </a:r>
          </a:p>
        </p:txBody>
      </p:sp>
      <p:sp>
        <p:nvSpPr>
          <p:cNvPr id="6" name="statement-body-1">
            <a:extLst xmlns:a="http://schemas.openxmlformats.org/drawingml/2006/main">
              <a:ext uri="{FF2B5EF4-FFF2-40B4-BE49-F238E27FC236}">
                <a16:creationId xmlns:a16="http://schemas.microsoft.com/office/drawing/2014/main" id="{A5FBEABE-D519-4027-BEDA-B8ED1F467FF0}"/>
              </a:ext>
            </a:extLst>
          </p:cNvPr>
          <p:cNvSpPr>
            <a:spLocks xmlns:a="http://schemas.openxmlformats.org/drawingml/2006/main" noGrp="1"/>
          </p:cNvSpPr>
          <p:nvPr/>
        </p:nvSpPr>
        <p:spPr>
          <a:xfrm xmlns:a="http://schemas.openxmlformats.org/drawingml/2006/main">
            <a:off x="704850" y="344805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Fact-first drafting and inspection of changes to titles or achievements</a:t>
            </a:r>
          </a:p>
        </p:txBody>
      </p:sp>
      <p:sp>
        <p:nvSpPr>
          <p:cNvPr id="7" name="statement-heading-2">
            <a:extLst xmlns:a="http://schemas.openxmlformats.org/drawingml/2006/main">
              <a:ext uri="{FF2B5EF4-FFF2-40B4-BE49-F238E27FC236}">
                <a16:creationId xmlns:a16="http://schemas.microsoft.com/office/drawing/2014/main" id="{A118E221-0C67-45FE-998A-7170C98BE0BC}"/>
              </a:ext>
            </a:extLst>
          </p:cNvPr>
          <p:cNvSpPr>
            <a:spLocks xmlns:a="http://schemas.openxmlformats.org/drawingml/2006/main" noGrp="1"/>
          </p:cNvSpPr>
          <p:nvPr/>
        </p:nvSpPr>
        <p:spPr>
          <a:xfrm xmlns:a="http://schemas.openxmlformats.org/drawingml/2006/main">
            <a:off x="704850" y="394335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Interview and compensation material</a:t>
            </a:r>
          </a:p>
        </p:txBody>
      </p:sp>
      <p:sp>
        <p:nvSpPr>
          <p:cNvPr id="8" name="statement-body-2">
            <a:extLst xmlns:a="http://schemas.openxmlformats.org/drawingml/2006/main">
              <a:ext uri="{FF2B5EF4-FFF2-40B4-BE49-F238E27FC236}">
                <a16:creationId xmlns:a16="http://schemas.microsoft.com/office/drawing/2014/main" id="{1F45A3A2-2829-4F36-B45C-5BFAD50C6AA7}"/>
              </a:ext>
            </a:extLst>
          </p:cNvPr>
          <p:cNvSpPr>
            <a:spLocks xmlns:a="http://schemas.openxmlformats.org/drawingml/2006/main" noGrp="1"/>
          </p:cNvSpPr>
          <p:nvPr/>
        </p:nvSpPr>
        <p:spPr>
          <a:xfrm xmlns:a="http://schemas.openxmlformats.org/drawingml/2006/main">
            <a:off x="704850" y="431482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Manual story notebooks, spoken practice and questions for comparing compensation</a:t>
            </a:r>
          </a:p>
        </p:txBody>
      </p:sp>
      <p:sp>
        <p:nvSpPr>
          <p:cNvPr id="9" name="statement-heading-3">
            <a:extLst xmlns:a="http://schemas.openxmlformats.org/drawingml/2006/main">
              <a:ext uri="{FF2B5EF4-FFF2-40B4-BE49-F238E27FC236}">
                <a16:creationId xmlns:a16="http://schemas.microsoft.com/office/drawing/2014/main" id="{BC93DCD5-AB51-4936-8C8C-48619BBA2038}"/>
              </a:ext>
            </a:extLst>
          </p:cNvPr>
          <p:cNvSpPr>
            <a:spLocks xmlns:a="http://schemas.openxmlformats.org/drawingml/2006/main" noGrp="1"/>
          </p:cNvSpPr>
          <p:nvPr/>
        </p:nvSpPr>
        <p:spPr>
          <a:xfrm xmlns:a="http://schemas.openxmlformats.org/drawingml/2006/main">
            <a:off x="704850" y="481012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Evidence limits</a:t>
            </a:r>
          </a:p>
        </p:txBody>
      </p:sp>
      <p:sp>
        <p:nvSpPr>
          <p:cNvPr id="10" name="statement-body-3">
            <a:extLst xmlns:a="http://schemas.openxmlformats.org/drawingml/2006/main">
              <a:ext uri="{FF2B5EF4-FFF2-40B4-BE49-F238E27FC236}">
                <a16:creationId xmlns:a16="http://schemas.microsoft.com/office/drawing/2014/main" id="{65A18568-B318-43CF-8A9D-F33E9339D083}"/>
              </a:ext>
            </a:extLst>
          </p:cNvPr>
          <p:cNvSpPr>
            <a:spLocks xmlns:a="http://schemas.openxmlformats.org/drawingml/2006/main" noGrp="1"/>
          </p:cNvSpPr>
          <p:nvPr/>
        </p:nvSpPr>
        <p:spPr>
          <a:xfrm xmlns:a="http://schemas.openxmlformats.org/drawingml/2006/main">
            <a:off x="704850" y="518160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Advice dominates. Popularity and repeated statistics do not establish outcomes.</a:t>
            </a:r>
          </a:p>
        </p:txBody>
      </p:sp>
      <p:sp>
        <p:nvSpPr>
          <p:cNvPr id="11" name="evidence-note">
            <a:extLst xmlns:a="http://schemas.openxmlformats.org/drawingml/2006/main">
              <a:ext uri="{FF2B5EF4-FFF2-40B4-BE49-F238E27FC236}">
                <a16:creationId xmlns:a16="http://schemas.microsoft.com/office/drawing/2014/main" id="{1FE17561-82F1-4954-82DD-ECBC8BEFAF18}"/>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Caption analysis only. Salary clip: 2020 international raise advice. No listening or screen verification.</a:t>
            </a:r>
          </a:p>
        </p:txBody>
      </p:sp>
      <p:sp>
        <p:nvSpPr>
          <p:cNvPr id="12" name="page-number">
            <a:extLst xmlns:a="http://schemas.openxmlformats.org/drawingml/2006/main">
              <a:ext uri="{FF2B5EF4-FFF2-40B4-BE49-F238E27FC236}">
                <a16:creationId xmlns:a16="http://schemas.microsoft.com/office/drawing/2014/main" id="{C31B23E6-2790-4D3B-B844-754ABD0BEF18}"/>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16</a:t>
            </a:r>
          </a:p>
        </p:txBody>
      </p:sp>
    </p:spTree>
    <p:extLst>
      <p:ext uri="{BB962C8B-B14F-4D97-AF65-F5344CB8AC3E}">
        <p14:creationId xmlns:p14="http://schemas.microsoft.com/office/powerpoint/2010/main" val="2050071584"/>
      </p:ext>
    </p:extLst>
  </p:cSld>
</p:sld>
</file>

<file path=ppt/slides/slide1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1ACCFBBD-AB9B-42F7-AFFB-E9CBDAE639A2}"/>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Privacy is part of the workflow</a:t>
            </a:r>
          </a:p>
        </p:txBody>
      </p:sp>
      <p:sp>
        <p:nvSpPr>
          <p:cNvPr id="2" name="slide-lead">
            <a:extLst xmlns:a="http://schemas.openxmlformats.org/drawingml/2006/main">
              <a:ext uri="{FF2B5EF4-FFF2-40B4-BE49-F238E27FC236}">
                <a16:creationId xmlns:a16="http://schemas.microsoft.com/office/drawing/2014/main" id="{313650DA-5334-4988-B2D2-26D2C5D3F871}"/>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Reusing career evidence can also concentrate personal information.</a:t>
            </a:r>
          </a:p>
        </p:txBody>
      </p:sp>
      <p:sp>
        <p:nvSpPr>
          <p:cNvPr id="3" name="statement-heading-0">
            <a:extLst xmlns:a="http://schemas.openxmlformats.org/drawingml/2006/main">
              <a:ext uri="{FF2B5EF4-FFF2-40B4-BE49-F238E27FC236}">
                <a16:creationId xmlns:a16="http://schemas.microsoft.com/office/drawing/2014/main" id="{B5D8CF78-0994-4B1E-A0BD-90D73F80028A}"/>
              </a:ext>
            </a:extLst>
          </p:cNvPr>
          <p:cNvSpPr>
            <a:spLocks xmlns:a="http://schemas.openxmlformats.org/drawingml/2006/main" noGrp="1"/>
          </p:cNvSpPr>
          <p:nvPr/>
        </p:nvSpPr>
        <p:spPr>
          <a:xfrm xmlns:a="http://schemas.openxmlformats.org/drawingml/2006/main">
            <a:off x="704850" y="220980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Necessary information</a:t>
            </a:r>
          </a:p>
        </p:txBody>
      </p:sp>
      <p:sp>
        <p:nvSpPr>
          <p:cNvPr id="4" name="statement-body-0">
            <a:extLst xmlns:a="http://schemas.openxmlformats.org/drawingml/2006/main">
              <a:ext uri="{FF2B5EF4-FFF2-40B4-BE49-F238E27FC236}">
                <a16:creationId xmlns:a16="http://schemas.microsoft.com/office/drawing/2014/main" id="{B4B009BA-A696-4A84-9721-F13D3089D497}"/>
              </a:ext>
            </a:extLst>
          </p:cNvPr>
          <p:cNvSpPr>
            <a:spLocks xmlns:a="http://schemas.openxmlformats.org/drawingml/2006/main" noGrp="1"/>
          </p:cNvSpPr>
          <p:nvPr/>
        </p:nvSpPr>
        <p:spPr>
          <a:xfrm xmlns:a="http://schemas.openxmlformats.org/drawingml/2006/main">
            <a:off x="704850" y="258127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Which facts does this task actually require?</a:t>
            </a:r>
          </a:p>
        </p:txBody>
      </p:sp>
      <p:sp>
        <p:nvSpPr>
          <p:cNvPr id="5" name="statement-heading-1">
            <a:extLst xmlns:a="http://schemas.openxmlformats.org/drawingml/2006/main">
              <a:ext uri="{FF2B5EF4-FFF2-40B4-BE49-F238E27FC236}">
                <a16:creationId xmlns:a16="http://schemas.microsoft.com/office/drawing/2014/main" id="{11FD11F7-2301-4553-8C7A-3EDDE1B9A397}"/>
              </a:ext>
            </a:extLst>
          </p:cNvPr>
          <p:cNvSpPr>
            <a:spLocks xmlns:a="http://schemas.openxmlformats.org/drawingml/2006/main" noGrp="1"/>
          </p:cNvSpPr>
          <p:nvPr/>
        </p:nvSpPr>
        <p:spPr>
          <a:xfrm xmlns:a="http://schemas.openxmlformats.org/drawingml/2006/main">
            <a:off x="704850" y="307657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Disclosure</a:t>
            </a:r>
          </a:p>
        </p:txBody>
      </p:sp>
      <p:sp>
        <p:nvSpPr>
          <p:cNvPr id="6" name="statement-body-1">
            <a:extLst xmlns:a="http://schemas.openxmlformats.org/drawingml/2006/main">
              <a:ext uri="{FF2B5EF4-FFF2-40B4-BE49-F238E27FC236}">
                <a16:creationId xmlns:a16="http://schemas.microsoft.com/office/drawing/2014/main" id="{79A13BC1-6303-42F5-AFF3-0A6C96E3BE2C}"/>
              </a:ext>
            </a:extLst>
          </p:cNvPr>
          <p:cNvSpPr>
            <a:spLocks xmlns:a="http://schemas.openxmlformats.org/drawingml/2006/main" noGrp="1"/>
          </p:cNvSpPr>
          <p:nvPr/>
        </p:nvSpPr>
        <p:spPr>
          <a:xfrm xmlns:a="http://schemas.openxmlformats.org/drawingml/2006/main">
            <a:off x="704850" y="344805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What will a tool, provider or third party receive?</a:t>
            </a:r>
          </a:p>
        </p:txBody>
      </p:sp>
      <p:sp>
        <p:nvSpPr>
          <p:cNvPr id="7" name="statement-heading-2">
            <a:extLst xmlns:a="http://schemas.openxmlformats.org/drawingml/2006/main">
              <a:ext uri="{FF2B5EF4-FFF2-40B4-BE49-F238E27FC236}">
                <a16:creationId xmlns:a16="http://schemas.microsoft.com/office/drawing/2014/main" id="{17B34309-25E2-4710-A753-402113522419}"/>
              </a:ext>
            </a:extLst>
          </p:cNvPr>
          <p:cNvSpPr>
            <a:spLocks xmlns:a="http://schemas.openxmlformats.org/drawingml/2006/main" noGrp="1"/>
          </p:cNvSpPr>
          <p:nvPr/>
        </p:nvSpPr>
        <p:spPr>
          <a:xfrm xmlns:a="http://schemas.openxmlformats.org/drawingml/2006/main">
            <a:off x="704850" y="394335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Access and retention</a:t>
            </a:r>
          </a:p>
        </p:txBody>
      </p:sp>
      <p:sp>
        <p:nvSpPr>
          <p:cNvPr id="8" name="statement-body-2">
            <a:extLst xmlns:a="http://schemas.openxmlformats.org/drawingml/2006/main">
              <a:ext uri="{FF2B5EF4-FFF2-40B4-BE49-F238E27FC236}">
                <a16:creationId xmlns:a16="http://schemas.microsoft.com/office/drawing/2014/main" id="{33D26A14-14DC-4637-B790-904D0E872102}"/>
              </a:ext>
            </a:extLst>
          </p:cNvPr>
          <p:cNvSpPr>
            <a:spLocks xmlns:a="http://schemas.openxmlformats.org/drawingml/2006/main" noGrp="1"/>
          </p:cNvSpPr>
          <p:nvPr/>
        </p:nvSpPr>
        <p:spPr>
          <a:xfrm xmlns:a="http://schemas.openxmlformats.org/drawingml/2006/main">
            <a:off x="704850" y="431482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Who can read the record, and how long should it remain?</a:t>
            </a:r>
          </a:p>
        </p:txBody>
      </p:sp>
      <p:sp>
        <p:nvSpPr>
          <p:cNvPr id="9" name="statement-heading-3">
            <a:extLst xmlns:a="http://schemas.openxmlformats.org/drawingml/2006/main">
              <a:ext uri="{FF2B5EF4-FFF2-40B4-BE49-F238E27FC236}">
                <a16:creationId xmlns:a16="http://schemas.microsoft.com/office/drawing/2014/main" id="{29856278-C04E-498A-85B7-637AAC6A87D7}"/>
              </a:ext>
            </a:extLst>
          </p:cNvPr>
          <p:cNvSpPr>
            <a:spLocks xmlns:a="http://schemas.openxmlformats.org/drawingml/2006/main" noGrp="1"/>
          </p:cNvSpPr>
          <p:nvPr/>
        </p:nvSpPr>
        <p:spPr>
          <a:xfrm xmlns:a="http://schemas.openxmlformats.org/drawingml/2006/main">
            <a:off x="704850" y="481012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Correction and control</a:t>
            </a:r>
          </a:p>
        </p:txBody>
      </p:sp>
      <p:sp>
        <p:nvSpPr>
          <p:cNvPr id="10" name="statement-body-3">
            <a:extLst xmlns:a="http://schemas.openxmlformats.org/drawingml/2006/main">
              <a:ext uri="{FF2B5EF4-FFF2-40B4-BE49-F238E27FC236}">
                <a16:creationId xmlns:a16="http://schemas.microsoft.com/office/drawing/2014/main" id="{221F6C8B-C90B-445A-97FC-0D224CE058F9}"/>
              </a:ext>
            </a:extLst>
          </p:cNvPr>
          <p:cNvSpPr>
            <a:spLocks xmlns:a="http://schemas.openxmlformats.org/drawingml/2006/main" noGrp="1"/>
          </p:cNvSpPr>
          <p:nvPr/>
        </p:nvSpPr>
        <p:spPr>
          <a:xfrm xmlns:a="http://schemas.openxmlformats.org/drawingml/2006/main">
            <a:off x="704850" y="518160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Can the person inspect, change and remove what the workflow uses?</a:t>
            </a:r>
          </a:p>
        </p:txBody>
      </p:sp>
      <p:sp>
        <p:nvSpPr>
          <p:cNvPr id="11" name="evidence-note">
            <a:extLst xmlns:a="http://schemas.openxmlformats.org/drawingml/2006/main">
              <a:ext uri="{FF2B5EF4-FFF2-40B4-BE49-F238E27FC236}">
                <a16:creationId xmlns:a16="http://schemas.microsoft.com/office/drawing/2014/main" id="{476462E8-5F0D-4088-9D1B-DA349EBF851C}"/>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These are design questions. Current provider policies and implemented controls remain unreviewed.</a:t>
            </a:r>
          </a:p>
        </p:txBody>
      </p:sp>
      <p:sp>
        <p:nvSpPr>
          <p:cNvPr id="12" name="page-number">
            <a:extLst xmlns:a="http://schemas.openxmlformats.org/drawingml/2006/main">
              <a:ext uri="{FF2B5EF4-FFF2-40B4-BE49-F238E27FC236}">
                <a16:creationId xmlns:a16="http://schemas.microsoft.com/office/drawing/2014/main" id="{F53D2408-1E13-48EB-9B16-FE2974C206C0}"/>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17</a:t>
            </a:r>
          </a:p>
        </p:txBody>
      </p:sp>
    </p:spTree>
    <p:extLst>
      <p:ext uri="{BB962C8B-B14F-4D97-AF65-F5344CB8AC3E}">
        <p14:creationId xmlns:p14="http://schemas.microsoft.com/office/powerpoint/2010/main" val="746266644"/>
      </p:ext>
    </p:extLst>
  </p:cSld>
</p:sld>
</file>

<file path=ppt/slides/slide1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98043C5D-4574-4767-8FB1-B67ADEBC9600}"/>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Earlier product and development research</a:t>
            </a:r>
          </a:p>
        </p:txBody>
      </p:sp>
      <p:sp>
        <p:nvSpPr>
          <p:cNvPr id="2" name="slide-lead">
            <a:extLst xmlns:a="http://schemas.openxmlformats.org/drawingml/2006/main">
              <a:ext uri="{FF2B5EF4-FFF2-40B4-BE49-F238E27FC236}">
                <a16:creationId xmlns:a16="http://schemas.microsoft.com/office/drawing/2014/main" id="{9F3700E4-0AB4-484D-9C86-E312312FC154}"/>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The baseline work offers directions to examine after reading the findings.</a:t>
            </a:r>
          </a:p>
        </p:txBody>
      </p:sp>
      <p:sp>
        <p:nvSpPr>
          <p:cNvPr id="3" name="statement-heading-0">
            <a:extLst xmlns:a="http://schemas.openxmlformats.org/drawingml/2006/main">
              <a:ext uri="{FF2B5EF4-FFF2-40B4-BE49-F238E27FC236}">
                <a16:creationId xmlns:a16="http://schemas.microsoft.com/office/drawing/2014/main" id="{8363B055-7B41-4AF8-B93A-5749FBBCCF4F}"/>
              </a:ext>
            </a:extLst>
          </p:cNvPr>
          <p:cNvSpPr>
            <a:spLocks xmlns:a="http://schemas.openxmlformats.org/drawingml/2006/main" noGrp="1"/>
          </p:cNvSpPr>
          <p:nvPr/>
        </p:nvSpPr>
        <p:spPr>
          <a:xfrm xmlns:a="http://schemas.openxmlformats.org/drawingml/2006/main">
            <a:off x="704850" y="220980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Existing alternatives already overlap</a:t>
            </a:r>
          </a:p>
        </p:txBody>
      </p:sp>
      <p:sp>
        <p:nvSpPr>
          <p:cNvPr id="4" name="statement-body-0">
            <a:extLst xmlns:a="http://schemas.openxmlformats.org/drawingml/2006/main">
              <a:ext uri="{FF2B5EF4-FFF2-40B4-BE49-F238E27FC236}">
                <a16:creationId xmlns:a16="http://schemas.microsoft.com/office/drawing/2014/main" id="{E2992939-D78A-4E96-97A5-0E496E33F99C}"/>
              </a:ext>
            </a:extLst>
          </p:cNvPr>
          <p:cNvSpPr>
            <a:spLocks xmlns:a="http://schemas.openxmlformats.org/drawingml/2006/main" noGrp="1"/>
          </p:cNvSpPr>
          <p:nvPr/>
        </p:nvSpPr>
        <p:spPr>
          <a:xfrm xmlns:a="http://schemas.openxmlformats.org/drawingml/2006/main">
            <a:off x="704850" y="258127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General assistants, career tools, manual records and human support deserve comparison.</a:t>
            </a:r>
          </a:p>
        </p:txBody>
      </p:sp>
      <p:sp>
        <p:nvSpPr>
          <p:cNvPr id="5" name="statement-heading-1">
            <a:extLst xmlns:a="http://schemas.openxmlformats.org/drawingml/2006/main">
              <a:ext uri="{FF2B5EF4-FFF2-40B4-BE49-F238E27FC236}">
                <a16:creationId xmlns:a16="http://schemas.microsoft.com/office/drawing/2014/main" id="{19C551B5-1556-403B-BC16-4CDA060DF6CE}"/>
              </a:ext>
            </a:extLst>
          </p:cNvPr>
          <p:cNvSpPr>
            <a:spLocks xmlns:a="http://schemas.openxmlformats.org/drawingml/2006/main" noGrp="1"/>
          </p:cNvSpPr>
          <p:nvPr/>
        </p:nvSpPr>
        <p:spPr>
          <a:xfrm xmlns:a="http://schemas.openxmlformats.org/drawingml/2006/main">
            <a:off x="704850" y="307657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Small development slices may suit the uncertainty</a:t>
            </a:r>
          </a:p>
        </p:txBody>
      </p:sp>
      <p:sp>
        <p:nvSpPr>
          <p:cNvPr id="6" name="statement-body-1">
            <a:extLst xmlns:a="http://schemas.openxmlformats.org/drawingml/2006/main">
              <a:ext uri="{FF2B5EF4-FFF2-40B4-BE49-F238E27FC236}">
                <a16:creationId xmlns:a16="http://schemas.microsoft.com/office/drawing/2014/main" id="{BA0566F0-4081-4D9B-BF6B-C510498ECF4C}"/>
              </a:ext>
            </a:extLst>
          </p:cNvPr>
          <p:cNvSpPr>
            <a:spLocks xmlns:a="http://schemas.openxmlformats.org/drawingml/2006/main" noGrp="1"/>
          </p:cNvSpPr>
          <p:nvPr/>
        </p:nvSpPr>
        <p:spPr>
          <a:xfrm xmlns:a="http://schemas.openxmlformats.org/drawingml/2006/main">
            <a:off x="704850" y="344805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Use a short behaviour brief, narrow implementation and independent verification.</a:t>
            </a:r>
          </a:p>
        </p:txBody>
      </p:sp>
      <p:sp>
        <p:nvSpPr>
          <p:cNvPr id="7" name="statement-heading-2">
            <a:extLst xmlns:a="http://schemas.openxmlformats.org/drawingml/2006/main">
              <a:ext uri="{FF2B5EF4-FFF2-40B4-BE49-F238E27FC236}">
                <a16:creationId xmlns:a16="http://schemas.microsoft.com/office/drawing/2014/main" id="{AEBEFBAE-52E4-4C8E-8F9B-87A69E336BE9}"/>
              </a:ext>
            </a:extLst>
          </p:cNvPr>
          <p:cNvSpPr>
            <a:spLocks xmlns:a="http://schemas.openxmlformats.org/drawingml/2006/main" noGrp="1"/>
          </p:cNvSpPr>
          <p:nvPr/>
        </p:nvSpPr>
        <p:spPr>
          <a:xfrm xmlns:a="http://schemas.openxmlformats.org/drawingml/2006/main">
            <a:off x="704850" y="394335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Gherkin examples can clarify behaviour</a:t>
            </a:r>
          </a:p>
        </p:txBody>
      </p:sp>
      <p:sp>
        <p:nvSpPr>
          <p:cNvPr id="8" name="statement-body-2">
            <a:extLst xmlns:a="http://schemas.openxmlformats.org/drawingml/2006/main">
              <a:ext uri="{FF2B5EF4-FFF2-40B4-BE49-F238E27FC236}">
                <a16:creationId xmlns:a16="http://schemas.microsoft.com/office/drawing/2014/main" id="{BB970104-C9DB-4A59-9CB0-42219CB969A5}"/>
              </a:ext>
            </a:extLst>
          </p:cNvPr>
          <p:cNvSpPr>
            <a:spLocks xmlns:a="http://schemas.openxmlformats.org/drawingml/2006/main" noGrp="1"/>
          </p:cNvSpPr>
          <p:nvPr/>
        </p:nvSpPr>
        <p:spPr>
          <a:xfrm xmlns:a="http://schemas.openxmlformats.org/drawingml/2006/main">
            <a:off x="704850" y="431482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Given/When/Then examples clarify behaviour. Running them as tests remains optional.</a:t>
            </a:r>
          </a:p>
        </p:txBody>
      </p:sp>
      <p:sp>
        <p:nvSpPr>
          <p:cNvPr id="9" name="statement-heading-3">
            <a:extLst xmlns:a="http://schemas.openxmlformats.org/drawingml/2006/main">
              <a:ext uri="{FF2B5EF4-FFF2-40B4-BE49-F238E27FC236}">
                <a16:creationId xmlns:a16="http://schemas.microsoft.com/office/drawing/2014/main" id="{1540136E-9FB8-48B4-A4EB-00DEED86064B}"/>
              </a:ext>
            </a:extLst>
          </p:cNvPr>
          <p:cNvSpPr>
            <a:spLocks xmlns:a="http://schemas.openxmlformats.org/drawingml/2006/main" noGrp="1"/>
          </p:cNvSpPr>
          <p:nvPr/>
        </p:nvSpPr>
        <p:spPr>
          <a:xfrm xmlns:a="http://schemas.openxmlformats.org/drawingml/2006/main">
            <a:off x="704850" y="481012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Ownership requires understanding</a:t>
            </a:r>
          </a:p>
        </p:txBody>
      </p:sp>
      <p:sp>
        <p:nvSpPr>
          <p:cNvPr id="10" name="statement-body-3">
            <a:extLst xmlns:a="http://schemas.openxmlformats.org/drawingml/2006/main">
              <a:ext uri="{FF2B5EF4-FFF2-40B4-BE49-F238E27FC236}">
                <a16:creationId xmlns:a16="http://schemas.microsoft.com/office/drawing/2014/main" id="{CCD557A9-5851-4129-91AE-4FCD54ECE49B}"/>
              </a:ext>
            </a:extLst>
          </p:cNvPr>
          <p:cNvSpPr>
            <a:spLocks xmlns:a="http://schemas.openxmlformats.org/drawingml/2006/main" noGrp="1"/>
          </p:cNvSpPr>
          <p:nvPr/>
        </p:nvSpPr>
        <p:spPr>
          <a:xfrm xmlns:a="http://schemas.openxmlformats.org/drawingml/2006/main">
            <a:off x="704850" y="518160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The owner should explain data flow, failure handling, tests and recovery.</a:t>
            </a:r>
          </a:p>
        </p:txBody>
      </p:sp>
      <p:sp>
        <p:nvSpPr>
          <p:cNvPr id="11" name="evidence-note">
            <a:extLst xmlns:a="http://schemas.openxmlformats.org/drawingml/2006/main">
              <a:ext uri="{FF2B5EF4-FFF2-40B4-BE49-F238E27FC236}">
                <a16:creationId xmlns:a16="http://schemas.microsoft.com/office/drawing/2014/main" id="{189C9D6C-B3B0-4C78-B413-AE2202B584A7}"/>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Round 00 recommendations. No local productivity benchmark, stack choice or competitive advantage is proven.</a:t>
            </a:r>
          </a:p>
        </p:txBody>
      </p:sp>
      <p:sp>
        <p:nvSpPr>
          <p:cNvPr id="12" name="page-number">
            <a:extLst xmlns:a="http://schemas.openxmlformats.org/drawingml/2006/main">
              <a:ext uri="{FF2B5EF4-FFF2-40B4-BE49-F238E27FC236}">
                <a16:creationId xmlns:a16="http://schemas.microsoft.com/office/drawing/2014/main" id="{BE2D819D-25D8-46B4-8F5E-6B1FE713D10A}"/>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18</a:t>
            </a:r>
          </a:p>
        </p:txBody>
      </p:sp>
    </p:spTree>
    <p:extLst>
      <p:ext uri="{BB962C8B-B14F-4D97-AF65-F5344CB8AC3E}">
        <p14:creationId xmlns:p14="http://schemas.microsoft.com/office/powerpoint/2010/main" val="406955163"/>
      </p:ext>
    </p:extLst>
  </p:cSld>
</p:sld>
</file>

<file path=ppt/slides/slide19.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06D2784C-BD1D-47AA-ADC5-A65F81FDA4CC}"/>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Questions the research leaves open</a:t>
            </a:r>
          </a:p>
        </p:txBody>
      </p:sp>
      <p:sp>
        <p:nvSpPr>
          <p:cNvPr id="2" name="slide-lead">
            <a:extLst xmlns:a="http://schemas.openxmlformats.org/drawingml/2006/main">
              <a:ext uri="{FF2B5EF4-FFF2-40B4-BE49-F238E27FC236}">
                <a16:creationId xmlns:a16="http://schemas.microsoft.com/office/drawing/2014/main" id="{2A691F35-7225-4F81-9D74-C4574694C507}"/>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The evidence supports mechanisms more strongly than rankings or outcomes.</a:t>
            </a:r>
          </a:p>
        </p:txBody>
      </p:sp>
      <p:sp>
        <p:nvSpPr>
          <p:cNvPr id="3" name="statement-heading-0">
            <a:extLst xmlns:a="http://schemas.openxmlformats.org/drawingml/2006/main">
              <a:ext uri="{FF2B5EF4-FFF2-40B4-BE49-F238E27FC236}">
                <a16:creationId xmlns:a16="http://schemas.microsoft.com/office/drawing/2014/main" id="{DDDD940F-0813-41BD-85DF-0BD984380B68}"/>
              </a:ext>
            </a:extLst>
          </p:cNvPr>
          <p:cNvSpPr>
            <a:spLocks xmlns:a="http://schemas.openxmlformats.org/drawingml/2006/main" noGrp="1"/>
          </p:cNvSpPr>
          <p:nvPr/>
        </p:nvSpPr>
        <p:spPr>
          <a:xfrm xmlns:a="http://schemas.openxmlformats.org/drawingml/2006/main">
            <a:off x="704850" y="220980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Who needs which help most?</a:t>
            </a:r>
          </a:p>
        </p:txBody>
      </p:sp>
      <p:sp>
        <p:nvSpPr>
          <p:cNvPr id="4" name="statement-body-0">
            <a:extLst xmlns:a="http://schemas.openxmlformats.org/drawingml/2006/main">
              <a:ext uri="{FF2B5EF4-FFF2-40B4-BE49-F238E27FC236}">
                <a16:creationId xmlns:a16="http://schemas.microsoft.com/office/drawing/2014/main" id="{9DF500B2-9D88-48BD-8D69-A1891B49DF93}"/>
              </a:ext>
            </a:extLst>
          </p:cNvPr>
          <p:cNvSpPr>
            <a:spLocks xmlns:a="http://schemas.openxmlformats.org/drawingml/2006/main" noGrp="1"/>
          </p:cNvSpPr>
          <p:nvPr/>
        </p:nvSpPr>
        <p:spPr>
          <a:xfrm xmlns:a="http://schemas.openxmlformats.org/drawingml/2006/main">
            <a:off x="704850" y="258127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Prevalence, comparative burden, demand and willingness to pay remain unknown.</a:t>
            </a:r>
          </a:p>
        </p:txBody>
      </p:sp>
      <p:sp>
        <p:nvSpPr>
          <p:cNvPr id="5" name="statement-heading-1">
            <a:extLst xmlns:a="http://schemas.openxmlformats.org/drawingml/2006/main">
              <a:ext uri="{FF2B5EF4-FFF2-40B4-BE49-F238E27FC236}">
                <a16:creationId xmlns:a16="http://schemas.microsoft.com/office/drawing/2014/main" id="{76F40B75-D607-4F7A-86B6-BAF2A6EB4788}"/>
              </a:ext>
            </a:extLst>
          </p:cNvPr>
          <p:cNvSpPr>
            <a:spLocks xmlns:a="http://schemas.openxmlformats.org/drawingml/2006/main" noGrp="1"/>
          </p:cNvSpPr>
          <p:nvPr/>
        </p:nvSpPr>
        <p:spPr>
          <a:xfrm xmlns:a="http://schemas.openxmlformats.org/drawingml/2006/main">
            <a:off x="704850" y="307657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What works across different contexts?</a:t>
            </a:r>
          </a:p>
        </p:txBody>
      </p:sp>
      <p:sp>
        <p:nvSpPr>
          <p:cNvPr id="6" name="statement-body-1">
            <a:extLst xmlns:a="http://schemas.openxmlformats.org/drawingml/2006/main">
              <a:ext uri="{FF2B5EF4-FFF2-40B4-BE49-F238E27FC236}">
                <a16:creationId xmlns:a16="http://schemas.microsoft.com/office/drawing/2014/main" id="{06104EE3-561F-447F-99F7-0912211CAB87}"/>
              </a:ext>
            </a:extLst>
          </p:cNvPr>
          <p:cNvSpPr>
            <a:spLocks xmlns:a="http://schemas.openxmlformats.org/drawingml/2006/main" noGrp="1"/>
          </p:cNvSpPr>
          <p:nvPr/>
        </p:nvSpPr>
        <p:spPr>
          <a:xfrm xmlns:a="http://schemas.openxmlformats.org/drawingml/2006/main">
            <a:off x="704850" y="344805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Local accessibility, frontline work, languages and cover-letter practices need more evidence.</a:t>
            </a:r>
          </a:p>
        </p:txBody>
      </p:sp>
      <p:sp>
        <p:nvSpPr>
          <p:cNvPr id="7" name="statement-heading-2">
            <a:extLst xmlns:a="http://schemas.openxmlformats.org/drawingml/2006/main">
              <a:ext uri="{FF2B5EF4-FFF2-40B4-BE49-F238E27FC236}">
                <a16:creationId xmlns:a16="http://schemas.microsoft.com/office/drawing/2014/main" id="{E0EE7330-6E4B-4F11-9C7F-1DB601EC002F}"/>
              </a:ext>
            </a:extLst>
          </p:cNvPr>
          <p:cNvSpPr>
            <a:spLocks xmlns:a="http://schemas.openxmlformats.org/drawingml/2006/main" noGrp="1"/>
          </p:cNvSpPr>
          <p:nvPr/>
        </p:nvSpPr>
        <p:spPr>
          <a:xfrm xmlns:a="http://schemas.openxmlformats.org/drawingml/2006/main">
            <a:off x="704850" y="3943350"/>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Does assistance reduce total effort?</a:t>
            </a:r>
          </a:p>
        </p:txBody>
      </p:sp>
      <p:sp>
        <p:nvSpPr>
          <p:cNvPr id="8" name="statement-body-2">
            <a:extLst xmlns:a="http://schemas.openxmlformats.org/drawingml/2006/main">
              <a:ext uri="{FF2B5EF4-FFF2-40B4-BE49-F238E27FC236}">
                <a16:creationId xmlns:a16="http://schemas.microsoft.com/office/drawing/2014/main" id="{D0A400C4-3294-4F93-99E9-35902AE4AF8B}"/>
              </a:ext>
            </a:extLst>
          </p:cNvPr>
          <p:cNvSpPr>
            <a:spLocks xmlns:a="http://schemas.openxmlformats.org/drawingml/2006/main" noGrp="1"/>
          </p:cNvSpPr>
          <p:nvPr/>
        </p:nvSpPr>
        <p:spPr>
          <a:xfrm xmlns:a="http://schemas.openxmlformats.org/drawingml/2006/main">
            <a:off x="704850" y="431482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JobHub timing, correction, recovery and hiring outcomes have not been tested.</a:t>
            </a:r>
          </a:p>
        </p:txBody>
      </p:sp>
      <p:sp>
        <p:nvSpPr>
          <p:cNvPr id="9" name="statement-heading-3">
            <a:extLst xmlns:a="http://schemas.openxmlformats.org/drawingml/2006/main">
              <a:ext uri="{FF2B5EF4-FFF2-40B4-BE49-F238E27FC236}">
                <a16:creationId xmlns:a16="http://schemas.microsoft.com/office/drawing/2014/main" id="{6625AC08-BA91-4488-A195-BEE178819A6F}"/>
              </a:ext>
            </a:extLst>
          </p:cNvPr>
          <p:cNvSpPr>
            <a:spLocks xmlns:a="http://schemas.openxmlformats.org/drawingml/2006/main" noGrp="1"/>
          </p:cNvSpPr>
          <p:nvPr/>
        </p:nvSpPr>
        <p:spPr>
          <a:xfrm xmlns:a="http://schemas.openxmlformats.org/drawingml/2006/main">
            <a:off x="704850" y="481012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C3A"/>
                </a:solidFill>
                <a:latin typeface="Arial"/>
                <a:ea typeface="Arial"/>
                <a:cs typeface="Arial"/>
              </a:defRPr>
            </a:defPPr>
            <a:lvl1pPr algn="l">
              <a:defRPr sz="2025" b="1">
                <a:solidFill>
                  <a:srgbClr val="153C3A"/>
                </a:solidFill>
                <a:latin typeface="Arial"/>
                <a:ea typeface="Arial"/>
                <a:cs typeface="Arial"/>
              </a:defRPr>
            </a:lvl1pPr>
            <a:lvl2pPr algn="l">
              <a:defRPr sz="2025" b="1">
                <a:solidFill>
                  <a:srgbClr val="153C3A"/>
                </a:solidFill>
                <a:latin typeface="Arial"/>
                <a:ea typeface="Arial"/>
                <a:cs typeface="Arial"/>
              </a:defRPr>
            </a:lvl2pPr>
            <a:lvl3pPr algn="l">
              <a:defRPr sz="2025" b="1">
                <a:solidFill>
                  <a:srgbClr val="153C3A"/>
                </a:solidFill>
                <a:latin typeface="Arial"/>
                <a:ea typeface="Arial"/>
                <a:cs typeface="Arial"/>
              </a:defRPr>
            </a:lvl3pPr>
            <a:lvl4pPr algn="l">
              <a:defRPr sz="2025" b="1">
                <a:solidFill>
                  <a:srgbClr val="153C3A"/>
                </a:solidFill>
                <a:latin typeface="Arial"/>
                <a:ea typeface="Arial"/>
                <a:cs typeface="Arial"/>
              </a:defRPr>
            </a:lvl4pPr>
            <a:lvl5pPr algn="l">
              <a:defRPr sz="2025" b="1">
                <a:solidFill>
                  <a:srgbClr val="153C3A"/>
                </a:solidFill>
                <a:latin typeface="Arial"/>
                <a:ea typeface="Arial"/>
                <a:cs typeface="Arial"/>
              </a:defRPr>
            </a:lvl5pPr>
            <a:lvl6pPr algn="l">
              <a:defRPr sz="2025" b="1">
                <a:solidFill>
                  <a:srgbClr val="153C3A"/>
                </a:solidFill>
                <a:latin typeface="Arial"/>
                <a:ea typeface="Arial"/>
                <a:cs typeface="Arial"/>
              </a:defRPr>
            </a:lvl6pPr>
            <a:lvl7pPr algn="l">
              <a:defRPr sz="2025" b="1">
                <a:solidFill>
                  <a:srgbClr val="153C3A"/>
                </a:solidFill>
                <a:latin typeface="Arial"/>
                <a:ea typeface="Arial"/>
                <a:cs typeface="Arial"/>
              </a:defRPr>
            </a:lvl7pPr>
            <a:lvl8pPr algn="l">
              <a:defRPr sz="2025" b="1">
                <a:solidFill>
                  <a:srgbClr val="153C3A"/>
                </a:solidFill>
                <a:latin typeface="Arial"/>
                <a:ea typeface="Arial"/>
                <a:cs typeface="Arial"/>
              </a:defRPr>
            </a:lvl8pPr>
            <a:lvl9pPr algn="l">
              <a:defRPr sz="2025" b="1">
                <a:solidFill>
                  <a:srgbClr val="153C3A"/>
                </a:solidFill>
                <a:latin typeface="Arial"/>
                <a:ea typeface="Arial"/>
                <a:cs typeface="Arial"/>
              </a:defRPr>
            </a:lvl9pPr>
          </a:lstStyle>
          <a:p xmlns:a="http://schemas.openxmlformats.org/drawingml/2006/main">
            <a:pPr algn="l">
              <a:defRPr sz="2025" b="1">
                <a:solidFill>
                  <a:srgbClr val="153C3A"/>
                </a:solidFill>
                <a:latin typeface="Arial"/>
                <a:ea typeface="Arial"/>
                <a:cs typeface="Arial"/>
              </a:defRPr>
            </a:pPr>
            <a:r>
              <a:rPr sz="2025" b="1">
                <a:solidFill>
                  <a:srgbClr val="153C3A"/>
                </a:solidFill>
                <a:latin typeface="Arial"/>
                <a:ea typeface="Arial"/>
                <a:cs typeface="Arial"/>
              </a:rPr>
              <a:t>Which product decisions follow?</a:t>
            </a:r>
          </a:p>
        </p:txBody>
      </p:sp>
      <p:sp>
        <p:nvSpPr>
          <p:cNvPr id="10" name="statement-body-3">
            <a:extLst xmlns:a="http://schemas.openxmlformats.org/drawingml/2006/main">
              <a:ext uri="{FF2B5EF4-FFF2-40B4-BE49-F238E27FC236}">
                <a16:creationId xmlns:a16="http://schemas.microsoft.com/office/drawing/2014/main" id="{7F6B062C-3B81-469F-9D9B-26F2F1806AF0}"/>
              </a:ext>
            </a:extLst>
          </p:cNvPr>
          <p:cNvSpPr>
            <a:spLocks xmlns:a="http://schemas.openxmlformats.org/drawingml/2006/main" noGrp="1"/>
          </p:cNvSpPr>
          <p:nvPr/>
        </p:nvSpPr>
        <p:spPr>
          <a:xfrm xmlns:a="http://schemas.openxmlformats.org/drawingml/2006/main">
            <a:off x="704850" y="518160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B3A"/>
                </a:solidFill>
                <a:latin typeface="Arial"/>
                <a:ea typeface="Arial"/>
                <a:cs typeface="Arial"/>
              </a:defRPr>
            </a:defPPr>
            <a:lvl1pPr algn="l">
              <a:defRPr sz="1800" b="0">
                <a:solidFill>
                  <a:srgbClr val="263B3A"/>
                </a:solidFill>
                <a:latin typeface="Arial"/>
                <a:ea typeface="Arial"/>
                <a:cs typeface="Arial"/>
              </a:defRPr>
            </a:lvl1pPr>
            <a:lvl2pPr algn="l">
              <a:defRPr sz="1800" b="0">
                <a:solidFill>
                  <a:srgbClr val="263B3A"/>
                </a:solidFill>
                <a:latin typeface="Arial"/>
                <a:ea typeface="Arial"/>
                <a:cs typeface="Arial"/>
              </a:defRPr>
            </a:lvl2pPr>
            <a:lvl3pPr algn="l">
              <a:defRPr sz="1800" b="0">
                <a:solidFill>
                  <a:srgbClr val="263B3A"/>
                </a:solidFill>
                <a:latin typeface="Arial"/>
                <a:ea typeface="Arial"/>
                <a:cs typeface="Arial"/>
              </a:defRPr>
            </a:lvl3pPr>
            <a:lvl4pPr algn="l">
              <a:defRPr sz="1800" b="0">
                <a:solidFill>
                  <a:srgbClr val="263B3A"/>
                </a:solidFill>
                <a:latin typeface="Arial"/>
                <a:ea typeface="Arial"/>
                <a:cs typeface="Arial"/>
              </a:defRPr>
            </a:lvl4pPr>
            <a:lvl5pPr algn="l">
              <a:defRPr sz="1800" b="0">
                <a:solidFill>
                  <a:srgbClr val="263B3A"/>
                </a:solidFill>
                <a:latin typeface="Arial"/>
                <a:ea typeface="Arial"/>
                <a:cs typeface="Arial"/>
              </a:defRPr>
            </a:lvl5pPr>
            <a:lvl6pPr algn="l">
              <a:defRPr sz="1800" b="0">
                <a:solidFill>
                  <a:srgbClr val="263B3A"/>
                </a:solidFill>
                <a:latin typeface="Arial"/>
                <a:ea typeface="Arial"/>
                <a:cs typeface="Arial"/>
              </a:defRPr>
            </a:lvl6pPr>
            <a:lvl7pPr algn="l">
              <a:defRPr sz="1800" b="0">
                <a:solidFill>
                  <a:srgbClr val="263B3A"/>
                </a:solidFill>
                <a:latin typeface="Arial"/>
                <a:ea typeface="Arial"/>
                <a:cs typeface="Arial"/>
              </a:defRPr>
            </a:lvl7pPr>
            <a:lvl8pPr algn="l">
              <a:defRPr sz="1800" b="0">
                <a:solidFill>
                  <a:srgbClr val="263B3A"/>
                </a:solidFill>
                <a:latin typeface="Arial"/>
                <a:ea typeface="Arial"/>
                <a:cs typeface="Arial"/>
              </a:defRPr>
            </a:lvl8pPr>
            <a:lvl9pPr algn="l">
              <a:defRPr sz="1800" b="0">
                <a:solidFill>
                  <a:srgbClr val="263B3A"/>
                </a:solidFill>
                <a:latin typeface="Arial"/>
                <a:ea typeface="Arial"/>
                <a:cs typeface="Arial"/>
              </a:defRPr>
            </a:lvl9pPr>
          </a:lstStyle>
          <a:p xmlns:a="http://schemas.openxmlformats.org/drawingml/2006/main">
            <a:pPr algn="l">
              <a:defRPr sz="1800" b="0">
                <a:solidFill>
                  <a:srgbClr val="263B3A"/>
                </a:solidFill>
                <a:latin typeface="Arial"/>
                <a:ea typeface="Arial"/>
                <a:cs typeface="Arial"/>
              </a:defRPr>
            </a:pPr>
            <a:r>
              <a:rPr sz="1800" b="0">
                <a:solidFill>
                  <a:srgbClr val="263B3A"/>
                </a:solidFill>
                <a:latin typeface="Arial"/>
                <a:ea typeface="Arial"/>
                <a:cs typeface="Arial"/>
              </a:rPr>
              <a:t>Initial scope, platform, stack, automation and privacy choices remain open.</a:t>
            </a:r>
          </a:p>
        </p:txBody>
      </p:sp>
      <p:sp>
        <p:nvSpPr>
          <p:cNvPr id="11" name="evidence-note">
            <a:extLst xmlns:a="http://schemas.openxmlformats.org/drawingml/2006/main">
              <a:ext uri="{FF2B5EF4-FFF2-40B4-BE49-F238E27FC236}">
                <a16:creationId xmlns:a16="http://schemas.microsoft.com/office/drawing/2014/main" id="{9629DC5F-C939-4FB7-8044-EBB137CC3489}"/>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English-language graduate, office and technology perspectives remain prominent. All ten objectives have findings or gaps.</a:t>
            </a:r>
          </a:p>
        </p:txBody>
      </p:sp>
      <p:sp>
        <p:nvSpPr>
          <p:cNvPr id="12" name="page-number">
            <a:extLst xmlns:a="http://schemas.openxmlformats.org/drawingml/2006/main">
              <a:ext uri="{FF2B5EF4-FFF2-40B4-BE49-F238E27FC236}">
                <a16:creationId xmlns:a16="http://schemas.microsoft.com/office/drawing/2014/main" id="{B84F60C6-0FDB-481F-98A6-CAB5C42737E0}"/>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19</a:t>
            </a:r>
          </a:p>
        </p:txBody>
      </p:sp>
    </p:spTree>
    <p:extLst>
      <p:ext uri="{BB962C8B-B14F-4D97-AF65-F5344CB8AC3E}">
        <p14:creationId xmlns:p14="http://schemas.microsoft.com/office/powerpoint/2010/main" val="1155838689"/>
      </p:ext>
    </p:extLst>
  </p:cSld>
</p:sld>
</file>

<file path=ppt/slides/slide20.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A9293172-5046-4E1D-BB00-FC04D92467B0}"/>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One possible next comparison</a:t>
            </a:r>
          </a:p>
        </p:txBody>
      </p:sp>
      <p:sp>
        <p:nvSpPr>
          <p:cNvPr id="2" name="slide-lead">
            <a:extLst xmlns:a="http://schemas.openxmlformats.org/drawingml/2006/main">
              <a:ext uri="{FF2B5EF4-FFF2-40B4-BE49-F238E27FC236}">
                <a16:creationId xmlns:a16="http://schemas.microsoft.com/office/drawing/2014/main" id="{13575733-8CC4-4AFF-AA65-87F234714C57}"/>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A small task can test the usefulness of truthful evidence selection.</a:t>
            </a:r>
          </a:p>
        </p:txBody>
      </p:sp>
      <p:sp>
        <p:nvSpPr>
          <p:cNvPr id="3" name="column-heading-0">
            <a:extLst xmlns:a="http://schemas.openxmlformats.org/drawingml/2006/main">
              <a:ext uri="{FF2B5EF4-FFF2-40B4-BE49-F238E27FC236}">
                <a16:creationId xmlns:a16="http://schemas.microsoft.com/office/drawing/2014/main" id="{65F3D912-72B4-4936-90E5-DFDEDCE6126C}"/>
              </a:ext>
            </a:extLst>
          </p:cNvPr>
          <p:cNvSpPr>
            <a:spLocks xmlns:a="http://schemas.openxmlformats.org/drawingml/2006/main" noGrp="1"/>
          </p:cNvSpPr>
          <p:nvPr/>
        </p:nvSpPr>
        <p:spPr>
          <a:xfrm xmlns:a="http://schemas.openxmlformats.org/drawingml/2006/main">
            <a:off x="7048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Suggested setup</a:t>
            </a:r>
          </a:p>
        </p:txBody>
      </p:sp>
      <p:sp>
        <p:nvSpPr>
          <p:cNvPr id="4" name="column-0-item-0">
            <a:extLst xmlns:a="http://schemas.openxmlformats.org/drawingml/2006/main">
              <a:ext uri="{FF2B5EF4-FFF2-40B4-BE49-F238E27FC236}">
                <a16:creationId xmlns:a16="http://schemas.microsoft.com/office/drawing/2014/main" id="{E0C26036-6573-4E29-B054-54A355FB78CA}"/>
              </a:ext>
            </a:extLst>
          </p:cNvPr>
          <p:cNvSpPr>
            <a:spLocks xmlns:a="http://schemas.openxmlformats.org/drawingml/2006/main" noGrp="1"/>
          </p:cNvSpPr>
          <p:nvPr/>
        </p:nvSpPr>
        <p:spPr>
          <a:xfrm xmlns:a="http://schemas.openxmlformats.org/drawingml/2006/main">
            <a:off x="7048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One fictional job and verified fictional career facts</a:t>
            </a:r>
          </a:p>
        </p:txBody>
      </p:sp>
      <p:sp>
        <p:nvSpPr>
          <p:cNvPr id="5" name="column-0-item-1">
            <a:extLst xmlns:a="http://schemas.openxmlformats.org/drawingml/2006/main">
              <a:ext uri="{FF2B5EF4-FFF2-40B4-BE49-F238E27FC236}">
                <a16:creationId xmlns:a16="http://schemas.microsoft.com/office/drawing/2014/main" id="{BD31ED80-465D-4AF6-B074-40DF37ECC6E1}"/>
              </a:ext>
            </a:extLst>
          </p:cNvPr>
          <p:cNvSpPr>
            <a:spLocks xmlns:a="http://schemas.openxmlformats.org/drawingml/2006/main" noGrp="1"/>
          </p:cNvSpPr>
          <p:nvPr/>
        </p:nvSpPr>
        <p:spPr>
          <a:xfrm xmlns:a="http://schemas.openxmlformats.org/drawingml/2006/main">
            <a:off x="7048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Select relevant resume examples</a:t>
            </a:r>
          </a:p>
        </p:txBody>
      </p:sp>
      <p:sp>
        <p:nvSpPr>
          <p:cNvPr id="6" name="column-0-item-2">
            <a:extLst xmlns:a="http://schemas.openxmlformats.org/drawingml/2006/main">
              <a:ext uri="{FF2B5EF4-FFF2-40B4-BE49-F238E27FC236}">
                <a16:creationId xmlns:a16="http://schemas.microsoft.com/office/drawing/2014/main" id="{76CE420F-E49C-4075-935C-107BA3D2CAAE}"/>
              </a:ext>
            </a:extLst>
          </p:cNvPr>
          <p:cNvSpPr>
            <a:spLocks xmlns:a="http://schemas.openxmlformats.org/drawingml/2006/main" noGrp="1"/>
          </p:cNvSpPr>
          <p:nvPr/>
        </p:nvSpPr>
        <p:spPr>
          <a:xfrm xmlns:a="http://schemas.openxmlformats.org/drawingml/2006/main">
            <a:off x="7048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Compare assisted selection with a manual document</a:t>
            </a:r>
          </a:p>
        </p:txBody>
      </p:sp>
      <p:sp>
        <p:nvSpPr>
          <p:cNvPr id="7" name="column-0-item-3">
            <a:extLst xmlns:a="http://schemas.openxmlformats.org/drawingml/2006/main">
              <a:ext uri="{FF2B5EF4-FFF2-40B4-BE49-F238E27FC236}">
                <a16:creationId xmlns:a16="http://schemas.microsoft.com/office/drawing/2014/main" id="{7A497837-1CB2-432E-BB58-FC96480E0F6D}"/>
              </a:ext>
            </a:extLst>
          </p:cNvPr>
          <p:cNvSpPr>
            <a:spLocks xmlns:a="http://schemas.openxmlformats.org/drawingml/2006/main" noGrp="1"/>
          </p:cNvSpPr>
          <p:nvPr/>
        </p:nvSpPr>
        <p:spPr>
          <a:xfrm xmlns:a="http://schemas.openxmlformats.org/drawingml/2006/main">
            <a:off x="7048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Use identical inputs and an interrupted return</a:t>
            </a:r>
          </a:p>
        </p:txBody>
      </p:sp>
      <p:sp>
        <p:nvSpPr>
          <p:cNvPr id="8" name="column-heading-1">
            <a:extLst xmlns:a="http://schemas.openxmlformats.org/drawingml/2006/main">
              <a:ext uri="{FF2B5EF4-FFF2-40B4-BE49-F238E27FC236}">
                <a16:creationId xmlns:a16="http://schemas.microsoft.com/office/drawing/2014/main" id="{D33E3DBD-FBDC-4740-8E78-1A56474A089A}"/>
              </a:ext>
            </a:extLst>
          </p:cNvPr>
          <p:cNvSpPr>
            <a:spLocks xmlns:a="http://schemas.openxmlformats.org/drawingml/2006/main" noGrp="1"/>
          </p:cNvSpPr>
          <p:nvPr/>
        </p:nvSpPr>
        <p:spPr>
          <a:xfrm xmlns:a="http://schemas.openxmlformats.org/drawingml/2006/main">
            <a:off x="63055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What to examine</a:t>
            </a:r>
          </a:p>
        </p:txBody>
      </p:sp>
      <p:sp>
        <p:nvSpPr>
          <p:cNvPr id="9" name="column-1-item-0">
            <a:extLst xmlns:a="http://schemas.openxmlformats.org/drawingml/2006/main">
              <a:ext uri="{FF2B5EF4-FFF2-40B4-BE49-F238E27FC236}">
                <a16:creationId xmlns:a16="http://schemas.microsoft.com/office/drawing/2014/main" id="{083860CC-5942-47EE-80E9-774E886465A9}"/>
              </a:ext>
            </a:extLst>
          </p:cNvPr>
          <p:cNvSpPr>
            <a:spLocks xmlns:a="http://schemas.openxmlformats.org/drawingml/2006/main" noGrp="1"/>
          </p:cNvSpPr>
          <p:nvPr/>
        </p:nvSpPr>
        <p:spPr>
          <a:xfrm xmlns:a="http://schemas.openxmlformats.org/drawingml/2006/main">
            <a:off x="63055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Unsupported claims and hidden unknowns</a:t>
            </a:r>
          </a:p>
        </p:txBody>
      </p:sp>
      <p:sp>
        <p:nvSpPr>
          <p:cNvPr id="10" name="column-1-item-1">
            <a:extLst xmlns:a="http://schemas.openxmlformats.org/drawingml/2006/main">
              <a:ext uri="{FF2B5EF4-FFF2-40B4-BE49-F238E27FC236}">
                <a16:creationId xmlns:a16="http://schemas.microsoft.com/office/drawing/2014/main" id="{BA2B35D8-24B4-469D-A2A7-B79BBFC24337}"/>
              </a:ext>
            </a:extLst>
          </p:cNvPr>
          <p:cNvSpPr>
            <a:spLocks xmlns:a="http://schemas.openxmlformats.org/drawingml/2006/main" noGrp="1"/>
          </p:cNvSpPr>
          <p:nvPr/>
        </p:nvSpPr>
        <p:spPr>
          <a:xfrm xmlns:a="http://schemas.openxmlformats.org/drawingml/2006/main">
            <a:off x="63055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Clarity of fit, gaps and explanations</a:t>
            </a:r>
          </a:p>
        </p:txBody>
      </p:sp>
      <p:sp>
        <p:nvSpPr>
          <p:cNvPr id="11" name="column-1-item-2">
            <a:extLst xmlns:a="http://schemas.openxmlformats.org/drawingml/2006/main">
              <a:ext uri="{FF2B5EF4-FFF2-40B4-BE49-F238E27FC236}">
                <a16:creationId xmlns:a16="http://schemas.microsoft.com/office/drawing/2014/main" id="{D0D9B8AE-28F9-4C2F-ADF4-139FB7E90B5A}"/>
              </a:ext>
            </a:extLst>
          </p:cNvPr>
          <p:cNvSpPr>
            <a:spLocks xmlns:a="http://schemas.openxmlformats.org/drawingml/2006/main" noGrp="1"/>
          </p:cNvSpPr>
          <p:nvPr/>
        </p:nvSpPr>
        <p:spPr>
          <a:xfrm xmlns:a="http://schemas.openxmlformats.org/drawingml/2006/main">
            <a:off x="63055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Correction and recovery effort</a:t>
            </a:r>
          </a:p>
        </p:txBody>
      </p:sp>
      <p:sp>
        <p:nvSpPr>
          <p:cNvPr id="12" name="column-1-item-3">
            <a:extLst xmlns:a="http://schemas.openxmlformats.org/drawingml/2006/main">
              <a:ext uri="{FF2B5EF4-FFF2-40B4-BE49-F238E27FC236}">
                <a16:creationId xmlns:a16="http://schemas.microsoft.com/office/drawing/2014/main" id="{26B9E65D-B4D0-4960-8D25-335E10C1FADF}"/>
              </a:ext>
            </a:extLst>
          </p:cNvPr>
          <p:cNvSpPr>
            <a:spLocks xmlns:a="http://schemas.openxmlformats.org/drawingml/2006/main" noGrp="1"/>
          </p:cNvSpPr>
          <p:nvPr/>
        </p:nvSpPr>
        <p:spPr>
          <a:xfrm xmlns:a="http://schemas.openxmlformats.org/drawingml/2006/main">
            <a:off x="63055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Ability to explain the prepared content</a:t>
            </a:r>
          </a:p>
        </p:txBody>
      </p:sp>
      <p:sp>
        <p:nvSpPr>
          <p:cNvPr id="13" name="evidence-note">
            <a:extLst xmlns:a="http://schemas.openxmlformats.org/drawingml/2006/main">
              <a:ext uri="{FF2B5EF4-FFF2-40B4-BE49-F238E27FC236}">
                <a16:creationId xmlns:a16="http://schemas.microsoft.com/office/drawing/2014/main" id="{C1D26D17-EC58-42F8-912C-D87B7ABFDEC2}"/>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A proposal for discussion. Owner testing can assess logic and effort while demand remains open.</a:t>
            </a:r>
          </a:p>
        </p:txBody>
      </p:sp>
      <p:sp>
        <p:nvSpPr>
          <p:cNvPr id="14" name="page-number">
            <a:extLst xmlns:a="http://schemas.openxmlformats.org/drawingml/2006/main">
              <a:ext uri="{FF2B5EF4-FFF2-40B4-BE49-F238E27FC236}">
                <a16:creationId xmlns:a16="http://schemas.microsoft.com/office/drawing/2014/main" id="{0C7541A1-02FD-4482-A35E-BE73B049B46A}"/>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20</a:t>
            </a:r>
          </a:p>
        </p:txBody>
      </p:sp>
    </p:spTree>
    <p:extLst>
      <p:ext uri="{BB962C8B-B14F-4D97-AF65-F5344CB8AC3E}">
        <p14:creationId xmlns:p14="http://schemas.microsoft.com/office/powerpoint/2010/main" val="1453014547"/>
      </p:ext>
    </p:extLst>
  </p:cSld>
</p:sld>
</file>

<file path=ppt/slides/slide2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CE0E573E-28C0-4AB3-819A-E6E581549685}"/>
              </a:ext>
            </a:extLst>
          </p:cNvPr>
          <p:cNvSpPr>
            <a:spLocks xmlns:a="http://schemas.openxmlformats.org/drawingml/2006/main" noGrp="1"/>
          </p:cNvSpPr>
          <p:nvPr/>
        </p:nvSpPr>
        <p:spPr>
          <a:xfrm xmlns:a="http://schemas.openxmlformats.org/drawingml/2006/main">
            <a:off x="685800" y="46672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C3A"/>
                </a:solidFill>
                <a:latin typeface="Arial"/>
                <a:ea typeface="Arial"/>
                <a:cs typeface="Arial"/>
              </a:defRPr>
            </a:defPPr>
            <a:lvl1pPr algn="l">
              <a:defRPr sz="3300" b="1">
                <a:solidFill>
                  <a:srgbClr val="153C3A"/>
                </a:solidFill>
                <a:latin typeface="Arial"/>
                <a:ea typeface="Arial"/>
                <a:cs typeface="Arial"/>
              </a:defRPr>
            </a:lvl1pPr>
            <a:lvl2pPr algn="l">
              <a:defRPr sz="3300" b="1">
                <a:solidFill>
                  <a:srgbClr val="153C3A"/>
                </a:solidFill>
                <a:latin typeface="Arial"/>
                <a:ea typeface="Arial"/>
                <a:cs typeface="Arial"/>
              </a:defRPr>
            </a:lvl2pPr>
            <a:lvl3pPr algn="l">
              <a:defRPr sz="3300" b="1">
                <a:solidFill>
                  <a:srgbClr val="153C3A"/>
                </a:solidFill>
                <a:latin typeface="Arial"/>
                <a:ea typeface="Arial"/>
                <a:cs typeface="Arial"/>
              </a:defRPr>
            </a:lvl3pPr>
            <a:lvl4pPr algn="l">
              <a:defRPr sz="3300" b="1">
                <a:solidFill>
                  <a:srgbClr val="153C3A"/>
                </a:solidFill>
                <a:latin typeface="Arial"/>
                <a:ea typeface="Arial"/>
                <a:cs typeface="Arial"/>
              </a:defRPr>
            </a:lvl4pPr>
            <a:lvl5pPr algn="l">
              <a:defRPr sz="3300" b="1">
                <a:solidFill>
                  <a:srgbClr val="153C3A"/>
                </a:solidFill>
                <a:latin typeface="Arial"/>
                <a:ea typeface="Arial"/>
                <a:cs typeface="Arial"/>
              </a:defRPr>
            </a:lvl5pPr>
            <a:lvl6pPr algn="l">
              <a:defRPr sz="3300" b="1">
                <a:solidFill>
                  <a:srgbClr val="153C3A"/>
                </a:solidFill>
                <a:latin typeface="Arial"/>
                <a:ea typeface="Arial"/>
                <a:cs typeface="Arial"/>
              </a:defRPr>
            </a:lvl6pPr>
            <a:lvl7pPr algn="l">
              <a:defRPr sz="3300" b="1">
                <a:solidFill>
                  <a:srgbClr val="153C3A"/>
                </a:solidFill>
                <a:latin typeface="Arial"/>
                <a:ea typeface="Arial"/>
                <a:cs typeface="Arial"/>
              </a:defRPr>
            </a:lvl7pPr>
            <a:lvl8pPr algn="l">
              <a:defRPr sz="3300" b="1">
                <a:solidFill>
                  <a:srgbClr val="153C3A"/>
                </a:solidFill>
                <a:latin typeface="Arial"/>
                <a:ea typeface="Arial"/>
                <a:cs typeface="Arial"/>
              </a:defRPr>
            </a:lvl8pPr>
            <a:lvl9pPr algn="l">
              <a:defRPr sz="3300" b="1">
                <a:solidFill>
                  <a:srgbClr val="153C3A"/>
                </a:solidFill>
                <a:latin typeface="Arial"/>
                <a:ea typeface="Arial"/>
                <a:cs typeface="Arial"/>
              </a:defRPr>
            </a:lvl9pPr>
          </a:lstStyle>
          <a:p xmlns:a="http://schemas.openxmlformats.org/drawingml/2006/main">
            <a:pPr algn="l">
              <a:defRPr sz="3300" b="1">
                <a:solidFill>
                  <a:srgbClr val="153C3A"/>
                </a:solidFill>
                <a:latin typeface="Arial"/>
                <a:ea typeface="Arial"/>
                <a:cs typeface="Arial"/>
              </a:defRPr>
            </a:pPr>
            <a:r>
              <a:rPr sz="3300" b="1">
                <a:solidFill>
                  <a:srgbClr val="153C3A"/>
                </a:solidFill>
                <a:latin typeface="Arial"/>
                <a:ea typeface="Arial"/>
                <a:cs typeface="Arial"/>
              </a:rPr>
              <a:t>Source guide and reading trail</a:t>
            </a:r>
          </a:p>
        </p:txBody>
      </p:sp>
      <p:sp>
        <p:nvSpPr>
          <p:cNvPr id="2" name="slide-lead">
            <a:extLst xmlns:a="http://schemas.openxmlformats.org/drawingml/2006/main">
              <a:ext uri="{FF2B5EF4-FFF2-40B4-BE49-F238E27FC236}">
                <a16:creationId xmlns:a16="http://schemas.microsoft.com/office/drawing/2014/main" id="{404F1F99-6D89-4624-BAD6-2F85F199BE34}"/>
              </a:ext>
            </a:extLst>
          </p:cNvPr>
          <p:cNvSpPr>
            <a:spLocks xmlns:a="http://schemas.openxmlformats.org/drawingml/2006/main" noGrp="1"/>
          </p:cNvSpPr>
          <p:nvPr/>
        </p:nvSpPr>
        <p:spPr>
          <a:xfrm xmlns:a="http://schemas.openxmlformats.org/drawingml/2006/main">
            <a:off x="704850" y="1257300"/>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967"/>
                </a:solidFill>
                <a:latin typeface="Arial"/>
                <a:ea typeface="Arial"/>
                <a:cs typeface="Arial"/>
              </a:defRPr>
            </a:defPPr>
            <a:lvl1pPr algn="l">
              <a:defRPr sz="2025" b="0">
                <a:solidFill>
                  <a:srgbClr val="526967"/>
                </a:solidFill>
                <a:latin typeface="Arial"/>
                <a:ea typeface="Arial"/>
                <a:cs typeface="Arial"/>
              </a:defRPr>
            </a:lvl1pPr>
            <a:lvl2pPr algn="l">
              <a:defRPr sz="2025" b="0">
                <a:solidFill>
                  <a:srgbClr val="526967"/>
                </a:solidFill>
                <a:latin typeface="Arial"/>
                <a:ea typeface="Arial"/>
                <a:cs typeface="Arial"/>
              </a:defRPr>
            </a:lvl2pPr>
            <a:lvl3pPr algn="l">
              <a:defRPr sz="2025" b="0">
                <a:solidFill>
                  <a:srgbClr val="526967"/>
                </a:solidFill>
                <a:latin typeface="Arial"/>
                <a:ea typeface="Arial"/>
                <a:cs typeface="Arial"/>
              </a:defRPr>
            </a:lvl3pPr>
            <a:lvl4pPr algn="l">
              <a:defRPr sz="2025" b="0">
                <a:solidFill>
                  <a:srgbClr val="526967"/>
                </a:solidFill>
                <a:latin typeface="Arial"/>
                <a:ea typeface="Arial"/>
                <a:cs typeface="Arial"/>
              </a:defRPr>
            </a:lvl4pPr>
            <a:lvl5pPr algn="l">
              <a:defRPr sz="2025" b="0">
                <a:solidFill>
                  <a:srgbClr val="526967"/>
                </a:solidFill>
                <a:latin typeface="Arial"/>
                <a:ea typeface="Arial"/>
                <a:cs typeface="Arial"/>
              </a:defRPr>
            </a:lvl5pPr>
            <a:lvl6pPr algn="l">
              <a:defRPr sz="2025" b="0">
                <a:solidFill>
                  <a:srgbClr val="526967"/>
                </a:solidFill>
                <a:latin typeface="Arial"/>
                <a:ea typeface="Arial"/>
                <a:cs typeface="Arial"/>
              </a:defRPr>
            </a:lvl6pPr>
            <a:lvl7pPr algn="l">
              <a:defRPr sz="2025" b="0">
                <a:solidFill>
                  <a:srgbClr val="526967"/>
                </a:solidFill>
                <a:latin typeface="Arial"/>
                <a:ea typeface="Arial"/>
                <a:cs typeface="Arial"/>
              </a:defRPr>
            </a:lvl7pPr>
            <a:lvl8pPr algn="l">
              <a:defRPr sz="2025" b="0">
                <a:solidFill>
                  <a:srgbClr val="526967"/>
                </a:solidFill>
                <a:latin typeface="Arial"/>
                <a:ea typeface="Arial"/>
                <a:cs typeface="Arial"/>
              </a:defRPr>
            </a:lvl8pPr>
            <a:lvl9pPr algn="l">
              <a:defRPr sz="2025" b="0">
                <a:solidFill>
                  <a:srgbClr val="526967"/>
                </a:solidFill>
                <a:latin typeface="Arial"/>
                <a:ea typeface="Arial"/>
                <a:cs typeface="Arial"/>
              </a:defRPr>
            </a:lvl9pPr>
          </a:lstStyle>
          <a:p xmlns:a="http://schemas.openxmlformats.org/drawingml/2006/main">
            <a:pPr algn="l">
              <a:defRPr sz="2025" b="0">
                <a:solidFill>
                  <a:srgbClr val="526967"/>
                </a:solidFill>
                <a:latin typeface="Arial"/>
                <a:ea typeface="Arial"/>
                <a:cs typeface="Arial"/>
              </a:defRPr>
            </a:pPr>
            <a:r>
              <a:rPr sz="2025" b="0">
                <a:solidFill>
                  <a:srgbClr val="526967"/>
                </a:solidFill>
                <a:latin typeface="Arial"/>
                <a:ea typeface="Arial"/>
                <a:cs typeface="Arial"/>
              </a:rPr>
              <a:t>Each slide's notes link to the supporting research and its limits.</a:t>
            </a:r>
          </a:p>
        </p:txBody>
      </p:sp>
      <p:sp>
        <p:nvSpPr>
          <p:cNvPr id="3" name="column-heading-0">
            <a:extLst xmlns:a="http://schemas.openxmlformats.org/drawingml/2006/main">
              <a:ext uri="{FF2B5EF4-FFF2-40B4-BE49-F238E27FC236}">
                <a16:creationId xmlns:a16="http://schemas.microsoft.com/office/drawing/2014/main" id="{04B725D0-C8C8-4EB2-84CD-6B6CBD2324E7}"/>
              </a:ext>
            </a:extLst>
          </p:cNvPr>
          <p:cNvSpPr>
            <a:spLocks xmlns:a="http://schemas.openxmlformats.org/drawingml/2006/main" noGrp="1"/>
          </p:cNvSpPr>
          <p:nvPr/>
        </p:nvSpPr>
        <p:spPr>
          <a:xfrm xmlns:a="http://schemas.openxmlformats.org/drawingml/2006/main">
            <a:off x="7048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Repository evidence</a:t>
            </a:r>
          </a:p>
        </p:txBody>
      </p:sp>
      <p:sp>
        <p:nvSpPr>
          <p:cNvPr id="4" name="column-0-item-0">
            <a:extLst xmlns:a="http://schemas.openxmlformats.org/drawingml/2006/main">
              <a:ext uri="{FF2B5EF4-FFF2-40B4-BE49-F238E27FC236}">
                <a16:creationId xmlns:a16="http://schemas.microsoft.com/office/drawing/2014/main" id="{A6AC32B4-109F-4629-8A08-371DA140507B}"/>
              </a:ext>
            </a:extLst>
          </p:cNvPr>
          <p:cNvSpPr>
            <a:spLocks xmlns:a="http://schemas.openxmlformats.org/drawingml/2006/main" noGrp="1"/>
          </p:cNvSpPr>
          <p:nvPr/>
        </p:nvSpPr>
        <p:spPr>
          <a:xfrm xmlns:a="http://schemas.openxmlformats.org/drawingml/2006/main">
            <a:off x="7048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Round 02 findings and coverage</a:t>
            </a:r>
          </a:p>
        </p:txBody>
      </p:sp>
      <p:sp>
        <p:nvSpPr>
          <p:cNvPr id="5" name="column-0-item-1">
            <a:extLst xmlns:a="http://schemas.openxmlformats.org/drawingml/2006/main">
              <a:ext uri="{FF2B5EF4-FFF2-40B4-BE49-F238E27FC236}">
                <a16:creationId xmlns:a16="http://schemas.microsoft.com/office/drawing/2014/main" id="{EAE379FC-A938-4CA2-844A-67405DC7F9C4}"/>
              </a:ext>
            </a:extLst>
          </p:cNvPr>
          <p:cNvSpPr>
            <a:spLocks xmlns:a="http://schemas.openxmlformats.org/drawingml/2006/main" noGrp="1"/>
          </p:cNvSpPr>
          <p:nvPr/>
        </p:nvSpPr>
        <p:spPr>
          <a:xfrm xmlns:a="http://schemas.openxmlformats.org/drawingml/2006/main">
            <a:off x="7048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Public practices and domain ledgers</a:t>
            </a:r>
          </a:p>
        </p:txBody>
      </p:sp>
      <p:sp>
        <p:nvSpPr>
          <p:cNvPr id="6" name="column-0-item-2">
            <a:extLst xmlns:a="http://schemas.openxmlformats.org/drawingml/2006/main">
              <a:ext uri="{FF2B5EF4-FFF2-40B4-BE49-F238E27FC236}">
                <a16:creationId xmlns:a16="http://schemas.microsoft.com/office/drawing/2014/main" id="{F61B0A3F-822F-4461-8F50-B8E8736C6736}"/>
              </a:ext>
            </a:extLst>
          </p:cNvPr>
          <p:cNvSpPr>
            <a:spLocks xmlns:a="http://schemas.openxmlformats.org/drawingml/2006/main" noGrp="1"/>
          </p:cNvSpPr>
          <p:nvPr/>
        </p:nvSpPr>
        <p:spPr>
          <a:xfrm xmlns:a="http://schemas.openxmlformats.org/drawingml/2006/main">
            <a:off x="7048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Video report with timestamps</a:t>
            </a:r>
          </a:p>
        </p:txBody>
      </p:sp>
      <p:sp>
        <p:nvSpPr>
          <p:cNvPr id="7" name="column-0-item-3">
            <a:extLst xmlns:a="http://schemas.openxmlformats.org/drawingml/2006/main">
              <a:ext uri="{FF2B5EF4-FFF2-40B4-BE49-F238E27FC236}">
                <a16:creationId xmlns:a16="http://schemas.microsoft.com/office/drawing/2014/main" id="{0E30A4C3-77BE-4A9D-94AE-4E467371B5EF}"/>
              </a:ext>
            </a:extLst>
          </p:cNvPr>
          <p:cNvSpPr>
            <a:spLocks xmlns:a="http://schemas.openxmlformats.org/drawingml/2006/main" noGrp="1"/>
          </p:cNvSpPr>
          <p:nvPr/>
        </p:nvSpPr>
        <p:spPr>
          <a:xfrm xmlns:a="http://schemas.openxmlformats.org/drawingml/2006/main">
            <a:off x="7048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Sanitised internal review and independent audit</a:t>
            </a:r>
          </a:p>
        </p:txBody>
      </p:sp>
      <p:sp>
        <p:nvSpPr>
          <p:cNvPr id="8" name="column-heading-1">
            <a:extLst xmlns:a="http://schemas.openxmlformats.org/drawingml/2006/main">
              <a:ext uri="{FF2B5EF4-FFF2-40B4-BE49-F238E27FC236}">
                <a16:creationId xmlns:a16="http://schemas.microsoft.com/office/drawing/2014/main" id="{1237EABE-E347-4649-8F10-C678098719C2}"/>
              </a:ext>
            </a:extLst>
          </p:cNvPr>
          <p:cNvSpPr>
            <a:spLocks xmlns:a="http://schemas.openxmlformats.org/drawingml/2006/main" noGrp="1"/>
          </p:cNvSpPr>
          <p:nvPr/>
        </p:nvSpPr>
        <p:spPr>
          <a:xfrm xmlns:a="http://schemas.openxmlformats.org/drawingml/2006/main">
            <a:off x="6305550" y="2228850"/>
            <a:ext cx="519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C3A"/>
                </a:solidFill>
                <a:latin typeface="Arial"/>
                <a:ea typeface="Arial"/>
                <a:cs typeface="Arial"/>
              </a:defRPr>
            </a:defPPr>
            <a:lvl1pPr algn="l">
              <a:defRPr sz="2250" b="1">
                <a:solidFill>
                  <a:srgbClr val="153C3A"/>
                </a:solidFill>
                <a:latin typeface="Arial"/>
                <a:ea typeface="Arial"/>
                <a:cs typeface="Arial"/>
              </a:defRPr>
            </a:lvl1pPr>
            <a:lvl2pPr algn="l">
              <a:defRPr sz="2250" b="1">
                <a:solidFill>
                  <a:srgbClr val="153C3A"/>
                </a:solidFill>
                <a:latin typeface="Arial"/>
                <a:ea typeface="Arial"/>
                <a:cs typeface="Arial"/>
              </a:defRPr>
            </a:lvl2pPr>
            <a:lvl3pPr algn="l">
              <a:defRPr sz="2250" b="1">
                <a:solidFill>
                  <a:srgbClr val="153C3A"/>
                </a:solidFill>
                <a:latin typeface="Arial"/>
                <a:ea typeface="Arial"/>
                <a:cs typeface="Arial"/>
              </a:defRPr>
            </a:lvl3pPr>
            <a:lvl4pPr algn="l">
              <a:defRPr sz="2250" b="1">
                <a:solidFill>
                  <a:srgbClr val="153C3A"/>
                </a:solidFill>
                <a:latin typeface="Arial"/>
                <a:ea typeface="Arial"/>
                <a:cs typeface="Arial"/>
              </a:defRPr>
            </a:lvl4pPr>
            <a:lvl5pPr algn="l">
              <a:defRPr sz="2250" b="1">
                <a:solidFill>
                  <a:srgbClr val="153C3A"/>
                </a:solidFill>
                <a:latin typeface="Arial"/>
                <a:ea typeface="Arial"/>
                <a:cs typeface="Arial"/>
              </a:defRPr>
            </a:lvl5pPr>
            <a:lvl6pPr algn="l">
              <a:defRPr sz="2250" b="1">
                <a:solidFill>
                  <a:srgbClr val="153C3A"/>
                </a:solidFill>
                <a:latin typeface="Arial"/>
                <a:ea typeface="Arial"/>
                <a:cs typeface="Arial"/>
              </a:defRPr>
            </a:lvl6pPr>
            <a:lvl7pPr algn="l">
              <a:defRPr sz="2250" b="1">
                <a:solidFill>
                  <a:srgbClr val="153C3A"/>
                </a:solidFill>
                <a:latin typeface="Arial"/>
                <a:ea typeface="Arial"/>
                <a:cs typeface="Arial"/>
              </a:defRPr>
            </a:lvl7pPr>
            <a:lvl8pPr algn="l">
              <a:defRPr sz="2250" b="1">
                <a:solidFill>
                  <a:srgbClr val="153C3A"/>
                </a:solidFill>
                <a:latin typeface="Arial"/>
                <a:ea typeface="Arial"/>
                <a:cs typeface="Arial"/>
              </a:defRPr>
            </a:lvl8pPr>
            <a:lvl9pPr algn="l">
              <a:defRPr sz="2250" b="1">
                <a:solidFill>
                  <a:srgbClr val="153C3A"/>
                </a:solidFill>
                <a:latin typeface="Arial"/>
                <a:ea typeface="Arial"/>
                <a:cs typeface="Arial"/>
              </a:defRPr>
            </a:lvl9pPr>
          </a:lstStyle>
          <a:p xmlns:a="http://schemas.openxmlformats.org/drawingml/2006/main">
            <a:pPr algn="l">
              <a:defRPr sz="2250" b="1">
                <a:solidFill>
                  <a:srgbClr val="153C3A"/>
                </a:solidFill>
                <a:latin typeface="Arial"/>
                <a:ea typeface="Arial"/>
                <a:cs typeface="Arial"/>
              </a:defRPr>
            </a:pPr>
            <a:r>
              <a:rPr sz="2250" b="1">
                <a:solidFill>
                  <a:srgbClr val="153C3A"/>
                </a:solidFill>
                <a:latin typeface="Arial"/>
                <a:ea typeface="Arial"/>
                <a:cs typeface="Arial"/>
              </a:rPr>
              <a:t>External source families</a:t>
            </a:r>
          </a:p>
        </p:txBody>
      </p:sp>
      <p:sp>
        <p:nvSpPr>
          <p:cNvPr id="9" name="column-1-item-0">
            <a:extLst xmlns:a="http://schemas.openxmlformats.org/drawingml/2006/main">
              <a:ext uri="{FF2B5EF4-FFF2-40B4-BE49-F238E27FC236}">
                <a16:creationId xmlns:a16="http://schemas.microsoft.com/office/drawing/2014/main" id="{2A729AAE-25AB-437D-A3AD-286DA28DCF41}"/>
              </a:ext>
            </a:extLst>
          </p:cNvPr>
          <p:cNvSpPr>
            <a:spLocks xmlns:a="http://schemas.openxmlformats.org/drawingml/2006/main" noGrp="1"/>
          </p:cNvSpPr>
          <p:nvPr/>
        </p:nvSpPr>
        <p:spPr>
          <a:xfrm xmlns:a="http://schemas.openxmlformats.org/drawingml/2006/main">
            <a:off x="6305550" y="287655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MOM, WSG, TAFEP and ScamShield</a:t>
            </a:r>
          </a:p>
        </p:txBody>
      </p:sp>
      <p:sp>
        <p:nvSpPr>
          <p:cNvPr id="10" name="column-1-item-1">
            <a:extLst xmlns:a="http://schemas.openxmlformats.org/drawingml/2006/main">
              <a:ext uri="{FF2B5EF4-FFF2-40B4-BE49-F238E27FC236}">
                <a16:creationId xmlns:a16="http://schemas.microsoft.com/office/drawing/2014/main" id="{52C5794C-955A-4205-B133-0F279ABF60B9}"/>
              </a:ext>
            </a:extLst>
          </p:cNvPr>
          <p:cNvSpPr>
            <a:spLocks xmlns:a="http://schemas.openxmlformats.org/drawingml/2006/main" noGrp="1"/>
          </p:cNvSpPr>
          <p:nvPr/>
        </p:nvSpPr>
        <p:spPr>
          <a:xfrm xmlns:a="http://schemas.openxmlformats.org/drawingml/2006/main">
            <a:off x="6305550" y="357187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NUS career-service guidance</a:t>
            </a:r>
          </a:p>
        </p:txBody>
      </p:sp>
      <p:sp>
        <p:nvSpPr>
          <p:cNvPr id="11" name="column-1-item-2">
            <a:extLst xmlns:a="http://schemas.openxmlformats.org/drawingml/2006/main">
              <a:ext uri="{FF2B5EF4-FFF2-40B4-BE49-F238E27FC236}">
                <a16:creationId xmlns:a16="http://schemas.microsoft.com/office/drawing/2014/main" id="{A454932D-7366-4C08-90CF-6E16157409AF}"/>
              </a:ext>
            </a:extLst>
          </p:cNvPr>
          <p:cNvSpPr>
            <a:spLocks xmlns:a="http://schemas.openxmlformats.org/drawingml/2006/main" noGrp="1"/>
          </p:cNvSpPr>
          <p:nvPr/>
        </p:nvSpPr>
        <p:spPr>
          <a:xfrm xmlns:a="http://schemas.openxmlformats.org/drawingml/2006/main">
            <a:off x="6305550" y="4267200"/>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Primary studies and government evaluations</a:t>
            </a:r>
          </a:p>
        </p:txBody>
      </p:sp>
      <p:sp>
        <p:nvSpPr>
          <p:cNvPr id="12" name="column-1-item-3">
            <a:extLst xmlns:a="http://schemas.openxmlformats.org/drawingml/2006/main">
              <a:ext uri="{FF2B5EF4-FFF2-40B4-BE49-F238E27FC236}">
                <a16:creationId xmlns:a16="http://schemas.microsoft.com/office/drawing/2014/main" id="{733C4F2B-B047-4174-A988-C4927F9132AA}"/>
              </a:ext>
            </a:extLst>
          </p:cNvPr>
          <p:cNvSpPr>
            <a:spLocks xmlns:a="http://schemas.openxmlformats.org/drawingml/2006/main" noGrp="1"/>
          </p:cNvSpPr>
          <p:nvPr/>
        </p:nvSpPr>
        <p:spPr>
          <a:xfrm xmlns:a="http://schemas.openxmlformats.org/drawingml/2006/main">
            <a:off x="6305550" y="4962525"/>
            <a:ext cx="5095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63B3A"/>
                </a:solidFill>
                <a:latin typeface="Arial"/>
                <a:ea typeface="Arial"/>
                <a:cs typeface="Arial"/>
              </a:defRPr>
            </a:defPPr>
            <a:lvl1pPr algn="l">
              <a:defRPr sz="2025" b="0">
                <a:solidFill>
                  <a:srgbClr val="263B3A"/>
                </a:solidFill>
                <a:latin typeface="Arial"/>
                <a:ea typeface="Arial"/>
                <a:cs typeface="Arial"/>
              </a:defRPr>
            </a:lvl1pPr>
            <a:lvl2pPr algn="l">
              <a:defRPr sz="2025" b="0">
                <a:solidFill>
                  <a:srgbClr val="263B3A"/>
                </a:solidFill>
                <a:latin typeface="Arial"/>
                <a:ea typeface="Arial"/>
                <a:cs typeface="Arial"/>
              </a:defRPr>
            </a:lvl2pPr>
            <a:lvl3pPr algn="l">
              <a:defRPr sz="2025" b="0">
                <a:solidFill>
                  <a:srgbClr val="263B3A"/>
                </a:solidFill>
                <a:latin typeface="Arial"/>
                <a:ea typeface="Arial"/>
                <a:cs typeface="Arial"/>
              </a:defRPr>
            </a:lvl3pPr>
            <a:lvl4pPr algn="l">
              <a:defRPr sz="2025" b="0">
                <a:solidFill>
                  <a:srgbClr val="263B3A"/>
                </a:solidFill>
                <a:latin typeface="Arial"/>
                <a:ea typeface="Arial"/>
                <a:cs typeface="Arial"/>
              </a:defRPr>
            </a:lvl4pPr>
            <a:lvl5pPr algn="l">
              <a:defRPr sz="2025" b="0">
                <a:solidFill>
                  <a:srgbClr val="263B3A"/>
                </a:solidFill>
                <a:latin typeface="Arial"/>
                <a:ea typeface="Arial"/>
                <a:cs typeface="Arial"/>
              </a:defRPr>
            </a:lvl5pPr>
            <a:lvl6pPr algn="l">
              <a:defRPr sz="2025" b="0">
                <a:solidFill>
                  <a:srgbClr val="263B3A"/>
                </a:solidFill>
                <a:latin typeface="Arial"/>
                <a:ea typeface="Arial"/>
                <a:cs typeface="Arial"/>
              </a:defRPr>
            </a:lvl6pPr>
            <a:lvl7pPr algn="l">
              <a:defRPr sz="2025" b="0">
                <a:solidFill>
                  <a:srgbClr val="263B3A"/>
                </a:solidFill>
                <a:latin typeface="Arial"/>
                <a:ea typeface="Arial"/>
                <a:cs typeface="Arial"/>
              </a:defRPr>
            </a:lvl7pPr>
            <a:lvl8pPr algn="l">
              <a:defRPr sz="2025" b="0">
                <a:solidFill>
                  <a:srgbClr val="263B3A"/>
                </a:solidFill>
                <a:latin typeface="Arial"/>
                <a:ea typeface="Arial"/>
                <a:cs typeface="Arial"/>
              </a:defRPr>
            </a:lvl8pPr>
            <a:lvl9pPr algn="l">
              <a:defRPr sz="2025" b="0">
                <a:solidFill>
                  <a:srgbClr val="263B3A"/>
                </a:solidFill>
                <a:latin typeface="Arial"/>
                <a:ea typeface="Arial"/>
                <a:cs typeface="Arial"/>
              </a:defRPr>
            </a:lvl9pPr>
          </a:lstStyle>
          <a:p xmlns:a="http://schemas.openxmlformats.org/drawingml/2006/main">
            <a:pPr algn="l">
              <a:defRPr sz="2025" b="0">
                <a:solidFill>
                  <a:srgbClr val="263B3A"/>
                </a:solidFill>
                <a:latin typeface="Arial"/>
                <a:ea typeface="Arial"/>
                <a:cs typeface="Arial"/>
              </a:defRPr>
            </a:pPr>
            <a:r>
              <a:rPr sz="2025" b="0">
                <a:solidFill>
                  <a:srgbClr val="263B3A"/>
                </a:solidFill>
                <a:latin typeface="Arial"/>
                <a:ea typeface="Arial"/>
                <a:cs typeface="Arial"/>
              </a:rPr>
              <a:t>Public accounts and attributed video advice</a:t>
            </a:r>
          </a:p>
        </p:txBody>
      </p:sp>
      <p:sp>
        <p:nvSpPr>
          <p:cNvPr id="13" name="evidence-note">
            <a:extLst xmlns:a="http://schemas.openxmlformats.org/drawingml/2006/main">
              <a:ext uri="{FF2B5EF4-FFF2-40B4-BE49-F238E27FC236}">
                <a16:creationId xmlns:a16="http://schemas.microsoft.com/office/drawing/2014/main" id="{F3B15F9C-D699-4638-BDDA-D13C80CF6F46}"/>
              </a:ext>
            </a:extLst>
          </p:cNvPr>
          <p:cNvSpPr>
            <a:spLocks xmlns:a="http://schemas.openxmlformats.org/drawingml/2006/main" noGrp="1"/>
          </p:cNvSpPr>
          <p:nvPr/>
        </p:nvSpPr>
        <p:spPr>
          <a:xfrm xmlns:a="http://schemas.openxmlformats.org/drawingml/2006/main">
            <a:off x="704850" y="6096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967"/>
                </a:solidFill>
                <a:latin typeface="Arial"/>
                <a:ea typeface="Arial"/>
                <a:cs typeface="Arial"/>
              </a:defRPr>
            </a:defPPr>
            <a:lvl1pPr algn="l">
              <a:defRPr sz="1350" b="0">
                <a:solidFill>
                  <a:srgbClr val="526967"/>
                </a:solidFill>
                <a:latin typeface="Arial"/>
                <a:ea typeface="Arial"/>
                <a:cs typeface="Arial"/>
              </a:defRPr>
            </a:lvl1pPr>
            <a:lvl2pPr algn="l">
              <a:defRPr sz="1350" b="0">
                <a:solidFill>
                  <a:srgbClr val="526967"/>
                </a:solidFill>
                <a:latin typeface="Arial"/>
                <a:ea typeface="Arial"/>
                <a:cs typeface="Arial"/>
              </a:defRPr>
            </a:lvl2pPr>
            <a:lvl3pPr algn="l">
              <a:defRPr sz="1350" b="0">
                <a:solidFill>
                  <a:srgbClr val="526967"/>
                </a:solidFill>
                <a:latin typeface="Arial"/>
                <a:ea typeface="Arial"/>
                <a:cs typeface="Arial"/>
              </a:defRPr>
            </a:lvl3pPr>
            <a:lvl4pPr algn="l">
              <a:defRPr sz="1350" b="0">
                <a:solidFill>
                  <a:srgbClr val="526967"/>
                </a:solidFill>
                <a:latin typeface="Arial"/>
                <a:ea typeface="Arial"/>
                <a:cs typeface="Arial"/>
              </a:defRPr>
            </a:lvl4pPr>
            <a:lvl5pPr algn="l">
              <a:defRPr sz="1350" b="0">
                <a:solidFill>
                  <a:srgbClr val="526967"/>
                </a:solidFill>
                <a:latin typeface="Arial"/>
                <a:ea typeface="Arial"/>
                <a:cs typeface="Arial"/>
              </a:defRPr>
            </a:lvl5pPr>
            <a:lvl6pPr algn="l">
              <a:defRPr sz="1350" b="0">
                <a:solidFill>
                  <a:srgbClr val="526967"/>
                </a:solidFill>
                <a:latin typeface="Arial"/>
                <a:ea typeface="Arial"/>
                <a:cs typeface="Arial"/>
              </a:defRPr>
            </a:lvl6pPr>
            <a:lvl7pPr algn="l">
              <a:defRPr sz="1350" b="0">
                <a:solidFill>
                  <a:srgbClr val="526967"/>
                </a:solidFill>
                <a:latin typeface="Arial"/>
                <a:ea typeface="Arial"/>
                <a:cs typeface="Arial"/>
              </a:defRPr>
            </a:lvl7pPr>
            <a:lvl8pPr algn="l">
              <a:defRPr sz="1350" b="0">
                <a:solidFill>
                  <a:srgbClr val="526967"/>
                </a:solidFill>
                <a:latin typeface="Arial"/>
                <a:ea typeface="Arial"/>
                <a:cs typeface="Arial"/>
              </a:defRPr>
            </a:lvl8pPr>
            <a:lvl9pPr algn="l">
              <a:defRPr sz="1350" b="0">
                <a:solidFill>
                  <a:srgbClr val="526967"/>
                </a:solidFill>
                <a:latin typeface="Arial"/>
                <a:ea typeface="Arial"/>
                <a:cs typeface="Arial"/>
              </a:defRPr>
            </a:lvl9pPr>
          </a:lstStyle>
          <a:p xmlns:a="http://schemas.openxmlformats.org/drawingml/2006/main">
            <a:pPr algn="l">
              <a:defRPr sz="1350" b="0">
                <a:solidFill>
                  <a:srgbClr val="526967"/>
                </a:solidFill>
                <a:latin typeface="Arial"/>
                <a:ea typeface="Arial"/>
                <a:cs typeface="Arial"/>
              </a:defRPr>
            </a:pPr>
            <a:r>
              <a:rPr sz="1350" b="0">
                <a:solidFill>
                  <a:srgbClr val="526967"/>
                </a:solidFill>
                <a:latin typeface="Arial"/>
                <a:ea typeface="Arial"/>
                <a:cs typeface="Arial"/>
              </a:rPr>
              <a:t>Public reports, advice, private process observations and proposals have distinct evidential weight.</a:t>
            </a:r>
          </a:p>
        </p:txBody>
      </p:sp>
      <p:sp>
        <p:nvSpPr>
          <p:cNvPr id="14" name="page-number">
            <a:extLst xmlns:a="http://schemas.openxmlformats.org/drawingml/2006/main">
              <a:ext uri="{FF2B5EF4-FFF2-40B4-BE49-F238E27FC236}">
                <a16:creationId xmlns:a16="http://schemas.microsoft.com/office/drawing/2014/main" id="{F0073897-EDE3-4B10-8ACF-1E3D18A8ED6C}"/>
              </a:ext>
            </a:extLst>
          </p:cNvPr>
          <p:cNvSpPr>
            <a:spLocks xmlns:a="http://schemas.openxmlformats.org/drawingml/2006/main" noGrp="1"/>
          </p:cNvSpPr>
          <p:nvPr/>
        </p:nvSpPr>
        <p:spPr>
          <a:xfrm xmlns:a="http://schemas.openxmlformats.org/drawingml/2006/main">
            <a:off x="10972800" y="609600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A84835"/>
                </a:solidFill>
                <a:latin typeface="Arial"/>
                <a:ea typeface="Arial"/>
                <a:cs typeface="Arial"/>
              </a:defRPr>
            </a:defPPr>
            <a:lvl1pPr algn="l">
              <a:defRPr sz="1575" b="1">
                <a:solidFill>
                  <a:srgbClr val="A84835"/>
                </a:solidFill>
                <a:latin typeface="Arial"/>
                <a:ea typeface="Arial"/>
                <a:cs typeface="Arial"/>
              </a:defRPr>
            </a:lvl1pPr>
            <a:lvl2pPr algn="l">
              <a:defRPr sz="1575" b="1">
                <a:solidFill>
                  <a:srgbClr val="A84835"/>
                </a:solidFill>
                <a:latin typeface="Arial"/>
                <a:ea typeface="Arial"/>
                <a:cs typeface="Arial"/>
              </a:defRPr>
            </a:lvl2pPr>
            <a:lvl3pPr algn="l">
              <a:defRPr sz="1575" b="1">
                <a:solidFill>
                  <a:srgbClr val="A84835"/>
                </a:solidFill>
                <a:latin typeface="Arial"/>
                <a:ea typeface="Arial"/>
                <a:cs typeface="Arial"/>
              </a:defRPr>
            </a:lvl3pPr>
            <a:lvl4pPr algn="l">
              <a:defRPr sz="1575" b="1">
                <a:solidFill>
                  <a:srgbClr val="A84835"/>
                </a:solidFill>
                <a:latin typeface="Arial"/>
                <a:ea typeface="Arial"/>
                <a:cs typeface="Arial"/>
              </a:defRPr>
            </a:lvl4pPr>
            <a:lvl5pPr algn="l">
              <a:defRPr sz="1575" b="1">
                <a:solidFill>
                  <a:srgbClr val="A84835"/>
                </a:solidFill>
                <a:latin typeface="Arial"/>
                <a:ea typeface="Arial"/>
                <a:cs typeface="Arial"/>
              </a:defRPr>
            </a:lvl5pPr>
            <a:lvl6pPr algn="l">
              <a:defRPr sz="1575" b="1">
                <a:solidFill>
                  <a:srgbClr val="A84835"/>
                </a:solidFill>
                <a:latin typeface="Arial"/>
                <a:ea typeface="Arial"/>
                <a:cs typeface="Arial"/>
              </a:defRPr>
            </a:lvl6pPr>
            <a:lvl7pPr algn="l">
              <a:defRPr sz="1575" b="1">
                <a:solidFill>
                  <a:srgbClr val="A84835"/>
                </a:solidFill>
                <a:latin typeface="Arial"/>
                <a:ea typeface="Arial"/>
                <a:cs typeface="Arial"/>
              </a:defRPr>
            </a:lvl7pPr>
            <a:lvl8pPr algn="l">
              <a:defRPr sz="1575" b="1">
                <a:solidFill>
                  <a:srgbClr val="A84835"/>
                </a:solidFill>
                <a:latin typeface="Arial"/>
                <a:ea typeface="Arial"/>
                <a:cs typeface="Arial"/>
              </a:defRPr>
            </a:lvl8pPr>
            <a:lvl9pPr algn="l">
              <a:defRPr sz="1575" b="1">
                <a:solidFill>
                  <a:srgbClr val="A84835"/>
                </a:solidFill>
                <a:latin typeface="Arial"/>
                <a:ea typeface="Arial"/>
                <a:cs typeface="Arial"/>
              </a:defRPr>
            </a:lvl9pPr>
          </a:lstStyle>
          <a:p xmlns:a="http://schemas.openxmlformats.org/drawingml/2006/main">
            <a:pPr algn="l">
              <a:defRPr sz="1575" b="1">
                <a:solidFill>
                  <a:srgbClr val="A84835"/>
                </a:solidFill>
                <a:latin typeface="Arial"/>
                <a:ea typeface="Arial"/>
                <a:cs typeface="Arial"/>
              </a:defRPr>
            </a:pPr>
            <a:r>
              <a:rPr sz="1575" b="1">
                <a:solidFill>
                  <a:srgbClr val="A84835"/>
                </a:solidFill>
                <a:latin typeface="Arial"/>
                <a:ea typeface="Arial"/>
                <a:cs typeface="Arial"/>
              </a:rPr>
              <a:t>21</a:t>
            </a:r>
          </a:p>
        </p:txBody>
      </p:sp>
    </p:spTree>
    <p:extLst>
      <p:ext uri="{BB962C8B-B14F-4D97-AF65-F5344CB8AC3E}">
        <p14:creationId xmlns:p14="http://schemas.microsoft.com/office/powerpoint/2010/main" val="11461098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2026-10-18T14:13:44.3620000Z</dcterms:created>
  <dcterms:modified xsi:type="dcterms:W3CDTF">2026-10-18T14:13:44.3620000Z</dcterms:modified>
</coreProperties>
</file>