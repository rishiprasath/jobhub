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856c9d9e674f66" /><Relationship Type="http://schemas.openxmlformats.org/officeDocument/2006/relationships/extended-properties" Target="/docProps/app.xml" Id="Re81d60a9f0544be8" /><Relationship Type="http://schemas.openxmlformats.org/officeDocument/2006/relationships/officeDocument" Target="/ppt/presentation.xml" Id="Rdea00a1c03054e60" /></Relationships>
</file>

<file path=ppt/presentation.xml><?xml version="1.0" encoding="utf-8"?>
<p:presentation xmlns:p="http://schemas.openxmlformats.org/presentationml/2006/main">
  <p:sldMasterIdLst>
    <p:sldMasterId xmlns:r="http://schemas.openxmlformats.org/officeDocument/2006/relationships" id="2147483648" r:id="R623e17d5f98440c8"/>
  </p:sldMasterIdLst>
  <p:notesMasterIdLst>
    <p:notesMasterId xmlns:r="http://schemas.openxmlformats.org/officeDocument/2006/relationships" r:id="Rcf212e3430ca454d"/>
  </p:notesMasterIdLst>
  <p:sldIdLst>
    <p:sldId xmlns:r="http://schemas.openxmlformats.org/officeDocument/2006/relationships" id="256" r:id="Rac484a6c82e44cb1"/>
    <p:sldId xmlns:r="http://schemas.openxmlformats.org/officeDocument/2006/relationships" id="257" r:id="Rc231f6e90f854d41"/>
    <p:sldId xmlns:r="http://schemas.openxmlformats.org/officeDocument/2006/relationships" id="258" r:id="R9bf40571a9344542"/>
    <p:sldId xmlns:r="http://schemas.openxmlformats.org/officeDocument/2006/relationships" id="259" r:id="R6c1519277b75471c"/>
    <p:sldId xmlns:r="http://schemas.openxmlformats.org/officeDocument/2006/relationships" id="260" r:id="Rf35d6adb2fd44d6c"/>
    <p:sldId xmlns:r="http://schemas.openxmlformats.org/officeDocument/2006/relationships" id="261" r:id="Rce31edc0ed554c3d"/>
    <p:sldId xmlns:r="http://schemas.openxmlformats.org/officeDocument/2006/relationships" id="262" r:id="R0c84277ae16c497c"/>
    <p:sldId xmlns:r="http://schemas.openxmlformats.org/officeDocument/2006/relationships" id="263" r:id="Rb0b357bb9b7243e8"/>
    <p:sldId xmlns:r="http://schemas.openxmlformats.org/officeDocument/2006/relationships" id="264" r:id="Rcb43339e5472422e"/>
    <p:sldId xmlns:r="http://schemas.openxmlformats.org/officeDocument/2006/relationships" id="265" r:id="R4f16962270f442e3"/>
    <p:sldId xmlns:r="http://schemas.openxmlformats.org/officeDocument/2006/relationships" id="266" r:id="Rd19938f6c73d41cc"/>
    <p:sldId xmlns:r="http://schemas.openxmlformats.org/officeDocument/2006/relationships" id="267" r:id="Re7358eab5442407a"/>
    <p:sldId xmlns:r="http://schemas.openxmlformats.org/officeDocument/2006/relationships" id="268" r:id="R34b5325869254a4d"/>
    <p:sldId xmlns:r="http://schemas.openxmlformats.org/officeDocument/2006/relationships" id="269" r:id="R6af9f0157d9b4d2d"/>
    <p:sldId xmlns:r="http://schemas.openxmlformats.org/officeDocument/2006/relationships" id="270" r:id="R4724077d0a284c99"/>
    <p:sldId xmlns:r="http://schemas.openxmlformats.org/officeDocument/2006/relationships" id="271" r:id="R42f4860e060c47fe"/>
    <p:sldId xmlns:r="http://schemas.openxmlformats.org/officeDocument/2006/relationships" id="272" r:id="Reaf835105f7d4027"/>
    <p:sldId xmlns:r="http://schemas.openxmlformats.org/officeDocument/2006/relationships" id="273" r:id="R4d8c60de770c42d1"/>
    <p:sldId xmlns:r="http://schemas.openxmlformats.org/officeDocument/2006/relationships" id="274" r:id="R9f998043483a4bc9"/>
    <p:sldId xmlns:r="http://schemas.openxmlformats.org/officeDocument/2006/relationships" id="275" r:id="Reb78990069f94097"/>
    <p:sldId xmlns:r="http://schemas.openxmlformats.org/officeDocument/2006/relationships" id="276" r:id="R8515a2211963474d"/>
    <p:sldId xmlns:r="http://schemas.openxmlformats.org/officeDocument/2006/relationships" id="277" r:id="R050da8b986274877"/>
    <p:sldId xmlns:r="http://schemas.openxmlformats.org/officeDocument/2006/relationships" id="278" r:id="R1138a402a15c4fe5"/>
    <p:sldId xmlns:r="http://schemas.openxmlformats.org/officeDocument/2006/relationships" id="279" r:id="R82e00a72f3704d8b"/>
    <p:sldId xmlns:r="http://schemas.openxmlformats.org/officeDocument/2006/relationships" id="280" r:id="Redb27ec1d1a949d6"/>
    <p:sldId xmlns:r="http://schemas.openxmlformats.org/officeDocument/2006/relationships" id="281" r:id="R3f64c5acca5c4383"/>
    <p:sldId xmlns:r="http://schemas.openxmlformats.org/officeDocument/2006/relationships" id="282" r:id="R16b7cea5ad694945"/>
    <p:sldId xmlns:r="http://schemas.openxmlformats.org/officeDocument/2006/relationships" id="283" r:id="R1587711e9aca4eca"/>
    <p:sldId xmlns:r="http://schemas.openxmlformats.org/officeDocument/2006/relationships" id="284" r:id="Rc87f060e83d44cdc"/>
    <p:sldId xmlns:r="http://schemas.openxmlformats.org/officeDocument/2006/relationships" id="285" r:id="Rc6eb273503e9469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92d6f237c1c4445" /><Relationship Type="http://schemas.openxmlformats.org/officeDocument/2006/relationships/slideMaster" Target="/ppt/slideMasters/slideMaster1.xml" Id="R623e17d5f98440c8" /><Relationship Type="http://schemas.openxmlformats.org/officeDocument/2006/relationships/notesMaster" Target="/ppt/notesMasters/notesMaster1.xml" Id="Rcf212e3430ca454d" /><Relationship Type="http://schemas.openxmlformats.org/officeDocument/2006/relationships/presProps" Target="/ppt/presProps.xml" Id="Ra3274723f18b4ae6" /><Relationship Type="http://schemas.openxmlformats.org/officeDocument/2006/relationships/tableStyles" Target="/ppt/tableStyles.xml" Id="R533aebafdfb6416f" /><Relationship Type="http://schemas.openxmlformats.org/officeDocument/2006/relationships/slide" Target="/ppt/slides/slide1.xml" Id="Rac484a6c82e44cb1" /><Relationship Type="http://schemas.openxmlformats.org/officeDocument/2006/relationships/slide" Target="/ppt/slides/slide2.xml" Id="Rc231f6e90f854d41" /><Relationship Type="http://schemas.openxmlformats.org/officeDocument/2006/relationships/slide" Target="/ppt/slides/slide3.xml" Id="R9bf40571a9344542" /><Relationship Type="http://schemas.openxmlformats.org/officeDocument/2006/relationships/slide" Target="/ppt/slides/slide4.xml" Id="R6c1519277b75471c" /><Relationship Type="http://schemas.openxmlformats.org/officeDocument/2006/relationships/slide" Target="/ppt/slides/slide5.xml" Id="Rf35d6adb2fd44d6c" /><Relationship Type="http://schemas.openxmlformats.org/officeDocument/2006/relationships/slide" Target="/ppt/slides/slide6.xml" Id="Rce31edc0ed554c3d" /><Relationship Type="http://schemas.openxmlformats.org/officeDocument/2006/relationships/slide" Target="/ppt/slides/slide7.xml" Id="R0c84277ae16c497c" /><Relationship Type="http://schemas.openxmlformats.org/officeDocument/2006/relationships/slide" Target="/ppt/slides/slide8.xml" Id="Rb0b357bb9b7243e8" /><Relationship Type="http://schemas.openxmlformats.org/officeDocument/2006/relationships/slide" Target="/ppt/slides/slide9.xml" Id="Rcb43339e5472422e" /><Relationship Type="http://schemas.openxmlformats.org/officeDocument/2006/relationships/slide" Target="/ppt/slides/slide10.xml" Id="R4f16962270f442e3" /><Relationship Type="http://schemas.openxmlformats.org/officeDocument/2006/relationships/slide" Target="/ppt/slides/slide11.xml" Id="Rd19938f6c73d41cc" /><Relationship Type="http://schemas.openxmlformats.org/officeDocument/2006/relationships/slide" Target="/ppt/slides/slide12.xml" Id="Re7358eab5442407a" /><Relationship Type="http://schemas.openxmlformats.org/officeDocument/2006/relationships/slide" Target="/ppt/slides/slide13.xml" Id="R34b5325869254a4d" /><Relationship Type="http://schemas.openxmlformats.org/officeDocument/2006/relationships/slide" Target="/ppt/slides/slide14.xml" Id="R6af9f0157d9b4d2d" /><Relationship Type="http://schemas.openxmlformats.org/officeDocument/2006/relationships/slide" Target="/ppt/slides/slide15.xml" Id="R4724077d0a284c99" /><Relationship Type="http://schemas.openxmlformats.org/officeDocument/2006/relationships/slide" Target="/ppt/slides/slide16.xml" Id="R42f4860e060c47fe" /><Relationship Type="http://schemas.openxmlformats.org/officeDocument/2006/relationships/slide" Target="/ppt/slides/slide17.xml" Id="Reaf835105f7d4027" /><Relationship Type="http://schemas.openxmlformats.org/officeDocument/2006/relationships/slide" Target="/ppt/slides/slide18.xml" Id="R4d8c60de770c42d1" /><Relationship Type="http://schemas.openxmlformats.org/officeDocument/2006/relationships/slide" Target="/ppt/slides/slide19.xml" Id="R9f998043483a4bc9" /><Relationship Type="http://schemas.openxmlformats.org/officeDocument/2006/relationships/slide" Target="/ppt/slides/slide20.xml" Id="Reb78990069f94097" /><Relationship Type="http://schemas.openxmlformats.org/officeDocument/2006/relationships/slide" Target="/ppt/slides/slide21.xml" Id="R8515a2211963474d" /><Relationship Type="http://schemas.openxmlformats.org/officeDocument/2006/relationships/slide" Target="/ppt/slides/slide22.xml" Id="R050da8b986274877" /><Relationship Type="http://schemas.openxmlformats.org/officeDocument/2006/relationships/slide" Target="/ppt/slides/slide23.xml" Id="R1138a402a15c4fe5" /><Relationship Type="http://schemas.openxmlformats.org/officeDocument/2006/relationships/slide" Target="/ppt/slides/slide24.xml" Id="R82e00a72f3704d8b" /><Relationship Type="http://schemas.openxmlformats.org/officeDocument/2006/relationships/slide" Target="/ppt/slides/slide25.xml" Id="Redb27ec1d1a949d6" /><Relationship Type="http://schemas.openxmlformats.org/officeDocument/2006/relationships/slide" Target="/ppt/slides/slide26.xml" Id="R3f64c5acca5c4383" /><Relationship Type="http://schemas.openxmlformats.org/officeDocument/2006/relationships/slide" Target="/ppt/slides/slide27.xml" Id="R16b7cea5ad694945" /><Relationship Type="http://schemas.openxmlformats.org/officeDocument/2006/relationships/slide" Target="/ppt/slides/slide28.xml" Id="R1587711e9aca4eca" /><Relationship Type="http://schemas.openxmlformats.org/officeDocument/2006/relationships/slide" Target="/ppt/slides/slide29.xml" Id="Rc87f060e83d44cdc" /><Relationship Type="http://schemas.openxmlformats.org/officeDocument/2006/relationships/slide" Target="/ppt/slides/slide30.xml" Id="Rc6eb273503e9469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0a7c96a3c742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64033d316c4601" /><Relationship Type="http://schemas.openxmlformats.org/officeDocument/2006/relationships/notesMaster" Target="/ppt/notesMasters/notesMaster1.xml" Id="Rab93bc71a427430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c3cccb622e34053" /><Relationship Type="http://schemas.openxmlformats.org/officeDocument/2006/relationships/notesMaster" Target="/ppt/notesMasters/notesMaster1.xml" Id="R851a16b97908432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b06470ea694620" /><Relationship Type="http://schemas.openxmlformats.org/officeDocument/2006/relationships/notesMaster" Target="/ppt/notesMasters/notesMaster1.xml" Id="R20abc1355d3d40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bf33c585bc4ece" /><Relationship Type="http://schemas.openxmlformats.org/officeDocument/2006/relationships/notesMaster" Target="/ppt/notesMasters/notesMaster1.xml" Id="Red8ab4b6c0744744"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4ef22fae2f4969" /><Relationship Type="http://schemas.openxmlformats.org/officeDocument/2006/relationships/notesMaster" Target="/ppt/notesMasters/notesMaster1.xml" Id="Rc7a05b86c77747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dec7d08d3d41c0" /><Relationship Type="http://schemas.openxmlformats.org/officeDocument/2006/relationships/notesMaster" Target="/ppt/notesMasters/notesMaster1.xml" Id="R1af5663d681349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7250ec50f44f90" /><Relationship Type="http://schemas.openxmlformats.org/officeDocument/2006/relationships/notesMaster" Target="/ppt/notesMasters/notesMaster1.xml" Id="Rad24439cf6674a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7016f8a5fd443d7" /><Relationship Type="http://schemas.openxmlformats.org/officeDocument/2006/relationships/notesMaster" Target="/ppt/notesMasters/notesMaster1.xml" Id="R2526eec8ca09478f" /></Relationships>
</file>

<file path=ppt/notesSlides/_rels/notesSlide9.xml.rels>&#65279;<?xml version="1.0" encoding="utf-8"?><Relationships xmlns="http://schemas.openxmlformats.org/package/2006/relationships"><Relationship Type="http://schemas.openxmlformats.org/officeDocument/2006/relationships/slide" Target="/ppt/slides/slide9.xml" Id="R1ab25b983915420b" /><Relationship Type="http://schemas.openxmlformats.org/officeDocument/2006/relationships/notesMaster" Target="/ppt/notesMasters/notesMaster1.xml" Id="Rd187f1b480254cb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2bcdca784314acd" /><Relationship Type="http://schemas.openxmlformats.org/officeDocument/2006/relationships/notesMaster" Target="/ppt/notesMasters/notesMaster1.xml" Id="R6f9b1e065f77437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8a73f7d7c914195" /><Relationship Type="http://schemas.openxmlformats.org/officeDocument/2006/relationships/notesMaster" Target="/ppt/notesMasters/notesMaster1.xml" Id="R2937b2b122d6481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96d6d93008e4582" /><Relationship Type="http://schemas.openxmlformats.org/officeDocument/2006/relationships/notesMaster" Target="/ppt/notesMasters/notesMaster1.xml" Id="Rea635b2f2f49484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46f1ccc133d44ba" /><Relationship Type="http://schemas.openxmlformats.org/officeDocument/2006/relationships/notesMaster" Target="/ppt/notesMasters/notesMaster1.xml" Id="R16accaeabf5b413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01bca6c53eb461e" /><Relationship Type="http://schemas.openxmlformats.org/officeDocument/2006/relationships/notesMaster" Target="/ppt/notesMasters/notesMaster1.xml" Id="R5bcd8fb014084e7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6454ecf152946a5" /><Relationship Type="http://schemas.openxmlformats.org/officeDocument/2006/relationships/notesMaster" Target="/ppt/notesMasters/notesMaster1.xml" Id="R9e1dd86086a74ca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56e9c34acd6411a" /><Relationship Type="http://schemas.openxmlformats.org/officeDocument/2006/relationships/notesMaster" Target="/ppt/notesMasters/notesMaster1.xml" Id="Rfb9e7d5156594e6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0489ba0272749d5" /><Relationship Type="http://schemas.openxmlformats.org/officeDocument/2006/relationships/notesMaster" Target="/ppt/notesMasters/notesMaster1.xml" Id="Rcc89e04089f64f7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05bdd464cec4c12" /><Relationship Type="http://schemas.openxmlformats.org/officeDocument/2006/relationships/notesMaster" Target="/ppt/notesMasters/notesMaster1.xml" Id="R408ada321afe4bb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63338e6e01e41b7" /><Relationship Type="http://schemas.openxmlformats.org/officeDocument/2006/relationships/notesMaster" Target="/ppt/notesMasters/notesMaster1.xml" Id="R044df4c56a57472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cea5110010a4069" /><Relationship Type="http://schemas.openxmlformats.org/officeDocument/2006/relationships/notesMaster" Target="/ppt/notesMasters/notesMaster1.xml" Id="Rca8ddb404054429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db59a482b484e88" /><Relationship Type="http://schemas.openxmlformats.org/officeDocument/2006/relationships/notesMaster" Target="/ppt/notesMasters/notesMaster1.xml" Id="Rc04a0505f0b04d3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a46ac82906d4128" /><Relationship Type="http://schemas.openxmlformats.org/officeDocument/2006/relationships/notesMaster" Target="/ppt/notesMasters/notesMaster1.xml" Id="R68cb640177d94fc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f5cddbb64824866" /><Relationship Type="http://schemas.openxmlformats.org/officeDocument/2006/relationships/notesMaster" Target="/ppt/notesMasters/notesMaster1.xml" Id="R71489623793f456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cbba14216b3411b" /><Relationship Type="http://schemas.openxmlformats.org/officeDocument/2006/relationships/notesMaster" Target="/ppt/notesMasters/notesMaster1.xml" Id="Re16abec794b0489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95c067f8bc844cc" /><Relationship Type="http://schemas.openxmlformats.org/officeDocument/2006/relationships/notesMaster" Target="/ppt/notesMasters/notesMaster1.xml" Id="R8d3add41da61463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f6791e9be884264" /><Relationship Type="http://schemas.openxmlformats.org/officeDocument/2006/relationships/notesMaster" Target="/ppt/notesMasters/notesMaster1.xml" Id="Re2fc56284f864d5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ed4713c4d8a41ad" /><Relationship Type="http://schemas.openxmlformats.org/officeDocument/2006/relationships/notesMaster" Target="/ppt/notesMasters/notesMaster1.xml" Id="R4a6a75bff991410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3eed3cfeb99414b" /><Relationship Type="http://schemas.openxmlformats.org/officeDocument/2006/relationships/notesMaster" Target="/ppt/notesMasters/notesMaster1.xml" Id="Rf1c906d78146469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16b21f8cca249c7" /><Relationship Type="http://schemas.openxmlformats.org/officeDocument/2006/relationships/notesMaster" Target="/ppt/notesMasters/notesMaster1.xml" Id="R923f8aeda255478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1e7c6ef237d4577" /><Relationship Type="http://schemas.openxmlformats.org/officeDocument/2006/relationships/notesMaster" Target="/ppt/notesMasters/notesMaster1.xml" Id="Raf99fba6964944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briefing explains the domain before asking which product to build. It follows the decisions a job seeker encounters, draws on the repository's completed research, and keeps reported experiences separate from guidance and experiments. The opening illustration is AI-generated and depicts no research participant. Singapore is the intended starting context, but some deeper studies are international. Product scope, technology and platform remain undecided.</a:t>
            </a:r>
          </a:p>
          <a:p xmlns:a="http://schemas.openxmlformats.org/drawingml/2006/main">
            <a:r>
              <a:t/>
            </a:r>
          </a:p>
          <a:p xmlns:a="http://schemas.openxmlformats.org/drawingml/2006/main">
            <a:r>
              <a:t>REPOSITORY EVIDENCE</a:t>
            </a:r>
          </a:p>
          <a:p xmlns:a="http://schemas.openxmlformats.org/drawingml/2006/main">
            <a:r>
              <a:t>Round 01 public-web synthesis: 02_research/03_research-rounds/01_public-web-user-insights/round-synthesis.md</a:t>
            </a:r>
          </a:p>
          <a:p xmlns:a="http://schemas.openxmlformats.org/drawingml/2006/main">
            <a:r>
              <a:t>Round 02 synthesis: 02_research/03_research-rounds/02_synthetic-workflow-selection/round-synthesis.md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encountering an opening while already balancing other commitments. This is a teaching scenario, not an observed event. The questions organise findings F01–F09: authenticity, suitability, truthful preparation and returning to unfinished work. The exact phone-discovery to laptop-return to lost-opportunity story remains unsupported by the collected Singapore evidence. The illustration and scenario cannot fill that gap.</a:t>
            </a:r>
          </a:p>
          <a:p xmlns:a="http://schemas.openxmlformats.org/drawingml/2006/main">
            <a:r>
              <a:t/>
            </a:r>
          </a:p>
          <a:p xmlns:a="http://schemas.openxmlformats.org/drawingml/2006/main">
            <a:r>
              <a:t>REPOSITORY EVIDENCE</a:t>
            </a:r>
          </a:p>
          <a:p xmlns:a="http://schemas.openxmlformats.org/drawingml/2006/main">
            <a:r>
              <a:t>Expanded Round 02 findings: 02_research/03_research-rounds/02_synthetic-workflow-selection/runs/2026-10-18-pain-practices-and-guidance/findings.md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editable journey diagram groups the research into a learning sequence. It is not a claim that every person follows six linear stages. Re-entry, rejection, changed requirements and new information can lead back to earlier work. Preparation includes reusable evidence and later interview practice, not just writing a resume. Discovering jobs, assessing legitimacy, reviewing conditions, submitting documents and evaluating an offer involve different types of information.</a:t>
            </a:r>
          </a:p>
          <a:p xmlns:a="http://schemas.openxmlformats.org/drawingml/2006/main">
            <a:r>
              <a:t/>
            </a:r>
          </a:p>
          <a:p xmlns:a="http://schemas.openxmlformats.org/drawingml/2006/main">
            <a:r>
              <a:t>REPOSITORY EVIDENCE</a:t>
            </a:r>
          </a:p>
          <a:p xmlns:a="http://schemas.openxmlformats.org/drawingml/2006/main">
            <a:r>
              <a:t>Expanded Round 02 findings: 02_research/03_research-rounds/02_synthetic-workflow-selection/runs/2026-10-18-pain-practices-and-guidance/findings.md</a:t>
            </a:r>
          </a:p>
          <a:p xmlns:a="http://schemas.openxmlformats.org/drawingml/2006/main">
            <a:r>
              <a:t>Round 01 public-web synthesis: 02_research/03_research-rounds/01_public-web-user-insights/round-synthesis.md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corpus mixes firsthand accounts, qualitative studies, official guidance, experiments, videos and internal process observations. These are not interchangeable votes. Multiple Reddit threads share platform and selection bias. The source population leans toward English-language, graduate, office and technology perspectives. Round 02 addressed each objective with findings or explicit gaps; that does not mean every question is resolved. The owner currently has no direct participant access.</a:t>
            </a:r>
          </a:p>
          <a:p xmlns:a="http://schemas.openxmlformats.org/drawingml/2006/main">
            <a:r>
              <a:t/>
            </a:r>
          </a:p>
          <a:p xmlns:a="http://schemas.openxmlformats.org/drawingml/2006/main">
            <a:r>
              <a:t>REPOSITORY EVIDENCE</a:t>
            </a:r>
          </a:p>
          <a:p xmlns:a="http://schemas.openxmlformats.org/drawingml/2006/main">
            <a:r>
              <a:t>Round 01 public-web synthesis: 02_research/03_research-rounds/01_public-web-user-insights/round-synthesis.md</a:t>
            </a:r>
          </a:p>
          <a:p xmlns:a="http://schemas.openxmlformats.org/drawingml/2006/main">
            <a:r>
              <a:t>Expanded research limitations: 02_research/03_research-rounds/02_synthetic-workflow-selection/runs/2026-10-18-pain-practices-and-guidance/limitations.md</a:t>
            </a:r>
          </a:p>
          <a:p xmlns:a="http://schemas.openxmlformats.org/drawingml/2006/main">
            <a:r>
              <a:t>Round 02 objective coverage: 02_research/03_research-rounds/02_synthetic-workflow-selection/runs/2026-10-18-pain-practices-and-guidance/coverage.md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P01 is a named, selected first-person retrospective, involving retail and a later healthcare-operations role. It describes recruitment agencies, online search, training, WSG support, networking and interviews. The eventual offer followed a LinkedIn contact, while an earlier employer chose an internal candidate. We cannot attribute success to resume edits, AI, a course or coaching in isolation. P02 and P12 separately add scheduling, take-home work and caring commitments. These are separate people's accounts, not one combined participant journey.</a:t>
            </a:r>
          </a:p>
          <a:p xmlns:a="http://schemas.openxmlformats.org/drawingml/2006/main">
            <a:r>
              <a:t/>
            </a:r>
          </a:p>
          <a:p xmlns:a="http://schemas.openxmlformats.org/drawingml/2006/main">
            <a:r>
              <a:t>REPOSITORY EVIDENCE</a:t>
            </a:r>
          </a:p>
          <a:p xmlns:a="http://schemas.openxmlformats.org/drawingml/2006/main">
            <a:r>
              <a:t>Practices evidence P01–P12: 02_research/03_research-rounds/02_synthetic-workflow-selection/runs/2026-10-18-pain-practices-and-guidance/practices-research.md</a:t>
            </a:r>
          </a:p>
          <a:p xmlns:a="http://schemas.openxmlformats.org/drawingml/2006/main">
            <a:r>
              <a:t/>
            </a:r>
          </a:p>
          <a:p xmlns:a="http://schemas.openxmlformats.org/drawingml/2006/main">
            <a:r>
              <a:t>SELECTED ORIGINAL SOURCES</a:t>
            </a:r>
          </a:p>
          <a:p xmlns:a="http://schemas.openxmlformats.org/drawingml/2006/main">
            <a:r>
              <a:t>Low Chee Wee's job-search account: https://www.channelnewsasia.com/today/voices/jobseekers-diaries-i-couldnt-get-job-4-months-then-i-worked-my-resume-and-interview-skills-4645931</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Round 00 includes programme and community research on caring and workable conditions, alongside employer-reported occupation-specific recruitment difficulties. These populations and methods differ. Round 01 includes an expert US desktop screen-reader study of sampled application sites, not JobHub or Singapore-wide conformance. Public accounts add perceived silence and scheduling problems. None establishes their relative frequency or that software can remedy them. Population counts of people outside the labour force are not counts of active seekers or prospective customers.</a:t>
            </a:r>
          </a:p>
          <a:p xmlns:a="http://schemas.openxmlformats.org/drawingml/2006/main">
            <a:r>
              <a:t/>
            </a:r>
          </a:p>
          <a:p xmlns:a="http://schemas.openxmlformats.org/drawingml/2006/main">
            <a:r>
              <a:t>REPOSITORY EVIDENCE</a:t>
            </a:r>
          </a:p>
          <a:p xmlns:a="http://schemas.openxmlformats.org/drawingml/2006/main">
            <a:r>
              <a:t>Baseline cross-industry friction evidence: 02_research/04_results/product-and-users/2026-10-18-job-search-friction.md</a:t>
            </a:r>
          </a:p>
          <a:p xmlns:a="http://schemas.openxmlformats.org/drawingml/2006/main">
            <a:r>
              <a:t>Round 01 public-web synthesis: 02_research/03_research-rounds/01_public-web-user-insights/round-synthesis.md</a:t>
            </a:r>
          </a:p>
          <a:p xmlns:a="http://schemas.openxmlformats.org/drawingml/2006/main">
            <a:r>
              <a:t>Detailed baseline claim and source map: 02_research/07_presentations/01_job-seeker-research-story/audit-baseline.md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Domain findings distinguish advertised requirements, verified essentials, transferable skills, personal constraints and unknowns. An apparently suitable title can conceal incompatible schedules or duties. Conversely, a different title or a low keyword score can hide relevant experience. This framework is guidance derived from the sources, not a validated JobHub fit model or automatic eligibility determination.</a:t>
            </a:r>
          </a:p>
          <a:p xmlns:a="http://schemas.openxmlformats.org/drawingml/2006/main">
            <a:r>
              <a:t/>
            </a:r>
          </a:p>
          <a:p xmlns:a="http://schemas.openxmlformats.org/drawingml/2006/main">
            <a:r>
              <a:t>REPOSITORY EVIDENCE</a:t>
            </a:r>
          </a:p>
          <a:p xmlns:a="http://schemas.openxmlformats.org/drawingml/2006/main">
            <a:r>
              <a:t>Domain evidence D01–D12: 02_research/03_research-rounds/02_synthetic-workflow-selection/runs/2026-10-18-pain-practices-and-guidance/domain-research.md</a:t>
            </a:r>
          </a:p>
          <a:p xmlns:a="http://schemas.openxmlformats.org/drawingml/2006/main">
            <a:r>
              <a:t>Expanded Round 02 findings: 02_research/03_research-rounds/02_synthetic-workflow-selection/runs/2026-10-18-pain-practices-and-guidance/findings.md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Authenticity, working conditions, fairness and personal suitability are distinct questions. ScamShield recommends independent checks, but a registered company or polished site does not authenticate every contact. Hiring delays and specialised requirements can have legitimate explanations. The video material adds examples and questions, not detector accuracy or proof of misconduct. This is practical guidance, not legal advice or an assessment of a particular employer.</a:t>
            </a:r>
          </a:p>
          <a:p xmlns:a="http://schemas.openxmlformats.org/drawingml/2006/main">
            <a:r>
              <a:t/>
            </a:r>
          </a:p>
          <a:p xmlns:a="http://schemas.openxmlformats.org/drawingml/2006/main">
            <a:r>
              <a:t>REPOSITORY EVIDENCE</a:t>
            </a:r>
          </a:p>
          <a:p xmlns:a="http://schemas.openxmlformats.org/drawingml/2006/main">
            <a:r>
              <a:t>Domain evidence D01–D12: 02_research/03_research-rounds/02_synthetic-workflow-selection/runs/2026-10-18-pain-practices-and-guidance/domain-research.md</a:t>
            </a:r>
          </a:p>
          <a:p xmlns:a="http://schemas.openxmlformats.org/drawingml/2006/main">
            <a:r>
              <a:t>Video evidence V01–V10: 02_research/03_research-rounds/02_synthetic-workflow-selection/runs/2026-10-18-pain-practices-and-guidance/video-research.md</a:t>
            </a:r>
          </a:p>
          <a:p xmlns:a="http://schemas.openxmlformats.org/drawingml/2006/main">
            <a:r>
              <a:t/>
            </a:r>
          </a:p>
          <a:p xmlns:a="http://schemas.openxmlformats.org/drawingml/2006/main">
            <a:r>
              <a:t>SELECTED ORIGINAL SOURCES</a:t>
            </a:r>
          </a:p>
          <a:p xmlns:a="http://schemas.openxmlformats.org/drawingml/2006/main">
            <a:r>
              <a:t>ScamShield: checking a job opportunity: https://ask.gov.sg/scamshield/questions/cmdcv46bt017g36wpmgi0mc2t</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WSG says an applicant may apply regardless of a low MyCareersFuture skills-match score. That does not waive a verified licence, regulated credential or employer's essential requirement. The three distinctions shown here are an explanatory framework, not a sequence in which all evidence automatically progresses toward a positive score. The diagram deliberately leaves the final judgment open.</a:t>
            </a:r>
          </a:p>
          <a:p xmlns:a="http://schemas.openxmlformats.org/drawingml/2006/main">
            <a:r>
              <a:t/>
            </a:r>
          </a:p>
          <a:p xmlns:a="http://schemas.openxmlformats.org/drawingml/2006/main">
            <a:r>
              <a:t>REPOSITORY EVIDENCE</a:t>
            </a:r>
          </a:p>
          <a:p xmlns:a="http://schemas.openxmlformats.org/drawingml/2006/main">
            <a:r>
              <a:t>Domain evidence D01–D12: 02_research/03_research-rounds/02_synthetic-workflow-selection/runs/2026-10-18-pain-practices-and-guidance/domain-research.md</a:t>
            </a:r>
          </a:p>
          <a:p xmlns:a="http://schemas.openxmlformats.org/drawingml/2006/main">
            <a:r>
              <a:t>Sanitised internal-process evidence: 02_research/03_research-rounds/02_synthetic-workflow-selection/runs/2026-10-18-pain-practices-and-guidance/internal-process-review.md</a:t>
            </a:r>
          </a:p>
          <a:p xmlns:a="http://schemas.openxmlformats.org/drawingml/2006/main">
            <a:r>
              <a:t/>
            </a:r>
          </a:p>
          <a:p xmlns:a="http://schemas.openxmlformats.org/drawingml/2006/main">
            <a:r>
              <a:t>SELECTED ORIGINAL SOURCES</a:t>
            </a:r>
          </a:p>
          <a:p xmlns:a="http://schemas.openxmlformats.org/drawingml/2006/main">
            <a:r>
              <a:t>WSG: low skills-match scores and applications: https://ask.gov.sg/wsg/questions/clp9j4c1p0031azywcqpjen8w</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fictional teaching examples, not extracted personal resume records or participant quotations. P07 and internal I04/I05 support selecting and explaining genuine experience and reviewing changes. A good rewrite can improve relevance without adding a tool, responsibility, qualification or numerical result that was never established. The candidate must approve the final wording and be able to explain it. A missing qualification stays visible rather than becoming a persuasive invented sentence.</a:t>
            </a:r>
          </a:p>
          <a:p xmlns:a="http://schemas.openxmlformats.org/drawingml/2006/main">
            <a:r>
              <a:t/>
            </a:r>
          </a:p>
          <a:p xmlns:a="http://schemas.openxmlformats.org/drawingml/2006/main">
            <a:r>
              <a:t>REPOSITORY EVIDENCE</a:t>
            </a:r>
          </a:p>
          <a:p xmlns:a="http://schemas.openxmlformats.org/drawingml/2006/main">
            <a:r>
              <a:t>Practices evidence P01–P12: 02_research/03_research-rounds/02_synthetic-workflow-selection/runs/2026-10-18-pain-practices-and-guidance/practices-research.md</a:t>
            </a:r>
          </a:p>
          <a:p xmlns:a="http://schemas.openxmlformats.org/drawingml/2006/main">
            <a:r>
              <a:t>Sanitised internal-process evidence: 02_research/03_research-rounds/02_synthetic-workflow-selection/runs/2026-10-18-pain-practices-and-guidance/internal-process-review.md</a:t>
            </a:r>
          </a:p>
          <a:p xmlns:a="http://schemas.openxmlformats.org/drawingml/2006/main">
            <a:r>
              <a:t>Video evidence V01–V10: 02_research/03_research-rounds/02_synthetic-workflow-selection/runs/2026-10-18-pain-practices-and-guidance/video-research.md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P10 contains competing accounts: an opening author describes distress from intensive tailoring and reports interviews only with that approach; replies describe a few reusable versions, selecting achievements from a master resume, or a stable resume with more interview requests. These are different people in different circumstances. Neither causation nor superiority follows. This contrary evidence prevents a product narrative that assumes maximal rewriting is always necessary.</a:t>
            </a:r>
          </a:p>
          <a:p xmlns:a="http://schemas.openxmlformats.org/drawingml/2006/main">
            <a:r>
              <a:t/>
            </a:r>
          </a:p>
          <a:p xmlns:a="http://schemas.openxmlformats.org/drawingml/2006/main">
            <a:r>
              <a:t>REPOSITORY EVIDENCE</a:t>
            </a:r>
          </a:p>
          <a:p xmlns:a="http://schemas.openxmlformats.org/drawingml/2006/main">
            <a:r>
              <a:t>Practices evidence P01–P12: 02_research/03_research-rounds/02_synthetic-workflow-selection/runs/2026-10-18-pain-practices-and-guidance/practices-research.md</a:t>
            </a:r>
          </a:p>
          <a:p xmlns:a="http://schemas.openxmlformats.org/drawingml/2006/main">
            <a:r>
              <a:t>Round 01 public-web synthesis: 02_research/03_research-rounds/01_public-web-user-insights/round-synthesis.md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generated illustration represents careful preparation, not an observed research session. Public accounts and P03 describe varied use, including non-use. The next slides separate how people say they use assistants from what experimental evidence actually tested. No comparison of current ChatGPT, Claude or other provider performance was conducted in this research.</a:t>
            </a:r>
          </a:p>
          <a:p xmlns:a="http://schemas.openxmlformats.org/drawingml/2006/main">
            <a:r>
              <a:t/>
            </a:r>
          </a:p>
          <a:p xmlns:a="http://schemas.openxmlformats.org/drawingml/2006/main">
            <a:r>
              <a:t>REPOSITORY EVIDENCE</a:t>
            </a:r>
          </a:p>
          <a:p xmlns:a="http://schemas.openxmlformats.org/drawingml/2006/main">
            <a:r>
              <a:t>Practices evidence P01–P12: 02_research/03_research-rounds/02_synthetic-workflow-selection/runs/2026-10-18-pain-practices-and-guidance/practices-research.md</a:t>
            </a:r>
          </a:p>
          <a:p xmlns:a="http://schemas.openxmlformats.org/drawingml/2006/main">
            <a:r>
              <a:t>Primary experiments C01–C02: 02_research/03_research-rounds/02_synthetic-workflow-selection/runs/2026-10-18-pain-practices-and-guidance/coordinator-research.md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P03's primary cohort comprised 13 disadvantaged non-university young people in Western Sydney, studied through interviews/focus groups. Its reference cohort comprised 50 Sydney university students studied through interviews/survey. Participants were aged 18–30. The cohorts differ and are not representative or directly comparable adoption samples. Participants described limited use, templates, authenticity concerns, or review/rewording of their own information. P05 and P09 add selected Singapore accounts. Cover-letter-specific verification evidence remains thin. Named-tool stories cannot establish provider quality or technical diagnoses.</a:t>
            </a:r>
          </a:p>
          <a:p xmlns:a="http://schemas.openxmlformats.org/drawingml/2006/main">
            <a:r>
              <a:t/>
            </a:r>
          </a:p>
          <a:p xmlns:a="http://schemas.openxmlformats.org/drawingml/2006/main">
            <a:r>
              <a:t>REPOSITORY EVIDENCE</a:t>
            </a:r>
          </a:p>
          <a:p xmlns:a="http://schemas.openxmlformats.org/drawingml/2006/main">
            <a:r>
              <a:t>Practices evidence P01–P12: 02_research/03_research-rounds/02_synthetic-workflow-selection/runs/2026-10-18-pain-practices-and-guidance/practices-research.md</a:t>
            </a:r>
          </a:p>
          <a:p xmlns:a="http://schemas.openxmlformats.org/drawingml/2006/main">
            <a:r>
              <a:t/>
            </a:r>
          </a:p>
          <a:p xmlns:a="http://schemas.openxmlformats.org/drawingml/2006/main">
            <a:r>
              <a:t>SELECTED ORIGINAL SOURCES</a:t>
            </a:r>
          </a:p>
          <a:p xmlns:a="http://schemas.openxmlformats.org/drawingml/2006/main">
            <a:r>
              <a:t>Voices on Work: AI use in Western Sydney: https://www.socialventures.org.au/wp-content/uploads/2026/01/Voices-on-Work_-AI-in-Job-Application-.pdf</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author abstract reports an 8% increase in hiring probability and no evidence of lower employer satisfaction. The result concerns the experimental intervention and online labour-market setting. Our research inspected the abstract, not a full-paper replication or Singapore study. Relative and absolute percentage-point gains are different. This does not show that adding fictional qualifications helps, or that all generative rewriting produces the same outcome.</a:t>
            </a:r>
          </a:p>
          <a:p xmlns:a="http://schemas.openxmlformats.org/drawingml/2006/main">
            <a:r>
              <a:t/>
            </a:r>
          </a:p>
          <a:p xmlns:a="http://schemas.openxmlformats.org/drawingml/2006/main">
            <a:r>
              <a:t>REPOSITORY EVIDENCE</a:t>
            </a:r>
          </a:p>
          <a:p xmlns:a="http://schemas.openxmlformats.org/drawingml/2006/main">
            <a:r>
              <a:t>Primary experiments C01–C02: 02_research/03_research-rounds/02_synthetic-workflow-selection/runs/2026-10-18-pain-practices-and-guidance/coordinator-research.md</a:t>
            </a:r>
          </a:p>
          <a:p xmlns:a="http://schemas.openxmlformats.org/drawingml/2006/main">
            <a:r>
              <a:t/>
            </a:r>
          </a:p>
          <a:p xmlns:a="http://schemas.openxmlformats.org/drawingml/2006/main">
            <a:r>
              <a:t>SELECTED ORIGINAL SOURCES</a:t>
            </a:r>
          </a:p>
          <a:p xmlns:a="http://schemas.openxmlformats.org/drawingml/2006/main">
            <a:r>
              <a:t>Algorithmic Writing Assistance on Jobseekers' Resumes Increases Hires: https://arxiv.org/abs/2301.08083</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working paper reports those treatment effects against control in an online labour market and describes more generic, less informative posts. The writing-time measure is conditional on employers posting; the posting-probability change is relative, not 19 percentage points. These measures have different denominators. Its application-time accounting is model-based. This is an employer-side drafting experiment, not an applicant-assistant or current-provider comparison. The two experiments have overlapping authorship and different interventions. No discernible matching increase does not prove exact equality or universal AI harm. The reported effects are not evidence that a particular employer is insincere.</a:t>
            </a:r>
          </a:p>
          <a:p xmlns:a="http://schemas.openxmlformats.org/drawingml/2006/main">
            <a:r>
              <a:t/>
            </a:r>
          </a:p>
          <a:p xmlns:a="http://schemas.openxmlformats.org/drawingml/2006/main">
            <a:r>
              <a:t>REPOSITORY EVIDENCE</a:t>
            </a:r>
          </a:p>
          <a:p xmlns:a="http://schemas.openxmlformats.org/drawingml/2006/main">
            <a:r>
              <a:t>Primary experiments C01–C02: 02_research/03_research-rounds/02_synthetic-workflow-selection/runs/2026-10-18-pain-practices-and-guidance/coordinator-research.md</a:t>
            </a:r>
          </a:p>
          <a:p xmlns:a="http://schemas.openxmlformats.org/drawingml/2006/main">
            <a:r>
              <a:t/>
            </a:r>
          </a:p>
          <a:p xmlns:a="http://schemas.openxmlformats.org/drawingml/2006/main">
            <a:r>
              <a:t>SELECTED ORIGINAL SOURCES</a:t>
            </a:r>
          </a:p>
          <a:p xmlns:a="http://schemas.openxmlformats.org/drawingml/2006/main">
            <a:r>
              <a:t>More, but Worse: The Marketplace Effects of AI-Generated Job Posts: https://www.emmawiles.com/storage/jobot.pdf</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NUS recommends researching the role and employer, confirming format, using real examples and practising. Public accounts include company research, spoken practice and combinations of family and AI support. V08 adds a manual experience notebook and rehearsal. These are options, not proof of increased hiring probability or a validated readiness score. Practice assistance cannot remove excessive interview stages or employer scheduling burdens.</a:t>
            </a:r>
          </a:p>
          <a:p xmlns:a="http://schemas.openxmlformats.org/drawingml/2006/main">
            <a:r>
              <a:t/>
            </a:r>
          </a:p>
          <a:p xmlns:a="http://schemas.openxmlformats.org/drawingml/2006/main">
            <a:r>
              <a:t>REPOSITORY EVIDENCE</a:t>
            </a:r>
          </a:p>
          <a:p xmlns:a="http://schemas.openxmlformats.org/drawingml/2006/main">
            <a:r>
              <a:t>Practices evidence P01–P12: 02_research/03_research-rounds/02_synthetic-workflow-selection/runs/2026-10-18-pain-practices-and-guidance/practices-research.md</a:t>
            </a:r>
          </a:p>
          <a:p xmlns:a="http://schemas.openxmlformats.org/drawingml/2006/main">
            <a:r>
              <a:t>Sanitised internal-process evidence: 02_research/03_research-rounds/02_synthetic-workflow-selection/runs/2026-10-18-pain-practices-and-guidance/internal-process-review.md</a:t>
            </a:r>
          </a:p>
          <a:p xmlns:a="http://schemas.openxmlformats.org/drawingml/2006/main">
            <a:r>
              <a:t>Video evidence V01–V10: 02_research/03_research-rounds/02_synthetic-workflow-selection/runs/2026-10-18-pain-practices-and-guidance/video-research.md</a:t>
            </a:r>
          </a:p>
          <a:p xmlns:a="http://schemas.openxmlformats.org/drawingml/2006/main">
            <a:r>
              <a:t/>
            </a:r>
          </a:p>
          <a:p xmlns:a="http://schemas.openxmlformats.org/drawingml/2006/main">
            <a:r>
              <a:t>SELECTED ORIGINAL SOURCES</a:t>
            </a:r>
          </a:p>
          <a:p xmlns:a="http://schemas.openxmlformats.org/drawingml/2006/main">
            <a:r>
              <a:t>NUS: interview preparation guidance: https://www.nus.edu.sg/cfg/students/career-resources/ace-your-job-interview</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MOM's occupational wage survey reference is June 2025, released June 2026. Its coverage includes full-time resident employees in sampled private establishments with at least 25 employees, excluding part-time and temporary workers. Basic and gross wages use specific definitions; gross excludes bonuses, employer CPF, equity and benefits in kind. No occupation-specific wage values were extracted in this research. Key employment terms apply conditionally. Market data, a person's minimum acceptable package and an offer's full value are different questions.</a:t>
            </a:r>
          </a:p>
          <a:p xmlns:a="http://schemas.openxmlformats.org/drawingml/2006/main">
            <a:r>
              <a:t/>
            </a:r>
          </a:p>
          <a:p xmlns:a="http://schemas.openxmlformats.org/drawingml/2006/main">
            <a:r>
              <a:t>REPOSITORY EVIDENCE</a:t>
            </a:r>
          </a:p>
          <a:p xmlns:a="http://schemas.openxmlformats.org/drawingml/2006/main">
            <a:r>
              <a:t>Domain evidence D01–D12: 02_research/03_research-rounds/02_synthetic-workflow-selection/runs/2026-10-18-pain-practices-and-guidance/domain-research.md</a:t>
            </a:r>
          </a:p>
          <a:p xmlns:a="http://schemas.openxmlformats.org/drawingml/2006/main">
            <a:r>
              <a:t/>
            </a:r>
          </a:p>
          <a:p xmlns:a="http://schemas.openxmlformats.org/drawingml/2006/main">
            <a:r>
              <a:t>SELECTED ORIGINAL SOURCES</a:t>
            </a:r>
          </a:p>
          <a:p xmlns:a="http://schemas.openxmlformats.org/drawingml/2006/main">
            <a:r>
              <a:t>MOM: 2025 wage coverage and methodology: https://stats.mom.gov.sg/iMAS_Tables1/Wages/Wages_2025/Coverage-and-Methodology-of-OWS-2025.pdf</a:t>
            </a:r>
          </a:p>
          <a:p xmlns:a="http://schemas.openxmlformats.org/drawingml/2006/main">
            <a:r>
              <a:t>MOM: key employment terms: https://www.mom.gov.sg/employment-practices/contract-of-service/key-employment-terms</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domain review combines NUS guidance, compensation definitions, an international negotiation experiment and selected accounts. The experiment's population and setting limit transfer, particularly to frontline work and fixed-pay roles. The research does not estimate offer-withdrawal risk or prescribe a universal percentage increase. Clarify uncertain terms and record confirmed changes. This is general research guidance, not a personalised financial or legal assessment.</a:t>
            </a:r>
          </a:p>
          <a:p xmlns:a="http://schemas.openxmlformats.org/drawingml/2006/main">
            <a:r>
              <a:t/>
            </a:r>
          </a:p>
          <a:p xmlns:a="http://schemas.openxmlformats.org/drawingml/2006/main">
            <a:r>
              <a:t>REPOSITORY EVIDENCE</a:t>
            </a:r>
          </a:p>
          <a:p xmlns:a="http://schemas.openxmlformats.org/drawingml/2006/main">
            <a:r>
              <a:t>Domain evidence D01–D12: 02_research/03_research-rounds/02_synthetic-workflow-selection/runs/2026-10-18-pain-practices-and-guidance/domain-research.md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evidence describes shared access, draft recovery, save failures and mixed mobile experiences. Other accounts describe workable email, PDF or spreadsheet routines and immediate phone applications. These support examining continuity, not assuming a universal deferred-device workflow. The diagram is a proposed information checkpoint. No native-mobile, web or desktop decision follows, and no recovery benefit has been measured for JobHub.</a:t>
            </a:r>
          </a:p>
          <a:p xmlns:a="http://schemas.openxmlformats.org/drawingml/2006/main">
            <a:r>
              <a:t/>
            </a:r>
          </a:p>
          <a:p xmlns:a="http://schemas.openxmlformats.org/drawingml/2006/main">
            <a:r>
              <a:t>REPOSITORY EVIDENCE</a:t>
            </a:r>
          </a:p>
          <a:p xmlns:a="http://schemas.openxmlformats.org/drawingml/2006/main">
            <a:r>
              <a:t>Round 01 public-web synthesis: 02_research/03_research-rounds/01_public-web-user-insights/round-synthesis.md</a:t>
            </a:r>
          </a:p>
          <a:p xmlns:a="http://schemas.openxmlformats.org/drawingml/2006/main">
            <a:r>
              <a:t>Practices evidence P01–P12: 02_research/03_research-rounds/02_synthetic-workflow-selection/runs/2026-10-18-pain-practices-and-guidance/practices-research.md</a:t>
            </a:r>
          </a:p>
          <a:p xmlns:a="http://schemas.openxmlformats.org/drawingml/2006/main">
            <a:r>
              <a:t>Sanitised internal-process evidence: 02_research/03_research-rounds/02_synthetic-workflow-selection/runs/2026-10-18-pain-practices-and-guidance/internal-process-review.md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authorised review inspected 25 internal documents and five historical July artifacts. Findings concern inspected content and artifact properties, not all linked AgentHub folders or current execution. A positive historical status paired with loading/error content shows an extraction problem in that artifact, not universal failure today. Coordination burden is a hypothesis. Raw personal resumes, contact details and internal application records do not appear in this briefing.</a:t>
            </a:r>
          </a:p>
          <a:p xmlns:a="http://schemas.openxmlformats.org/drawingml/2006/main">
            <a:r>
              <a:t/>
            </a:r>
          </a:p>
          <a:p xmlns:a="http://schemas.openxmlformats.org/drawingml/2006/main">
            <a:r>
              <a:t>REPOSITORY EVIDENCE</a:t>
            </a:r>
          </a:p>
          <a:p xmlns:a="http://schemas.openxmlformats.org/drawingml/2006/main">
            <a:r>
              <a:t>Sanitised internal-process evidence: 02_research/03_research-rounds/02_synthetic-workflow-selection/runs/2026-10-18-pain-practices-and-guidance/internal-process-review.md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competitive landscape found overlap rather than an established empty market. Current research also retains successful or workable manual and human-supported approaches. This is a capability map, not a fresh audit of platform features, prices or policies. ChatGPT, Claude and specialised products remain comparison candidates. Any future differentiation needs task-level evidence against a simple baseline, not merely more generated content.</a:t>
            </a:r>
          </a:p>
          <a:p xmlns:a="http://schemas.openxmlformats.org/drawingml/2006/main">
            <a:r>
              <a:t/>
            </a:r>
          </a:p>
          <a:p xmlns:a="http://schemas.openxmlformats.org/drawingml/2006/main">
            <a:r>
              <a:t>REPOSITORY EVIDENCE</a:t>
            </a:r>
          </a:p>
          <a:p xmlns:a="http://schemas.openxmlformats.org/drawingml/2006/main">
            <a:r>
              <a:t>Earlier alternatives and positioning: 02_research/04_results/market-and-competition/2026-10-18-positioning.md</a:t>
            </a:r>
          </a:p>
          <a:p xmlns:a="http://schemas.openxmlformats.org/drawingml/2006/main">
            <a:r>
              <a:t>Practices evidence P01–P12: 02_research/03_research-rounds/02_synthetic-workflow-selection/runs/2026-10-18-pain-practices-and-guidance/practices-research.md</a:t>
            </a:r>
          </a:p>
          <a:p xmlns:a="http://schemas.openxmlformats.org/drawingml/2006/main">
            <a:r>
              <a:t>Round 01 public-web synthesis: 02_research/03_research-rounds/01_public-web-user-insights/round-synthesis.md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P06 records an unverified concern about a generated file; its parser diagnosis is not confirmed. Keep export problems separate from false claims and generic writing. P07 advises caution and human checking; the internal review documents retention-related omissions, not proven disclosure. A reusable evidence record creates questions about access, minimisation, retention and deletion. Those choices remain human-owned and unresolved before real personal-data testing.</a:t>
            </a:r>
          </a:p>
          <a:p xmlns:a="http://schemas.openxmlformats.org/drawingml/2006/main">
            <a:r>
              <a:t/>
            </a:r>
          </a:p>
          <a:p xmlns:a="http://schemas.openxmlformats.org/drawingml/2006/main">
            <a:r>
              <a:t>REPOSITORY EVIDENCE</a:t>
            </a:r>
          </a:p>
          <a:p xmlns:a="http://schemas.openxmlformats.org/drawingml/2006/main">
            <a:r>
              <a:t>Expanded Round 02 findings: 02_research/03_research-rounds/02_synthetic-workflow-selection/runs/2026-10-18-pain-practices-and-guidance/findings.md</a:t>
            </a:r>
          </a:p>
          <a:p xmlns:a="http://schemas.openxmlformats.org/drawingml/2006/main">
            <a:r>
              <a:t>Practices evidence P01–P12: 02_research/03_research-rounds/02_synthetic-workflow-selection/runs/2026-10-18-pain-practices-and-guidance/practices-research.md</a:t>
            </a:r>
          </a:p>
          <a:p xmlns:a="http://schemas.openxmlformats.org/drawingml/2006/main">
            <a:r>
              <a:t>Sanitised internal-process evidence: 02_research/03_research-rounds/02_synthetic-workflow-selection/runs/2026-10-18-pain-practices-and-guidance/internal-process-review.md</a:t>
            </a:r>
          </a:p>
          <a:p xmlns:a="http://schemas.openxmlformats.org/drawingml/2006/main">
            <a:r>
              <a:t>Detailed baseline claim and source map: 02_research/07_presentations/01_job-seeker-research-story/audit-baseline.md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Singapore frontline, multilingual, low-income, disabled and older-worker contexts need more direct evidence, despite some broader examples in this corpus. Public accounts are selected and unverified. International studies cannot automatically represent Singapore. Official guidance is not uptake evidence. No source count, query count or video popularity establishes market demand. Future rounds are plans rather than completed tests.</a:t>
            </a:r>
          </a:p>
          <a:p xmlns:a="http://schemas.openxmlformats.org/drawingml/2006/main">
            <a:r>
              <a:t/>
            </a:r>
          </a:p>
          <a:p xmlns:a="http://schemas.openxmlformats.org/drawingml/2006/main">
            <a:r>
              <a:t>REPOSITORY EVIDENCE</a:t>
            </a:r>
          </a:p>
          <a:p xmlns:a="http://schemas.openxmlformats.org/drawingml/2006/main">
            <a:r>
              <a:t>Expanded research limitations: 02_research/03_research-rounds/02_synthetic-workflow-selection/runs/2026-10-18-pain-practices-and-guidance/limitations.md</a:t>
            </a:r>
          </a:p>
          <a:p xmlns:a="http://schemas.openxmlformats.org/drawingml/2006/main">
            <a:r>
              <a:t>Round 01 public-web synthesis: 02_research/03_research-rounds/01_public-web-user-insights/round-synthesis.md</a:t>
            </a:r>
          </a:p>
          <a:p xmlns:a="http://schemas.openxmlformats.org/drawingml/2006/main">
            <a:r>
              <a:t>Round 02 objective coverage: 02_research/03_research-rounds/02_synthetic-workflow-selection/runs/2026-10-18-pain-practices-and-guidance/coverage.md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a narrow preparation task rather than a broad application. Use identical fictional inputs to compare a simple manual baseline with reviewable assistance. Record unsupported claims, visible gaps, correction effort, recovery after interruption and ability to explain the output. Interview practice and compensation are separate possible later tasks. Owner-only testing can assess logic and effort, not representative usefulness. Real-data testing would require prior privacy and provider decisions.</a:t>
            </a:r>
          </a:p>
          <a:p xmlns:a="http://schemas.openxmlformats.org/drawingml/2006/main">
            <a:r>
              <a:t/>
            </a:r>
          </a:p>
          <a:p xmlns:a="http://schemas.openxmlformats.org/drawingml/2006/main">
            <a:r>
              <a:t>REPOSITORY EVIDENCE</a:t>
            </a:r>
          </a:p>
          <a:p xmlns:a="http://schemas.openxmlformats.org/drawingml/2006/main">
            <a:r>
              <a:t>Candidate next task, not accepted scope: 02_research/03_research-rounds/02_synthetic-workflow-selection/decision-gate.md</a:t>
            </a:r>
          </a:p>
          <a:p xmlns:a="http://schemas.openxmlformats.org/drawingml/2006/main">
            <a:r>
              <a:t>Expanded Round 02 findings: 02_research/03_research-rounds/02_synthetic-workflow-selection/runs/2026-10-18-pain-practices-and-guidance/findings.md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end of the main briefing. The proposed organising principle is preserving factual evidence and helping a person make and resume an informed decision. It is a synthesis for discussion, not a validated value proposition. The appendix explains round history, video limits, development approach and remaining provider choices. The owner retains final acceptance of research conclusions and any product direction.</a:t>
            </a:r>
          </a:p>
          <a:p xmlns:a="http://schemas.openxmlformats.org/drawingml/2006/main">
            <a:r>
              <a:t/>
            </a:r>
          </a:p>
          <a:p xmlns:a="http://schemas.openxmlformats.org/drawingml/2006/main">
            <a:r>
              <a:t>REPOSITORY EVIDENCE</a:t>
            </a:r>
          </a:p>
          <a:p xmlns:a="http://schemas.openxmlformats.org/drawingml/2006/main">
            <a:r>
              <a:t>Expanded Round 02 findings: 02_research/03_research-rounds/02_synthetic-workflow-selection/runs/2026-10-18-pain-practices-and-guidance/findings.md</a:t>
            </a:r>
          </a:p>
          <a:p xmlns:a="http://schemas.openxmlformats.org/drawingml/2006/main">
            <a:r>
              <a:t>Candidate next task, not accepted scope: 02_research/03_research-rounds/02_synthetic-workflow-selection/decision-gate.md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folder name 02_synthetic-workflow-selection reflects an earlier plan. The latest expanded evidence run was explicitly authorised for pains, practices, guidance, video captions and a bounded internal review. Its evidence should not be confused with the retained fictional workflow comparison. The historical comparison cannot rank workflows as user-validated. Syntheses, source ledgers and decision gates preserve these distinctions.</a:t>
            </a:r>
          </a:p>
          <a:p xmlns:a="http://schemas.openxmlformats.org/drawingml/2006/main">
            <a:r>
              <a:t/>
            </a:r>
          </a:p>
          <a:p xmlns:a="http://schemas.openxmlformats.org/drawingml/2006/main">
            <a:r>
              <a:t>REPOSITORY EVIDENCE</a:t>
            </a:r>
          </a:p>
          <a:p xmlns:a="http://schemas.openxmlformats.org/drawingml/2006/main">
            <a:r>
              <a:t>Round 00 baseline synthesis: 02_research/04_results/00_cross-research-synthesis.md</a:t>
            </a:r>
          </a:p>
          <a:p xmlns:a="http://schemas.openxmlformats.org/drawingml/2006/main">
            <a:r>
              <a:t>Round 01 public-web synthesis: 02_research/03_research-rounds/01_public-web-user-insights/round-synthesis.md</a:t>
            </a:r>
          </a:p>
          <a:p xmlns:a="http://schemas.openxmlformats.org/drawingml/2006/main">
            <a:r>
              <a:t>Round 02 synthesis: 02_research/03_research-rounds/02_synthetic-workflow-selection/round-synthesis.md</a:t>
            </a:r>
          </a:p>
          <a:p xmlns:a="http://schemas.openxmlformats.org/drawingml/2006/main">
            <a:r>
              <a:t>Expanded research limitations: 02_research/03_research-rounds/02_synthetic-workflow-selection/runs/2026-10-18-pain-practices-and-guidance/limitations.md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supplied captures and five additional canonical captures were reviewed. Same-creator videos and repeated claims are grouped rather than counted as independent support. The captions include manual and automatic tracks. Title changes described by a creator were not independently checked on screen. V10 is 2020 international current-job raise advice, not a Singapore job-offer source. Domain guidance carries the compensation discussion. Full timestamp locators and discovery outcomes remain in the reports.</a:t>
            </a:r>
          </a:p>
          <a:p xmlns:a="http://schemas.openxmlformats.org/drawingml/2006/main">
            <a:r>
              <a:t/>
            </a:r>
          </a:p>
          <a:p xmlns:a="http://schemas.openxmlformats.org/drawingml/2006/main">
            <a:r>
              <a:t>REPOSITORY EVIDENCE</a:t>
            </a:r>
          </a:p>
          <a:p xmlns:a="http://schemas.openxmlformats.org/drawingml/2006/main">
            <a:r>
              <a:t>Video evidence V01–V10: 02_research/03_research-rounds/02_synthetic-workflow-selection/runs/2026-10-18-pain-practices-and-guidance/video-research.md</a:t>
            </a:r>
          </a:p>
          <a:p xmlns:a="http://schemas.openxmlformats.org/drawingml/2006/main">
            <a:r>
              <a:t>Caption discovery and provenance: 02_research/03_research-rounds/02_synthetic-workflow-selection/runs/2026-10-18-pain-practices-and-guidance/youtube-discovery-log.md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baseline development research responded to the owner's concern that exhaustive specification slows progress while they still want technical responsibility. The recommendation is a short behaviour brief, narrow implementation, independent verification and concise decision records. Given/When/Then is a way to express examples, not a requirement to introduce Cucumber or a large test framework. AI-generated code still needs review, security consideration and owner understanding of data flow, failures and recovery. This process has not been benchmarked locally.</a:t>
            </a:r>
          </a:p>
          <a:p xmlns:a="http://schemas.openxmlformats.org/drawingml/2006/main">
            <a:r>
              <a:t/>
            </a:r>
          </a:p>
          <a:p xmlns:a="http://schemas.openxmlformats.org/drawingml/2006/main">
            <a:r>
              <a:t>REPOSITORY EVIDENCE</a:t>
            </a:r>
          </a:p>
          <a:p xmlns:a="http://schemas.openxmlformats.org/drawingml/2006/main">
            <a:r>
              <a:t>Earlier AI-era development findings: 02_research/04_results/development-and-technology/2026-10-18-development-approach.md</a:t>
            </a:r>
          </a:p>
          <a:p xmlns:a="http://schemas.openxmlformats.org/drawingml/2006/main">
            <a:r>
              <a:t>Round 00 baseline synthesis: 02_research/04_results/00_cross-research-synthesis.md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owner requested broad competition and tool research. The repository contains earlier landscape work and later named-tool accounts, but not a controlled current comparison of ChatGPT, Claude or other assistants. No current feature, price or privacy-policy ranking is asserted. A separate baseline source, Cui, Dias and Ye's generative cover-letter study, reports a small, temporary callback effect with inconclusive hiring results in a freelance-platform setting. Its version header and manuscript date differ; the baseline audit records that limit. This is another bounded intervention, not a provider ranking. The product surface should follow tested workflow needs, not the illustrative phone/laptop scene. Provider and personal-data choices remain explicit owner decisions.</a:t>
            </a:r>
          </a:p>
          <a:p xmlns:a="http://schemas.openxmlformats.org/drawingml/2006/main">
            <a:r>
              <a:t/>
            </a:r>
          </a:p>
          <a:p xmlns:a="http://schemas.openxmlformats.org/drawingml/2006/main">
            <a:r>
              <a:t>REPOSITORY EVIDENCE</a:t>
            </a:r>
          </a:p>
          <a:p xmlns:a="http://schemas.openxmlformats.org/drawingml/2006/main">
            <a:r>
              <a:t>Earlier alternatives and positioning: 02_research/04_results/market-and-competition/2026-10-18-positioning.md</a:t>
            </a:r>
          </a:p>
          <a:p xmlns:a="http://schemas.openxmlformats.org/drawingml/2006/main">
            <a:r>
              <a:t>Expanded Round 02 findings: 02_research/03_research-rounds/02_synthetic-workflow-selection/runs/2026-10-18-pain-practices-and-guidance/findings.md</a:t>
            </a:r>
          </a:p>
          <a:p xmlns:a="http://schemas.openxmlformats.org/drawingml/2006/main">
            <a:r>
              <a:t>Expanded research limitations: 02_research/03_research-rounds/02_synthetic-workflow-selection/runs/2026-10-18-pain-practices-and-guidance/limitations.md</a:t>
            </a:r>
          </a:p>
          <a:p xmlns:a="http://schemas.openxmlformats.org/drawingml/2006/main">
            <a:r>
              <a:t>Earlier AI-era development findings: 02_research/04_results/development-and-technology/2026-10-18-development-approach.md</a:t>
            </a:r>
          </a:p>
          <a:p xmlns:a="http://schemas.openxmlformats.org/drawingml/2006/main">
            <a:r>
              <a:t>Detailed baseline claim and source map: 02_research/07_presentations/01_job-seeker-research-story/audit-baseline.md</a:t>
            </a:r>
          </a:p>
          <a:p xmlns:a="http://schemas.openxmlformats.org/drawingml/2006/main">
            <a:r>
              <a:t/>
            </a:r>
          </a:p>
          <a:p xmlns:a="http://schemas.openxmlformats.org/drawingml/2006/main">
            <a:r>
              <a:t>SELECTED ORIGINAL SOURCES</a:t>
            </a:r>
          </a:p>
          <a:p xmlns:a="http://schemas.openxmlformats.org/drawingml/2006/main">
            <a:r>
              <a:t>Baseline generative cover-letter study, version 2: https://arxiv.org/html/2509.25054v2</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accompanying claim map and audit reports for the path from a presentation message to its supporting research. The main story is an educational synthesis, not a substitute for source methods. Exact quotes, screenshots and raw personal records were deliberately avoided. Full original source URLs and locators remain in the ledgers. Future source refreshes should preserve the version and date used for any revised claim.</a:t>
            </a:r>
          </a:p>
          <a:p xmlns:a="http://schemas.openxmlformats.org/drawingml/2006/main">
            <a:r>
              <a:t/>
            </a:r>
          </a:p>
          <a:p xmlns:a="http://schemas.openxmlformats.org/drawingml/2006/main">
            <a:r>
              <a:t>REPOSITORY EVIDENCE</a:t>
            </a:r>
          </a:p>
          <a:p xmlns:a="http://schemas.openxmlformats.org/drawingml/2006/main">
            <a:r>
              <a:t>Practices evidence P01–P12: 02_research/03_research-rounds/02_synthetic-workflow-selection/runs/2026-10-18-pain-practices-and-guidance/practices-research.md</a:t>
            </a:r>
          </a:p>
          <a:p xmlns:a="http://schemas.openxmlformats.org/drawingml/2006/main">
            <a:r>
              <a:t>Domain evidence D01–D12: 02_research/03_research-rounds/02_synthetic-workflow-selection/runs/2026-10-18-pain-practices-and-guidance/domain-research.md</a:t>
            </a:r>
          </a:p>
          <a:p xmlns:a="http://schemas.openxmlformats.org/drawingml/2006/main">
            <a:r>
              <a:t>Primary experiments C01–C02: 02_research/03_research-rounds/02_synthetic-workflow-selection/runs/2026-10-18-pain-practices-and-guidance/coordinator-research.md</a:t>
            </a:r>
          </a:p>
          <a:p xmlns:a="http://schemas.openxmlformats.org/drawingml/2006/main">
            <a:r>
              <a:t>Sanitised internal-process evidence: 02_research/03_research-rounds/02_synthetic-workflow-selection/runs/2026-10-18-pain-practices-and-guidance/internal-process-review.md</a:t>
            </a:r>
          </a:p>
          <a:p xmlns:a="http://schemas.openxmlformats.org/drawingml/2006/main">
            <a:r>
              <a:t>Video evidence V01–V10: 02_research/03_research-rounds/02_synthetic-workflow-selection/runs/2026-10-18-pain-practices-and-guidance/video-research.md</a:t>
            </a:r>
          </a:p>
          <a:p xmlns:a="http://schemas.openxmlformats.org/drawingml/2006/main">
            <a:r>
              <a:t>Round 02 objective coverage: 02_research/03_research-rounds/02_synthetic-workflow-selection/runs/2026-10-18-pain-practices-and-guidance/coverage.md</a:t>
            </a:r>
          </a:p>
          <a:p xmlns:a="http://schemas.openxmlformats.org/drawingml/2006/main">
            <a:r>
              <a:t>Expanded research limitations: 02_research/03_research-rounds/02_synthetic-workflow-selection/runs/2026-10-18-pain-practices-and-guidance/limitations.md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Source IDs on main-story slides refer to the expanded Round 02 run unless another round is explicit. Research cutoff: 2026-10-18.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8dca8c46da40f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21fdd080fea480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0bcd8ac5a724c3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fcf06e3ccaa441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200135a2f464f7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03bc0c572be4d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1DE2E7-7EE9-447B-AE03-0AB4931E2C9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405751A-E54B-46D4-93C9-947D21940D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1F3FEB3-3EFA-4D85-BDDD-7BF357F90D0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7C72F6-8CE2-45C9-9C38-71BB2A8CEA7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3961FEB-C034-4322-ABB7-A0F30B4ABCF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4292CAB-29B5-44A3-87D2-0B91E16F16B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1E61F85-D160-4AEF-9456-FC4631F7ED3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04CECC2-F50A-481D-89BD-2BC070DDC0A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2A7058-A446-43BB-B2B2-B9FC393870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11B9020-71FD-4EAF-B84B-3B88252D447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7ae0a695b1497c" /><Relationship Type="http://schemas.openxmlformats.org/officeDocument/2006/relationships/slideLayout" Target="/ppt/slideLayouts/slideLayout1.xml" Id="Rb3e29acf38b849e5" /><Relationship Type="http://schemas.openxmlformats.org/officeDocument/2006/relationships/slideLayout" Target="/ppt/slideLayouts/slideLayout2.xml" Id="Rf7606e1918e542f5" /><Relationship Type="http://schemas.openxmlformats.org/officeDocument/2006/relationships/slideLayout" Target="/ppt/slideLayouts/slideLayout3.xml" Id="R62cc733c59fc444d" /><Relationship Type="http://schemas.openxmlformats.org/officeDocument/2006/relationships/slideLayout" Target="/ppt/slideLayouts/slideLayout4.xml" Id="Rd07e36abfd314729" /><Relationship Type="http://schemas.openxmlformats.org/officeDocument/2006/relationships/slideLayout" Target="/ppt/slideLayouts/slideLayout5.xml" Id="Re66722bbf61d45e4" /><Relationship Type="http://schemas.openxmlformats.org/officeDocument/2006/relationships/slideLayout" Target="/ppt/slideLayouts/slideLayout6.xml" Id="R4c06f59e5fcd4f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e29acf38b849e5"/>
    <p:sldLayoutId xmlns:r="http://schemas.openxmlformats.org/officeDocument/2006/relationships" id="2147483650" r:id="Rf7606e1918e542f5"/>
    <p:sldLayoutId xmlns:r="http://schemas.openxmlformats.org/officeDocument/2006/relationships" id="2147483651" r:id="R62cc733c59fc444d"/>
    <p:sldLayoutId xmlns:r="http://schemas.openxmlformats.org/officeDocument/2006/relationships" id="2147483652" r:id="Rd07e36abfd314729"/>
    <p:sldLayoutId xmlns:r="http://schemas.openxmlformats.org/officeDocument/2006/relationships" id="2147483653" r:id="Re66722bbf61d45e4"/>
    <p:sldLayoutId xmlns:r="http://schemas.openxmlformats.org/officeDocument/2006/relationships" id="2147483654" r:id="R4c06f59e5fcd4f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b3d8de9c344433f" /><Relationship Type="http://schemas.openxmlformats.org/officeDocument/2006/relationships/image" Target="/ppt/media/image.png" Id="R0f14ec9288f24ef1" /><Relationship Type="http://schemas.openxmlformats.org/officeDocument/2006/relationships/notesSlide" Target="/ppt/notesSlides/notesSlide1.xml" Id="R311f414cd9d24e8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25e2e85b989433b" /><Relationship Type="http://schemas.openxmlformats.org/officeDocument/2006/relationships/notesSlide" Target="/ppt/notesSlides/notesSlide2.xml" Id="R5006f368315146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30a3bae2a434b97" /><Relationship Type="http://schemas.openxmlformats.org/officeDocument/2006/relationships/notesSlide" Target="/ppt/notesSlides/notesSlide3.xml" Id="R323414b6e5bb41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e7bb6f70ca24f5f" /><Relationship Type="http://schemas.openxmlformats.org/officeDocument/2006/relationships/notesSlide" Target="/ppt/notesSlides/notesSlide4.xml" Id="R69e925b8505a47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eae571d67694161" /><Relationship Type="http://schemas.openxmlformats.org/officeDocument/2006/relationships/notesSlide" Target="/ppt/notesSlides/notesSlide5.xml" Id="Rf26025c0769c4c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40aeef1c3804e00" /><Relationship Type="http://schemas.openxmlformats.org/officeDocument/2006/relationships/notesSlide" Target="/ppt/notesSlides/notesSlide6.xml" Id="Rc1e983acf9ad4b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679779d7f224b80" /><Relationship Type="http://schemas.openxmlformats.org/officeDocument/2006/relationships/notesSlide" Target="/ppt/notesSlides/notesSlide7.xml" Id="R6d802199078a48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124d7563b2c49b7" /><Relationship Type="http://schemas.openxmlformats.org/officeDocument/2006/relationships/notesSlide" Target="/ppt/notesSlides/notesSlide8.xml" Id="R37d2b2d77632411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84c50fbb2334d3f" /><Relationship Type="http://schemas.openxmlformats.org/officeDocument/2006/relationships/notesSlide" Target="/ppt/notesSlides/notesSlide9.xml" Id="R334a808b3a754ee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7fac583145041d2" /><Relationship Type="http://schemas.openxmlformats.org/officeDocument/2006/relationships/notesSlide" Target="/ppt/notesSlides/notesSlide10.xml" Id="R0a6d02ccc310485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7c9e34880c4404b" /><Relationship Type="http://schemas.openxmlformats.org/officeDocument/2006/relationships/notesSlide" Target="/ppt/notesSlides/notesSlide11.xml" Id="R20a1df893e44433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9495724518749a2" /><Relationship Type="http://schemas.openxmlformats.org/officeDocument/2006/relationships/image" Target="/ppt/media/image2.png" Id="R2eb7e3b656b34f25" /><Relationship Type="http://schemas.openxmlformats.org/officeDocument/2006/relationships/notesSlide" Target="/ppt/notesSlides/notesSlide12.xml" Id="R3c0854146c4c4de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943cd323f06401c" /><Relationship Type="http://schemas.openxmlformats.org/officeDocument/2006/relationships/notesSlide" Target="/ppt/notesSlides/notesSlide13.xml" Id="R66792d5f81fd466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7b4cd0d909c4aa9" /><Relationship Type="http://schemas.openxmlformats.org/officeDocument/2006/relationships/notesSlide" Target="/ppt/notesSlides/notesSlide14.xml" Id="R3addc84e9ff6486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9790e3fed9c4fde" /><Relationship Type="http://schemas.openxmlformats.org/officeDocument/2006/relationships/notesSlide" Target="/ppt/notesSlides/notesSlide15.xml" Id="R6c01cec70e94428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5f9d05f575e4406" /><Relationship Type="http://schemas.openxmlformats.org/officeDocument/2006/relationships/notesSlide" Target="/ppt/notesSlides/notesSlide16.xml" Id="R26e73d228ef8484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9327316d4334712" /><Relationship Type="http://schemas.openxmlformats.org/officeDocument/2006/relationships/notesSlide" Target="/ppt/notesSlides/notesSlide17.xml" Id="R72d44f0882f6470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d21b824722c4125" /><Relationship Type="http://schemas.openxmlformats.org/officeDocument/2006/relationships/notesSlide" Target="/ppt/notesSlides/notesSlide18.xml" Id="Rb9f665a42f114f3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35aedf1d1124a13" /><Relationship Type="http://schemas.openxmlformats.org/officeDocument/2006/relationships/notesSlide" Target="/ppt/notesSlides/notesSlide19.xml" Id="R31ca3c7aa552432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87115deec864680" /><Relationship Type="http://schemas.openxmlformats.org/officeDocument/2006/relationships/notesSlide" Target="/ppt/notesSlides/notesSlide20.xml" Id="Ra20644c7c1ed4e6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8f9c5d986cb4e4a" /><Relationship Type="http://schemas.openxmlformats.org/officeDocument/2006/relationships/notesSlide" Target="/ppt/notesSlides/notesSlide21.xml" Id="Rc92e48297f264db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3cad228d6574df4" /><Relationship Type="http://schemas.openxmlformats.org/officeDocument/2006/relationships/notesSlide" Target="/ppt/notesSlides/notesSlide22.xml" Id="R71d1bf9d20fb431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2dcabacfc854555" /><Relationship Type="http://schemas.openxmlformats.org/officeDocument/2006/relationships/notesSlide" Target="/ppt/notesSlides/notesSlide23.xml" Id="R01b72fa23c8e41d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51c19ed136f4339" /><Relationship Type="http://schemas.openxmlformats.org/officeDocument/2006/relationships/notesSlide" Target="/ppt/notesSlides/notesSlide24.xml" Id="R9ca0d3ddca6a4aa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603096e1880d427a" /><Relationship Type="http://schemas.openxmlformats.org/officeDocument/2006/relationships/notesSlide" Target="/ppt/notesSlides/notesSlide25.xml" Id="R5b4483cda19840a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b25bf4b6d4e4f34" /><Relationship Type="http://schemas.openxmlformats.org/officeDocument/2006/relationships/notesSlide" Target="/ppt/notesSlides/notesSlide26.xml" Id="R0f7ea29953a146a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cd1ecb738ad45ef" /><Relationship Type="http://schemas.openxmlformats.org/officeDocument/2006/relationships/notesSlide" Target="/ppt/notesSlides/notesSlide27.xml" Id="R80deb496fa6e4e9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25d0e3d8b0044e8" /><Relationship Type="http://schemas.openxmlformats.org/officeDocument/2006/relationships/notesSlide" Target="/ppt/notesSlides/notesSlide28.xml" Id="Ra74641443fd1467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68139a41f634c28" /><Relationship Type="http://schemas.openxmlformats.org/officeDocument/2006/relationships/notesSlide" Target="/ppt/notesSlides/notesSlide29.xml" Id="R5aff0ba6328c409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29c80f448a34544" /><Relationship Type="http://schemas.openxmlformats.org/officeDocument/2006/relationships/notesSlide" Target="/ppt/notesSlides/notesSlide30.xml" Id="Redcce4a340d948f6" /></Relationships>
</file>

<file path=ppt/slides/slide1.xml><?xml version="1.0" encoding="utf-8"?>
<p:sld xmlns:p="http://schemas.openxmlformats.org/presentationml/2006/main">
  <p:cSld>
    <p:bg>
      <p:bgPr>
        <a:solidFill xmlns:a="http://schemas.openxmlformats.org/drawingml/2006/main">
          <a:srgbClr val="102235"/>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68CD370-23CF-4440-A925-9DE09D1D7622}"/>
              </a:ext>
            </a:extLst>
          </p:cNvPr>
          <p:cNvPicPr>
            <a:picLocks xmlns:a="http://schemas.openxmlformats.org/drawingml/2006/main" noChangeAspect="1"/>
          </p:cNvPicPr>
          <p:nvPr/>
        </p:nvPicPr>
        <p:blipFill>
          <a:blip xmlns:r="http://schemas.openxmlformats.org/officeDocument/2006/relationships" xmlns:a="http://schemas.openxmlformats.org/drawingml/2006/main" r:embed="R0f14ec9288f24ef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67E29686-DCE4-4E6B-BD26-2920F6214B55}"/>
              </a:ext>
            </a:extLst>
          </p:cNvPr>
          <p:cNvSpPr>
            <a:spLocks xmlns:a="http://schemas.openxmlformats.org/drawingml/2006/main" noGrp="1"/>
          </p:cNvSpPr>
          <p:nvPr/>
        </p:nvSpPr>
        <p:spPr>
          <a:xfrm xmlns:a="http://schemas.openxmlformats.org/drawingml/2006/main">
            <a:off x="723900" y="1638300"/>
            <a:ext cx="6191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700" b="1">
                <a:solidFill>
                  <a:srgbClr val="FFFFFF"/>
                </a:solidFill>
                <a:latin typeface="Arial"/>
                <a:ea typeface="Arial"/>
                <a:cs typeface="Arial"/>
              </a:defRPr>
            </a:defPPr>
            <a:lvl1pPr algn="l">
              <a:defRPr sz="5700" b="1">
                <a:solidFill>
                  <a:srgbClr val="FFFFFF"/>
                </a:solidFill>
                <a:latin typeface="Arial"/>
                <a:ea typeface="Arial"/>
                <a:cs typeface="Arial"/>
              </a:defRPr>
            </a:lvl1pPr>
            <a:lvl2pPr algn="l">
              <a:defRPr sz="5700" b="1">
                <a:solidFill>
                  <a:srgbClr val="FFFFFF"/>
                </a:solidFill>
                <a:latin typeface="Arial"/>
                <a:ea typeface="Arial"/>
                <a:cs typeface="Arial"/>
              </a:defRPr>
            </a:lvl2pPr>
            <a:lvl3pPr algn="l">
              <a:defRPr sz="5700" b="1">
                <a:solidFill>
                  <a:srgbClr val="FFFFFF"/>
                </a:solidFill>
                <a:latin typeface="Arial"/>
                <a:ea typeface="Arial"/>
                <a:cs typeface="Arial"/>
              </a:defRPr>
            </a:lvl3pPr>
            <a:lvl4pPr algn="l">
              <a:defRPr sz="5700" b="1">
                <a:solidFill>
                  <a:srgbClr val="FFFFFF"/>
                </a:solidFill>
                <a:latin typeface="Arial"/>
                <a:ea typeface="Arial"/>
                <a:cs typeface="Arial"/>
              </a:defRPr>
            </a:lvl4pPr>
            <a:lvl5pPr algn="l">
              <a:defRPr sz="5700" b="1">
                <a:solidFill>
                  <a:srgbClr val="FFFFFF"/>
                </a:solidFill>
                <a:latin typeface="Arial"/>
                <a:ea typeface="Arial"/>
                <a:cs typeface="Arial"/>
              </a:defRPr>
            </a:lvl5pPr>
            <a:lvl6pPr algn="l">
              <a:defRPr sz="5700" b="1">
                <a:solidFill>
                  <a:srgbClr val="FFFFFF"/>
                </a:solidFill>
                <a:latin typeface="Arial"/>
                <a:ea typeface="Arial"/>
                <a:cs typeface="Arial"/>
              </a:defRPr>
            </a:lvl6pPr>
            <a:lvl7pPr algn="l">
              <a:defRPr sz="5700" b="1">
                <a:solidFill>
                  <a:srgbClr val="FFFFFF"/>
                </a:solidFill>
                <a:latin typeface="Arial"/>
                <a:ea typeface="Arial"/>
                <a:cs typeface="Arial"/>
              </a:defRPr>
            </a:lvl7pPr>
            <a:lvl8pPr algn="l">
              <a:defRPr sz="5700" b="1">
                <a:solidFill>
                  <a:srgbClr val="FFFFFF"/>
                </a:solidFill>
                <a:latin typeface="Arial"/>
                <a:ea typeface="Arial"/>
                <a:cs typeface="Arial"/>
              </a:defRPr>
            </a:lvl8pPr>
            <a:lvl9pPr algn="l">
              <a:defRPr sz="5700" b="1">
                <a:solidFill>
                  <a:srgbClr val="FFFFFF"/>
                </a:solidFill>
                <a:latin typeface="Arial"/>
                <a:ea typeface="Arial"/>
                <a:cs typeface="Arial"/>
              </a:defRPr>
            </a:lvl9pPr>
          </a:lstStyle>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The work behind</a:t>
            </a:r>
          </a:p>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getting a job</a:t>
            </a:r>
          </a:p>
        </p:txBody>
      </p:sp>
      <p:sp>
        <p:nvSpPr>
          <p:cNvPr id="3" name="subtitle">
            <a:extLst xmlns:a="http://schemas.openxmlformats.org/drawingml/2006/main">
              <a:ext uri="{FF2B5EF4-FFF2-40B4-BE49-F238E27FC236}">
                <a16:creationId xmlns:a16="http://schemas.microsoft.com/office/drawing/2014/main" id="{2CDC8318-BED9-4B5E-870F-DD4F0298B2DA}"/>
              </a:ext>
            </a:extLst>
          </p:cNvPr>
          <p:cNvSpPr>
            <a:spLocks xmlns:a="http://schemas.openxmlformats.org/drawingml/2006/main" noGrp="1"/>
          </p:cNvSpPr>
          <p:nvPr/>
        </p:nvSpPr>
        <p:spPr>
          <a:xfrm xmlns:a="http://schemas.openxmlformats.org/drawingml/2006/main">
            <a:off x="762000" y="4533900"/>
            <a:ext cx="5238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D7E1E3"/>
                </a:solidFill>
                <a:latin typeface="Arial"/>
                <a:ea typeface="Arial"/>
                <a:cs typeface="Arial"/>
              </a:defRPr>
            </a:defPPr>
            <a:lvl1pPr algn="l">
              <a:defRPr sz="2325" b="0">
                <a:solidFill>
                  <a:srgbClr val="D7E1E3"/>
                </a:solidFill>
                <a:latin typeface="Arial"/>
                <a:ea typeface="Arial"/>
                <a:cs typeface="Arial"/>
              </a:defRPr>
            </a:lvl1pPr>
            <a:lvl2pPr algn="l">
              <a:defRPr sz="2325" b="0">
                <a:solidFill>
                  <a:srgbClr val="D7E1E3"/>
                </a:solidFill>
                <a:latin typeface="Arial"/>
                <a:ea typeface="Arial"/>
                <a:cs typeface="Arial"/>
              </a:defRPr>
            </a:lvl2pPr>
            <a:lvl3pPr algn="l">
              <a:defRPr sz="2325" b="0">
                <a:solidFill>
                  <a:srgbClr val="D7E1E3"/>
                </a:solidFill>
                <a:latin typeface="Arial"/>
                <a:ea typeface="Arial"/>
                <a:cs typeface="Arial"/>
              </a:defRPr>
            </a:lvl3pPr>
            <a:lvl4pPr algn="l">
              <a:defRPr sz="2325" b="0">
                <a:solidFill>
                  <a:srgbClr val="D7E1E3"/>
                </a:solidFill>
                <a:latin typeface="Arial"/>
                <a:ea typeface="Arial"/>
                <a:cs typeface="Arial"/>
              </a:defRPr>
            </a:lvl4pPr>
            <a:lvl5pPr algn="l">
              <a:defRPr sz="2325" b="0">
                <a:solidFill>
                  <a:srgbClr val="D7E1E3"/>
                </a:solidFill>
                <a:latin typeface="Arial"/>
                <a:ea typeface="Arial"/>
                <a:cs typeface="Arial"/>
              </a:defRPr>
            </a:lvl5pPr>
            <a:lvl6pPr algn="l">
              <a:defRPr sz="2325" b="0">
                <a:solidFill>
                  <a:srgbClr val="D7E1E3"/>
                </a:solidFill>
                <a:latin typeface="Arial"/>
                <a:ea typeface="Arial"/>
                <a:cs typeface="Arial"/>
              </a:defRPr>
            </a:lvl6pPr>
            <a:lvl7pPr algn="l">
              <a:defRPr sz="2325" b="0">
                <a:solidFill>
                  <a:srgbClr val="D7E1E3"/>
                </a:solidFill>
                <a:latin typeface="Arial"/>
                <a:ea typeface="Arial"/>
                <a:cs typeface="Arial"/>
              </a:defRPr>
            </a:lvl7pPr>
            <a:lvl8pPr algn="l">
              <a:defRPr sz="2325" b="0">
                <a:solidFill>
                  <a:srgbClr val="D7E1E3"/>
                </a:solidFill>
                <a:latin typeface="Arial"/>
                <a:ea typeface="Arial"/>
                <a:cs typeface="Arial"/>
              </a:defRPr>
            </a:lvl8pPr>
            <a:lvl9pPr algn="l">
              <a:defRPr sz="2325" b="0">
                <a:solidFill>
                  <a:srgbClr val="D7E1E3"/>
                </a:solidFill>
                <a:latin typeface="Arial"/>
                <a:ea typeface="Arial"/>
                <a:cs typeface="Arial"/>
              </a:defRPr>
            </a:lvl9pPr>
          </a:lstStyle>
          <a:p xmlns:a="http://schemas.openxmlformats.org/drawingml/2006/main">
            <a:pPr algn="l">
              <a:defRPr sz="2325" b="0">
                <a:solidFill>
                  <a:srgbClr val="D7E1E3"/>
                </a:solidFill>
                <a:latin typeface="Arial"/>
                <a:ea typeface="Arial"/>
                <a:cs typeface="Arial"/>
              </a:defRPr>
            </a:pPr>
            <a:r>
              <a:rPr sz="2325" b="0">
                <a:solidFill>
                  <a:srgbClr val="D7E1E3"/>
                </a:solidFill>
                <a:latin typeface="Arial"/>
                <a:ea typeface="Arial"/>
                <a:cs typeface="Arial"/>
              </a:rPr>
              <a:t>A research briefing for JobHub</a:t>
            </a:r>
          </a:p>
        </p:txBody>
      </p:sp>
      <p:sp>
        <p:nvSpPr>
          <p:cNvPr id="4" name="evidence-boundary">
            <a:extLst xmlns:a="http://schemas.openxmlformats.org/drawingml/2006/main">
              <a:ext uri="{FF2B5EF4-FFF2-40B4-BE49-F238E27FC236}">
                <a16:creationId xmlns:a16="http://schemas.microsoft.com/office/drawing/2014/main" id="{C4BC79F0-C0D8-4594-A6AD-FA0C6DBBEBA0}"/>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D7E1E3"/>
                </a:solidFill>
                <a:latin typeface="Arial"/>
                <a:ea typeface="Arial"/>
                <a:cs typeface="Arial"/>
              </a:defRPr>
            </a:defPPr>
            <a:lvl1pPr algn="l">
              <a:defRPr sz="1350" b="0">
                <a:solidFill>
                  <a:srgbClr val="D7E1E3"/>
                </a:solidFill>
                <a:latin typeface="Arial"/>
                <a:ea typeface="Arial"/>
                <a:cs typeface="Arial"/>
              </a:defRPr>
            </a:lvl1pPr>
            <a:lvl2pPr algn="l">
              <a:defRPr sz="1350" b="0">
                <a:solidFill>
                  <a:srgbClr val="D7E1E3"/>
                </a:solidFill>
                <a:latin typeface="Arial"/>
                <a:ea typeface="Arial"/>
                <a:cs typeface="Arial"/>
              </a:defRPr>
            </a:lvl2pPr>
            <a:lvl3pPr algn="l">
              <a:defRPr sz="1350" b="0">
                <a:solidFill>
                  <a:srgbClr val="D7E1E3"/>
                </a:solidFill>
                <a:latin typeface="Arial"/>
                <a:ea typeface="Arial"/>
                <a:cs typeface="Arial"/>
              </a:defRPr>
            </a:lvl3pPr>
            <a:lvl4pPr algn="l">
              <a:defRPr sz="1350" b="0">
                <a:solidFill>
                  <a:srgbClr val="D7E1E3"/>
                </a:solidFill>
                <a:latin typeface="Arial"/>
                <a:ea typeface="Arial"/>
                <a:cs typeface="Arial"/>
              </a:defRPr>
            </a:lvl4pPr>
            <a:lvl5pPr algn="l">
              <a:defRPr sz="1350" b="0">
                <a:solidFill>
                  <a:srgbClr val="D7E1E3"/>
                </a:solidFill>
                <a:latin typeface="Arial"/>
                <a:ea typeface="Arial"/>
                <a:cs typeface="Arial"/>
              </a:defRPr>
            </a:lvl5pPr>
            <a:lvl6pPr algn="l">
              <a:defRPr sz="1350" b="0">
                <a:solidFill>
                  <a:srgbClr val="D7E1E3"/>
                </a:solidFill>
                <a:latin typeface="Arial"/>
                <a:ea typeface="Arial"/>
                <a:cs typeface="Arial"/>
              </a:defRPr>
            </a:lvl6pPr>
            <a:lvl7pPr algn="l">
              <a:defRPr sz="1350" b="0">
                <a:solidFill>
                  <a:srgbClr val="D7E1E3"/>
                </a:solidFill>
                <a:latin typeface="Arial"/>
                <a:ea typeface="Arial"/>
                <a:cs typeface="Arial"/>
              </a:defRPr>
            </a:lvl7pPr>
            <a:lvl8pPr algn="l">
              <a:defRPr sz="1350" b="0">
                <a:solidFill>
                  <a:srgbClr val="D7E1E3"/>
                </a:solidFill>
                <a:latin typeface="Arial"/>
                <a:ea typeface="Arial"/>
                <a:cs typeface="Arial"/>
              </a:defRPr>
            </a:lvl8pPr>
            <a:lvl9pPr algn="l">
              <a:defRPr sz="1350" b="0">
                <a:solidFill>
                  <a:srgbClr val="D7E1E3"/>
                </a:solidFill>
                <a:latin typeface="Arial"/>
                <a:ea typeface="Arial"/>
                <a:cs typeface="Arial"/>
              </a:defRPr>
            </a:lvl9pPr>
          </a:lstStyle>
          <a:p xmlns:a="http://schemas.openxmlformats.org/drawingml/2006/main">
            <a:pPr algn="l">
              <a:defRPr sz="1350" b="0">
                <a:solidFill>
                  <a:srgbClr val="D7E1E3"/>
                </a:solidFill>
                <a:latin typeface="Arial"/>
                <a:ea typeface="Arial"/>
                <a:cs typeface="Arial"/>
              </a:defRPr>
            </a:pPr>
            <a:r>
              <a:rPr sz="1350" b="0">
                <a:solidFill>
                  <a:srgbClr val="D7E1E3"/>
                </a:solidFill>
                <a:latin typeface="Arial"/>
                <a:ea typeface="Arial"/>
                <a:cs typeface="Arial"/>
              </a:rPr>
              <a:t>Research through 18 October 2026. Fictional illustration.</a:t>
            </a:r>
          </a:p>
        </p:txBody>
      </p:sp>
      <p:sp>
        <p:nvSpPr>
          <p:cNvPr id="5" name="slide-number">
            <a:extLst xmlns:a="http://schemas.openxmlformats.org/drawingml/2006/main">
              <a:ext uri="{FF2B5EF4-FFF2-40B4-BE49-F238E27FC236}">
                <a16:creationId xmlns:a16="http://schemas.microsoft.com/office/drawing/2014/main" id="{DC9D892C-A0C9-4CC4-8267-A0A85AA833EF}"/>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1C58A"/>
                </a:solidFill>
                <a:latin typeface="Arial"/>
                <a:ea typeface="Arial"/>
                <a:cs typeface="Arial"/>
              </a:defRPr>
            </a:defPPr>
            <a:lvl1pPr algn="l">
              <a:defRPr sz="1575" b="1">
                <a:solidFill>
                  <a:srgbClr val="F1C58A"/>
                </a:solidFill>
                <a:latin typeface="Arial"/>
                <a:ea typeface="Arial"/>
                <a:cs typeface="Arial"/>
              </a:defRPr>
            </a:lvl1pPr>
            <a:lvl2pPr algn="l">
              <a:defRPr sz="1575" b="1">
                <a:solidFill>
                  <a:srgbClr val="F1C58A"/>
                </a:solidFill>
                <a:latin typeface="Arial"/>
                <a:ea typeface="Arial"/>
                <a:cs typeface="Arial"/>
              </a:defRPr>
            </a:lvl2pPr>
            <a:lvl3pPr algn="l">
              <a:defRPr sz="1575" b="1">
                <a:solidFill>
                  <a:srgbClr val="F1C58A"/>
                </a:solidFill>
                <a:latin typeface="Arial"/>
                <a:ea typeface="Arial"/>
                <a:cs typeface="Arial"/>
              </a:defRPr>
            </a:lvl3pPr>
            <a:lvl4pPr algn="l">
              <a:defRPr sz="1575" b="1">
                <a:solidFill>
                  <a:srgbClr val="F1C58A"/>
                </a:solidFill>
                <a:latin typeface="Arial"/>
                <a:ea typeface="Arial"/>
                <a:cs typeface="Arial"/>
              </a:defRPr>
            </a:lvl4pPr>
            <a:lvl5pPr algn="l">
              <a:defRPr sz="1575" b="1">
                <a:solidFill>
                  <a:srgbClr val="F1C58A"/>
                </a:solidFill>
                <a:latin typeface="Arial"/>
                <a:ea typeface="Arial"/>
                <a:cs typeface="Arial"/>
              </a:defRPr>
            </a:lvl5pPr>
            <a:lvl6pPr algn="l">
              <a:defRPr sz="1575" b="1">
                <a:solidFill>
                  <a:srgbClr val="F1C58A"/>
                </a:solidFill>
                <a:latin typeface="Arial"/>
                <a:ea typeface="Arial"/>
                <a:cs typeface="Arial"/>
              </a:defRPr>
            </a:lvl6pPr>
            <a:lvl7pPr algn="l">
              <a:defRPr sz="1575" b="1">
                <a:solidFill>
                  <a:srgbClr val="F1C58A"/>
                </a:solidFill>
                <a:latin typeface="Arial"/>
                <a:ea typeface="Arial"/>
                <a:cs typeface="Arial"/>
              </a:defRPr>
            </a:lvl7pPr>
            <a:lvl8pPr algn="l">
              <a:defRPr sz="1575" b="1">
                <a:solidFill>
                  <a:srgbClr val="F1C58A"/>
                </a:solidFill>
                <a:latin typeface="Arial"/>
                <a:ea typeface="Arial"/>
                <a:cs typeface="Arial"/>
              </a:defRPr>
            </a:lvl8pPr>
            <a:lvl9pPr algn="l">
              <a:defRPr sz="1575" b="1">
                <a:solidFill>
                  <a:srgbClr val="F1C58A"/>
                </a:solidFill>
                <a:latin typeface="Arial"/>
                <a:ea typeface="Arial"/>
                <a:cs typeface="Arial"/>
              </a:defRPr>
            </a:lvl9pPr>
          </a:lstStyle>
          <a:p xmlns:a="http://schemas.openxmlformats.org/drawingml/2006/main">
            <a:pPr algn="l">
              <a:defRPr sz="1575" b="1">
                <a:solidFill>
                  <a:srgbClr val="F1C58A"/>
                </a:solidFill>
                <a:latin typeface="Arial"/>
                <a:ea typeface="Arial"/>
                <a:cs typeface="Arial"/>
              </a:defRPr>
            </a:pPr>
            <a:r>
              <a:rPr sz="1575" b="1">
                <a:solidFill>
                  <a:srgbClr val="F1C58A"/>
                </a:solidFill>
                <a:latin typeface="Arial"/>
                <a:ea typeface="Arial"/>
                <a:cs typeface="Arial"/>
              </a:rPr>
              <a:t>01</a:t>
            </a:r>
          </a:p>
        </p:txBody>
      </p:sp>
    </p:spTree>
    <p:extLst>
      <p:ext uri="{BB962C8B-B14F-4D97-AF65-F5344CB8AC3E}">
        <p14:creationId xmlns:p14="http://schemas.microsoft.com/office/powerpoint/2010/main" val="1544969093"/>
      </p:ext>
    </p:extLst>
  </p:cSld>
</p:sld>
</file>

<file path=ppt/slides/slide2.xml><?xml version="1.0" encoding="utf-8"?>
<p:sld xmlns:p="http://schemas.openxmlformats.org/presentationml/2006/main">
  <p:cSld>
    <p:bg>
      <p:bgPr>
        <a:solidFill xmlns:a="http://schemas.openxmlformats.org/drawingml/2006/main">
          <a:srgbClr val="102235"/>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B4728DFC-B535-446C-BF70-AC0275969331}"/>
              </a:ext>
            </a:extLst>
          </p:cNvPr>
          <p:cNvSpPr>
            <a:spLocks xmlns:a="http://schemas.openxmlformats.org/drawingml/2006/main" noGrp="1"/>
          </p:cNvSpPr>
          <p:nvPr/>
        </p:nvSpPr>
        <p:spPr>
          <a:xfrm xmlns:a="http://schemas.openxmlformats.org/drawingml/2006/main">
            <a:off x="723900" y="1809750"/>
            <a:ext cx="60960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000" b="1">
                <a:solidFill>
                  <a:srgbClr val="FFFFFF"/>
                </a:solidFill>
                <a:latin typeface="Arial"/>
                <a:ea typeface="Arial"/>
                <a:cs typeface="Arial"/>
              </a:defRPr>
            </a:defPPr>
            <a:lvl1pPr algn="l">
              <a:defRPr sz="6000" b="1">
                <a:solidFill>
                  <a:srgbClr val="FFFFFF"/>
                </a:solidFill>
                <a:latin typeface="Arial"/>
                <a:ea typeface="Arial"/>
                <a:cs typeface="Arial"/>
              </a:defRPr>
            </a:lvl1pPr>
            <a:lvl2pPr algn="l">
              <a:defRPr sz="6000" b="1">
                <a:solidFill>
                  <a:srgbClr val="FFFFFF"/>
                </a:solidFill>
                <a:latin typeface="Arial"/>
                <a:ea typeface="Arial"/>
                <a:cs typeface="Arial"/>
              </a:defRPr>
            </a:lvl2pPr>
            <a:lvl3pPr algn="l">
              <a:defRPr sz="6000" b="1">
                <a:solidFill>
                  <a:srgbClr val="FFFFFF"/>
                </a:solidFill>
                <a:latin typeface="Arial"/>
                <a:ea typeface="Arial"/>
                <a:cs typeface="Arial"/>
              </a:defRPr>
            </a:lvl3pPr>
            <a:lvl4pPr algn="l">
              <a:defRPr sz="6000" b="1">
                <a:solidFill>
                  <a:srgbClr val="FFFFFF"/>
                </a:solidFill>
                <a:latin typeface="Arial"/>
                <a:ea typeface="Arial"/>
                <a:cs typeface="Arial"/>
              </a:defRPr>
            </a:lvl4pPr>
            <a:lvl5pPr algn="l">
              <a:defRPr sz="6000" b="1">
                <a:solidFill>
                  <a:srgbClr val="FFFFFF"/>
                </a:solidFill>
                <a:latin typeface="Arial"/>
                <a:ea typeface="Arial"/>
                <a:cs typeface="Arial"/>
              </a:defRPr>
            </a:lvl5pPr>
            <a:lvl6pPr algn="l">
              <a:defRPr sz="6000" b="1">
                <a:solidFill>
                  <a:srgbClr val="FFFFFF"/>
                </a:solidFill>
                <a:latin typeface="Arial"/>
                <a:ea typeface="Arial"/>
                <a:cs typeface="Arial"/>
              </a:defRPr>
            </a:lvl6pPr>
            <a:lvl7pPr algn="l">
              <a:defRPr sz="6000" b="1">
                <a:solidFill>
                  <a:srgbClr val="FFFFFF"/>
                </a:solidFill>
                <a:latin typeface="Arial"/>
                <a:ea typeface="Arial"/>
                <a:cs typeface="Arial"/>
              </a:defRPr>
            </a:lvl7pPr>
            <a:lvl8pPr algn="l">
              <a:defRPr sz="6000" b="1">
                <a:solidFill>
                  <a:srgbClr val="FFFFFF"/>
                </a:solidFill>
                <a:latin typeface="Arial"/>
                <a:ea typeface="Arial"/>
                <a:cs typeface="Arial"/>
              </a:defRPr>
            </a:lvl8pPr>
            <a:lvl9pPr algn="l">
              <a:defRPr sz="6000" b="1">
                <a:solidFill>
                  <a:srgbClr val="FFFFFF"/>
                </a:solidFill>
                <a:latin typeface="Arial"/>
                <a:ea typeface="Arial"/>
                <a:cs typeface="Arial"/>
              </a:defRPr>
            </a:lvl9pPr>
          </a:lstStyle>
          <a:p xmlns:a="http://schemas.openxmlformats.org/drawingml/2006/main">
            <a:pPr algn="l">
              <a:defRPr sz="6000" b="1">
                <a:solidFill>
                  <a:srgbClr val="FFFFFF"/>
                </a:solidFill>
                <a:latin typeface="Arial"/>
                <a:ea typeface="Arial"/>
                <a:cs typeface="Arial"/>
              </a:defRPr>
            </a:pPr>
            <a:r>
              <a:rPr sz="6000" b="1">
                <a:solidFill>
                  <a:srgbClr val="FFFFFF"/>
                </a:solidFill>
                <a:latin typeface="Arial"/>
                <a:ea typeface="Arial"/>
                <a:cs typeface="Arial"/>
              </a:rPr>
              <a:t>A job opening.</a:t>
            </a:r>
          </a:p>
          <a:p xmlns:a="http://schemas.openxmlformats.org/drawingml/2006/main">
            <a:pPr algn="l">
              <a:defRPr sz="6000" b="1">
                <a:solidFill>
                  <a:srgbClr val="FFFFFF"/>
                </a:solidFill>
                <a:latin typeface="Arial"/>
                <a:ea typeface="Arial"/>
                <a:cs typeface="Arial"/>
              </a:defRPr>
            </a:pPr>
            <a:r>
              <a:rPr sz="6000" b="1">
                <a:solidFill>
                  <a:srgbClr val="FFFFFF"/>
                </a:solidFill>
                <a:latin typeface="Arial"/>
                <a:ea typeface="Arial"/>
                <a:cs typeface="Arial"/>
              </a:rPr>
              <a:t>Now what?</a:t>
            </a:r>
          </a:p>
        </p:txBody>
      </p:sp>
      <p:sp>
        <p:nvSpPr>
          <p:cNvPr id="2" name="subtitle">
            <a:extLst xmlns:a="http://schemas.openxmlformats.org/drawingml/2006/main">
              <a:ext uri="{FF2B5EF4-FFF2-40B4-BE49-F238E27FC236}">
                <a16:creationId xmlns:a16="http://schemas.microsoft.com/office/drawing/2014/main" id="{16EA4D14-1231-4CC9-BF8A-56DF9012B28E}"/>
              </a:ext>
            </a:extLst>
          </p:cNvPr>
          <p:cNvSpPr>
            <a:spLocks xmlns:a="http://schemas.openxmlformats.org/drawingml/2006/main" noGrp="1"/>
          </p:cNvSpPr>
          <p:nvPr/>
        </p:nvSpPr>
        <p:spPr>
          <a:xfrm xmlns:a="http://schemas.openxmlformats.org/drawingml/2006/main">
            <a:off x="762000" y="4667250"/>
            <a:ext cx="5238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D7E1E3"/>
                </a:solidFill>
                <a:latin typeface="Arial"/>
                <a:ea typeface="Arial"/>
                <a:cs typeface="Arial"/>
              </a:defRPr>
            </a:defPPr>
            <a:lvl1pPr algn="l">
              <a:defRPr sz="2250" b="0">
                <a:solidFill>
                  <a:srgbClr val="D7E1E3"/>
                </a:solidFill>
                <a:latin typeface="Arial"/>
                <a:ea typeface="Arial"/>
                <a:cs typeface="Arial"/>
              </a:defRPr>
            </a:lvl1pPr>
            <a:lvl2pPr algn="l">
              <a:defRPr sz="2250" b="0">
                <a:solidFill>
                  <a:srgbClr val="D7E1E3"/>
                </a:solidFill>
                <a:latin typeface="Arial"/>
                <a:ea typeface="Arial"/>
                <a:cs typeface="Arial"/>
              </a:defRPr>
            </a:lvl2pPr>
            <a:lvl3pPr algn="l">
              <a:defRPr sz="2250" b="0">
                <a:solidFill>
                  <a:srgbClr val="D7E1E3"/>
                </a:solidFill>
                <a:latin typeface="Arial"/>
                <a:ea typeface="Arial"/>
                <a:cs typeface="Arial"/>
              </a:defRPr>
            </a:lvl3pPr>
            <a:lvl4pPr algn="l">
              <a:defRPr sz="2250" b="0">
                <a:solidFill>
                  <a:srgbClr val="D7E1E3"/>
                </a:solidFill>
                <a:latin typeface="Arial"/>
                <a:ea typeface="Arial"/>
                <a:cs typeface="Arial"/>
              </a:defRPr>
            </a:lvl4pPr>
            <a:lvl5pPr algn="l">
              <a:defRPr sz="2250" b="0">
                <a:solidFill>
                  <a:srgbClr val="D7E1E3"/>
                </a:solidFill>
                <a:latin typeface="Arial"/>
                <a:ea typeface="Arial"/>
                <a:cs typeface="Arial"/>
              </a:defRPr>
            </a:lvl5pPr>
            <a:lvl6pPr algn="l">
              <a:defRPr sz="2250" b="0">
                <a:solidFill>
                  <a:srgbClr val="D7E1E3"/>
                </a:solidFill>
                <a:latin typeface="Arial"/>
                <a:ea typeface="Arial"/>
                <a:cs typeface="Arial"/>
              </a:defRPr>
            </a:lvl6pPr>
            <a:lvl7pPr algn="l">
              <a:defRPr sz="2250" b="0">
                <a:solidFill>
                  <a:srgbClr val="D7E1E3"/>
                </a:solidFill>
                <a:latin typeface="Arial"/>
                <a:ea typeface="Arial"/>
                <a:cs typeface="Arial"/>
              </a:defRPr>
            </a:lvl7pPr>
            <a:lvl8pPr algn="l">
              <a:defRPr sz="2250" b="0">
                <a:solidFill>
                  <a:srgbClr val="D7E1E3"/>
                </a:solidFill>
                <a:latin typeface="Arial"/>
                <a:ea typeface="Arial"/>
                <a:cs typeface="Arial"/>
              </a:defRPr>
            </a:lvl8pPr>
            <a:lvl9pPr algn="l">
              <a:defRPr sz="2250" b="0">
                <a:solidFill>
                  <a:srgbClr val="D7E1E3"/>
                </a:solidFill>
                <a:latin typeface="Arial"/>
                <a:ea typeface="Arial"/>
                <a:cs typeface="Arial"/>
              </a:defRPr>
            </a:lvl9pPr>
          </a:lstStyle>
          <a:p xmlns:a="http://schemas.openxmlformats.org/drawingml/2006/main">
            <a:pPr algn="l">
              <a:defRPr sz="2250" b="0">
                <a:solidFill>
                  <a:srgbClr val="D7E1E3"/>
                </a:solidFill>
                <a:latin typeface="Arial"/>
                <a:ea typeface="Arial"/>
                <a:cs typeface="Arial"/>
              </a:defRPr>
            </a:pPr>
            <a:r>
              <a:rPr sz="2250" b="0">
                <a:solidFill>
                  <a:srgbClr val="D7E1E3"/>
                </a:solidFill>
                <a:latin typeface="Arial"/>
                <a:ea typeface="Arial"/>
                <a:cs typeface="Arial"/>
              </a:rPr>
              <a:t>A posting starts a sequence of decisions.</a:t>
            </a:r>
          </a:p>
        </p:txBody>
      </p:sp>
      <p:sp>
        <p:nvSpPr>
          <p:cNvPr id="3" name="question-0">
            <a:extLst xmlns:a="http://schemas.openxmlformats.org/drawingml/2006/main">
              <a:ext uri="{FF2B5EF4-FFF2-40B4-BE49-F238E27FC236}">
                <a16:creationId xmlns:a16="http://schemas.microsoft.com/office/drawing/2014/main" id="{2C4E8085-9D82-452E-B939-C26C3E01C1FF}"/>
              </a:ext>
            </a:extLst>
          </p:cNvPr>
          <p:cNvSpPr>
            <a:spLocks xmlns:a="http://schemas.openxmlformats.org/drawingml/2006/main" noGrp="1"/>
          </p:cNvSpPr>
          <p:nvPr/>
        </p:nvSpPr>
        <p:spPr>
          <a:xfrm xmlns:a="http://schemas.openxmlformats.org/drawingml/2006/main">
            <a:off x="7239000" y="2133600"/>
            <a:ext cx="419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F1C58A"/>
                </a:solidFill>
                <a:latin typeface="Arial"/>
                <a:ea typeface="Arial"/>
                <a:cs typeface="Arial"/>
              </a:defRPr>
            </a:defPPr>
            <a:lvl1pPr algn="l">
              <a:defRPr sz="2475" b="1">
                <a:solidFill>
                  <a:srgbClr val="F1C58A"/>
                </a:solidFill>
                <a:latin typeface="Arial"/>
                <a:ea typeface="Arial"/>
                <a:cs typeface="Arial"/>
              </a:defRPr>
            </a:lvl1pPr>
            <a:lvl2pPr algn="l">
              <a:defRPr sz="2475" b="1">
                <a:solidFill>
                  <a:srgbClr val="F1C58A"/>
                </a:solidFill>
                <a:latin typeface="Arial"/>
                <a:ea typeface="Arial"/>
                <a:cs typeface="Arial"/>
              </a:defRPr>
            </a:lvl2pPr>
            <a:lvl3pPr algn="l">
              <a:defRPr sz="2475" b="1">
                <a:solidFill>
                  <a:srgbClr val="F1C58A"/>
                </a:solidFill>
                <a:latin typeface="Arial"/>
                <a:ea typeface="Arial"/>
                <a:cs typeface="Arial"/>
              </a:defRPr>
            </a:lvl3pPr>
            <a:lvl4pPr algn="l">
              <a:defRPr sz="2475" b="1">
                <a:solidFill>
                  <a:srgbClr val="F1C58A"/>
                </a:solidFill>
                <a:latin typeface="Arial"/>
                <a:ea typeface="Arial"/>
                <a:cs typeface="Arial"/>
              </a:defRPr>
            </a:lvl4pPr>
            <a:lvl5pPr algn="l">
              <a:defRPr sz="2475" b="1">
                <a:solidFill>
                  <a:srgbClr val="F1C58A"/>
                </a:solidFill>
                <a:latin typeface="Arial"/>
                <a:ea typeface="Arial"/>
                <a:cs typeface="Arial"/>
              </a:defRPr>
            </a:lvl5pPr>
            <a:lvl6pPr algn="l">
              <a:defRPr sz="2475" b="1">
                <a:solidFill>
                  <a:srgbClr val="F1C58A"/>
                </a:solidFill>
                <a:latin typeface="Arial"/>
                <a:ea typeface="Arial"/>
                <a:cs typeface="Arial"/>
              </a:defRPr>
            </a:lvl6pPr>
            <a:lvl7pPr algn="l">
              <a:defRPr sz="2475" b="1">
                <a:solidFill>
                  <a:srgbClr val="F1C58A"/>
                </a:solidFill>
                <a:latin typeface="Arial"/>
                <a:ea typeface="Arial"/>
                <a:cs typeface="Arial"/>
              </a:defRPr>
            </a:lvl7pPr>
            <a:lvl8pPr algn="l">
              <a:defRPr sz="2475" b="1">
                <a:solidFill>
                  <a:srgbClr val="F1C58A"/>
                </a:solidFill>
                <a:latin typeface="Arial"/>
                <a:ea typeface="Arial"/>
                <a:cs typeface="Arial"/>
              </a:defRPr>
            </a:lvl8pPr>
            <a:lvl9pPr algn="l">
              <a:defRPr sz="2475" b="1">
                <a:solidFill>
                  <a:srgbClr val="F1C58A"/>
                </a:solidFill>
                <a:latin typeface="Arial"/>
                <a:ea typeface="Arial"/>
                <a:cs typeface="Arial"/>
              </a:defRPr>
            </a:lvl9pPr>
          </a:lstStyle>
          <a:p xmlns:a="http://schemas.openxmlformats.org/drawingml/2006/main">
            <a:pPr algn="l">
              <a:defRPr sz="2475" b="1">
                <a:solidFill>
                  <a:srgbClr val="F1C58A"/>
                </a:solidFill>
                <a:latin typeface="Arial"/>
                <a:ea typeface="Arial"/>
                <a:cs typeface="Arial"/>
              </a:defRPr>
            </a:pPr>
            <a:r>
              <a:rPr sz="2475" b="1">
                <a:solidFill>
                  <a:srgbClr val="F1C58A"/>
                </a:solidFill>
                <a:latin typeface="Arial"/>
                <a:ea typeface="Arial"/>
                <a:cs typeface="Arial"/>
              </a:rPr>
              <a:t>Is it genuine?</a:t>
            </a:r>
          </a:p>
        </p:txBody>
      </p:sp>
      <p:sp>
        <p:nvSpPr>
          <p:cNvPr id="4" name="question-detail-0">
            <a:extLst xmlns:a="http://schemas.openxmlformats.org/drawingml/2006/main">
              <a:ext uri="{FF2B5EF4-FFF2-40B4-BE49-F238E27FC236}">
                <a16:creationId xmlns:a16="http://schemas.microsoft.com/office/drawing/2014/main" id="{60FBA5AE-92C7-4D16-A637-C4F8903F1B25}"/>
              </a:ext>
            </a:extLst>
          </p:cNvPr>
          <p:cNvSpPr>
            <a:spLocks xmlns:a="http://schemas.openxmlformats.org/drawingml/2006/main" noGrp="1"/>
          </p:cNvSpPr>
          <p:nvPr/>
        </p:nvSpPr>
        <p:spPr>
          <a:xfrm xmlns:a="http://schemas.openxmlformats.org/drawingml/2006/main">
            <a:off x="7239000" y="2609850"/>
            <a:ext cx="4095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D7E1E3"/>
                </a:solidFill>
                <a:latin typeface="Arial"/>
                <a:ea typeface="Arial"/>
                <a:cs typeface="Arial"/>
              </a:defRPr>
            </a:defPPr>
            <a:lvl1pPr algn="l">
              <a:defRPr sz="1950" b="0">
                <a:solidFill>
                  <a:srgbClr val="D7E1E3"/>
                </a:solidFill>
                <a:latin typeface="Arial"/>
                <a:ea typeface="Arial"/>
                <a:cs typeface="Arial"/>
              </a:defRPr>
            </a:lvl1pPr>
            <a:lvl2pPr algn="l">
              <a:defRPr sz="1950" b="0">
                <a:solidFill>
                  <a:srgbClr val="D7E1E3"/>
                </a:solidFill>
                <a:latin typeface="Arial"/>
                <a:ea typeface="Arial"/>
                <a:cs typeface="Arial"/>
              </a:defRPr>
            </a:lvl2pPr>
            <a:lvl3pPr algn="l">
              <a:defRPr sz="1950" b="0">
                <a:solidFill>
                  <a:srgbClr val="D7E1E3"/>
                </a:solidFill>
                <a:latin typeface="Arial"/>
                <a:ea typeface="Arial"/>
                <a:cs typeface="Arial"/>
              </a:defRPr>
            </a:lvl3pPr>
            <a:lvl4pPr algn="l">
              <a:defRPr sz="1950" b="0">
                <a:solidFill>
                  <a:srgbClr val="D7E1E3"/>
                </a:solidFill>
                <a:latin typeface="Arial"/>
                <a:ea typeface="Arial"/>
                <a:cs typeface="Arial"/>
              </a:defRPr>
            </a:lvl4pPr>
            <a:lvl5pPr algn="l">
              <a:defRPr sz="1950" b="0">
                <a:solidFill>
                  <a:srgbClr val="D7E1E3"/>
                </a:solidFill>
                <a:latin typeface="Arial"/>
                <a:ea typeface="Arial"/>
                <a:cs typeface="Arial"/>
              </a:defRPr>
            </a:lvl5pPr>
            <a:lvl6pPr algn="l">
              <a:defRPr sz="1950" b="0">
                <a:solidFill>
                  <a:srgbClr val="D7E1E3"/>
                </a:solidFill>
                <a:latin typeface="Arial"/>
                <a:ea typeface="Arial"/>
                <a:cs typeface="Arial"/>
              </a:defRPr>
            </a:lvl6pPr>
            <a:lvl7pPr algn="l">
              <a:defRPr sz="1950" b="0">
                <a:solidFill>
                  <a:srgbClr val="D7E1E3"/>
                </a:solidFill>
                <a:latin typeface="Arial"/>
                <a:ea typeface="Arial"/>
                <a:cs typeface="Arial"/>
              </a:defRPr>
            </a:lvl7pPr>
            <a:lvl8pPr algn="l">
              <a:defRPr sz="1950" b="0">
                <a:solidFill>
                  <a:srgbClr val="D7E1E3"/>
                </a:solidFill>
                <a:latin typeface="Arial"/>
                <a:ea typeface="Arial"/>
                <a:cs typeface="Arial"/>
              </a:defRPr>
            </a:lvl8pPr>
            <a:lvl9pPr algn="l">
              <a:defRPr sz="1950" b="0">
                <a:solidFill>
                  <a:srgbClr val="D7E1E3"/>
                </a:solidFill>
                <a:latin typeface="Arial"/>
                <a:ea typeface="Arial"/>
                <a:cs typeface="Arial"/>
              </a:defRPr>
            </a:lvl9pPr>
          </a:lstStyle>
          <a:p xmlns:a="http://schemas.openxmlformats.org/drawingml/2006/main">
            <a:pPr algn="l">
              <a:defRPr sz="1950" b="0">
                <a:solidFill>
                  <a:srgbClr val="D7E1E3"/>
                </a:solidFill>
                <a:latin typeface="Arial"/>
                <a:ea typeface="Arial"/>
                <a:cs typeface="Arial"/>
              </a:defRPr>
            </a:pPr>
            <a:r>
              <a:rPr sz="1950" b="0">
                <a:solidFill>
                  <a:srgbClr val="D7E1E3"/>
                </a:solidFill>
                <a:latin typeface="Arial"/>
                <a:ea typeface="Arial"/>
                <a:cs typeface="Arial"/>
              </a:rPr>
              <a:t>Who is hiring, and what can I verify?</a:t>
            </a:r>
          </a:p>
        </p:txBody>
      </p:sp>
      <p:sp>
        <p:nvSpPr>
          <p:cNvPr id="5" name="question-1">
            <a:extLst xmlns:a="http://schemas.openxmlformats.org/drawingml/2006/main">
              <a:ext uri="{FF2B5EF4-FFF2-40B4-BE49-F238E27FC236}">
                <a16:creationId xmlns:a16="http://schemas.microsoft.com/office/drawing/2014/main" id="{B1663EF3-021E-4D58-99EE-643AB23DF992}"/>
              </a:ext>
            </a:extLst>
          </p:cNvPr>
          <p:cNvSpPr>
            <a:spLocks xmlns:a="http://schemas.openxmlformats.org/drawingml/2006/main" noGrp="1"/>
          </p:cNvSpPr>
          <p:nvPr/>
        </p:nvSpPr>
        <p:spPr>
          <a:xfrm xmlns:a="http://schemas.openxmlformats.org/drawingml/2006/main">
            <a:off x="7239000" y="3276600"/>
            <a:ext cx="419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F1C58A"/>
                </a:solidFill>
                <a:latin typeface="Arial"/>
                <a:ea typeface="Arial"/>
                <a:cs typeface="Arial"/>
              </a:defRPr>
            </a:defPPr>
            <a:lvl1pPr algn="l">
              <a:defRPr sz="2475" b="1">
                <a:solidFill>
                  <a:srgbClr val="F1C58A"/>
                </a:solidFill>
                <a:latin typeface="Arial"/>
                <a:ea typeface="Arial"/>
                <a:cs typeface="Arial"/>
              </a:defRPr>
            </a:lvl1pPr>
            <a:lvl2pPr algn="l">
              <a:defRPr sz="2475" b="1">
                <a:solidFill>
                  <a:srgbClr val="F1C58A"/>
                </a:solidFill>
                <a:latin typeface="Arial"/>
                <a:ea typeface="Arial"/>
                <a:cs typeface="Arial"/>
              </a:defRPr>
            </a:lvl2pPr>
            <a:lvl3pPr algn="l">
              <a:defRPr sz="2475" b="1">
                <a:solidFill>
                  <a:srgbClr val="F1C58A"/>
                </a:solidFill>
                <a:latin typeface="Arial"/>
                <a:ea typeface="Arial"/>
                <a:cs typeface="Arial"/>
              </a:defRPr>
            </a:lvl3pPr>
            <a:lvl4pPr algn="l">
              <a:defRPr sz="2475" b="1">
                <a:solidFill>
                  <a:srgbClr val="F1C58A"/>
                </a:solidFill>
                <a:latin typeface="Arial"/>
                <a:ea typeface="Arial"/>
                <a:cs typeface="Arial"/>
              </a:defRPr>
            </a:lvl4pPr>
            <a:lvl5pPr algn="l">
              <a:defRPr sz="2475" b="1">
                <a:solidFill>
                  <a:srgbClr val="F1C58A"/>
                </a:solidFill>
                <a:latin typeface="Arial"/>
                <a:ea typeface="Arial"/>
                <a:cs typeface="Arial"/>
              </a:defRPr>
            </a:lvl5pPr>
            <a:lvl6pPr algn="l">
              <a:defRPr sz="2475" b="1">
                <a:solidFill>
                  <a:srgbClr val="F1C58A"/>
                </a:solidFill>
                <a:latin typeface="Arial"/>
                <a:ea typeface="Arial"/>
                <a:cs typeface="Arial"/>
              </a:defRPr>
            </a:lvl6pPr>
            <a:lvl7pPr algn="l">
              <a:defRPr sz="2475" b="1">
                <a:solidFill>
                  <a:srgbClr val="F1C58A"/>
                </a:solidFill>
                <a:latin typeface="Arial"/>
                <a:ea typeface="Arial"/>
                <a:cs typeface="Arial"/>
              </a:defRPr>
            </a:lvl7pPr>
            <a:lvl8pPr algn="l">
              <a:defRPr sz="2475" b="1">
                <a:solidFill>
                  <a:srgbClr val="F1C58A"/>
                </a:solidFill>
                <a:latin typeface="Arial"/>
                <a:ea typeface="Arial"/>
                <a:cs typeface="Arial"/>
              </a:defRPr>
            </a:lvl8pPr>
            <a:lvl9pPr algn="l">
              <a:defRPr sz="2475" b="1">
                <a:solidFill>
                  <a:srgbClr val="F1C58A"/>
                </a:solidFill>
                <a:latin typeface="Arial"/>
                <a:ea typeface="Arial"/>
                <a:cs typeface="Arial"/>
              </a:defRPr>
            </a:lvl9pPr>
          </a:lstStyle>
          <a:p xmlns:a="http://schemas.openxmlformats.org/drawingml/2006/main">
            <a:pPr algn="l">
              <a:defRPr sz="2475" b="1">
                <a:solidFill>
                  <a:srgbClr val="F1C58A"/>
                </a:solidFill>
                <a:latin typeface="Arial"/>
                <a:ea typeface="Arial"/>
                <a:cs typeface="Arial"/>
              </a:defRPr>
            </a:pPr>
            <a:r>
              <a:rPr sz="2475" b="1">
                <a:solidFill>
                  <a:srgbClr val="F1C58A"/>
                </a:solidFill>
                <a:latin typeface="Arial"/>
                <a:ea typeface="Arial"/>
                <a:cs typeface="Arial"/>
              </a:rPr>
              <a:t>Does it fit?</a:t>
            </a:r>
          </a:p>
        </p:txBody>
      </p:sp>
      <p:sp>
        <p:nvSpPr>
          <p:cNvPr id="6" name="question-detail-1">
            <a:extLst xmlns:a="http://schemas.openxmlformats.org/drawingml/2006/main">
              <a:ext uri="{FF2B5EF4-FFF2-40B4-BE49-F238E27FC236}">
                <a16:creationId xmlns:a16="http://schemas.microsoft.com/office/drawing/2014/main" id="{F05F40D0-7170-4984-949E-0675C54ACC88}"/>
              </a:ext>
            </a:extLst>
          </p:cNvPr>
          <p:cNvSpPr>
            <a:spLocks xmlns:a="http://schemas.openxmlformats.org/drawingml/2006/main" noGrp="1"/>
          </p:cNvSpPr>
          <p:nvPr/>
        </p:nvSpPr>
        <p:spPr>
          <a:xfrm xmlns:a="http://schemas.openxmlformats.org/drawingml/2006/main">
            <a:off x="7239000" y="3752850"/>
            <a:ext cx="4095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D7E1E3"/>
                </a:solidFill>
                <a:latin typeface="Arial"/>
                <a:ea typeface="Arial"/>
                <a:cs typeface="Arial"/>
              </a:defRPr>
            </a:defPPr>
            <a:lvl1pPr algn="l">
              <a:defRPr sz="1950" b="0">
                <a:solidFill>
                  <a:srgbClr val="D7E1E3"/>
                </a:solidFill>
                <a:latin typeface="Arial"/>
                <a:ea typeface="Arial"/>
                <a:cs typeface="Arial"/>
              </a:defRPr>
            </a:lvl1pPr>
            <a:lvl2pPr algn="l">
              <a:defRPr sz="1950" b="0">
                <a:solidFill>
                  <a:srgbClr val="D7E1E3"/>
                </a:solidFill>
                <a:latin typeface="Arial"/>
                <a:ea typeface="Arial"/>
                <a:cs typeface="Arial"/>
              </a:defRPr>
            </a:lvl2pPr>
            <a:lvl3pPr algn="l">
              <a:defRPr sz="1950" b="0">
                <a:solidFill>
                  <a:srgbClr val="D7E1E3"/>
                </a:solidFill>
                <a:latin typeface="Arial"/>
                <a:ea typeface="Arial"/>
                <a:cs typeface="Arial"/>
              </a:defRPr>
            </a:lvl3pPr>
            <a:lvl4pPr algn="l">
              <a:defRPr sz="1950" b="0">
                <a:solidFill>
                  <a:srgbClr val="D7E1E3"/>
                </a:solidFill>
                <a:latin typeface="Arial"/>
                <a:ea typeface="Arial"/>
                <a:cs typeface="Arial"/>
              </a:defRPr>
            </a:lvl4pPr>
            <a:lvl5pPr algn="l">
              <a:defRPr sz="1950" b="0">
                <a:solidFill>
                  <a:srgbClr val="D7E1E3"/>
                </a:solidFill>
                <a:latin typeface="Arial"/>
                <a:ea typeface="Arial"/>
                <a:cs typeface="Arial"/>
              </a:defRPr>
            </a:lvl5pPr>
            <a:lvl6pPr algn="l">
              <a:defRPr sz="1950" b="0">
                <a:solidFill>
                  <a:srgbClr val="D7E1E3"/>
                </a:solidFill>
                <a:latin typeface="Arial"/>
                <a:ea typeface="Arial"/>
                <a:cs typeface="Arial"/>
              </a:defRPr>
            </a:lvl6pPr>
            <a:lvl7pPr algn="l">
              <a:defRPr sz="1950" b="0">
                <a:solidFill>
                  <a:srgbClr val="D7E1E3"/>
                </a:solidFill>
                <a:latin typeface="Arial"/>
                <a:ea typeface="Arial"/>
                <a:cs typeface="Arial"/>
              </a:defRPr>
            </a:lvl7pPr>
            <a:lvl8pPr algn="l">
              <a:defRPr sz="1950" b="0">
                <a:solidFill>
                  <a:srgbClr val="D7E1E3"/>
                </a:solidFill>
                <a:latin typeface="Arial"/>
                <a:ea typeface="Arial"/>
                <a:cs typeface="Arial"/>
              </a:defRPr>
            </a:lvl8pPr>
            <a:lvl9pPr algn="l">
              <a:defRPr sz="1950" b="0">
                <a:solidFill>
                  <a:srgbClr val="D7E1E3"/>
                </a:solidFill>
                <a:latin typeface="Arial"/>
                <a:ea typeface="Arial"/>
                <a:cs typeface="Arial"/>
              </a:defRPr>
            </a:lvl9pPr>
          </a:lstStyle>
          <a:p xmlns:a="http://schemas.openxmlformats.org/drawingml/2006/main">
            <a:pPr algn="l">
              <a:defRPr sz="1950" b="0">
                <a:solidFill>
                  <a:srgbClr val="D7E1E3"/>
                </a:solidFill>
                <a:latin typeface="Arial"/>
                <a:ea typeface="Arial"/>
                <a:cs typeface="Arial"/>
              </a:defRPr>
            </a:pPr>
            <a:r>
              <a:rPr sz="1950" b="0">
                <a:solidFill>
                  <a:srgbClr val="D7E1E3"/>
                </a:solidFill>
                <a:latin typeface="Arial"/>
                <a:ea typeface="Arial"/>
                <a:cs typeface="Arial"/>
              </a:rPr>
              <a:t>What work, conditions and experience matter?</a:t>
            </a:r>
          </a:p>
        </p:txBody>
      </p:sp>
      <p:sp>
        <p:nvSpPr>
          <p:cNvPr id="7" name="question-2">
            <a:extLst xmlns:a="http://schemas.openxmlformats.org/drawingml/2006/main">
              <a:ext uri="{FF2B5EF4-FFF2-40B4-BE49-F238E27FC236}">
                <a16:creationId xmlns:a16="http://schemas.microsoft.com/office/drawing/2014/main" id="{82B88ADC-2B52-4457-8CE3-8B055A4AC256}"/>
              </a:ext>
            </a:extLst>
          </p:cNvPr>
          <p:cNvSpPr>
            <a:spLocks xmlns:a="http://schemas.openxmlformats.org/drawingml/2006/main" noGrp="1"/>
          </p:cNvSpPr>
          <p:nvPr/>
        </p:nvSpPr>
        <p:spPr>
          <a:xfrm xmlns:a="http://schemas.openxmlformats.org/drawingml/2006/main">
            <a:off x="7239000" y="4419600"/>
            <a:ext cx="419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F1C58A"/>
                </a:solidFill>
                <a:latin typeface="Arial"/>
                <a:ea typeface="Arial"/>
                <a:cs typeface="Arial"/>
              </a:defRPr>
            </a:defPPr>
            <a:lvl1pPr algn="l">
              <a:defRPr sz="2475" b="1">
                <a:solidFill>
                  <a:srgbClr val="F1C58A"/>
                </a:solidFill>
                <a:latin typeface="Arial"/>
                <a:ea typeface="Arial"/>
                <a:cs typeface="Arial"/>
              </a:defRPr>
            </a:lvl1pPr>
            <a:lvl2pPr algn="l">
              <a:defRPr sz="2475" b="1">
                <a:solidFill>
                  <a:srgbClr val="F1C58A"/>
                </a:solidFill>
                <a:latin typeface="Arial"/>
                <a:ea typeface="Arial"/>
                <a:cs typeface="Arial"/>
              </a:defRPr>
            </a:lvl2pPr>
            <a:lvl3pPr algn="l">
              <a:defRPr sz="2475" b="1">
                <a:solidFill>
                  <a:srgbClr val="F1C58A"/>
                </a:solidFill>
                <a:latin typeface="Arial"/>
                <a:ea typeface="Arial"/>
                <a:cs typeface="Arial"/>
              </a:defRPr>
            </a:lvl3pPr>
            <a:lvl4pPr algn="l">
              <a:defRPr sz="2475" b="1">
                <a:solidFill>
                  <a:srgbClr val="F1C58A"/>
                </a:solidFill>
                <a:latin typeface="Arial"/>
                <a:ea typeface="Arial"/>
                <a:cs typeface="Arial"/>
              </a:defRPr>
            </a:lvl4pPr>
            <a:lvl5pPr algn="l">
              <a:defRPr sz="2475" b="1">
                <a:solidFill>
                  <a:srgbClr val="F1C58A"/>
                </a:solidFill>
                <a:latin typeface="Arial"/>
                <a:ea typeface="Arial"/>
                <a:cs typeface="Arial"/>
              </a:defRPr>
            </a:lvl5pPr>
            <a:lvl6pPr algn="l">
              <a:defRPr sz="2475" b="1">
                <a:solidFill>
                  <a:srgbClr val="F1C58A"/>
                </a:solidFill>
                <a:latin typeface="Arial"/>
                <a:ea typeface="Arial"/>
                <a:cs typeface="Arial"/>
              </a:defRPr>
            </a:lvl6pPr>
            <a:lvl7pPr algn="l">
              <a:defRPr sz="2475" b="1">
                <a:solidFill>
                  <a:srgbClr val="F1C58A"/>
                </a:solidFill>
                <a:latin typeface="Arial"/>
                <a:ea typeface="Arial"/>
                <a:cs typeface="Arial"/>
              </a:defRPr>
            </a:lvl7pPr>
            <a:lvl8pPr algn="l">
              <a:defRPr sz="2475" b="1">
                <a:solidFill>
                  <a:srgbClr val="F1C58A"/>
                </a:solidFill>
                <a:latin typeface="Arial"/>
                <a:ea typeface="Arial"/>
                <a:cs typeface="Arial"/>
              </a:defRPr>
            </a:lvl8pPr>
            <a:lvl9pPr algn="l">
              <a:defRPr sz="2475" b="1">
                <a:solidFill>
                  <a:srgbClr val="F1C58A"/>
                </a:solidFill>
                <a:latin typeface="Arial"/>
                <a:ea typeface="Arial"/>
                <a:cs typeface="Arial"/>
              </a:defRPr>
            </a:lvl9pPr>
          </a:lstStyle>
          <a:p xmlns:a="http://schemas.openxmlformats.org/drawingml/2006/main">
            <a:pPr algn="l">
              <a:defRPr sz="2475" b="1">
                <a:solidFill>
                  <a:srgbClr val="F1C58A"/>
                </a:solidFill>
                <a:latin typeface="Arial"/>
                <a:ea typeface="Arial"/>
                <a:cs typeface="Arial"/>
              </a:defRPr>
            </a:pPr>
            <a:r>
              <a:rPr sz="2475" b="1">
                <a:solidFill>
                  <a:srgbClr val="F1C58A"/>
                </a:solidFill>
                <a:latin typeface="Arial"/>
                <a:ea typeface="Arial"/>
                <a:cs typeface="Arial"/>
              </a:rPr>
              <a:t>What do I do next?</a:t>
            </a:r>
          </a:p>
        </p:txBody>
      </p:sp>
      <p:sp>
        <p:nvSpPr>
          <p:cNvPr id="8" name="question-detail-2">
            <a:extLst xmlns:a="http://schemas.openxmlformats.org/drawingml/2006/main">
              <a:ext uri="{FF2B5EF4-FFF2-40B4-BE49-F238E27FC236}">
                <a16:creationId xmlns:a16="http://schemas.microsoft.com/office/drawing/2014/main" id="{D62E2367-6185-4DE3-8794-3AF812B99B41}"/>
              </a:ext>
            </a:extLst>
          </p:cNvPr>
          <p:cNvSpPr>
            <a:spLocks xmlns:a="http://schemas.openxmlformats.org/drawingml/2006/main" noGrp="1"/>
          </p:cNvSpPr>
          <p:nvPr/>
        </p:nvSpPr>
        <p:spPr>
          <a:xfrm xmlns:a="http://schemas.openxmlformats.org/drawingml/2006/main">
            <a:off x="7239000" y="4895850"/>
            <a:ext cx="4095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D7E1E3"/>
                </a:solidFill>
                <a:latin typeface="Arial"/>
                <a:ea typeface="Arial"/>
                <a:cs typeface="Arial"/>
              </a:defRPr>
            </a:defPPr>
            <a:lvl1pPr algn="l">
              <a:defRPr sz="1950" b="0">
                <a:solidFill>
                  <a:srgbClr val="D7E1E3"/>
                </a:solidFill>
                <a:latin typeface="Arial"/>
                <a:ea typeface="Arial"/>
                <a:cs typeface="Arial"/>
              </a:defRPr>
            </a:lvl1pPr>
            <a:lvl2pPr algn="l">
              <a:defRPr sz="1950" b="0">
                <a:solidFill>
                  <a:srgbClr val="D7E1E3"/>
                </a:solidFill>
                <a:latin typeface="Arial"/>
                <a:ea typeface="Arial"/>
                <a:cs typeface="Arial"/>
              </a:defRPr>
            </a:lvl2pPr>
            <a:lvl3pPr algn="l">
              <a:defRPr sz="1950" b="0">
                <a:solidFill>
                  <a:srgbClr val="D7E1E3"/>
                </a:solidFill>
                <a:latin typeface="Arial"/>
                <a:ea typeface="Arial"/>
                <a:cs typeface="Arial"/>
              </a:defRPr>
            </a:lvl3pPr>
            <a:lvl4pPr algn="l">
              <a:defRPr sz="1950" b="0">
                <a:solidFill>
                  <a:srgbClr val="D7E1E3"/>
                </a:solidFill>
                <a:latin typeface="Arial"/>
                <a:ea typeface="Arial"/>
                <a:cs typeface="Arial"/>
              </a:defRPr>
            </a:lvl4pPr>
            <a:lvl5pPr algn="l">
              <a:defRPr sz="1950" b="0">
                <a:solidFill>
                  <a:srgbClr val="D7E1E3"/>
                </a:solidFill>
                <a:latin typeface="Arial"/>
                <a:ea typeface="Arial"/>
                <a:cs typeface="Arial"/>
              </a:defRPr>
            </a:lvl5pPr>
            <a:lvl6pPr algn="l">
              <a:defRPr sz="1950" b="0">
                <a:solidFill>
                  <a:srgbClr val="D7E1E3"/>
                </a:solidFill>
                <a:latin typeface="Arial"/>
                <a:ea typeface="Arial"/>
                <a:cs typeface="Arial"/>
              </a:defRPr>
            </a:lvl6pPr>
            <a:lvl7pPr algn="l">
              <a:defRPr sz="1950" b="0">
                <a:solidFill>
                  <a:srgbClr val="D7E1E3"/>
                </a:solidFill>
                <a:latin typeface="Arial"/>
                <a:ea typeface="Arial"/>
                <a:cs typeface="Arial"/>
              </a:defRPr>
            </a:lvl7pPr>
            <a:lvl8pPr algn="l">
              <a:defRPr sz="1950" b="0">
                <a:solidFill>
                  <a:srgbClr val="D7E1E3"/>
                </a:solidFill>
                <a:latin typeface="Arial"/>
                <a:ea typeface="Arial"/>
                <a:cs typeface="Arial"/>
              </a:defRPr>
            </a:lvl8pPr>
            <a:lvl9pPr algn="l">
              <a:defRPr sz="1950" b="0">
                <a:solidFill>
                  <a:srgbClr val="D7E1E3"/>
                </a:solidFill>
                <a:latin typeface="Arial"/>
                <a:ea typeface="Arial"/>
                <a:cs typeface="Arial"/>
              </a:defRPr>
            </a:lvl9pPr>
          </a:lstStyle>
          <a:p xmlns:a="http://schemas.openxmlformats.org/drawingml/2006/main">
            <a:pPr algn="l">
              <a:defRPr sz="1950" b="0">
                <a:solidFill>
                  <a:srgbClr val="D7E1E3"/>
                </a:solidFill>
                <a:latin typeface="Arial"/>
                <a:ea typeface="Arial"/>
                <a:cs typeface="Arial"/>
              </a:defRPr>
            </a:pPr>
            <a:r>
              <a:rPr sz="1950" b="0">
                <a:solidFill>
                  <a:srgbClr val="D7E1E3"/>
                </a:solidFill>
                <a:latin typeface="Arial"/>
                <a:ea typeface="Arial"/>
                <a:cs typeface="Arial"/>
              </a:rPr>
              <a:t>Prepare, apply, practise or move on?</a:t>
            </a:r>
          </a:p>
        </p:txBody>
      </p:sp>
      <p:sp>
        <p:nvSpPr>
          <p:cNvPr id="9" name="evidence-boundary">
            <a:extLst xmlns:a="http://schemas.openxmlformats.org/drawingml/2006/main">
              <a:ext uri="{FF2B5EF4-FFF2-40B4-BE49-F238E27FC236}">
                <a16:creationId xmlns:a16="http://schemas.microsoft.com/office/drawing/2014/main" id="{FCFF3D46-FE34-4AF6-880B-797A9A511D2D}"/>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D7E1E3"/>
                </a:solidFill>
                <a:latin typeface="Arial"/>
                <a:ea typeface="Arial"/>
                <a:cs typeface="Arial"/>
              </a:defRPr>
            </a:defPPr>
            <a:lvl1pPr algn="l">
              <a:defRPr sz="1350" b="0">
                <a:solidFill>
                  <a:srgbClr val="D7E1E3"/>
                </a:solidFill>
                <a:latin typeface="Arial"/>
                <a:ea typeface="Arial"/>
                <a:cs typeface="Arial"/>
              </a:defRPr>
            </a:lvl1pPr>
            <a:lvl2pPr algn="l">
              <a:defRPr sz="1350" b="0">
                <a:solidFill>
                  <a:srgbClr val="D7E1E3"/>
                </a:solidFill>
                <a:latin typeface="Arial"/>
                <a:ea typeface="Arial"/>
                <a:cs typeface="Arial"/>
              </a:defRPr>
            </a:lvl2pPr>
            <a:lvl3pPr algn="l">
              <a:defRPr sz="1350" b="0">
                <a:solidFill>
                  <a:srgbClr val="D7E1E3"/>
                </a:solidFill>
                <a:latin typeface="Arial"/>
                <a:ea typeface="Arial"/>
                <a:cs typeface="Arial"/>
              </a:defRPr>
            </a:lvl3pPr>
            <a:lvl4pPr algn="l">
              <a:defRPr sz="1350" b="0">
                <a:solidFill>
                  <a:srgbClr val="D7E1E3"/>
                </a:solidFill>
                <a:latin typeface="Arial"/>
                <a:ea typeface="Arial"/>
                <a:cs typeface="Arial"/>
              </a:defRPr>
            </a:lvl4pPr>
            <a:lvl5pPr algn="l">
              <a:defRPr sz="1350" b="0">
                <a:solidFill>
                  <a:srgbClr val="D7E1E3"/>
                </a:solidFill>
                <a:latin typeface="Arial"/>
                <a:ea typeface="Arial"/>
                <a:cs typeface="Arial"/>
              </a:defRPr>
            </a:lvl5pPr>
            <a:lvl6pPr algn="l">
              <a:defRPr sz="1350" b="0">
                <a:solidFill>
                  <a:srgbClr val="D7E1E3"/>
                </a:solidFill>
                <a:latin typeface="Arial"/>
                <a:ea typeface="Arial"/>
                <a:cs typeface="Arial"/>
              </a:defRPr>
            </a:lvl6pPr>
            <a:lvl7pPr algn="l">
              <a:defRPr sz="1350" b="0">
                <a:solidFill>
                  <a:srgbClr val="D7E1E3"/>
                </a:solidFill>
                <a:latin typeface="Arial"/>
                <a:ea typeface="Arial"/>
                <a:cs typeface="Arial"/>
              </a:defRPr>
            </a:lvl7pPr>
            <a:lvl8pPr algn="l">
              <a:defRPr sz="1350" b="0">
                <a:solidFill>
                  <a:srgbClr val="D7E1E3"/>
                </a:solidFill>
                <a:latin typeface="Arial"/>
                <a:ea typeface="Arial"/>
                <a:cs typeface="Arial"/>
              </a:defRPr>
            </a:lvl8pPr>
            <a:lvl9pPr algn="l">
              <a:defRPr sz="1350" b="0">
                <a:solidFill>
                  <a:srgbClr val="D7E1E3"/>
                </a:solidFill>
                <a:latin typeface="Arial"/>
                <a:ea typeface="Arial"/>
                <a:cs typeface="Arial"/>
              </a:defRPr>
            </a:lvl9pPr>
          </a:lstStyle>
          <a:p xmlns:a="http://schemas.openxmlformats.org/drawingml/2006/main">
            <a:pPr algn="l">
              <a:defRPr sz="1350" b="0">
                <a:solidFill>
                  <a:srgbClr val="D7E1E3"/>
                </a:solidFill>
                <a:latin typeface="Arial"/>
                <a:ea typeface="Arial"/>
                <a:cs typeface="Arial"/>
              </a:defRPr>
            </a:pPr>
            <a:r>
              <a:rPr sz="1350" b="0">
                <a:solidFill>
                  <a:srgbClr val="D7E1E3"/>
                </a:solidFill>
                <a:latin typeface="Arial"/>
                <a:ea typeface="Arial"/>
                <a:cs typeface="Arial"/>
              </a:rPr>
              <a:t>Illustrative situation, not a participant account or a measured universal sequence.</a:t>
            </a:r>
          </a:p>
        </p:txBody>
      </p:sp>
      <p:sp>
        <p:nvSpPr>
          <p:cNvPr id="10" name="slide-number">
            <a:extLst xmlns:a="http://schemas.openxmlformats.org/drawingml/2006/main">
              <a:ext uri="{FF2B5EF4-FFF2-40B4-BE49-F238E27FC236}">
                <a16:creationId xmlns:a16="http://schemas.microsoft.com/office/drawing/2014/main" id="{59F651CD-3C5F-4B10-8519-5E9F3EFEBFA3}"/>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1C58A"/>
                </a:solidFill>
                <a:latin typeface="Arial"/>
                <a:ea typeface="Arial"/>
                <a:cs typeface="Arial"/>
              </a:defRPr>
            </a:defPPr>
            <a:lvl1pPr algn="l">
              <a:defRPr sz="1575" b="1">
                <a:solidFill>
                  <a:srgbClr val="F1C58A"/>
                </a:solidFill>
                <a:latin typeface="Arial"/>
                <a:ea typeface="Arial"/>
                <a:cs typeface="Arial"/>
              </a:defRPr>
            </a:lvl1pPr>
            <a:lvl2pPr algn="l">
              <a:defRPr sz="1575" b="1">
                <a:solidFill>
                  <a:srgbClr val="F1C58A"/>
                </a:solidFill>
                <a:latin typeface="Arial"/>
                <a:ea typeface="Arial"/>
                <a:cs typeface="Arial"/>
              </a:defRPr>
            </a:lvl2pPr>
            <a:lvl3pPr algn="l">
              <a:defRPr sz="1575" b="1">
                <a:solidFill>
                  <a:srgbClr val="F1C58A"/>
                </a:solidFill>
                <a:latin typeface="Arial"/>
                <a:ea typeface="Arial"/>
                <a:cs typeface="Arial"/>
              </a:defRPr>
            </a:lvl3pPr>
            <a:lvl4pPr algn="l">
              <a:defRPr sz="1575" b="1">
                <a:solidFill>
                  <a:srgbClr val="F1C58A"/>
                </a:solidFill>
                <a:latin typeface="Arial"/>
                <a:ea typeface="Arial"/>
                <a:cs typeface="Arial"/>
              </a:defRPr>
            </a:lvl4pPr>
            <a:lvl5pPr algn="l">
              <a:defRPr sz="1575" b="1">
                <a:solidFill>
                  <a:srgbClr val="F1C58A"/>
                </a:solidFill>
                <a:latin typeface="Arial"/>
                <a:ea typeface="Arial"/>
                <a:cs typeface="Arial"/>
              </a:defRPr>
            </a:lvl5pPr>
            <a:lvl6pPr algn="l">
              <a:defRPr sz="1575" b="1">
                <a:solidFill>
                  <a:srgbClr val="F1C58A"/>
                </a:solidFill>
                <a:latin typeface="Arial"/>
                <a:ea typeface="Arial"/>
                <a:cs typeface="Arial"/>
              </a:defRPr>
            </a:lvl6pPr>
            <a:lvl7pPr algn="l">
              <a:defRPr sz="1575" b="1">
                <a:solidFill>
                  <a:srgbClr val="F1C58A"/>
                </a:solidFill>
                <a:latin typeface="Arial"/>
                <a:ea typeface="Arial"/>
                <a:cs typeface="Arial"/>
              </a:defRPr>
            </a:lvl7pPr>
            <a:lvl8pPr algn="l">
              <a:defRPr sz="1575" b="1">
                <a:solidFill>
                  <a:srgbClr val="F1C58A"/>
                </a:solidFill>
                <a:latin typeface="Arial"/>
                <a:ea typeface="Arial"/>
                <a:cs typeface="Arial"/>
              </a:defRPr>
            </a:lvl8pPr>
            <a:lvl9pPr algn="l">
              <a:defRPr sz="1575" b="1">
                <a:solidFill>
                  <a:srgbClr val="F1C58A"/>
                </a:solidFill>
                <a:latin typeface="Arial"/>
                <a:ea typeface="Arial"/>
                <a:cs typeface="Arial"/>
              </a:defRPr>
            </a:lvl9pPr>
          </a:lstStyle>
          <a:p xmlns:a="http://schemas.openxmlformats.org/drawingml/2006/main">
            <a:pPr algn="l">
              <a:defRPr sz="1575" b="1">
                <a:solidFill>
                  <a:srgbClr val="F1C58A"/>
                </a:solidFill>
                <a:latin typeface="Arial"/>
                <a:ea typeface="Arial"/>
                <a:cs typeface="Arial"/>
              </a:defRPr>
            </a:pPr>
            <a:r>
              <a:rPr sz="1575" b="1">
                <a:solidFill>
                  <a:srgbClr val="F1C58A"/>
                </a:solidFill>
                <a:latin typeface="Arial"/>
                <a:ea typeface="Arial"/>
                <a:cs typeface="Arial"/>
              </a:rPr>
              <a:t>02</a:t>
            </a:r>
          </a:p>
        </p:txBody>
      </p:sp>
    </p:spTree>
    <p:extLst>
      <p:ext uri="{BB962C8B-B14F-4D97-AF65-F5344CB8AC3E}">
        <p14:creationId xmlns:p14="http://schemas.microsoft.com/office/powerpoint/2010/main" val="2006847018"/>
      </p:ext>
    </p:extLst>
  </p:cSld>
</p:sld>
</file>

<file path=ppt/slides/slide3.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25" name="title">
            <a:extLst xmlns:a="http://schemas.openxmlformats.org/drawingml/2006/main">
              <a:ext uri="{FF2B5EF4-FFF2-40B4-BE49-F238E27FC236}">
                <a16:creationId xmlns:a16="http://schemas.microsoft.com/office/drawing/2014/main" id="{EDA277B0-08C8-44E4-8D7F-5497DD7B916D}"/>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The job seeker's journey</a:t>
            </a:r>
          </a:p>
        </p:txBody>
      </p:sp>
      <p:sp>
        <p:nvSpPr>
          <p:cNvPr id="2" name="lead">
            <a:extLst xmlns:a="http://schemas.openxmlformats.org/drawingml/2006/main">
              <a:ext uri="{FF2B5EF4-FFF2-40B4-BE49-F238E27FC236}">
                <a16:creationId xmlns:a16="http://schemas.microsoft.com/office/drawing/2014/main" id="{2BE36083-3248-4979-B0CE-A3E88B8F1EBB}"/>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Each stage asks a different question. People can revisit earlier stages.</a:t>
            </a:r>
          </a:p>
        </p:txBody>
      </p:sp>
      <p:sp>
        <p:nvSpPr>
          <p:cNvPr id="3" name="journey-sequence">
            <a:extLst xmlns:a="http://schemas.openxmlformats.org/drawingml/2006/main">
              <a:ext uri="{FF2B5EF4-FFF2-40B4-BE49-F238E27FC236}">
                <a16:creationId xmlns:a16="http://schemas.microsoft.com/office/drawing/2014/main" id="{A9A7522F-607B-4272-A290-C84A1C2D9298}"/>
              </a:ext>
            </a:extLst>
          </p:cNvPr>
          <p:cNvSpPr>
            <a:spLocks xmlns:a="http://schemas.openxmlformats.org/drawingml/2006/main" noGrp="1"/>
          </p:cNvSpPr>
          <p:nvPr/>
        </p:nvSpPr>
        <p:spPr>
          <a:xfrm xmlns:a="http://schemas.openxmlformats.org/drawingml/2006/main">
            <a:off x="971550" y="3190875"/>
            <a:ext cx="10134600"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4" name="stage-number-0">
            <a:extLst xmlns:a="http://schemas.openxmlformats.org/drawingml/2006/main">
              <a:ext uri="{FF2B5EF4-FFF2-40B4-BE49-F238E27FC236}">
                <a16:creationId xmlns:a16="http://schemas.microsoft.com/office/drawing/2014/main" id="{8BF85C04-8D93-4031-B2BD-3E11855540BC}"/>
              </a:ext>
            </a:extLst>
          </p:cNvPr>
          <p:cNvSpPr>
            <a:spLocks xmlns:a="http://schemas.openxmlformats.org/drawingml/2006/main" noGrp="1"/>
          </p:cNvSpPr>
          <p:nvPr/>
        </p:nvSpPr>
        <p:spPr>
          <a:xfrm xmlns:a="http://schemas.openxmlformats.org/drawingml/2006/main">
            <a:off x="762000" y="2466975"/>
            <a:ext cx="152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B94B28"/>
                </a:solidFill>
                <a:latin typeface="Arial"/>
                <a:ea typeface="Arial"/>
                <a:cs typeface="Arial"/>
              </a:defRPr>
            </a:defPPr>
            <a:lvl1pPr algn="l">
              <a:defRPr sz="4200" b="1">
                <a:solidFill>
                  <a:srgbClr val="B94B28"/>
                </a:solidFill>
                <a:latin typeface="Arial"/>
                <a:ea typeface="Arial"/>
                <a:cs typeface="Arial"/>
              </a:defRPr>
            </a:lvl1pPr>
            <a:lvl2pPr algn="l">
              <a:defRPr sz="4200" b="1">
                <a:solidFill>
                  <a:srgbClr val="B94B28"/>
                </a:solidFill>
                <a:latin typeface="Arial"/>
                <a:ea typeface="Arial"/>
                <a:cs typeface="Arial"/>
              </a:defRPr>
            </a:lvl2pPr>
            <a:lvl3pPr algn="l">
              <a:defRPr sz="4200" b="1">
                <a:solidFill>
                  <a:srgbClr val="B94B28"/>
                </a:solidFill>
                <a:latin typeface="Arial"/>
                <a:ea typeface="Arial"/>
                <a:cs typeface="Arial"/>
              </a:defRPr>
            </a:lvl3pPr>
            <a:lvl4pPr algn="l">
              <a:defRPr sz="4200" b="1">
                <a:solidFill>
                  <a:srgbClr val="B94B28"/>
                </a:solidFill>
                <a:latin typeface="Arial"/>
                <a:ea typeface="Arial"/>
                <a:cs typeface="Arial"/>
              </a:defRPr>
            </a:lvl4pPr>
            <a:lvl5pPr algn="l">
              <a:defRPr sz="4200" b="1">
                <a:solidFill>
                  <a:srgbClr val="B94B28"/>
                </a:solidFill>
                <a:latin typeface="Arial"/>
                <a:ea typeface="Arial"/>
                <a:cs typeface="Arial"/>
              </a:defRPr>
            </a:lvl5pPr>
            <a:lvl6pPr algn="l">
              <a:defRPr sz="4200" b="1">
                <a:solidFill>
                  <a:srgbClr val="B94B28"/>
                </a:solidFill>
                <a:latin typeface="Arial"/>
                <a:ea typeface="Arial"/>
                <a:cs typeface="Arial"/>
              </a:defRPr>
            </a:lvl6pPr>
            <a:lvl7pPr algn="l">
              <a:defRPr sz="4200" b="1">
                <a:solidFill>
                  <a:srgbClr val="B94B28"/>
                </a:solidFill>
                <a:latin typeface="Arial"/>
                <a:ea typeface="Arial"/>
                <a:cs typeface="Arial"/>
              </a:defRPr>
            </a:lvl7pPr>
            <a:lvl8pPr algn="l">
              <a:defRPr sz="4200" b="1">
                <a:solidFill>
                  <a:srgbClr val="B94B28"/>
                </a:solidFill>
                <a:latin typeface="Arial"/>
                <a:ea typeface="Arial"/>
                <a:cs typeface="Arial"/>
              </a:defRPr>
            </a:lvl8pPr>
            <a:lvl9pPr algn="l">
              <a:defRPr sz="4200" b="1">
                <a:solidFill>
                  <a:srgbClr val="B94B28"/>
                </a:solidFill>
                <a:latin typeface="Arial"/>
                <a:ea typeface="Arial"/>
                <a:cs typeface="Arial"/>
              </a:defRPr>
            </a:lvl9pPr>
          </a:lstStyle>
          <a:p xmlns:a="http://schemas.openxmlformats.org/drawingml/2006/main">
            <a:pPr algn="l">
              <a:defRPr sz="4200" b="1">
                <a:solidFill>
                  <a:srgbClr val="B94B28"/>
                </a:solidFill>
                <a:latin typeface="Arial"/>
                <a:ea typeface="Arial"/>
                <a:cs typeface="Arial"/>
              </a:defRPr>
            </a:pPr>
            <a:r>
              <a:rPr sz="4200" b="1">
                <a:solidFill>
                  <a:srgbClr val="B94B28"/>
                </a:solidFill>
                <a:latin typeface="Arial"/>
                <a:ea typeface="Arial"/>
                <a:cs typeface="Arial"/>
              </a:rPr>
              <a:t>01</a:t>
            </a:r>
          </a:p>
        </p:txBody>
      </p:sp>
      <p:sp>
        <p:nvSpPr>
          <p:cNvPr id="5" name="stage-0">
            <a:extLst xmlns:a="http://schemas.openxmlformats.org/drawingml/2006/main">
              <a:ext uri="{FF2B5EF4-FFF2-40B4-BE49-F238E27FC236}">
                <a16:creationId xmlns:a16="http://schemas.microsoft.com/office/drawing/2014/main" id="{F38881D7-8611-45D6-BF45-BE321C94B669}"/>
              </a:ext>
            </a:extLst>
          </p:cNvPr>
          <p:cNvSpPr>
            <a:spLocks xmlns:a="http://schemas.openxmlformats.org/drawingml/2006/main" noGrp="1"/>
          </p:cNvSpPr>
          <p:nvPr/>
        </p:nvSpPr>
        <p:spPr>
          <a:xfrm xmlns:a="http://schemas.openxmlformats.org/drawingml/2006/main">
            <a:off x="762000" y="3486150"/>
            <a:ext cx="1571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2D40"/>
                </a:solidFill>
                <a:latin typeface="Arial"/>
                <a:ea typeface="Arial"/>
                <a:cs typeface="Arial"/>
              </a:defRPr>
            </a:defPPr>
            <a:lvl1pPr algn="l">
              <a:defRPr sz="2025" b="1">
                <a:solidFill>
                  <a:srgbClr val="172D40"/>
                </a:solidFill>
                <a:latin typeface="Arial"/>
                <a:ea typeface="Arial"/>
                <a:cs typeface="Arial"/>
              </a:defRPr>
            </a:lvl1pPr>
            <a:lvl2pPr algn="l">
              <a:defRPr sz="2025" b="1">
                <a:solidFill>
                  <a:srgbClr val="172D40"/>
                </a:solidFill>
                <a:latin typeface="Arial"/>
                <a:ea typeface="Arial"/>
                <a:cs typeface="Arial"/>
              </a:defRPr>
            </a:lvl2pPr>
            <a:lvl3pPr algn="l">
              <a:defRPr sz="2025" b="1">
                <a:solidFill>
                  <a:srgbClr val="172D40"/>
                </a:solidFill>
                <a:latin typeface="Arial"/>
                <a:ea typeface="Arial"/>
                <a:cs typeface="Arial"/>
              </a:defRPr>
            </a:lvl3pPr>
            <a:lvl4pPr algn="l">
              <a:defRPr sz="2025" b="1">
                <a:solidFill>
                  <a:srgbClr val="172D40"/>
                </a:solidFill>
                <a:latin typeface="Arial"/>
                <a:ea typeface="Arial"/>
                <a:cs typeface="Arial"/>
              </a:defRPr>
            </a:lvl4pPr>
            <a:lvl5pPr algn="l">
              <a:defRPr sz="2025" b="1">
                <a:solidFill>
                  <a:srgbClr val="172D40"/>
                </a:solidFill>
                <a:latin typeface="Arial"/>
                <a:ea typeface="Arial"/>
                <a:cs typeface="Arial"/>
              </a:defRPr>
            </a:lvl5pPr>
            <a:lvl6pPr algn="l">
              <a:defRPr sz="2025" b="1">
                <a:solidFill>
                  <a:srgbClr val="172D40"/>
                </a:solidFill>
                <a:latin typeface="Arial"/>
                <a:ea typeface="Arial"/>
                <a:cs typeface="Arial"/>
              </a:defRPr>
            </a:lvl6pPr>
            <a:lvl7pPr algn="l">
              <a:defRPr sz="2025" b="1">
                <a:solidFill>
                  <a:srgbClr val="172D40"/>
                </a:solidFill>
                <a:latin typeface="Arial"/>
                <a:ea typeface="Arial"/>
                <a:cs typeface="Arial"/>
              </a:defRPr>
            </a:lvl7pPr>
            <a:lvl8pPr algn="l">
              <a:defRPr sz="2025" b="1">
                <a:solidFill>
                  <a:srgbClr val="172D40"/>
                </a:solidFill>
                <a:latin typeface="Arial"/>
                <a:ea typeface="Arial"/>
                <a:cs typeface="Arial"/>
              </a:defRPr>
            </a:lvl8pPr>
            <a:lvl9pPr algn="l">
              <a:defRPr sz="2025" b="1">
                <a:solidFill>
                  <a:srgbClr val="172D40"/>
                </a:solidFill>
                <a:latin typeface="Arial"/>
                <a:ea typeface="Arial"/>
                <a:cs typeface="Arial"/>
              </a:defRPr>
            </a:lvl9pPr>
          </a:lstStyle>
          <a:p xmlns:a="http://schemas.openxmlformats.org/drawingml/2006/main">
            <a:pPr algn="l">
              <a:defRPr sz="2025" b="1">
                <a:solidFill>
                  <a:srgbClr val="172D40"/>
                </a:solidFill>
                <a:latin typeface="Arial"/>
                <a:ea typeface="Arial"/>
                <a:cs typeface="Arial"/>
              </a:defRPr>
            </a:pPr>
            <a:r>
              <a:rPr sz="2025" b="1">
                <a:solidFill>
                  <a:srgbClr val="172D40"/>
                </a:solidFill>
                <a:latin typeface="Arial"/>
                <a:ea typeface="Arial"/>
                <a:cs typeface="Arial"/>
              </a:rPr>
              <a:t>Discover</a:t>
            </a:r>
          </a:p>
        </p:txBody>
      </p:sp>
      <p:sp>
        <p:nvSpPr>
          <p:cNvPr id="6" name="stage-question-0">
            <a:extLst xmlns:a="http://schemas.openxmlformats.org/drawingml/2006/main">
              <a:ext uri="{FF2B5EF4-FFF2-40B4-BE49-F238E27FC236}">
                <a16:creationId xmlns:a16="http://schemas.microsoft.com/office/drawing/2014/main" id="{E1054606-0AB9-46BC-89D9-C8D913B99ED8}"/>
              </a:ext>
            </a:extLst>
          </p:cNvPr>
          <p:cNvSpPr>
            <a:spLocks xmlns:a="http://schemas.openxmlformats.org/drawingml/2006/main" noGrp="1"/>
          </p:cNvSpPr>
          <p:nvPr/>
        </p:nvSpPr>
        <p:spPr>
          <a:xfrm xmlns:a="http://schemas.openxmlformats.org/drawingml/2006/main">
            <a:off x="762000" y="4048125"/>
            <a:ext cx="1571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16B"/>
                </a:solidFill>
                <a:latin typeface="Arial"/>
                <a:ea typeface="Arial"/>
                <a:cs typeface="Arial"/>
              </a:defRPr>
            </a:defPPr>
            <a:lvl1pPr algn="l">
              <a:defRPr sz="1875" b="0">
                <a:solidFill>
                  <a:srgbClr val="52616B"/>
                </a:solidFill>
                <a:latin typeface="Arial"/>
                <a:ea typeface="Arial"/>
                <a:cs typeface="Arial"/>
              </a:defRPr>
            </a:lvl1pPr>
            <a:lvl2pPr algn="l">
              <a:defRPr sz="1875" b="0">
                <a:solidFill>
                  <a:srgbClr val="52616B"/>
                </a:solidFill>
                <a:latin typeface="Arial"/>
                <a:ea typeface="Arial"/>
                <a:cs typeface="Arial"/>
              </a:defRPr>
            </a:lvl2pPr>
            <a:lvl3pPr algn="l">
              <a:defRPr sz="1875" b="0">
                <a:solidFill>
                  <a:srgbClr val="52616B"/>
                </a:solidFill>
                <a:latin typeface="Arial"/>
                <a:ea typeface="Arial"/>
                <a:cs typeface="Arial"/>
              </a:defRPr>
            </a:lvl3pPr>
            <a:lvl4pPr algn="l">
              <a:defRPr sz="1875" b="0">
                <a:solidFill>
                  <a:srgbClr val="52616B"/>
                </a:solidFill>
                <a:latin typeface="Arial"/>
                <a:ea typeface="Arial"/>
                <a:cs typeface="Arial"/>
              </a:defRPr>
            </a:lvl4pPr>
            <a:lvl5pPr algn="l">
              <a:defRPr sz="1875" b="0">
                <a:solidFill>
                  <a:srgbClr val="52616B"/>
                </a:solidFill>
                <a:latin typeface="Arial"/>
                <a:ea typeface="Arial"/>
                <a:cs typeface="Arial"/>
              </a:defRPr>
            </a:lvl5pPr>
            <a:lvl6pPr algn="l">
              <a:defRPr sz="1875" b="0">
                <a:solidFill>
                  <a:srgbClr val="52616B"/>
                </a:solidFill>
                <a:latin typeface="Arial"/>
                <a:ea typeface="Arial"/>
                <a:cs typeface="Arial"/>
              </a:defRPr>
            </a:lvl6pPr>
            <a:lvl7pPr algn="l">
              <a:defRPr sz="1875" b="0">
                <a:solidFill>
                  <a:srgbClr val="52616B"/>
                </a:solidFill>
                <a:latin typeface="Arial"/>
                <a:ea typeface="Arial"/>
                <a:cs typeface="Arial"/>
              </a:defRPr>
            </a:lvl7pPr>
            <a:lvl8pPr algn="l">
              <a:defRPr sz="1875" b="0">
                <a:solidFill>
                  <a:srgbClr val="52616B"/>
                </a:solidFill>
                <a:latin typeface="Arial"/>
                <a:ea typeface="Arial"/>
                <a:cs typeface="Arial"/>
              </a:defRPr>
            </a:lvl8pPr>
            <a:lvl9pPr algn="l">
              <a:defRPr sz="1875" b="0">
                <a:solidFill>
                  <a:srgbClr val="52616B"/>
                </a:solidFill>
                <a:latin typeface="Arial"/>
                <a:ea typeface="Arial"/>
                <a:cs typeface="Arial"/>
              </a:defRPr>
            </a:lvl9pPr>
          </a:lstStyle>
          <a:p xmlns:a="http://schemas.openxmlformats.org/drawingml/2006/main">
            <a:pPr algn="l">
              <a:defRPr sz="1875" b="0">
                <a:solidFill>
                  <a:srgbClr val="52616B"/>
                </a:solidFill>
                <a:latin typeface="Arial"/>
                <a:ea typeface="Arial"/>
                <a:cs typeface="Arial"/>
              </a:defRPr>
            </a:pPr>
            <a:r>
              <a:rPr sz="1875" b="0">
                <a:solidFill>
                  <a:srgbClr val="52616B"/>
                </a:solidFill>
                <a:latin typeface="Arial"/>
                <a:ea typeface="Arial"/>
                <a:cs typeface="Arial"/>
              </a:rPr>
              <a:t>Which openings?</a:t>
            </a:r>
          </a:p>
        </p:txBody>
      </p:sp>
      <p:sp>
        <p:nvSpPr>
          <p:cNvPr id="7" name="stage-number-1">
            <a:extLst xmlns:a="http://schemas.openxmlformats.org/drawingml/2006/main">
              <a:ext uri="{FF2B5EF4-FFF2-40B4-BE49-F238E27FC236}">
                <a16:creationId xmlns:a16="http://schemas.microsoft.com/office/drawing/2014/main" id="{8EEAC7D6-D2F3-4B55-BD09-8ADF5B2C9DDF}"/>
              </a:ext>
            </a:extLst>
          </p:cNvPr>
          <p:cNvSpPr>
            <a:spLocks xmlns:a="http://schemas.openxmlformats.org/drawingml/2006/main" noGrp="1"/>
          </p:cNvSpPr>
          <p:nvPr/>
        </p:nvSpPr>
        <p:spPr>
          <a:xfrm xmlns:a="http://schemas.openxmlformats.org/drawingml/2006/main">
            <a:off x="2581275" y="2466975"/>
            <a:ext cx="152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B94B28"/>
                </a:solidFill>
                <a:latin typeface="Arial"/>
                <a:ea typeface="Arial"/>
                <a:cs typeface="Arial"/>
              </a:defRPr>
            </a:defPPr>
            <a:lvl1pPr algn="l">
              <a:defRPr sz="4200" b="1">
                <a:solidFill>
                  <a:srgbClr val="B94B28"/>
                </a:solidFill>
                <a:latin typeface="Arial"/>
                <a:ea typeface="Arial"/>
                <a:cs typeface="Arial"/>
              </a:defRPr>
            </a:lvl1pPr>
            <a:lvl2pPr algn="l">
              <a:defRPr sz="4200" b="1">
                <a:solidFill>
                  <a:srgbClr val="B94B28"/>
                </a:solidFill>
                <a:latin typeface="Arial"/>
                <a:ea typeface="Arial"/>
                <a:cs typeface="Arial"/>
              </a:defRPr>
            </a:lvl2pPr>
            <a:lvl3pPr algn="l">
              <a:defRPr sz="4200" b="1">
                <a:solidFill>
                  <a:srgbClr val="B94B28"/>
                </a:solidFill>
                <a:latin typeface="Arial"/>
                <a:ea typeface="Arial"/>
                <a:cs typeface="Arial"/>
              </a:defRPr>
            </a:lvl3pPr>
            <a:lvl4pPr algn="l">
              <a:defRPr sz="4200" b="1">
                <a:solidFill>
                  <a:srgbClr val="B94B28"/>
                </a:solidFill>
                <a:latin typeface="Arial"/>
                <a:ea typeface="Arial"/>
                <a:cs typeface="Arial"/>
              </a:defRPr>
            </a:lvl4pPr>
            <a:lvl5pPr algn="l">
              <a:defRPr sz="4200" b="1">
                <a:solidFill>
                  <a:srgbClr val="B94B28"/>
                </a:solidFill>
                <a:latin typeface="Arial"/>
                <a:ea typeface="Arial"/>
                <a:cs typeface="Arial"/>
              </a:defRPr>
            </a:lvl5pPr>
            <a:lvl6pPr algn="l">
              <a:defRPr sz="4200" b="1">
                <a:solidFill>
                  <a:srgbClr val="B94B28"/>
                </a:solidFill>
                <a:latin typeface="Arial"/>
                <a:ea typeface="Arial"/>
                <a:cs typeface="Arial"/>
              </a:defRPr>
            </a:lvl6pPr>
            <a:lvl7pPr algn="l">
              <a:defRPr sz="4200" b="1">
                <a:solidFill>
                  <a:srgbClr val="B94B28"/>
                </a:solidFill>
                <a:latin typeface="Arial"/>
                <a:ea typeface="Arial"/>
                <a:cs typeface="Arial"/>
              </a:defRPr>
            </a:lvl7pPr>
            <a:lvl8pPr algn="l">
              <a:defRPr sz="4200" b="1">
                <a:solidFill>
                  <a:srgbClr val="B94B28"/>
                </a:solidFill>
                <a:latin typeface="Arial"/>
                <a:ea typeface="Arial"/>
                <a:cs typeface="Arial"/>
              </a:defRPr>
            </a:lvl8pPr>
            <a:lvl9pPr algn="l">
              <a:defRPr sz="4200" b="1">
                <a:solidFill>
                  <a:srgbClr val="B94B28"/>
                </a:solidFill>
                <a:latin typeface="Arial"/>
                <a:ea typeface="Arial"/>
                <a:cs typeface="Arial"/>
              </a:defRPr>
            </a:lvl9pPr>
          </a:lstStyle>
          <a:p xmlns:a="http://schemas.openxmlformats.org/drawingml/2006/main">
            <a:pPr algn="l">
              <a:defRPr sz="4200" b="1">
                <a:solidFill>
                  <a:srgbClr val="B94B28"/>
                </a:solidFill>
                <a:latin typeface="Arial"/>
                <a:ea typeface="Arial"/>
                <a:cs typeface="Arial"/>
              </a:defRPr>
            </a:pPr>
            <a:r>
              <a:rPr sz="4200" b="1">
                <a:solidFill>
                  <a:srgbClr val="B94B28"/>
                </a:solidFill>
                <a:latin typeface="Arial"/>
                <a:ea typeface="Arial"/>
                <a:cs typeface="Arial"/>
              </a:rPr>
              <a:t>02</a:t>
            </a:r>
          </a:p>
        </p:txBody>
      </p:sp>
      <p:sp>
        <p:nvSpPr>
          <p:cNvPr id="8" name="stage-1">
            <a:extLst xmlns:a="http://schemas.openxmlformats.org/drawingml/2006/main">
              <a:ext uri="{FF2B5EF4-FFF2-40B4-BE49-F238E27FC236}">
                <a16:creationId xmlns:a16="http://schemas.microsoft.com/office/drawing/2014/main" id="{84CE4D84-D950-45D8-AA34-CA2DAA3C2338}"/>
              </a:ext>
            </a:extLst>
          </p:cNvPr>
          <p:cNvSpPr>
            <a:spLocks xmlns:a="http://schemas.openxmlformats.org/drawingml/2006/main" noGrp="1"/>
          </p:cNvSpPr>
          <p:nvPr/>
        </p:nvSpPr>
        <p:spPr>
          <a:xfrm xmlns:a="http://schemas.openxmlformats.org/drawingml/2006/main">
            <a:off x="2581275" y="3486150"/>
            <a:ext cx="1571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2D40"/>
                </a:solidFill>
                <a:latin typeface="Arial"/>
                <a:ea typeface="Arial"/>
                <a:cs typeface="Arial"/>
              </a:defRPr>
            </a:defPPr>
            <a:lvl1pPr algn="l">
              <a:defRPr sz="2025" b="1">
                <a:solidFill>
                  <a:srgbClr val="172D40"/>
                </a:solidFill>
                <a:latin typeface="Arial"/>
                <a:ea typeface="Arial"/>
                <a:cs typeface="Arial"/>
              </a:defRPr>
            </a:lvl1pPr>
            <a:lvl2pPr algn="l">
              <a:defRPr sz="2025" b="1">
                <a:solidFill>
                  <a:srgbClr val="172D40"/>
                </a:solidFill>
                <a:latin typeface="Arial"/>
                <a:ea typeface="Arial"/>
                <a:cs typeface="Arial"/>
              </a:defRPr>
            </a:lvl2pPr>
            <a:lvl3pPr algn="l">
              <a:defRPr sz="2025" b="1">
                <a:solidFill>
                  <a:srgbClr val="172D40"/>
                </a:solidFill>
                <a:latin typeface="Arial"/>
                <a:ea typeface="Arial"/>
                <a:cs typeface="Arial"/>
              </a:defRPr>
            </a:lvl3pPr>
            <a:lvl4pPr algn="l">
              <a:defRPr sz="2025" b="1">
                <a:solidFill>
                  <a:srgbClr val="172D40"/>
                </a:solidFill>
                <a:latin typeface="Arial"/>
                <a:ea typeface="Arial"/>
                <a:cs typeface="Arial"/>
              </a:defRPr>
            </a:lvl4pPr>
            <a:lvl5pPr algn="l">
              <a:defRPr sz="2025" b="1">
                <a:solidFill>
                  <a:srgbClr val="172D40"/>
                </a:solidFill>
                <a:latin typeface="Arial"/>
                <a:ea typeface="Arial"/>
                <a:cs typeface="Arial"/>
              </a:defRPr>
            </a:lvl5pPr>
            <a:lvl6pPr algn="l">
              <a:defRPr sz="2025" b="1">
                <a:solidFill>
                  <a:srgbClr val="172D40"/>
                </a:solidFill>
                <a:latin typeface="Arial"/>
                <a:ea typeface="Arial"/>
                <a:cs typeface="Arial"/>
              </a:defRPr>
            </a:lvl6pPr>
            <a:lvl7pPr algn="l">
              <a:defRPr sz="2025" b="1">
                <a:solidFill>
                  <a:srgbClr val="172D40"/>
                </a:solidFill>
                <a:latin typeface="Arial"/>
                <a:ea typeface="Arial"/>
                <a:cs typeface="Arial"/>
              </a:defRPr>
            </a:lvl7pPr>
            <a:lvl8pPr algn="l">
              <a:defRPr sz="2025" b="1">
                <a:solidFill>
                  <a:srgbClr val="172D40"/>
                </a:solidFill>
                <a:latin typeface="Arial"/>
                <a:ea typeface="Arial"/>
                <a:cs typeface="Arial"/>
              </a:defRPr>
            </a:lvl8pPr>
            <a:lvl9pPr algn="l">
              <a:defRPr sz="2025" b="1">
                <a:solidFill>
                  <a:srgbClr val="172D40"/>
                </a:solidFill>
                <a:latin typeface="Arial"/>
                <a:ea typeface="Arial"/>
                <a:cs typeface="Arial"/>
              </a:defRPr>
            </a:lvl9pPr>
          </a:lstStyle>
          <a:p xmlns:a="http://schemas.openxmlformats.org/drawingml/2006/main">
            <a:pPr algn="l">
              <a:defRPr sz="2025" b="1">
                <a:solidFill>
                  <a:srgbClr val="172D40"/>
                </a:solidFill>
                <a:latin typeface="Arial"/>
                <a:ea typeface="Arial"/>
                <a:cs typeface="Arial"/>
              </a:defRPr>
            </a:pPr>
            <a:r>
              <a:rPr sz="2025" b="1">
                <a:solidFill>
                  <a:srgbClr val="172D40"/>
                </a:solidFill>
                <a:latin typeface="Arial"/>
                <a:ea typeface="Arial"/>
                <a:cs typeface="Arial"/>
              </a:rPr>
              <a:t>Assess</a:t>
            </a:r>
          </a:p>
        </p:txBody>
      </p:sp>
      <p:sp>
        <p:nvSpPr>
          <p:cNvPr id="9" name="stage-question-1">
            <a:extLst xmlns:a="http://schemas.openxmlformats.org/drawingml/2006/main">
              <a:ext uri="{FF2B5EF4-FFF2-40B4-BE49-F238E27FC236}">
                <a16:creationId xmlns:a16="http://schemas.microsoft.com/office/drawing/2014/main" id="{A2ED076D-688D-4D64-923E-AB405F62D66D}"/>
              </a:ext>
            </a:extLst>
          </p:cNvPr>
          <p:cNvSpPr>
            <a:spLocks xmlns:a="http://schemas.openxmlformats.org/drawingml/2006/main" noGrp="1"/>
          </p:cNvSpPr>
          <p:nvPr/>
        </p:nvSpPr>
        <p:spPr>
          <a:xfrm xmlns:a="http://schemas.openxmlformats.org/drawingml/2006/main">
            <a:off x="2581275" y="4048125"/>
            <a:ext cx="1571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16B"/>
                </a:solidFill>
                <a:latin typeface="Arial"/>
                <a:ea typeface="Arial"/>
                <a:cs typeface="Arial"/>
              </a:defRPr>
            </a:defPPr>
            <a:lvl1pPr algn="l">
              <a:defRPr sz="1875" b="0">
                <a:solidFill>
                  <a:srgbClr val="52616B"/>
                </a:solidFill>
                <a:latin typeface="Arial"/>
                <a:ea typeface="Arial"/>
                <a:cs typeface="Arial"/>
              </a:defRPr>
            </a:lvl1pPr>
            <a:lvl2pPr algn="l">
              <a:defRPr sz="1875" b="0">
                <a:solidFill>
                  <a:srgbClr val="52616B"/>
                </a:solidFill>
                <a:latin typeface="Arial"/>
                <a:ea typeface="Arial"/>
                <a:cs typeface="Arial"/>
              </a:defRPr>
            </a:lvl2pPr>
            <a:lvl3pPr algn="l">
              <a:defRPr sz="1875" b="0">
                <a:solidFill>
                  <a:srgbClr val="52616B"/>
                </a:solidFill>
                <a:latin typeface="Arial"/>
                <a:ea typeface="Arial"/>
                <a:cs typeface="Arial"/>
              </a:defRPr>
            </a:lvl3pPr>
            <a:lvl4pPr algn="l">
              <a:defRPr sz="1875" b="0">
                <a:solidFill>
                  <a:srgbClr val="52616B"/>
                </a:solidFill>
                <a:latin typeface="Arial"/>
                <a:ea typeface="Arial"/>
                <a:cs typeface="Arial"/>
              </a:defRPr>
            </a:lvl4pPr>
            <a:lvl5pPr algn="l">
              <a:defRPr sz="1875" b="0">
                <a:solidFill>
                  <a:srgbClr val="52616B"/>
                </a:solidFill>
                <a:latin typeface="Arial"/>
                <a:ea typeface="Arial"/>
                <a:cs typeface="Arial"/>
              </a:defRPr>
            </a:lvl5pPr>
            <a:lvl6pPr algn="l">
              <a:defRPr sz="1875" b="0">
                <a:solidFill>
                  <a:srgbClr val="52616B"/>
                </a:solidFill>
                <a:latin typeface="Arial"/>
                <a:ea typeface="Arial"/>
                <a:cs typeface="Arial"/>
              </a:defRPr>
            </a:lvl6pPr>
            <a:lvl7pPr algn="l">
              <a:defRPr sz="1875" b="0">
                <a:solidFill>
                  <a:srgbClr val="52616B"/>
                </a:solidFill>
                <a:latin typeface="Arial"/>
                <a:ea typeface="Arial"/>
                <a:cs typeface="Arial"/>
              </a:defRPr>
            </a:lvl7pPr>
            <a:lvl8pPr algn="l">
              <a:defRPr sz="1875" b="0">
                <a:solidFill>
                  <a:srgbClr val="52616B"/>
                </a:solidFill>
                <a:latin typeface="Arial"/>
                <a:ea typeface="Arial"/>
                <a:cs typeface="Arial"/>
              </a:defRPr>
            </a:lvl8pPr>
            <a:lvl9pPr algn="l">
              <a:defRPr sz="1875" b="0">
                <a:solidFill>
                  <a:srgbClr val="52616B"/>
                </a:solidFill>
                <a:latin typeface="Arial"/>
                <a:ea typeface="Arial"/>
                <a:cs typeface="Arial"/>
              </a:defRPr>
            </a:lvl9pPr>
          </a:lstStyle>
          <a:p xmlns:a="http://schemas.openxmlformats.org/drawingml/2006/main">
            <a:pPr algn="l">
              <a:defRPr sz="1875" b="0">
                <a:solidFill>
                  <a:srgbClr val="52616B"/>
                </a:solidFill>
                <a:latin typeface="Arial"/>
                <a:ea typeface="Arial"/>
                <a:cs typeface="Arial"/>
              </a:defRPr>
            </a:pPr>
            <a:r>
              <a:rPr sz="1875" b="0">
                <a:solidFill>
                  <a:srgbClr val="52616B"/>
                </a:solidFill>
                <a:latin typeface="Arial"/>
                <a:ea typeface="Arial"/>
                <a:cs typeface="Arial"/>
              </a:rPr>
              <a:t>Genuine and suitable?</a:t>
            </a:r>
          </a:p>
        </p:txBody>
      </p:sp>
      <p:sp>
        <p:nvSpPr>
          <p:cNvPr id="10" name="stage-number-2">
            <a:extLst xmlns:a="http://schemas.openxmlformats.org/drawingml/2006/main">
              <a:ext uri="{FF2B5EF4-FFF2-40B4-BE49-F238E27FC236}">
                <a16:creationId xmlns:a16="http://schemas.microsoft.com/office/drawing/2014/main" id="{7FF55760-9E6B-4C25-8ADF-F7FAD88383EE}"/>
              </a:ext>
            </a:extLst>
          </p:cNvPr>
          <p:cNvSpPr>
            <a:spLocks xmlns:a="http://schemas.openxmlformats.org/drawingml/2006/main" noGrp="1"/>
          </p:cNvSpPr>
          <p:nvPr/>
        </p:nvSpPr>
        <p:spPr>
          <a:xfrm xmlns:a="http://schemas.openxmlformats.org/drawingml/2006/main">
            <a:off x="4400550" y="2466975"/>
            <a:ext cx="152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B94B28"/>
                </a:solidFill>
                <a:latin typeface="Arial"/>
                <a:ea typeface="Arial"/>
                <a:cs typeface="Arial"/>
              </a:defRPr>
            </a:defPPr>
            <a:lvl1pPr algn="l">
              <a:defRPr sz="4200" b="1">
                <a:solidFill>
                  <a:srgbClr val="B94B28"/>
                </a:solidFill>
                <a:latin typeface="Arial"/>
                <a:ea typeface="Arial"/>
                <a:cs typeface="Arial"/>
              </a:defRPr>
            </a:lvl1pPr>
            <a:lvl2pPr algn="l">
              <a:defRPr sz="4200" b="1">
                <a:solidFill>
                  <a:srgbClr val="B94B28"/>
                </a:solidFill>
                <a:latin typeface="Arial"/>
                <a:ea typeface="Arial"/>
                <a:cs typeface="Arial"/>
              </a:defRPr>
            </a:lvl2pPr>
            <a:lvl3pPr algn="l">
              <a:defRPr sz="4200" b="1">
                <a:solidFill>
                  <a:srgbClr val="B94B28"/>
                </a:solidFill>
                <a:latin typeface="Arial"/>
                <a:ea typeface="Arial"/>
                <a:cs typeface="Arial"/>
              </a:defRPr>
            </a:lvl3pPr>
            <a:lvl4pPr algn="l">
              <a:defRPr sz="4200" b="1">
                <a:solidFill>
                  <a:srgbClr val="B94B28"/>
                </a:solidFill>
                <a:latin typeface="Arial"/>
                <a:ea typeface="Arial"/>
                <a:cs typeface="Arial"/>
              </a:defRPr>
            </a:lvl4pPr>
            <a:lvl5pPr algn="l">
              <a:defRPr sz="4200" b="1">
                <a:solidFill>
                  <a:srgbClr val="B94B28"/>
                </a:solidFill>
                <a:latin typeface="Arial"/>
                <a:ea typeface="Arial"/>
                <a:cs typeface="Arial"/>
              </a:defRPr>
            </a:lvl5pPr>
            <a:lvl6pPr algn="l">
              <a:defRPr sz="4200" b="1">
                <a:solidFill>
                  <a:srgbClr val="B94B28"/>
                </a:solidFill>
                <a:latin typeface="Arial"/>
                <a:ea typeface="Arial"/>
                <a:cs typeface="Arial"/>
              </a:defRPr>
            </a:lvl6pPr>
            <a:lvl7pPr algn="l">
              <a:defRPr sz="4200" b="1">
                <a:solidFill>
                  <a:srgbClr val="B94B28"/>
                </a:solidFill>
                <a:latin typeface="Arial"/>
                <a:ea typeface="Arial"/>
                <a:cs typeface="Arial"/>
              </a:defRPr>
            </a:lvl7pPr>
            <a:lvl8pPr algn="l">
              <a:defRPr sz="4200" b="1">
                <a:solidFill>
                  <a:srgbClr val="B94B28"/>
                </a:solidFill>
                <a:latin typeface="Arial"/>
                <a:ea typeface="Arial"/>
                <a:cs typeface="Arial"/>
              </a:defRPr>
            </a:lvl8pPr>
            <a:lvl9pPr algn="l">
              <a:defRPr sz="4200" b="1">
                <a:solidFill>
                  <a:srgbClr val="B94B28"/>
                </a:solidFill>
                <a:latin typeface="Arial"/>
                <a:ea typeface="Arial"/>
                <a:cs typeface="Arial"/>
              </a:defRPr>
            </a:lvl9pPr>
          </a:lstStyle>
          <a:p xmlns:a="http://schemas.openxmlformats.org/drawingml/2006/main">
            <a:pPr algn="l">
              <a:defRPr sz="4200" b="1">
                <a:solidFill>
                  <a:srgbClr val="B94B28"/>
                </a:solidFill>
                <a:latin typeface="Arial"/>
                <a:ea typeface="Arial"/>
                <a:cs typeface="Arial"/>
              </a:defRPr>
            </a:pPr>
            <a:r>
              <a:rPr sz="4200" b="1">
                <a:solidFill>
                  <a:srgbClr val="B94B28"/>
                </a:solidFill>
                <a:latin typeface="Arial"/>
                <a:ea typeface="Arial"/>
                <a:cs typeface="Arial"/>
              </a:rPr>
              <a:t>03</a:t>
            </a:r>
          </a:p>
        </p:txBody>
      </p:sp>
      <p:sp>
        <p:nvSpPr>
          <p:cNvPr id="11" name="stage-2">
            <a:extLst xmlns:a="http://schemas.openxmlformats.org/drawingml/2006/main">
              <a:ext uri="{FF2B5EF4-FFF2-40B4-BE49-F238E27FC236}">
                <a16:creationId xmlns:a16="http://schemas.microsoft.com/office/drawing/2014/main" id="{576E21E1-253B-4A09-BAA1-84CE88B03F94}"/>
              </a:ext>
            </a:extLst>
          </p:cNvPr>
          <p:cNvSpPr>
            <a:spLocks xmlns:a="http://schemas.openxmlformats.org/drawingml/2006/main" noGrp="1"/>
          </p:cNvSpPr>
          <p:nvPr/>
        </p:nvSpPr>
        <p:spPr>
          <a:xfrm xmlns:a="http://schemas.openxmlformats.org/drawingml/2006/main">
            <a:off x="4400550" y="3486150"/>
            <a:ext cx="1571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2D40"/>
                </a:solidFill>
                <a:latin typeface="Arial"/>
                <a:ea typeface="Arial"/>
                <a:cs typeface="Arial"/>
              </a:defRPr>
            </a:defPPr>
            <a:lvl1pPr algn="l">
              <a:defRPr sz="2025" b="1">
                <a:solidFill>
                  <a:srgbClr val="172D40"/>
                </a:solidFill>
                <a:latin typeface="Arial"/>
                <a:ea typeface="Arial"/>
                <a:cs typeface="Arial"/>
              </a:defRPr>
            </a:lvl1pPr>
            <a:lvl2pPr algn="l">
              <a:defRPr sz="2025" b="1">
                <a:solidFill>
                  <a:srgbClr val="172D40"/>
                </a:solidFill>
                <a:latin typeface="Arial"/>
                <a:ea typeface="Arial"/>
                <a:cs typeface="Arial"/>
              </a:defRPr>
            </a:lvl2pPr>
            <a:lvl3pPr algn="l">
              <a:defRPr sz="2025" b="1">
                <a:solidFill>
                  <a:srgbClr val="172D40"/>
                </a:solidFill>
                <a:latin typeface="Arial"/>
                <a:ea typeface="Arial"/>
                <a:cs typeface="Arial"/>
              </a:defRPr>
            </a:lvl3pPr>
            <a:lvl4pPr algn="l">
              <a:defRPr sz="2025" b="1">
                <a:solidFill>
                  <a:srgbClr val="172D40"/>
                </a:solidFill>
                <a:latin typeface="Arial"/>
                <a:ea typeface="Arial"/>
                <a:cs typeface="Arial"/>
              </a:defRPr>
            </a:lvl4pPr>
            <a:lvl5pPr algn="l">
              <a:defRPr sz="2025" b="1">
                <a:solidFill>
                  <a:srgbClr val="172D40"/>
                </a:solidFill>
                <a:latin typeface="Arial"/>
                <a:ea typeface="Arial"/>
                <a:cs typeface="Arial"/>
              </a:defRPr>
            </a:lvl5pPr>
            <a:lvl6pPr algn="l">
              <a:defRPr sz="2025" b="1">
                <a:solidFill>
                  <a:srgbClr val="172D40"/>
                </a:solidFill>
                <a:latin typeface="Arial"/>
                <a:ea typeface="Arial"/>
                <a:cs typeface="Arial"/>
              </a:defRPr>
            </a:lvl6pPr>
            <a:lvl7pPr algn="l">
              <a:defRPr sz="2025" b="1">
                <a:solidFill>
                  <a:srgbClr val="172D40"/>
                </a:solidFill>
                <a:latin typeface="Arial"/>
                <a:ea typeface="Arial"/>
                <a:cs typeface="Arial"/>
              </a:defRPr>
            </a:lvl7pPr>
            <a:lvl8pPr algn="l">
              <a:defRPr sz="2025" b="1">
                <a:solidFill>
                  <a:srgbClr val="172D40"/>
                </a:solidFill>
                <a:latin typeface="Arial"/>
                <a:ea typeface="Arial"/>
                <a:cs typeface="Arial"/>
              </a:defRPr>
            </a:lvl8pPr>
            <a:lvl9pPr algn="l">
              <a:defRPr sz="2025" b="1">
                <a:solidFill>
                  <a:srgbClr val="172D40"/>
                </a:solidFill>
                <a:latin typeface="Arial"/>
                <a:ea typeface="Arial"/>
                <a:cs typeface="Arial"/>
              </a:defRPr>
            </a:lvl9pPr>
          </a:lstStyle>
          <a:p xmlns:a="http://schemas.openxmlformats.org/drawingml/2006/main">
            <a:pPr algn="l">
              <a:defRPr sz="2025" b="1">
                <a:solidFill>
                  <a:srgbClr val="172D40"/>
                </a:solidFill>
                <a:latin typeface="Arial"/>
                <a:ea typeface="Arial"/>
                <a:cs typeface="Arial"/>
              </a:defRPr>
            </a:pPr>
            <a:r>
              <a:rPr sz="2025" b="1">
                <a:solidFill>
                  <a:srgbClr val="172D40"/>
                </a:solidFill>
                <a:latin typeface="Arial"/>
                <a:ea typeface="Arial"/>
                <a:cs typeface="Arial"/>
              </a:rPr>
              <a:t>Prepare</a:t>
            </a:r>
          </a:p>
        </p:txBody>
      </p:sp>
      <p:sp>
        <p:nvSpPr>
          <p:cNvPr id="12" name="stage-question-2">
            <a:extLst xmlns:a="http://schemas.openxmlformats.org/drawingml/2006/main">
              <a:ext uri="{FF2B5EF4-FFF2-40B4-BE49-F238E27FC236}">
                <a16:creationId xmlns:a16="http://schemas.microsoft.com/office/drawing/2014/main" id="{5654F729-A65A-44B1-A7ED-388D08C1823E}"/>
              </a:ext>
            </a:extLst>
          </p:cNvPr>
          <p:cNvSpPr>
            <a:spLocks xmlns:a="http://schemas.openxmlformats.org/drawingml/2006/main" noGrp="1"/>
          </p:cNvSpPr>
          <p:nvPr/>
        </p:nvSpPr>
        <p:spPr>
          <a:xfrm xmlns:a="http://schemas.openxmlformats.org/drawingml/2006/main">
            <a:off x="4400550" y="4048125"/>
            <a:ext cx="1571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16B"/>
                </a:solidFill>
                <a:latin typeface="Arial"/>
                <a:ea typeface="Arial"/>
                <a:cs typeface="Arial"/>
              </a:defRPr>
            </a:defPPr>
            <a:lvl1pPr algn="l">
              <a:defRPr sz="1875" b="0">
                <a:solidFill>
                  <a:srgbClr val="52616B"/>
                </a:solidFill>
                <a:latin typeface="Arial"/>
                <a:ea typeface="Arial"/>
                <a:cs typeface="Arial"/>
              </a:defRPr>
            </a:lvl1pPr>
            <a:lvl2pPr algn="l">
              <a:defRPr sz="1875" b="0">
                <a:solidFill>
                  <a:srgbClr val="52616B"/>
                </a:solidFill>
                <a:latin typeface="Arial"/>
                <a:ea typeface="Arial"/>
                <a:cs typeface="Arial"/>
              </a:defRPr>
            </a:lvl2pPr>
            <a:lvl3pPr algn="l">
              <a:defRPr sz="1875" b="0">
                <a:solidFill>
                  <a:srgbClr val="52616B"/>
                </a:solidFill>
                <a:latin typeface="Arial"/>
                <a:ea typeface="Arial"/>
                <a:cs typeface="Arial"/>
              </a:defRPr>
            </a:lvl3pPr>
            <a:lvl4pPr algn="l">
              <a:defRPr sz="1875" b="0">
                <a:solidFill>
                  <a:srgbClr val="52616B"/>
                </a:solidFill>
                <a:latin typeface="Arial"/>
                <a:ea typeface="Arial"/>
                <a:cs typeface="Arial"/>
              </a:defRPr>
            </a:lvl4pPr>
            <a:lvl5pPr algn="l">
              <a:defRPr sz="1875" b="0">
                <a:solidFill>
                  <a:srgbClr val="52616B"/>
                </a:solidFill>
                <a:latin typeface="Arial"/>
                <a:ea typeface="Arial"/>
                <a:cs typeface="Arial"/>
              </a:defRPr>
            </a:lvl5pPr>
            <a:lvl6pPr algn="l">
              <a:defRPr sz="1875" b="0">
                <a:solidFill>
                  <a:srgbClr val="52616B"/>
                </a:solidFill>
                <a:latin typeface="Arial"/>
                <a:ea typeface="Arial"/>
                <a:cs typeface="Arial"/>
              </a:defRPr>
            </a:lvl6pPr>
            <a:lvl7pPr algn="l">
              <a:defRPr sz="1875" b="0">
                <a:solidFill>
                  <a:srgbClr val="52616B"/>
                </a:solidFill>
                <a:latin typeface="Arial"/>
                <a:ea typeface="Arial"/>
                <a:cs typeface="Arial"/>
              </a:defRPr>
            </a:lvl7pPr>
            <a:lvl8pPr algn="l">
              <a:defRPr sz="1875" b="0">
                <a:solidFill>
                  <a:srgbClr val="52616B"/>
                </a:solidFill>
                <a:latin typeface="Arial"/>
                <a:ea typeface="Arial"/>
                <a:cs typeface="Arial"/>
              </a:defRPr>
            </a:lvl8pPr>
            <a:lvl9pPr algn="l">
              <a:defRPr sz="1875" b="0">
                <a:solidFill>
                  <a:srgbClr val="52616B"/>
                </a:solidFill>
                <a:latin typeface="Arial"/>
                <a:ea typeface="Arial"/>
                <a:cs typeface="Arial"/>
              </a:defRPr>
            </a:lvl9pPr>
          </a:lstStyle>
          <a:p xmlns:a="http://schemas.openxmlformats.org/drawingml/2006/main">
            <a:pPr algn="l">
              <a:defRPr sz="1875" b="0">
                <a:solidFill>
                  <a:srgbClr val="52616B"/>
                </a:solidFill>
                <a:latin typeface="Arial"/>
                <a:ea typeface="Arial"/>
                <a:cs typeface="Arial"/>
              </a:defRPr>
            </a:pPr>
            <a:r>
              <a:rPr sz="1875" b="0">
                <a:solidFill>
                  <a:srgbClr val="52616B"/>
                </a:solidFill>
                <a:latin typeface="Arial"/>
                <a:ea typeface="Arial"/>
                <a:cs typeface="Arial"/>
              </a:rPr>
              <a:t>Which real evidence?</a:t>
            </a:r>
          </a:p>
        </p:txBody>
      </p:sp>
      <p:sp>
        <p:nvSpPr>
          <p:cNvPr id="13" name="stage-number-3">
            <a:extLst xmlns:a="http://schemas.openxmlformats.org/drawingml/2006/main">
              <a:ext uri="{FF2B5EF4-FFF2-40B4-BE49-F238E27FC236}">
                <a16:creationId xmlns:a16="http://schemas.microsoft.com/office/drawing/2014/main" id="{D1F1CDCD-BA40-4F23-AF06-B0B20A3F0659}"/>
              </a:ext>
            </a:extLst>
          </p:cNvPr>
          <p:cNvSpPr>
            <a:spLocks xmlns:a="http://schemas.openxmlformats.org/drawingml/2006/main" noGrp="1"/>
          </p:cNvSpPr>
          <p:nvPr/>
        </p:nvSpPr>
        <p:spPr>
          <a:xfrm xmlns:a="http://schemas.openxmlformats.org/drawingml/2006/main">
            <a:off x="6219825" y="2466975"/>
            <a:ext cx="152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B94B28"/>
                </a:solidFill>
                <a:latin typeface="Arial"/>
                <a:ea typeface="Arial"/>
                <a:cs typeface="Arial"/>
              </a:defRPr>
            </a:defPPr>
            <a:lvl1pPr algn="l">
              <a:defRPr sz="4200" b="1">
                <a:solidFill>
                  <a:srgbClr val="B94B28"/>
                </a:solidFill>
                <a:latin typeface="Arial"/>
                <a:ea typeface="Arial"/>
                <a:cs typeface="Arial"/>
              </a:defRPr>
            </a:lvl1pPr>
            <a:lvl2pPr algn="l">
              <a:defRPr sz="4200" b="1">
                <a:solidFill>
                  <a:srgbClr val="B94B28"/>
                </a:solidFill>
                <a:latin typeface="Arial"/>
                <a:ea typeface="Arial"/>
                <a:cs typeface="Arial"/>
              </a:defRPr>
            </a:lvl2pPr>
            <a:lvl3pPr algn="l">
              <a:defRPr sz="4200" b="1">
                <a:solidFill>
                  <a:srgbClr val="B94B28"/>
                </a:solidFill>
                <a:latin typeface="Arial"/>
                <a:ea typeface="Arial"/>
                <a:cs typeface="Arial"/>
              </a:defRPr>
            </a:lvl3pPr>
            <a:lvl4pPr algn="l">
              <a:defRPr sz="4200" b="1">
                <a:solidFill>
                  <a:srgbClr val="B94B28"/>
                </a:solidFill>
                <a:latin typeface="Arial"/>
                <a:ea typeface="Arial"/>
                <a:cs typeface="Arial"/>
              </a:defRPr>
            </a:lvl4pPr>
            <a:lvl5pPr algn="l">
              <a:defRPr sz="4200" b="1">
                <a:solidFill>
                  <a:srgbClr val="B94B28"/>
                </a:solidFill>
                <a:latin typeface="Arial"/>
                <a:ea typeface="Arial"/>
                <a:cs typeface="Arial"/>
              </a:defRPr>
            </a:lvl5pPr>
            <a:lvl6pPr algn="l">
              <a:defRPr sz="4200" b="1">
                <a:solidFill>
                  <a:srgbClr val="B94B28"/>
                </a:solidFill>
                <a:latin typeface="Arial"/>
                <a:ea typeface="Arial"/>
                <a:cs typeface="Arial"/>
              </a:defRPr>
            </a:lvl6pPr>
            <a:lvl7pPr algn="l">
              <a:defRPr sz="4200" b="1">
                <a:solidFill>
                  <a:srgbClr val="B94B28"/>
                </a:solidFill>
                <a:latin typeface="Arial"/>
                <a:ea typeface="Arial"/>
                <a:cs typeface="Arial"/>
              </a:defRPr>
            </a:lvl7pPr>
            <a:lvl8pPr algn="l">
              <a:defRPr sz="4200" b="1">
                <a:solidFill>
                  <a:srgbClr val="B94B28"/>
                </a:solidFill>
                <a:latin typeface="Arial"/>
                <a:ea typeface="Arial"/>
                <a:cs typeface="Arial"/>
              </a:defRPr>
            </a:lvl8pPr>
            <a:lvl9pPr algn="l">
              <a:defRPr sz="4200" b="1">
                <a:solidFill>
                  <a:srgbClr val="B94B28"/>
                </a:solidFill>
                <a:latin typeface="Arial"/>
                <a:ea typeface="Arial"/>
                <a:cs typeface="Arial"/>
              </a:defRPr>
            </a:lvl9pPr>
          </a:lstStyle>
          <a:p xmlns:a="http://schemas.openxmlformats.org/drawingml/2006/main">
            <a:pPr algn="l">
              <a:defRPr sz="4200" b="1">
                <a:solidFill>
                  <a:srgbClr val="B94B28"/>
                </a:solidFill>
                <a:latin typeface="Arial"/>
                <a:ea typeface="Arial"/>
                <a:cs typeface="Arial"/>
              </a:defRPr>
            </a:pPr>
            <a:r>
              <a:rPr sz="4200" b="1">
                <a:solidFill>
                  <a:srgbClr val="B94B28"/>
                </a:solidFill>
                <a:latin typeface="Arial"/>
                <a:ea typeface="Arial"/>
                <a:cs typeface="Arial"/>
              </a:rPr>
              <a:t>04</a:t>
            </a:r>
          </a:p>
        </p:txBody>
      </p:sp>
      <p:sp>
        <p:nvSpPr>
          <p:cNvPr id="14" name="stage-3">
            <a:extLst xmlns:a="http://schemas.openxmlformats.org/drawingml/2006/main">
              <a:ext uri="{FF2B5EF4-FFF2-40B4-BE49-F238E27FC236}">
                <a16:creationId xmlns:a16="http://schemas.microsoft.com/office/drawing/2014/main" id="{D6F92D7E-0AC3-42AC-B75A-1842EF6A13FC}"/>
              </a:ext>
            </a:extLst>
          </p:cNvPr>
          <p:cNvSpPr>
            <a:spLocks xmlns:a="http://schemas.openxmlformats.org/drawingml/2006/main" noGrp="1"/>
          </p:cNvSpPr>
          <p:nvPr/>
        </p:nvSpPr>
        <p:spPr>
          <a:xfrm xmlns:a="http://schemas.openxmlformats.org/drawingml/2006/main">
            <a:off x="6219825" y="3486150"/>
            <a:ext cx="1571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2D40"/>
                </a:solidFill>
                <a:latin typeface="Arial"/>
                <a:ea typeface="Arial"/>
                <a:cs typeface="Arial"/>
              </a:defRPr>
            </a:defPPr>
            <a:lvl1pPr algn="l">
              <a:defRPr sz="2025" b="1">
                <a:solidFill>
                  <a:srgbClr val="172D40"/>
                </a:solidFill>
                <a:latin typeface="Arial"/>
                <a:ea typeface="Arial"/>
                <a:cs typeface="Arial"/>
              </a:defRPr>
            </a:lvl1pPr>
            <a:lvl2pPr algn="l">
              <a:defRPr sz="2025" b="1">
                <a:solidFill>
                  <a:srgbClr val="172D40"/>
                </a:solidFill>
                <a:latin typeface="Arial"/>
                <a:ea typeface="Arial"/>
                <a:cs typeface="Arial"/>
              </a:defRPr>
            </a:lvl2pPr>
            <a:lvl3pPr algn="l">
              <a:defRPr sz="2025" b="1">
                <a:solidFill>
                  <a:srgbClr val="172D40"/>
                </a:solidFill>
                <a:latin typeface="Arial"/>
                <a:ea typeface="Arial"/>
                <a:cs typeface="Arial"/>
              </a:defRPr>
            </a:lvl3pPr>
            <a:lvl4pPr algn="l">
              <a:defRPr sz="2025" b="1">
                <a:solidFill>
                  <a:srgbClr val="172D40"/>
                </a:solidFill>
                <a:latin typeface="Arial"/>
                <a:ea typeface="Arial"/>
                <a:cs typeface="Arial"/>
              </a:defRPr>
            </a:lvl4pPr>
            <a:lvl5pPr algn="l">
              <a:defRPr sz="2025" b="1">
                <a:solidFill>
                  <a:srgbClr val="172D40"/>
                </a:solidFill>
                <a:latin typeface="Arial"/>
                <a:ea typeface="Arial"/>
                <a:cs typeface="Arial"/>
              </a:defRPr>
            </a:lvl5pPr>
            <a:lvl6pPr algn="l">
              <a:defRPr sz="2025" b="1">
                <a:solidFill>
                  <a:srgbClr val="172D40"/>
                </a:solidFill>
                <a:latin typeface="Arial"/>
                <a:ea typeface="Arial"/>
                <a:cs typeface="Arial"/>
              </a:defRPr>
            </a:lvl6pPr>
            <a:lvl7pPr algn="l">
              <a:defRPr sz="2025" b="1">
                <a:solidFill>
                  <a:srgbClr val="172D40"/>
                </a:solidFill>
                <a:latin typeface="Arial"/>
                <a:ea typeface="Arial"/>
                <a:cs typeface="Arial"/>
              </a:defRPr>
            </a:lvl7pPr>
            <a:lvl8pPr algn="l">
              <a:defRPr sz="2025" b="1">
                <a:solidFill>
                  <a:srgbClr val="172D40"/>
                </a:solidFill>
                <a:latin typeface="Arial"/>
                <a:ea typeface="Arial"/>
                <a:cs typeface="Arial"/>
              </a:defRPr>
            </a:lvl8pPr>
            <a:lvl9pPr algn="l">
              <a:defRPr sz="2025" b="1">
                <a:solidFill>
                  <a:srgbClr val="172D40"/>
                </a:solidFill>
                <a:latin typeface="Arial"/>
                <a:ea typeface="Arial"/>
                <a:cs typeface="Arial"/>
              </a:defRPr>
            </a:lvl9pPr>
          </a:lstStyle>
          <a:p xmlns:a="http://schemas.openxmlformats.org/drawingml/2006/main">
            <a:pPr algn="l">
              <a:defRPr sz="2025" b="1">
                <a:solidFill>
                  <a:srgbClr val="172D40"/>
                </a:solidFill>
                <a:latin typeface="Arial"/>
                <a:ea typeface="Arial"/>
                <a:cs typeface="Arial"/>
              </a:defRPr>
            </a:pPr>
            <a:r>
              <a:rPr sz="2025" b="1">
                <a:solidFill>
                  <a:srgbClr val="172D40"/>
                </a:solidFill>
                <a:latin typeface="Arial"/>
                <a:ea typeface="Arial"/>
                <a:cs typeface="Arial"/>
              </a:rPr>
              <a:t>Apply</a:t>
            </a:r>
          </a:p>
        </p:txBody>
      </p:sp>
      <p:sp>
        <p:nvSpPr>
          <p:cNvPr id="15" name="stage-question-3">
            <a:extLst xmlns:a="http://schemas.openxmlformats.org/drawingml/2006/main">
              <a:ext uri="{FF2B5EF4-FFF2-40B4-BE49-F238E27FC236}">
                <a16:creationId xmlns:a16="http://schemas.microsoft.com/office/drawing/2014/main" id="{C09FF6A1-C69B-454E-94AA-5C2C31F06C41}"/>
              </a:ext>
            </a:extLst>
          </p:cNvPr>
          <p:cNvSpPr>
            <a:spLocks xmlns:a="http://schemas.openxmlformats.org/drawingml/2006/main" noGrp="1"/>
          </p:cNvSpPr>
          <p:nvPr/>
        </p:nvSpPr>
        <p:spPr>
          <a:xfrm xmlns:a="http://schemas.openxmlformats.org/drawingml/2006/main">
            <a:off x="6219825" y="4048125"/>
            <a:ext cx="1571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16B"/>
                </a:solidFill>
                <a:latin typeface="Arial"/>
                <a:ea typeface="Arial"/>
                <a:cs typeface="Arial"/>
              </a:defRPr>
            </a:defPPr>
            <a:lvl1pPr algn="l">
              <a:defRPr sz="1875" b="0">
                <a:solidFill>
                  <a:srgbClr val="52616B"/>
                </a:solidFill>
                <a:latin typeface="Arial"/>
                <a:ea typeface="Arial"/>
                <a:cs typeface="Arial"/>
              </a:defRPr>
            </a:lvl1pPr>
            <a:lvl2pPr algn="l">
              <a:defRPr sz="1875" b="0">
                <a:solidFill>
                  <a:srgbClr val="52616B"/>
                </a:solidFill>
                <a:latin typeface="Arial"/>
                <a:ea typeface="Arial"/>
                <a:cs typeface="Arial"/>
              </a:defRPr>
            </a:lvl2pPr>
            <a:lvl3pPr algn="l">
              <a:defRPr sz="1875" b="0">
                <a:solidFill>
                  <a:srgbClr val="52616B"/>
                </a:solidFill>
                <a:latin typeface="Arial"/>
                <a:ea typeface="Arial"/>
                <a:cs typeface="Arial"/>
              </a:defRPr>
            </a:lvl3pPr>
            <a:lvl4pPr algn="l">
              <a:defRPr sz="1875" b="0">
                <a:solidFill>
                  <a:srgbClr val="52616B"/>
                </a:solidFill>
                <a:latin typeface="Arial"/>
                <a:ea typeface="Arial"/>
                <a:cs typeface="Arial"/>
              </a:defRPr>
            </a:lvl4pPr>
            <a:lvl5pPr algn="l">
              <a:defRPr sz="1875" b="0">
                <a:solidFill>
                  <a:srgbClr val="52616B"/>
                </a:solidFill>
                <a:latin typeface="Arial"/>
                <a:ea typeface="Arial"/>
                <a:cs typeface="Arial"/>
              </a:defRPr>
            </a:lvl5pPr>
            <a:lvl6pPr algn="l">
              <a:defRPr sz="1875" b="0">
                <a:solidFill>
                  <a:srgbClr val="52616B"/>
                </a:solidFill>
                <a:latin typeface="Arial"/>
                <a:ea typeface="Arial"/>
                <a:cs typeface="Arial"/>
              </a:defRPr>
            </a:lvl6pPr>
            <a:lvl7pPr algn="l">
              <a:defRPr sz="1875" b="0">
                <a:solidFill>
                  <a:srgbClr val="52616B"/>
                </a:solidFill>
                <a:latin typeface="Arial"/>
                <a:ea typeface="Arial"/>
                <a:cs typeface="Arial"/>
              </a:defRPr>
            </a:lvl7pPr>
            <a:lvl8pPr algn="l">
              <a:defRPr sz="1875" b="0">
                <a:solidFill>
                  <a:srgbClr val="52616B"/>
                </a:solidFill>
                <a:latin typeface="Arial"/>
                <a:ea typeface="Arial"/>
                <a:cs typeface="Arial"/>
              </a:defRPr>
            </a:lvl8pPr>
            <a:lvl9pPr algn="l">
              <a:defRPr sz="1875" b="0">
                <a:solidFill>
                  <a:srgbClr val="52616B"/>
                </a:solidFill>
                <a:latin typeface="Arial"/>
                <a:ea typeface="Arial"/>
                <a:cs typeface="Arial"/>
              </a:defRPr>
            </a:lvl9pPr>
          </a:lstStyle>
          <a:p xmlns:a="http://schemas.openxmlformats.org/drawingml/2006/main">
            <a:pPr algn="l">
              <a:defRPr sz="1875" b="0">
                <a:solidFill>
                  <a:srgbClr val="52616B"/>
                </a:solidFill>
                <a:latin typeface="Arial"/>
                <a:ea typeface="Arial"/>
                <a:cs typeface="Arial"/>
              </a:defRPr>
            </a:pPr>
            <a:r>
              <a:rPr sz="1875" b="0">
                <a:solidFill>
                  <a:srgbClr val="52616B"/>
                </a:solidFill>
                <a:latin typeface="Arial"/>
                <a:ea typeface="Arial"/>
                <a:cs typeface="Arial"/>
              </a:rPr>
              <a:t>What did I submit?</a:t>
            </a:r>
          </a:p>
        </p:txBody>
      </p:sp>
      <p:sp>
        <p:nvSpPr>
          <p:cNvPr id="16" name="stage-number-4">
            <a:extLst xmlns:a="http://schemas.openxmlformats.org/drawingml/2006/main">
              <a:ext uri="{FF2B5EF4-FFF2-40B4-BE49-F238E27FC236}">
                <a16:creationId xmlns:a16="http://schemas.microsoft.com/office/drawing/2014/main" id="{0EB8437A-5D31-4773-B727-DB609EF344A8}"/>
              </a:ext>
            </a:extLst>
          </p:cNvPr>
          <p:cNvSpPr>
            <a:spLocks xmlns:a="http://schemas.openxmlformats.org/drawingml/2006/main" noGrp="1"/>
          </p:cNvSpPr>
          <p:nvPr/>
        </p:nvSpPr>
        <p:spPr>
          <a:xfrm xmlns:a="http://schemas.openxmlformats.org/drawingml/2006/main">
            <a:off x="8039100" y="2466975"/>
            <a:ext cx="152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B94B28"/>
                </a:solidFill>
                <a:latin typeface="Arial"/>
                <a:ea typeface="Arial"/>
                <a:cs typeface="Arial"/>
              </a:defRPr>
            </a:defPPr>
            <a:lvl1pPr algn="l">
              <a:defRPr sz="4200" b="1">
                <a:solidFill>
                  <a:srgbClr val="B94B28"/>
                </a:solidFill>
                <a:latin typeface="Arial"/>
                <a:ea typeface="Arial"/>
                <a:cs typeface="Arial"/>
              </a:defRPr>
            </a:lvl1pPr>
            <a:lvl2pPr algn="l">
              <a:defRPr sz="4200" b="1">
                <a:solidFill>
                  <a:srgbClr val="B94B28"/>
                </a:solidFill>
                <a:latin typeface="Arial"/>
                <a:ea typeface="Arial"/>
                <a:cs typeface="Arial"/>
              </a:defRPr>
            </a:lvl2pPr>
            <a:lvl3pPr algn="l">
              <a:defRPr sz="4200" b="1">
                <a:solidFill>
                  <a:srgbClr val="B94B28"/>
                </a:solidFill>
                <a:latin typeface="Arial"/>
                <a:ea typeface="Arial"/>
                <a:cs typeface="Arial"/>
              </a:defRPr>
            </a:lvl3pPr>
            <a:lvl4pPr algn="l">
              <a:defRPr sz="4200" b="1">
                <a:solidFill>
                  <a:srgbClr val="B94B28"/>
                </a:solidFill>
                <a:latin typeface="Arial"/>
                <a:ea typeface="Arial"/>
                <a:cs typeface="Arial"/>
              </a:defRPr>
            </a:lvl4pPr>
            <a:lvl5pPr algn="l">
              <a:defRPr sz="4200" b="1">
                <a:solidFill>
                  <a:srgbClr val="B94B28"/>
                </a:solidFill>
                <a:latin typeface="Arial"/>
                <a:ea typeface="Arial"/>
                <a:cs typeface="Arial"/>
              </a:defRPr>
            </a:lvl5pPr>
            <a:lvl6pPr algn="l">
              <a:defRPr sz="4200" b="1">
                <a:solidFill>
                  <a:srgbClr val="B94B28"/>
                </a:solidFill>
                <a:latin typeface="Arial"/>
                <a:ea typeface="Arial"/>
                <a:cs typeface="Arial"/>
              </a:defRPr>
            </a:lvl6pPr>
            <a:lvl7pPr algn="l">
              <a:defRPr sz="4200" b="1">
                <a:solidFill>
                  <a:srgbClr val="B94B28"/>
                </a:solidFill>
                <a:latin typeface="Arial"/>
                <a:ea typeface="Arial"/>
                <a:cs typeface="Arial"/>
              </a:defRPr>
            </a:lvl7pPr>
            <a:lvl8pPr algn="l">
              <a:defRPr sz="4200" b="1">
                <a:solidFill>
                  <a:srgbClr val="B94B28"/>
                </a:solidFill>
                <a:latin typeface="Arial"/>
                <a:ea typeface="Arial"/>
                <a:cs typeface="Arial"/>
              </a:defRPr>
            </a:lvl8pPr>
            <a:lvl9pPr algn="l">
              <a:defRPr sz="4200" b="1">
                <a:solidFill>
                  <a:srgbClr val="B94B28"/>
                </a:solidFill>
                <a:latin typeface="Arial"/>
                <a:ea typeface="Arial"/>
                <a:cs typeface="Arial"/>
              </a:defRPr>
            </a:lvl9pPr>
          </a:lstStyle>
          <a:p xmlns:a="http://schemas.openxmlformats.org/drawingml/2006/main">
            <a:pPr algn="l">
              <a:defRPr sz="4200" b="1">
                <a:solidFill>
                  <a:srgbClr val="B94B28"/>
                </a:solidFill>
                <a:latin typeface="Arial"/>
                <a:ea typeface="Arial"/>
                <a:cs typeface="Arial"/>
              </a:defRPr>
            </a:pPr>
            <a:r>
              <a:rPr sz="4200" b="1">
                <a:solidFill>
                  <a:srgbClr val="B94B28"/>
                </a:solidFill>
                <a:latin typeface="Arial"/>
                <a:ea typeface="Arial"/>
                <a:cs typeface="Arial"/>
              </a:rPr>
              <a:t>05</a:t>
            </a:r>
          </a:p>
        </p:txBody>
      </p:sp>
      <p:sp>
        <p:nvSpPr>
          <p:cNvPr id="17" name="stage-4">
            <a:extLst xmlns:a="http://schemas.openxmlformats.org/drawingml/2006/main">
              <a:ext uri="{FF2B5EF4-FFF2-40B4-BE49-F238E27FC236}">
                <a16:creationId xmlns:a16="http://schemas.microsoft.com/office/drawing/2014/main" id="{48B55FBE-DD54-4FF0-B839-5A4CC38F36BD}"/>
              </a:ext>
            </a:extLst>
          </p:cNvPr>
          <p:cNvSpPr>
            <a:spLocks xmlns:a="http://schemas.openxmlformats.org/drawingml/2006/main" noGrp="1"/>
          </p:cNvSpPr>
          <p:nvPr/>
        </p:nvSpPr>
        <p:spPr>
          <a:xfrm xmlns:a="http://schemas.openxmlformats.org/drawingml/2006/main">
            <a:off x="8039100" y="3486150"/>
            <a:ext cx="1571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2D40"/>
                </a:solidFill>
                <a:latin typeface="Arial"/>
                <a:ea typeface="Arial"/>
                <a:cs typeface="Arial"/>
              </a:defRPr>
            </a:defPPr>
            <a:lvl1pPr algn="l">
              <a:defRPr sz="2025" b="1">
                <a:solidFill>
                  <a:srgbClr val="172D40"/>
                </a:solidFill>
                <a:latin typeface="Arial"/>
                <a:ea typeface="Arial"/>
                <a:cs typeface="Arial"/>
              </a:defRPr>
            </a:lvl1pPr>
            <a:lvl2pPr algn="l">
              <a:defRPr sz="2025" b="1">
                <a:solidFill>
                  <a:srgbClr val="172D40"/>
                </a:solidFill>
                <a:latin typeface="Arial"/>
                <a:ea typeface="Arial"/>
                <a:cs typeface="Arial"/>
              </a:defRPr>
            </a:lvl2pPr>
            <a:lvl3pPr algn="l">
              <a:defRPr sz="2025" b="1">
                <a:solidFill>
                  <a:srgbClr val="172D40"/>
                </a:solidFill>
                <a:latin typeface="Arial"/>
                <a:ea typeface="Arial"/>
                <a:cs typeface="Arial"/>
              </a:defRPr>
            </a:lvl3pPr>
            <a:lvl4pPr algn="l">
              <a:defRPr sz="2025" b="1">
                <a:solidFill>
                  <a:srgbClr val="172D40"/>
                </a:solidFill>
                <a:latin typeface="Arial"/>
                <a:ea typeface="Arial"/>
                <a:cs typeface="Arial"/>
              </a:defRPr>
            </a:lvl4pPr>
            <a:lvl5pPr algn="l">
              <a:defRPr sz="2025" b="1">
                <a:solidFill>
                  <a:srgbClr val="172D40"/>
                </a:solidFill>
                <a:latin typeface="Arial"/>
                <a:ea typeface="Arial"/>
                <a:cs typeface="Arial"/>
              </a:defRPr>
            </a:lvl5pPr>
            <a:lvl6pPr algn="l">
              <a:defRPr sz="2025" b="1">
                <a:solidFill>
                  <a:srgbClr val="172D40"/>
                </a:solidFill>
                <a:latin typeface="Arial"/>
                <a:ea typeface="Arial"/>
                <a:cs typeface="Arial"/>
              </a:defRPr>
            </a:lvl6pPr>
            <a:lvl7pPr algn="l">
              <a:defRPr sz="2025" b="1">
                <a:solidFill>
                  <a:srgbClr val="172D40"/>
                </a:solidFill>
                <a:latin typeface="Arial"/>
                <a:ea typeface="Arial"/>
                <a:cs typeface="Arial"/>
              </a:defRPr>
            </a:lvl7pPr>
            <a:lvl8pPr algn="l">
              <a:defRPr sz="2025" b="1">
                <a:solidFill>
                  <a:srgbClr val="172D40"/>
                </a:solidFill>
                <a:latin typeface="Arial"/>
                <a:ea typeface="Arial"/>
                <a:cs typeface="Arial"/>
              </a:defRPr>
            </a:lvl8pPr>
            <a:lvl9pPr algn="l">
              <a:defRPr sz="2025" b="1">
                <a:solidFill>
                  <a:srgbClr val="172D40"/>
                </a:solidFill>
                <a:latin typeface="Arial"/>
                <a:ea typeface="Arial"/>
                <a:cs typeface="Arial"/>
              </a:defRPr>
            </a:lvl9pPr>
          </a:lstStyle>
          <a:p xmlns:a="http://schemas.openxmlformats.org/drawingml/2006/main">
            <a:pPr algn="l">
              <a:defRPr sz="2025" b="1">
                <a:solidFill>
                  <a:srgbClr val="172D40"/>
                </a:solidFill>
                <a:latin typeface="Arial"/>
                <a:ea typeface="Arial"/>
                <a:cs typeface="Arial"/>
              </a:defRPr>
            </a:pPr>
            <a:r>
              <a:rPr sz="2025" b="1">
                <a:solidFill>
                  <a:srgbClr val="172D40"/>
                </a:solidFill>
                <a:latin typeface="Arial"/>
                <a:ea typeface="Arial"/>
                <a:cs typeface="Arial"/>
              </a:rPr>
              <a:t>Interview</a:t>
            </a:r>
          </a:p>
        </p:txBody>
      </p:sp>
      <p:sp>
        <p:nvSpPr>
          <p:cNvPr id="18" name="stage-question-4">
            <a:extLst xmlns:a="http://schemas.openxmlformats.org/drawingml/2006/main">
              <a:ext uri="{FF2B5EF4-FFF2-40B4-BE49-F238E27FC236}">
                <a16:creationId xmlns:a16="http://schemas.microsoft.com/office/drawing/2014/main" id="{BD2E35AD-F82D-4BF9-B70E-045F3CB46E1B}"/>
              </a:ext>
            </a:extLst>
          </p:cNvPr>
          <p:cNvSpPr>
            <a:spLocks xmlns:a="http://schemas.openxmlformats.org/drawingml/2006/main" noGrp="1"/>
          </p:cNvSpPr>
          <p:nvPr/>
        </p:nvSpPr>
        <p:spPr>
          <a:xfrm xmlns:a="http://schemas.openxmlformats.org/drawingml/2006/main">
            <a:off x="8039100" y="4048125"/>
            <a:ext cx="1571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16B"/>
                </a:solidFill>
                <a:latin typeface="Arial"/>
                <a:ea typeface="Arial"/>
                <a:cs typeface="Arial"/>
              </a:defRPr>
            </a:defPPr>
            <a:lvl1pPr algn="l">
              <a:defRPr sz="1875" b="0">
                <a:solidFill>
                  <a:srgbClr val="52616B"/>
                </a:solidFill>
                <a:latin typeface="Arial"/>
                <a:ea typeface="Arial"/>
                <a:cs typeface="Arial"/>
              </a:defRPr>
            </a:lvl1pPr>
            <a:lvl2pPr algn="l">
              <a:defRPr sz="1875" b="0">
                <a:solidFill>
                  <a:srgbClr val="52616B"/>
                </a:solidFill>
                <a:latin typeface="Arial"/>
                <a:ea typeface="Arial"/>
                <a:cs typeface="Arial"/>
              </a:defRPr>
            </a:lvl2pPr>
            <a:lvl3pPr algn="l">
              <a:defRPr sz="1875" b="0">
                <a:solidFill>
                  <a:srgbClr val="52616B"/>
                </a:solidFill>
                <a:latin typeface="Arial"/>
                <a:ea typeface="Arial"/>
                <a:cs typeface="Arial"/>
              </a:defRPr>
            </a:lvl3pPr>
            <a:lvl4pPr algn="l">
              <a:defRPr sz="1875" b="0">
                <a:solidFill>
                  <a:srgbClr val="52616B"/>
                </a:solidFill>
                <a:latin typeface="Arial"/>
                <a:ea typeface="Arial"/>
                <a:cs typeface="Arial"/>
              </a:defRPr>
            </a:lvl4pPr>
            <a:lvl5pPr algn="l">
              <a:defRPr sz="1875" b="0">
                <a:solidFill>
                  <a:srgbClr val="52616B"/>
                </a:solidFill>
                <a:latin typeface="Arial"/>
                <a:ea typeface="Arial"/>
                <a:cs typeface="Arial"/>
              </a:defRPr>
            </a:lvl5pPr>
            <a:lvl6pPr algn="l">
              <a:defRPr sz="1875" b="0">
                <a:solidFill>
                  <a:srgbClr val="52616B"/>
                </a:solidFill>
                <a:latin typeface="Arial"/>
                <a:ea typeface="Arial"/>
                <a:cs typeface="Arial"/>
              </a:defRPr>
            </a:lvl6pPr>
            <a:lvl7pPr algn="l">
              <a:defRPr sz="1875" b="0">
                <a:solidFill>
                  <a:srgbClr val="52616B"/>
                </a:solidFill>
                <a:latin typeface="Arial"/>
                <a:ea typeface="Arial"/>
                <a:cs typeface="Arial"/>
              </a:defRPr>
            </a:lvl7pPr>
            <a:lvl8pPr algn="l">
              <a:defRPr sz="1875" b="0">
                <a:solidFill>
                  <a:srgbClr val="52616B"/>
                </a:solidFill>
                <a:latin typeface="Arial"/>
                <a:ea typeface="Arial"/>
                <a:cs typeface="Arial"/>
              </a:defRPr>
            </a:lvl8pPr>
            <a:lvl9pPr algn="l">
              <a:defRPr sz="1875" b="0">
                <a:solidFill>
                  <a:srgbClr val="52616B"/>
                </a:solidFill>
                <a:latin typeface="Arial"/>
                <a:ea typeface="Arial"/>
                <a:cs typeface="Arial"/>
              </a:defRPr>
            </a:lvl9pPr>
          </a:lstStyle>
          <a:p xmlns:a="http://schemas.openxmlformats.org/drawingml/2006/main">
            <a:pPr algn="l">
              <a:defRPr sz="1875" b="0">
                <a:solidFill>
                  <a:srgbClr val="52616B"/>
                </a:solidFill>
                <a:latin typeface="Arial"/>
                <a:ea typeface="Arial"/>
                <a:cs typeface="Arial"/>
              </a:defRPr>
            </a:pPr>
            <a:r>
              <a:rPr sz="1875" b="0">
                <a:solidFill>
                  <a:srgbClr val="52616B"/>
                </a:solidFill>
                <a:latin typeface="Arial"/>
                <a:ea typeface="Arial"/>
                <a:cs typeface="Arial"/>
              </a:rPr>
              <a:t>Can I explain it?</a:t>
            </a:r>
          </a:p>
        </p:txBody>
      </p:sp>
      <p:sp>
        <p:nvSpPr>
          <p:cNvPr id="19" name="stage-number-5">
            <a:extLst xmlns:a="http://schemas.openxmlformats.org/drawingml/2006/main">
              <a:ext uri="{FF2B5EF4-FFF2-40B4-BE49-F238E27FC236}">
                <a16:creationId xmlns:a16="http://schemas.microsoft.com/office/drawing/2014/main" id="{9C56614E-D5D6-421B-A7FA-8F0BF50BC92D}"/>
              </a:ext>
            </a:extLst>
          </p:cNvPr>
          <p:cNvSpPr>
            <a:spLocks xmlns:a="http://schemas.openxmlformats.org/drawingml/2006/main" noGrp="1"/>
          </p:cNvSpPr>
          <p:nvPr/>
        </p:nvSpPr>
        <p:spPr>
          <a:xfrm xmlns:a="http://schemas.openxmlformats.org/drawingml/2006/main">
            <a:off x="9858375" y="2466975"/>
            <a:ext cx="152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B94B28"/>
                </a:solidFill>
                <a:latin typeface="Arial"/>
                <a:ea typeface="Arial"/>
                <a:cs typeface="Arial"/>
              </a:defRPr>
            </a:defPPr>
            <a:lvl1pPr algn="l">
              <a:defRPr sz="4200" b="1">
                <a:solidFill>
                  <a:srgbClr val="B94B28"/>
                </a:solidFill>
                <a:latin typeface="Arial"/>
                <a:ea typeface="Arial"/>
                <a:cs typeface="Arial"/>
              </a:defRPr>
            </a:lvl1pPr>
            <a:lvl2pPr algn="l">
              <a:defRPr sz="4200" b="1">
                <a:solidFill>
                  <a:srgbClr val="B94B28"/>
                </a:solidFill>
                <a:latin typeface="Arial"/>
                <a:ea typeface="Arial"/>
                <a:cs typeface="Arial"/>
              </a:defRPr>
            </a:lvl2pPr>
            <a:lvl3pPr algn="l">
              <a:defRPr sz="4200" b="1">
                <a:solidFill>
                  <a:srgbClr val="B94B28"/>
                </a:solidFill>
                <a:latin typeface="Arial"/>
                <a:ea typeface="Arial"/>
                <a:cs typeface="Arial"/>
              </a:defRPr>
            </a:lvl3pPr>
            <a:lvl4pPr algn="l">
              <a:defRPr sz="4200" b="1">
                <a:solidFill>
                  <a:srgbClr val="B94B28"/>
                </a:solidFill>
                <a:latin typeface="Arial"/>
                <a:ea typeface="Arial"/>
                <a:cs typeface="Arial"/>
              </a:defRPr>
            </a:lvl4pPr>
            <a:lvl5pPr algn="l">
              <a:defRPr sz="4200" b="1">
                <a:solidFill>
                  <a:srgbClr val="B94B28"/>
                </a:solidFill>
                <a:latin typeface="Arial"/>
                <a:ea typeface="Arial"/>
                <a:cs typeface="Arial"/>
              </a:defRPr>
            </a:lvl5pPr>
            <a:lvl6pPr algn="l">
              <a:defRPr sz="4200" b="1">
                <a:solidFill>
                  <a:srgbClr val="B94B28"/>
                </a:solidFill>
                <a:latin typeface="Arial"/>
                <a:ea typeface="Arial"/>
                <a:cs typeface="Arial"/>
              </a:defRPr>
            </a:lvl6pPr>
            <a:lvl7pPr algn="l">
              <a:defRPr sz="4200" b="1">
                <a:solidFill>
                  <a:srgbClr val="B94B28"/>
                </a:solidFill>
                <a:latin typeface="Arial"/>
                <a:ea typeface="Arial"/>
                <a:cs typeface="Arial"/>
              </a:defRPr>
            </a:lvl7pPr>
            <a:lvl8pPr algn="l">
              <a:defRPr sz="4200" b="1">
                <a:solidFill>
                  <a:srgbClr val="B94B28"/>
                </a:solidFill>
                <a:latin typeface="Arial"/>
                <a:ea typeface="Arial"/>
                <a:cs typeface="Arial"/>
              </a:defRPr>
            </a:lvl8pPr>
            <a:lvl9pPr algn="l">
              <a:defRPr sz="4200" b="1">
                <a:solidFill>
                  <a:srgbClr val="B94B28"/>
                </a:solidFill>
                <a:latin typeface="Arial"/>
                <a:ea typeface="Arial"/>
                <a:cs typeface="Arial"/>
              </a:defRPr>
            </a:lvl9pPr>
          </a:lstStyle>
          <a:p xmlns:a="http://schemas.openxmlformats.org/drawingml/2006/main">
            <a:pPr algn="l">
              <a:defRPr sz="4200" b="1">
                <a:solidFill>
                  <a:srgbClr val="B94B28"/>
                </a:solidFill>
                <a:latin typeface="Arial"/>
                <a:ea typeface="Arial"/>
                <a:cs typeface="Arial"/>
              </a:defRPr>
            </a:pPr>
            <a:r>
              <a:rPr sz="4200" b="1">
                <a:solidFill>
                  <a:srgbClr val="B94B28"/>
                </a:solidFill>
                <a:latin typeface="Arial"/>
                <a:ea typeface="Arial"/>
                <a:cs typeface="Arial"/>
              </a:rPr>
              <a:t>06</a:t>
            </a:r>
          </a:p>
        </p:txBody>
      </p:sp>
      <p:sp>
        <p:nvSpPr>
          <p:cNvPr id="20" name="stage-5">
            <a:extLst xmlns:a="http://schemas.openxmlformats.org/drawingml/2006/main">
              <a:ext uri="{FF2B5EF4-FFF2-40B4-BE49-F238E27FC236}">
                <a16:creationId xmlns:a16="http://schemas.microsoft.com/office/drawing/2014/main" id="{1C5C5B9A-AFCB-4435-BA78-CF72818C2247}"/>
              </a:ext>
            </a:extLst>
          </p:cNvPr>
          <p:cNvSpPr>
            <a:spLocks xmlns:a="http://schemas.openxmlformats.org/drawingml/2006/main" noGrp="1"/>
          </p:cNvSpPr>
          <p:nvPr/>
        </p:nvSpPr>
        <p:spPr>
          <a:xfrm xmlns:a="http://schemas.openxmlformats.org/drawingml/2006/main">
            <a:off x="9858375" y="3486150"/>
            <a:ext cx="1571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2D40"/>
                </a:solidFill>
                <a:latin typeface="Arial"/>
                <a:ea typeface="Arial"/>
                <a:cs typeface="Arial"/>
              </a:defRPr>
            </a:defPPr>
            <a:lvl1pPr algn="l">
              <a:defRPr sz="2025" b="1">
                <a:solidFill>
                  <a:srgbClr val="172D40"/>
                </a:solidFill>
                <a:latin typeface="Arial"/>
                <a:ea typeface="Arial"/>
                <a:cs typeface="Arial"/>
              </a:defRPr>
            </a:lvl1pPr>
            <a:lvl2pPr algn="l">
              <a:defRPr sz="2025" b="1">
                <a:solidFill>
                  <a:srgbClr val="172D40"/>
                </a:solidFill>
                <a:latin typeface="Arial"/>
                <a:ea typeface="Arial"/>
                <a:cs typeface="Arial"/>
              </a:defRPr>
            </a:lvl2pPr>
            <a:lvl3pPr algn="l">
              <a:defRPr sz="2025" b="1">
                <a:solidFill>
                  <a:srgbClr val="172D40"/>
                </a:solidFill>
                <a:latin typeface="Arial"/>
                <a:ea typeface="Arial"/>
                <a:cs typeface="Arial"/>
              </a:defRPr>
            </a:lvl3pPr>
            <a:lvl4pPr algn="l">
              <a:defRPr sz="2025" b="1">
                <a:solidFill>
                  <a:srgbClr val="172D40"/>
                </a:solidFill>
                <a:latin typeface="Arial"/>
                <a:ea typeface="Arial"/>
                <a:cs typeface="Arial"/>
              </a:defRPr>
            </a:lvl4pPr>
            <a:lvl5pPr algn="l">
              <a:defRPr sz="2025" b="1">
                <a:solidFill>
                  <a:srgbClr val="172D40"/>
                </a:solidFill>
                <a:latin typeface="Arial"/>
                <a:ea typeface="Arial"/>
                <a:cs typeface="Arial"/>
              </a:defRPr>
            </a:lvl5pPr>
            <a:lvl6pPr algn="l">
              <a:defRPr sz="2025" b="1">
                <a:solidFill>
                  <a:srgbClr val="172D40"/>
                </a:solidFill>
                <a:latin typeface="Arial"/>
                <a:ea typeface="Arial"/>
                <a:cs typeface="Arial"/>
              </a:defRPr>
            </a:lvl6pPr>
            <a:lvl7pPr algn="l">
              <a:defRPr sz="2025" b="1">
                <a:solidFill>
                  <a:srgbClr val="172D40"/>
                </a:solidFill>
                <a:latin typeface="Arial"/>
                <a:ea typeface="Arial"/>
                <a:cs typeface="Arial"/>
              </a:defRPr>
            </a:lvl7pPr>
            <a:lvl8pPr algn="l">
              <a:defRPr sz="2025" b="1">
                <a:solidFill>
                  <a:srgbClr val="172D40"/>
                </a:solidFill>
                <a:latin typeface="Arial"/>
                <a:ea typeface="Arial"/>
                <a:cs typeface="Arial"/>
              </a:defRPr>
            </a:lvl8pPr>
            <a:lvl9pPr algn="l">
              <a:defRPr sz="2025" b="1">
                <a:solidFill>
                  <a:srgbClr val="172D40"/>
                </a:solidFill>
                <a:latin typeface="Arial"/>
                <a:ea typeface="Arial"/>
                <a:cs typeface="Arial"/>
              </a:defRPr>
            </a:lvl9pPr>
          </a:lstStyle>
          <a:p xmlns:a="http://schemas.openxmlformats.org/drawingml/2006/main">
            <a:pPr algn="l">
              <a:defRPr sz="2025" b="1">
                <a:solidFill>
                  <a:srgbClr val="172D40"/>
                </a:solidFill>
                <a:latin typeface="Arial"/>
                <a:ea typeface="Arial"/>
                <a:cs typeface="Arial"/>
              </a:defRPr>
            </a:pPr>
            <a:r>
              <a:rPr sz="2025" b="1">
                <a:solidFill>
                  <a:srgbClr val="172D40"/>
                </a:solidFill>
                <a:latin typeface="Arial"/>
                <a:ea typeface="Arial"/>
                <a:cs typeface="Arial"/>
              </a:rPr>
              <a:t>Decide</a:t>
            </a:r>
          </a:p>
        </p:txBody>
      </p:sp>
      <p:sp>
        <p:nvSpPr>
          <p:cNvPr id="21" name="stage-question-5">
            <a:extLst xmlns:a="http://schemas.openxmlformats.org/drawingml/2006/main">
              <a:ext uri="{FF2B5EF4-FFF2-40B4-BE49-F238E27FC236}">
                <a16:creationId xmlns:a16="http://schemas.microsoft.com/office/drawing/2014/main" id="{A31497F8-FCF9-4DDF-A31E-4F89BCC370E8}"/>
              </a:ext>
            </a:extLst>
          </p:cNvPr>
          <p:cNvSpPr>
            <a:spLocks xmlns:a="http://schemas.openxmlformats.org/drawingml/2006/main" noGrp="1"/>
          </p:cNvSpPr>
          <p:nvPr/>
        </p:nvSpPr>
        <p:spPr>
          <a:xfrm xmlns:a="http://schemas.openxmlformats.org/drawingml/2006/main">
            <a:off x="9858375" y="4048125"/>
            <a:ext cx="1571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16B"/>
                </a:solidFill>
                <a:latin typeface="Arial"/>
                <a:ea typeface="Arial"/>
                <a:cs typeface="Arial"/>
              </a:defRPr>
            </a:defPPr>
            <a:lvl1pPr algn="l">
              <a:defRPr sz="1875" b="0">
                <a:solidFill>
                  <a:srgbClr val="52616B"/>
                </a:solidFill>
                <a:latin typeface="Arial"/>
                <a:ea typeface="Arial"/>
                <a:cs typeface="Arial"/>
              </a:defRPr>
            </a:lvl1pPr>
            <a:lvl2pPr algn="l">
              <a:defRPr sz="1875" b="0">
                <a:solidFill>
                  <a:srgbClr val="52616B"/>
                </a:solidFill>
                <a:latin typeface="Arial"/>
                <a:ea typeface="Arial"/>
                <a:cs typeface="Arial"/>
              </a:defRPr>
            </a:lvl2pPr>
            <a:lvl3pPr algn="l">
              <a:defRPr sz="1875" b="0">
                <a:solidFill>
                  <a:srgbClr val="52616B"/>
                </a:solidFill>
                <a:latin typeface="Arial"/>
                <a:ea typeface="Arial"/>
                <a:cs typeface="Arial"/>
              </a:defRPr>
            </a:lvl3pPr>
            <a:lvl4pPr algn="l">
              <a:defRPr sz="1875" b="0">
                <a:solidFill>
                  <a:srgbClr val="52616B"/>
                </a:solidFill>
                <a:latin typeface="Arial"/>
                <a:ea typeface="Arial"/>
                <a:cs typeface="Arial"/>
              </a:defRPr>
            </a:lvl4pPr>
            <a:lvl5pPr algn="l">
              <a:defRPr sz="1875" b="0">
                <a:solidFill>
                  <a:srgbClr val="52616B"/>
                </a:solidFill>
                <a:latin typeface="Arial"/>
                <a:ea typeface="Arial"/>
                <a:cs typeface="Arial"/>
              </a:defRPr>
            </a:lvl5pPr>
            <a:lvl6pPr algn="l">
              <a:defRPr sz="1875" b="0">
                <a:solidFill>
                  <a:srgbClr val="52616B"/>
                </a:solidFill>
                <a:latin typeface="Arial"/>
                <a:ea typeface="Arial"/>
                <a:cs typeface="Arial"/>
              </a:defRPr>
            </a:lvl6pPr>
            <a:lvl7pPr algn="l">
              <a:defRPr sz="1875" b="0">
                <a:solidFill>
                  <a:srgbClr val="52616B"/>
                </a:solidFill>
                <a:latin typeface="Arial"/>
                <a:ea typeface="Arial"/>
                <a:cs typeface="Arial"/>
              </a:defRPr>
            </a:lvl7pPr>
            <a:lvl8pPr algn="l">
              <a:defRPr sz="1875" b="0">
                <a:solidFill>
                  <a:srgbClr val="52616B"/>
                </a:solidFill>
                <a:latin typeface="Arial"/>
                <a:ea typeface="Arial"/>
                <a:cs typeface="Arial"/>
              </a:defRPr>
            </a:lvl8pPr>
            <a:lvl9pPr algn="l">
              <a:defRPr sz="1875" b="0">
                <a:solidFill>
                  <a:srgbClr val="52616B"/>
                </a:solidFill>
                <a:latin typeface="Arial"/>
                <a:ea typeface="Arial"/>
                <a:cs typeface="Arial"/>
              </a:defRPr>
            </a:lvl9pPr>
          </a:lstStyle>
          <a:p xmlns:a="http://schemas.openxmlformats.org/drawingml/2006/main">
            <a:pPr algn="l">
              <a:defRPr sz="1875" b="0">
                <a:solidFill>
                  <a:srgbClr val="52616B"/>
                </a:solidFill>
                <a:latin typeface="Arial"/>
                <a:ea typeface="Arial"/>
                <a:cs typeface="Arial"/>
              </a:defRPr>
            </a:pPr>
            <a:r>
              <a:rPr sz="1875" b="0">
                <a:solidFill>
                  <a:srgbClr val="52616B"/>
                </a:solidFill>
                <a:latin typeface="Arial"/>
                <a:ea typeface="Arial"/>
                <a:cs typeface="Arial"/>
              </a:rPr>
              <a:t>Does the offer work?</a:t>
            </a:r>
          </a:p>
        </p:txBody>
      </p:sp>
      <p:sp>
        <p:nvSpPr>
          <p:cNvPr id="22" name="takeaway">
            <a:extLst xmlns:a="http://schemas.openxmlformats.org/drawingml/2006/main">
              <a:ext uri="{FF2B5EF4-FFF2-40B4-BE49-F238E27FC236}">
                <a16:creationId xmlns:a16="http://schemas.microsoft.com/office/drawing/2014/main" id="{A2D2009C-2263-41AC-A31E-AFABB76E7ECC}"/>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Progress depends on decisions and information, as well as documents.</a:t>
            </a:r>
          </a:p>
        </p:txBody>
      </p:sp>
      <p:sp>
        <p:nvSpPr>
          <p:cNvPr id="23" name="evidence-boundary">
            <a:extLst xmlns:a="http://schemas.openxmlformats.org/drawingml/2006/main">
              <a:ext uri="{FF2B5EF4-FFF2-40B4-BE49-F238E27FC236}">
                <a16:creationId xmlns:a16="http://schemas.microsoft.com/office/drawing/2014/main" id="{9976F8D4-CECD-403A-8F0C-E4CC004B165F}"/>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Research synthesis. A teaching model, not a validated or mandatory workflow.</a:t>
            </a:r>
          </a:p>
        </p:txBody>
      </p:sp>
      <p:sp>
        <p:nvSpPr>
          <p:cNvPr id="24" name="slide-number">
            <a:extLst xmlns:a="http://schemas.openxmlformats.org/drawingml/2006/main">
              <a:ext uri="{FF2B5EF4-FFF2-40B4-BE49-F238E27FC236}">
                <a16:creationId xmlns:a16="http://schemas.microsoft.com/office/drawing/2014/main" id="{60D056AA-A80B-4FBD-A0CC-6462ADA8EDA9}"/>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03</a:t>
            </a:r>
          </a:p>
        </p:txBody>
      </p:sp>
    </p:spTree>
    <p:extLst>
      <p:ext uri="{BB962C8B-B14F-4D97-AF65-F5344CB8AC3E}">
        <p14:creationId xmlns:p14="http://schemas.microsoft.com/office/powerpoint/2010/main" val="173552707"/>
      </p:ext>
    </p:extLst>
  </p:cSld>
</p:sld>
</file>

<file path=ppt/slides/slide4.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26983A89-B01E-4F43-805D-1FD89768DDAE}"/>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What this research can tell us</a:t>
            </a:r>
          </a:p>
        </p:txBody>
      </p:sp>
      <p:sp>
        <p:nvSpPr>
          <p:cNvPr id="2" name="lead">
            <a:extLst xmlns:a="http://schemas.openxmlformats.org/drawingml/2006/main">
              <a:ext uri="{FF2B5EF4-FFF2-40B4-BE49-F238E27FC236}">
                <a16:creationId xmlns:a16="http://schemas.microsoft.com/office/drawing/2014/main" id="{4B565518-2A85-468F-9829-214773C294F0}"/>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Different sources answer different questions.</a:t>
            </a:r>
          </a:p>
        </p:txBody>
      </p:sp>
      <p:sp>
        <p:nvSpPr>
          <p:cNvPr id="3" name="column-heading-0">
            <a:extLst xmlns:a="http://schemas.openxmlformats.org/drawingml/2006/main">
              <a:ext uri="{FF2B5EF4-FFF2-40B4-BE49-F238E27FC236}">
                <a16:creationId xmlns:a16="http://schemas.microsoft.com/office/drawing/2014/main" id="{534C8702-F481-4AA6-9BA6-E7E331C9C83C}"/>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Experiences</a:t>
            </a:r>
          </a:p>
        </p:txBody>
      </p:sp>
      <p:sp>
        <p:nvSpPr>
          <p:cNvPr id="4" name="column-0-detail-0">
            <a:extLst xmlns:a="http://schemas.openxmlformats.org/drawingml/2006/main">
              <a:ext uri="{FF2B5EF4-FFF2-40B4-BE49-F238E27FC236}">
                <a16:creationId xmlns:a16="http://schemas.microsoft.com/office/drawing/2014/main" id="{8EEF2C1A-E573-4006-9B53-692DE3A4AD9F}"/>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Public accounts describe friction and coping routines.</a:t>
            </a:r>
          </a:p>
        </p:txBody>
      </p:sp>
      <p:sp>
        <p:nvSpPr>
          <p:cNvPr id="5" name="column-0-detail-1">
            <a:extLst xmlns:a="http://schemas.openxmlformats.org/drawingml/2006/main">
              <a:ext uri="{FF2B5EF4-FFF2-40B4-BE49-F238E27FC236}">
                <a16:creationId xmlns:a16="http://schemas.microsoft.com/office/drawing/2014/main" id="{CA3458C3-DC51-4AFE-BE5E-FD191DF00B14}"/>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They do not establish how common a problem is.</a:t>
            </a:r>
          </a:p>
        </p:txBody>
      </p:sp>
      <p:sp>
        <p:nvSpPr>
          <p:cNvPr id="6" name="column-heading-1">
            <a:extLst xmlns:a="http://schemas.openxmlformats.org/drawingml/2006/main">
              <a:ext uri="{FF2B5EF4-FFF2-40B4-BE49-F238E27FC236}">
                <a16:creationId xmlns:a16="http://schemas.microsoft.com/office/drawing/2014/main" id="{73566C0C-C5DE-4B53-82A7-434D59C5D145}"/>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Guidance and studies</a:t>
            </a:r>
          </a:p>
        </p:txBody>
      </p:sp>
      <p:sp>
        <p:nvSpPr>
          <p:cNvPr id="7" name="column-1-detail-0">
            <a:extLst xmlns:a="http://schemas.openxmlformats.org/drawingml/2006/main">
              <a:ext uri="{FF2B5EF4-FFF2-40B4-BE49-F238E27FC236}">
                <a16:creationId xmlns:a16="http://schemas.microsoft.com/office/drawing/2014/main" id="{0440E1F3-44CB-49CE-A33B-4BEB78DE7BFA}"/>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Guidance suggests checks and preparation methods.</a:t>
            </a:r>
          </a:p>
        </p:txBody>
      </p:sp>
      <p:sp>
        <p:nvSpPr>
          <p:cNvPr id="8" name="column-1-detail-1">
            <a:extLst xmlns:a="http://schemas.openxmlformats.org/drawingml/2006/main">
              <a:ext uri="{FF2B5EF4-FFF2-40B4-BE49-F238E27FC236}">
                <a16:creationId xmlns:a16="http://schemas.microsoft.com/office/drawing/2014/main" id="{7757B752-8A32-4AFC-9285-3F2104B09EDD}"/>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Studies report results within specific settings.</a:t>
            </a:r>
          </a:p>
        </p:txBody>
      </p:sp>
      <p:sp>
        <p:nvSpPr>
          <p:cNvPr id="9" name="takeaway">
            <a:extLst xmlns:a="http://schemas.openxmlformats.org/drawingml/2006/main">
              <a:ext uri="{FF2B5EF4-FFF2-40B4-BE49-F238E27FC236}">
                <a16:creationId xmlns:a16="http://schemas.microsoft.com/office/drawing/2014/main" id="{6460DE3E-16E9-4B83-8E83-1D8FD7A1B71D}"/>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These accounts suggest possible mechanisms. JobHub's benefit remains unmeasured.</a:t>
            </a:r>
          </a:p>
        </p:txBody>
      </p:sp>
      <p:sp>
        <p:nvSpPr>
          <p:cNvPr id="10" name="evidence-boundary">
            <a:extLst xmlns:a="http://schemas.openxmlformats.org/drawingml/2006/main">
              <a:ext uri="{FF2B5EF4-FFF2-40B4-BE49-F238E27FC236}">
                <a16:creationId xmlns:a16="http://schemas.microsoft.com/office/drawing/2014/main" id="{D930012B-1248-4C66-B34F-B24CF6523FC7}"/>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Public-source research and bounded internal review. No direct JobHub user study.</a:t>
            </a:r>
          </a:p>
        </p:txBody>
      </p:sp>
      <p:sp>
        <p:nvSpPr>
          <p:cNvPr id="11" name="slide-number">
            <a:extLst xmlns:a="http://schemas.openxmlformats.org/drawingml/2006/main">
              <a:ext uri="{FF2B5EF4-FFF2-40B4-BE49-F238E27FC236}">
                <a16:creationId xmlns:a16="http://schemas.microsoft.com/office/drawing/2014/main" id="{6AAAB2E7-58ED-4451-9741-0EACFCC75331}"/>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04</a:t>
            </a:r>
          </a:p>
        </p:txBody>
      </p:sp>
    </p:spTree>
    <p:extLst>
      <p:ext uri="{BB962C8B-B14F-4D97-AF65-F5344CB8AC3E}">
        <p14:creationId xmlns:p14="http://schemas.microsoft.com/office/powerpoint/2010/main" val="2004655380"/>
      </p:ext>
    </p:extLst>
  </p:cSld>
</p:sld>
</file>

<file path=ppt/slides/slide5.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4F154127-5FBC-4232-BCE2-4AC8527909B1}"/>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The workload extends beyond the resume</a:t>
            </a:r>
          </a:p>
        </p:txBody>
      </p:sp>
      <p:sp>
        <p:nvSpPr>
          <p:cNvPr id="2" name="lead">
            <a:extLst xmlns:a="http://schemas.openxmlformats.org/drawingml/2006/main">
              <a:ext uri="{FF2B5EF4-FFF2-40B4-BE49-F238E27FC236}">
                <a16:creationId xmlns:a16="http://schemas.microsoft.com/office/drawing/2014/main" id="{4FE9C9AC-085F-402B-9E2F-816371CCB21D}"/>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One Singapore account makes the broader effort visible.</a:t>
            </a:r>
          </a:p>
        </p:txBody>
      </p:sp>
      <p:sp>
        <p:nvSpPr>
          <p:cNvPr id="3" name="case-main">
            <a:extLst xmlns:a="http://schemas.openxmlformats.org/drawingml/2006/main">
              <a:ext uri="{FF2B5EF4-FFF2-40B4-BE49-F238E27FC236}">
                <a16:creationId xmlns:a16="http://schemas.microsoft.com/office/drawing/2014/main" id="{5A61444E-1D24-4683-95E4-74F9000371A5}"/>
              </a:ext>
            </a:extLst>
          </p:cNvPr>
          <p:cNvSpPr>
            <a:spLocks xmlns:a="http://schemas.openxmlformats.org/drawingml/2006/main" noGrp="1"/>
          </p:cNvSpPr>
          <p:nvPr/>
        </p:nvSpPr>
        <p:spPr>
          <a:xfrm xmlns:a="http://schemas.openxmlformats.org/drawingml/2006/main">
            <a:off x="762000" y="2724150"/>
            <a:ext cx="5095875"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1">
                <a:solidFill>
                  <a:srgbClr val="B94B28"/>
                </a:solidFill>
                <a:latin typeface="Arial"/>
                <a:ea typeface="Arial"/>
                <a:cs typeface="Arial"/>
              </a:defRPr>
            </a:defPPr>
            <a:lvl1pPr algn="l">
              <a:defRPr sz="3675" b="1">
                <a:solidFill>
                  <a:srgbClr val="B94B28"/>
                </a:solidFill>
                <a:latin typeface="Arial"/>
                <a:ea typeface="Arial"/>
                <a:cs typeface="Arial"/>
              </a:defRPr>
            </a:lvl1pPr>
            <a:lvl2pPr algn="l">
              <a:defRPr sz="3675" b="1">
                <a:solidFill>
                  <a:srgbClr val="B94B28"/>
                </a:solidFill>
                <a:latin typeface="Arial"/>
                <a:ea typeface="Arial"/>
                <a:cs typeface="Arial"/>
              </a:defRPr>
            </a:lvl2pPr>
            <a:lvl3pPr algn="l">
              <a:defRPr sz="3675" b="1">
                <a:solidFill>
                  <a:srgbClr val="B94B28"/>
                </a:solidFill>
                <a:latin typeface="Arial"/>
                <a:ea typeface="Arial"/>
                <a:cs typeface="Arial"/>
              </a:defRPr>
            </a:lvl3pPr>
            <a:lvl4pPr algn="l">
              <a:defRPr sz="3675" b="1">
                <a:solidFill>
                  <a:srgbClr val="B94B28"/>
                </a:solidFill>
                <a:latin typeface="Arial"/>
                <a:ea typeface="Arial"/>
                <a:cs typeface="Arial"/>
              </a:defRPr>
            </a:lvl4pPr>
            <a:lvl5pPr algn="l">
              <a:defRPr sz="3675" b="1">
                <a:solidFill>
                  <a:srgbClr val="B94B28"/>
                </a:solidFill>
                <a:latin typeface="Arial"/>
                <a:ea typeface="Arial"/>
                <a:cs typeface="Arial"/>
              </a:defRPr>
            </a:lvl5pPr>
            <a:lvl6pPr algn="l">
              <a:defRPr sz="3675" b="1">
                <a:solidFill>
                  <a:srgbClr val="B94B28"/>
                </a:solidFill>
                <a:latin typeface="Arial"/>
                <a:ea typeface="Arial"/>
                <a:cs typeface="Arial"/>
              </a:defRPr>
            </a:lvl6pPr>
            <a:lvl7pPr algn="l">
              <a:defRPr sz="3675" b="1">
                <a:solidFill>
                  <a:srgbClr val="B94B28"/>
                </a:solidFill>
                <a:latin typeface="Arial"/>
                <a:ea typeface="Arial"/>
                <a:cs typeface="Arial"/>
              </a:defRPr>
            </a:lvl7pPr>
            <a:lvl8pPr algn="l">
              <a:defRPr sz="3675" b="1">
                <a:solidFill>
                  <a:srgbClr val="B94B28"/>
                </a:solidFill>
                <a:latin typeface="Arial"/>
                <a:ea typeface="Arial"/>
                <a:cs typeface="Arial"/>
              </a:defRPr>
            </a:lvl8pPr>
            <a:lvl9pPr algn="l">
              <a:defRPr sz="3675" b="1">
                <a:solidFill>
                  <a:srgbClr val="B94B28"/>
                </a:solidFill>
                <a:latin typeface="Arial"/>
                <a:ea typeface="Arial"/>
                <a:cs typeface="Arial"/>
              </a:defRPr>
            </a:lvl9pPr>
          </a:lstStyle>
          <a:p xmlns:a="http://schemas.openxmlformats.org/drawingml/2006/main">
            <a:pPr algn="l">
              <a:defRPr sz="3675" b="1">
                <a:solidFill>
                  <a:srgbClr val="B94B28"/>
                </a:solidFill>
                <a:latin typeface="Arial"/>
                <a:ea typeface="Arial"/>
                <a:cs typeface="Arial"/>
              </a:defRPr>
            </a:pPr>
            <a:r>
              <a:rPr sz="3675" b="1">
                <a:solidFill>
                  <a:srgbClr val="B94B28"/>
                </a:solidFill>
                <a:latin typeface="Arial"/>
                <a:ea typeface="Arial"/>
                <a:cs typeface="Arial"/>
              </a:rPr>
              <a:t>Repeated applications.</a:t>
            </a:r>
          </a:p>
          <a:p xmlns:a="http://schemas.openxmlformats.org/drawingml/2006/main">
            <a:pPr algn="l">
              <a:defRPr sz="3675" b="1">
                <a:solidFill>
                  <a:srgbClr val="B94B28"/>
                </a:solidFill>
                <a:latin typeface="Arial"/>
                <a:ea typeface="Arial"/>
                <a:cs typeface="Arial"/>
              </a:defRPr>
            </a:pPr>
            <a:r>
              <a:rPr sz="3675" b="1">
                <a:solidFill>
                  <a:srgbClr val="B94B28"/>
                </a:solidFill>
                <a:latin typeface="Arial"/>
                <a:ea typeface="Arial"/>
                <a:cs typeface="Arial"/>
              </a:rPr>
              <a:t>Preparation. Waiting.</a:t>
            </a:r>
          </a:p>
        </p:txBody>
      </p:sp>
      <p:sp>
        <p:nvSpPr>
          <p:cNvPr id="4" name="case-label-0">
            <a:extLst xmlns:a="http://schemas.openxmlformats.org/drawingml/2006/main">
              <a:ext uri="{FF2B5EF4-FFF2-40B4-BE49-F238E27FC236}">
                <a16:creationId xmlns:a16="http://schemas.microsoft.com/office/drawing/2014/main" id="{9E891A94-C833-43C8-B90B-24E94891AFDF}"/>
              </a:ext>
            </a:extLst>
          </p:cNvPr>
          <p:cNvSpPr>
            <a:spLocks xmlns:a="http://schemas.openxmlformats.org/drawingml/2006/main" noGrp="1"/>
          </p:cNvSpPr>
          <p:nvPr/>
        </p:nvSpPr>
        <p:spPr>
          <a:xfrm xmlns:a="http://schemas.openxmlformats.org/drawingml/2006/main">
            <a:off x="6477000" y="2571750"/>
            <a:ext cx="495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66B65"/>
                </a:solidFill>
                <a:latin typeface="Arial"/>
                <a:ea typeface="Arial"/>
                <a:cs typeface="Arial"/>
              </a:defRPr>
            </a:defPPr>
            <a:lvl1pPr algn="l">
              <a:defRPr sz="2250" b="1">
                <a:solidFill>
                  <a:srgbClr val="166B65"/>
                </a:solidFill>
                <a:latin typeface="Arial"/>
                <a:ea typeface="Arial"/>
                <a:cs typeface="Arial"/>
              </a:defRPr>
            </a:lvl1pPr>
            <a:lvl2pPr algn="l">
              <a:defRPr sz="2250" b="1">
                <a:solidFill>
                  <a:srgbClr val="166B65"/>
                </a:solidFill>
                <a:latin typeface="Arial"/>
                <a:ea typeface="Arial"/>
                <a:cs typeface="Arial"/>
              </a:defRPr>
            </a:lvl2pPr>
            <a:lvl3pPr algn="l">
              <a:defRPr sz="2250" b="1">
                <a:solidFill>
                  <a:srgbClr val="166B65"/>
                </a:solidFill>
                <a:latin typeface="Arial"/>
                <a:ea typeface="Arial"/>
                <a:cs typeface="Arial"/>
              </a:defRPr>
            </a:lvl3pPr>
            <a:lvl4pPr algn="l">
              <a:defRPr sz="2250" b="1">
                <a:solidFill>
                  <a:srgbClr val="166B65"/>
                </a:solidFill>
                <a:latin typeface="Arial"/>
                <a:ea typeface="Arial"/>
                <a:cs typeface="Arial"/>
              </a:defRPr>
            </a:lvl4pPr>
            <a:lvl5pPr algn="l">
              <a:defRPr sz="2250" b="1">
                <a:solidFill>
                  <a:srgbClr val="166B65"/>
                </a:solidFill>
                <a:latin typeface="Arial"/>
                <a:ea typeface="Arial"/>
                <a:cs typeface="Arial"/>
              </a:defRPr>
            </a:lvl5pPr>
            <a:lvl6pPr algn="l">
              <a:defRPr sz="2250" b="1">
                <a:solidFill>
                  <a:srgbClr val="166B65"/>
                </a:solidFill>
                <a:latin typeface="Arial"/>
                <a:ea typeface="Arial"/>
                <a:cs typeface="Arial"/>
              </a:defRPr>
            </a:lvl6pPr>
            <a:lvl7pPr algn="l">
              <a:defRPr sz="2250" b="1">
                <a:solidFill>
                  <a:srgbClr val="166B65"/>
                </a:solidFill>
                <a:latin typeface="Arial"/>
                <a:ea typeface="Arial"/>
                <a:cs typeface="Arial"/>
              </a:defRPr>
            </a:lvl7pPr>
            <a:lvl8pPr algn="l">
              <a:defRPr sz="2250" b="1">
                <a:solidFill>
                  <a:srgbClr val="166B65"/>
                </a:solidFill>
                <a:latin typeface="Arial"/>
                <a:ea typeface="Arial"/>
                <a:cs typeface="Arial"/>
              </a:defRPr>
            </a:lvl8pPr>
            <a:lvl9pPr algn="l">
              <a:defRPr sz="2250" b="1">
                <a:solidFill>
                  <a:srgbClr val="166B65"/>
                </a:solidFill>
                <a:latin typeface="Arial"/>
                <a:ea typeface="Arial"/>
                <a:cs typeface="Arial"/>
              </a:defRPr>
            </a:lvl9pPr>
          </a:lstStyle>
          <a:p xmlns:a="http://schemas.openxmlformats.org/drawingml/2006/main">
            <a:pPr algn="l">
              <a:defRPr sz="2250" b="1">
                <a:solidFill>
                  <a:srgbClr val="166B65"/>
                </a:solidFill>
                <a:latin typeface="Arial"/>
                <a:ea typeface="Arial"/>
                <a:cs typeface="Arial"/>
              </a:defRPr>
            </a:pPr>
            <a:r>
              <a:rPr sz="2250" b="1">
                <a:solidFill>
                  <a:srgbClr val="166B65"/>
                </a:solidFill>
                <a:latin typeface="Arial"/>
                <a:ea typeface="Arial"/>
                <a:cs typeface="Arial"/>
              </a:rPr>
              <a:t>The reported experience</a:t>
            </a:r>
          </a:p>
        </p:txBody>
      </p:sp>
      <p:sp>
        <p:nvSpPr>
          <p:cNvPr id="5" name="case-text-0">
            <a:extLst xmlns:a="http://schemas.openxmlformats.org/drawingml/2006/main">
              <a:ext uri="{FF2B5EF4-FFF2-40B4-BE49-F238E27FC236}">
                <a16:creationId xmlns:a16="http://schemas.microsoft.com/office/drawing/2014/main" id="{8787A520-AAA2-4ED7-9550-24FDF8C261E6}"/>
              </a:ext>
            </a:extLst>
          </p:cNvPr>
          <p:cNvSpPr>
            <a:spLocks xmlns:a="http://schemas.openxmlformats.org/drawingml/2006/main" noGrp="1"/>
          </p:cNvSpPr>
          <p:nvPr/>
        </p:nvSpPr>
        <p:spPr>
          <a:xfrm xmlns:a="http://schemas.openxmlformats.org/drawingml/2006/main">
            <a:off x="6477000" y="3095625"/>
            <a:ext cx="4857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72D40"/>
                </a:solidFill>
                <a:latin typeface="Arial"/>
                <a:ea typeface="Arial"/>
                <a:cs typeface="Arial"/>
              </a:defRPr>
            </a:defPPr>
            <a:lvl1pPr algn="l">
              <a:defRPr sz="1950" b="0">
                <a:solidFill>
                  <a:srgbClr val="172D40"/>
                </a:solidFill>
                <a:latin typeface="Arial"/>
                <a:ea typeface="Arial"/>
                <a:cs typeface="Arial"/>
              </a:defRPr>
            </a:lvl1pPr>
            <a:lvl2pPr algn="l">
              <a:defRPr sz="1950" b="0">
                <a:solidFill>
                  <a:srgbClr val="172D40"/>
                </a:solidFill>
                <a:latin typeface="Arial"/>
                <a:ea typeface="Arial"/>
                <a:cs typeface="Arial"/>
              </a:defRPr>
            </a:lvl2pPr>
            <a:lvl3pPr algn="l">
              <a:defRPr sz="1950" b="0">
                <a:solidFill>
                  <a:srgbClr val="172D40"/>
                </a:solidFill>
                <a:latin typeface="Arial"/>
                <a:ea typeface="Arial"/>
                <a:cs typeface="Arial"/>
              </a:defRPr>
            </a:lvl3pPr>
            <a:lvl4pPr algn="l">
              <a:defRPr sz="1950" b="0">
                <a:solidFill>
                  <a:srgbClr val="172D40"/>
                </a:solidFill>
                <a:latin typeface="Arial"/>
                <a:ea typeface="Arial"/>
                <a:cs typeface="Arial"/>
              </a:defRPr>
            </a:lvl4pPr>
            <a:lvl5pPr algn="l">
              <a:defRPr sz="1950" b="0">
                <a:solidFill>
                  <a:srgbClr val="172D40"/>
                </a:solidFill>
                <a:latin typeface="Arial"/>
                <a:ea typeface="Arial"/>
                <a:cs typeface="Arial"/>
              </a:defRPr>
            </a:lvl5pPr>
            <a:lvl6pPr algn="l">
              <a:defRPr sz="1950" b="0">
                <a:solidFill>
                  <a:srgbClr val="172D40"/>
                </a:solidFill>
                <a:latin typeface="Arial"/>
                <a:ea typeface="Arial"/>
                <a:cs typeface="Arial"/>
              </a:defRPr>
            </a:lvl6pPr>
            <a:lvl7pPr algn="l">
              <a:defRPr sz="1950" b="0">
                <a:solidFill>
                  <a:srgbClr val="172D40"/>
                </a:solidFill>
                <a:latin typeface="Arial"/>
                <a:ea typeface="Arial"/>
                <a:cs typeface="Arial"/>
              </a:defRPr>
            </a:lvl7pPr>
            <a:lvl8pPr algn="l">
              <a:defRPr sz="1950" b="0">
                <a:solidFill>
                  <a:srgbClr val="172D40"/>
                </a:solidFill>
                <a:latin typeface="Arial"/>
                <a:ea typeface="Arial"/>
                <a:cs typeface="Arial"/>
              </a:defRPr>
            </a:lvl8pPr>
            <a:lvl9pPr algn="l">
              <a:defRPr sz="1950" b="0">
                <a:solidFill>
                  <a:srgbClr val="172D40"/>
                </a:solidFill>
                <a:latin typeface="Arial"/>
                <a:ea typeface="Arial"/>
                <a:cs typeface="Arial"/>
              </a:defRPr>
            </a:lvl9pPr>
          </a:lstStyle>
          <a:p xmlns:a="http://schemas.openxmlformats.org/drawingml/2006/main">
            <a:pPr algn="l">
              <a:defRPr sz="1950" b="0">
                <a:solidFill>
                  <a:srgbClr val="172D40"/>
                </a:solidFill>
                <a:latin typeface="Arial"/>
                <a:ea typeface="Arial"/>
                <a:cs typeface="Arial"/>
              </a:defRPr>
            </a:pPr>
            <a:r>
              <a:rPr sz="1950" b="0">
                <a:solidFill>
                  <a:srgbClr val="172D40"/>
                </a:solidFill>
                <a:latin typeface="Arial"/>
                <a:ea typeface="Arial"/>
                <a:cs typeface="Arial"/>
              </a:rPr>
              <a:t>Low Chee Wee describes rejection, skills development, human support and a later move into hospital operations.</a:t>
            </a:r>
          </a:p>
        </p:txBody>
      </p:sp>
      <p:sp>
        <p:nvSpPr>
          <p:cNvPr id="6" name="case-label-1">
            <a:extLst xmlns:a="http://schemas.openxmlformats.org/drawingml/2006/main">
              <a:ext uri="{FF2B5EF4-FFF2-40B4-BE49-F238E27FC236}">
                <a16:creationId xmlns:a16="http://schemas.microsoft.com/office/drawing/2014/main" id="{87A74B2F-9321-425F-9DF4-0FFB72551DD3}"/>
              </a:ext>
            </a:extLst>
          </p:cNvPr>
          <p:cNvSpPr>
            <a:spLocks xmlns:a="http://schemas.openxmlformats.org/drawingml/2006/main" noGrp="1"/>
          </p:cNvSpPr>
          <p:nvPr/>
        </p:nvSpPr>
        <p:spPr>
          <a:xfrm xmlns:a="http://schemas.openxmlformats.org/drawingml/2006/main">
            <a:off x="6477000" y="4143375"/>
            <a:ext cx="495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66B65"/>
                </a:solidFill>
                <a:latin typeface="Arial"/>
                <a:ea typeface="Arial"/>
                <a:cs typeface="Arial"/>
              </a:defRPr>
            </a:defPPr>
            <a:lvl1pPr algn="l">
              <a:defRPr sz="2250" b="1">
                <a:solidFill>
                  <a:srgbClr val="166B65"/>
                </a:solidFill>
                <a:latin typeface="Arial"/>
                <a:ea typeface="Arial"/>
                <a:cs typeface="Arial"/>
              </a:defRPr>
            </a:lvl1pPr>
            <a:lvl2pPr algn="l">
              <a:defRPr sz="2250" b="1">
                <a:solidFill>
                  <a:srgbClr val="166B65"/>
                </a:solidFill>
                <a:latin typeface="Arial"/>
                <a:ea typeface="Arial"/>
                <a:cs typeface="Arial"/>
              </a:defRPr>
            </a:lvl2pPr>
            <a:lvl3pPr algn="l">
              <a:defRPr sz="2250" b="1">
                <a:solidFill>
                  <a:srgbClr val="166B65"/>
                </a:solidFill>
                <a:latin typeface="Arial"/>
                <a:ea typeface="Arial"/>
                <a:cs typeface="Arial"/>
              </a:defRPr>
            </a:lvl3pPr>
            <a:lvl4pPr algn="l">
              <a:defRPr sz="2250" b="1">
                <a:solidFill>
                  <a:srgbClr val="166B65"/>
                </a:solidFill>
                <a:latin typeface="Arial"/>
                <a:ea typeface="Arial"/>
                <a:cs typeface="Arial"/>
              </a:defRPr>
            </a:lvl4pPr>
            <a:lvl5pPr algn="l">
              <a:defRPr sz="2250" b="1">
                <a:solidFill>
                  <a:srgbClr val="166B65"/>
                </a:solidFill>
                <a:latin typeface="Arial"/>
                <a:ea typeface="Arial"/>
                <a:cs typeface="Arial"/>
              </a:defRPr>
            </a:lvl5pPr>
            <a:lvl6pPr algn="l">
              <a:defRPr sz="2250" b="1">
                <a:solidFill>
                  <a:srgbClr val="166B65"/>
                </a:solidFill>
                <a:latin typeface="Arial"/>
                <a:ea typeface="Arial"/>
                <a:cs typeface="Arial"/>
              </a:defRPr>
            </a:lvl6pPr>
            <a:lvl7pPr algn="l">
              <a:defRPr sz="2250" b="1">
                <a:solidFill>
                  <a:srgbClr val="166B65"/>
                </a:solidFill>
                <a:latin typeface="Arial"/>
                <a:ea typeface="Arial"/>
                <a:cs typeface="Arial"/>
              </a:defRPr>
            </a:lvl7pPr>
            <a:lvl8pPr algn="l">
              <a:defRPr sz="2250" b="1">
                <a:solidFill>
                  <a:srgbClr val="166B65"/>
                </a:solidFill>
                <a:latin typeface="Arial"/>
                <a:ea typeface="Arial"/>
                <a:cs typeface="Arial"/>
              </a:defRPr>
            </a:lvl8pPr>
            <a:lvl9pPr algn="l">
              <a:defRPr sz="2250" b="1">
                <a:solidFill>
                  <a:srgbClr val="166B65"/>
                </a:solidFill>
                <a:latin typeface="Arial"/>
                <a:ea typeface="Arial"/>
                <a:cs typeface="Arial"/>
              </a:defRPr>
            </a:lvl9pPr>
          </a:lstStyle>
          <a:p xmlns:a="http://schemas.openxmlformats.org/drawingml/2006/main">
            <a:pPr algn="l">
              <a:defRPr sz="2250" b="1">
                <a:solidFill>
                  <a:srgbClr val="166B65"/>
                </a:solidFill>
                <a:latin typeface="Arial"/>
                <a:ea typeface="Arial"/>
                <a:cs typeface="Arial"/>
              </a:defRPr>
            </a:pPr>
            <a:r>
              <a:rPr sz="2250" b="1">
                <a:solidFill>
                  <a:srgbClr val="166B65"/>
                </a:solidFill>
                <a:latin typeface="Arial"/>
                <a:ea typeface="Arial"/>
                <a:cs typeface="Arial"/>
              </a:rPr>
              <a:t>What it teaches</a:t>
            </a:r>
          </a:p>
        </p:txBody>
      </p:sp>
      <p:sp>
        <p:nvSpPr>
          <p:cNvPr id="7" name="case-text-1">
            <a:extLst xmlns:a="http://schemas.openxmlformats.org/drawingml/2006/main">
              <a:ext uri="{FF2B5EF4-FFF2-40B4-BE49-F238E27FC236}">
                <a16:creationId xmlns:a16="http://schemas.microsoft.com/office/drawing/2014/main" id="{805AB373-6B80-460C-9B93-7720E61CD513}"/>
              </a:ext>
            </a:extLst>
          </p:cNvPr>
          <p:cNvSpPr>
            <a:spLocks xmlns:a="http://schemas.openxmlformats.org/drawingml/2006/main" noGrp="1"/>
          </p:cNvSpPr>
          <p:nvPr/>
        </p:nvSpPr>
        <p:spPr>
          <a:xfrm xmlns:a="http://schemas.openxmlformats.org/drawingml/2006/main">
            <a:off x="6477000" y="4667250"/>
            <a:ext cx="4857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72D40"/>
                </a:solidFill>
                <a:latin typeface="Arial"/>
                <a:ea typeface="Arial"/>
                <a:cs typeface="Arial"/>
              </a:defRPr>
            </a:defPPr>
            <a:lvl1pPr algn="l">
              <a:defRPr sz="1950" b="0">
                <a:solidFill>
                  <a:srgbClr val="172D40"/>
                </a:solidFill>
                <a:latin typeface="Arial"/>
                <a:ea typeface="Arial"/>
                <a:cs typeface="Arial"/>
              </a:defRPr>
            </a:lvl1pPr>
            <a:lvl2pPr algn="l">
              <a:defRPr sz="1950" b="0">
                <a:solidFill>
                  <a:srgbClr val="172D40"/>
                </a:solidFill>
                <a:latin typeface="Arial"/>
                <a:ea typeface="Arial"/>
                <a:cs typeface="Arial"/>
              </a:defRPr>
            </a:lvl2pPr>
            <a:lvl3pPr algn="l">
              <a:defRPr sz="1950" b="0">
                <a:solidFill>
                  <a:srgbClr val="172D40"/>
                </a:solidFill>
                <a:latin typeface="Arial"/>
                <a:ea typeface="Arial"/>
                <a:cs typeface="Arial"/>
              </a:defRPr>
            </a:lvl3pPr>
            <a:lvl4pPr algn="l">
              <a:defRPr sz="1950" b="0">
                <a:solidFill>
                  <a:srgbClr val="172D40"/>
                </a:solidFill>
                <a:latin typeface="Arial"/>
                <a:ea typeface="Arial"/>
                <a:cs typeface="Arial"/>
              </a:defRPr>
            </a:lvl4pPr>
            <a:lvl5pPr algn="l">
              <a:defRPr sz="1950" b="0">
                <a:solidFill>
                  <a:srgbClr val="172D40"/>
                </a:solidFill>
                <a:latin typeface="Arial"/>
                <a:ea typeface="Arial"/>
                <a:cs typeface="Arial"/>
              </a:defRPr>
            </a:lvl5pPr>
            <a:lvl6pPr algn="l">
              <a:defRPr sz="1950" b="0">
                <a:solidFill>
                  <a:srgbClr val="172D40"/>
                </a:solidFill>
                <a:latin typeface="Arial"/>
                <a:ea typeface="Arial"/>
                <a:cs typeface="Arial"/>
              </a:defRPr>
            </a:lvl6pPr>
            <a:lvl7pPr algn="l">
              <a:defRPr sz="1950" b="0">
                <a:solidFill>
                  <a:srgbClr val="172D40"/>
                </a:solidFill>
                <a:latin typeface="Arial"/>
                <a:ea typeface="Arial"/>
                <a:cs typeface="Arial"/>
              </a:defRPr>
            </a:lvl7pPr>
            <a:lvl8pPr algn="l">
              <a:defRPr sz="1950" b="0">
                <a:solidFill>
                  <a:srgbClr val="172D40"/>
                </a:solidFill>
                <a:latin typeface="Arial"/>
                <a:ea typeface="Arial"/>
                <a:cs typeface="Arial"/>
              </a:defRPr>
            </a:lvl8pPr>
            <a:lvl9pPr algn="l">
              <a:defRPr sz="1950" b="0">
                <a:solidFill>
                  <a:srgbClr val="172D40"/>
                </a:solidFill>
                <a:latin typeface="Arial"/>
                <a:ea typeface="Arial"/>
                <a:cs typeface="Arial"/>
              </a:defRPr>
            </a:lvl9pPr>
          </a:lstStyle>
          <a:p xmlns:a="http://schemas.openxmlformats.org/drawingml/2006/main">
            <a:pPr algn="l">
              <a:defRPr sz="1950" b="0">
                <a:solidFill>
                  <a:srgbClr val="172D40"/>
                </a:solidFill>
                <a:latin typeface="Arial"/>
                <a:ea typeface="Arial"/>
                <a:cs typeface="Arial"/>
              </a:defRPr>
            </a:pPr>
            <a:r>
              <a:rPr sz="1950" b="0">
                <a:solidFill>
                  <a:srgbClr val="172D40"/>
                </a:solidFill>
                <a:latin typeface="Arial"/>
                <a:ea typeface="Arial"/>
                <a:cs typeface="Arial"/>
              </a:rPr>
              <a:t>A search has several moving parts. The account cannot isolate which change led to the offer.</a:t>
            </a:r>
          </a:p>
        </p:txBody>
      </p:sp>
      <p:sp>
        <p:nvSpPr>
          <p:cNvPr id="8" name="evidence-boundary">
            <a:extLst xmlns:a="http://schemas.openxmlformats.org/drawingml/2006/main">
              <a:ext uri="{FF2B5EF4-FFF2-40B4-BE49-F238E27FC236}">
                <a16:creationId xmlns:a16="http://schemas.microsoft.com/office/drawing/2014/main" id="{D0345641-9D2E-4FCA-A066-B774571CF160}"/>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P01: one retrospective account of 2020–21, published in 2021. Not an outcome study.</a:t>
            </a:r>
          </a:p>
        </p:txBody>
      </p:sp>
      <p:sp>
        <p:nvSpPr>
          <p:cNvPr id="9" name="slide-number">
            <a:extLst xmlns:a="http://schemas.openxmlformats.org/drawingml/2006/main">
              <a:ext uri="{FF2B5EF4-FFF2-40B4-BE49-F238E27FC236}">
                <a16:creationId xmlns:a16="http://schemas.microsoft.com/office/drawing/2014/main" id="{1C112F5F-5CDA-4AB5-ACCD-1C5AA0E88F2C}"/>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05</a:t>
            </a:r>
          </a:p>
        </p:txBody>
      </p:sp>
    </p:spTree>
    <p:extLst>
      <p:ext uri="{BB962C8B-B14F-4D97-AF65-F5344CB8AC3E}">
        <p14:creationId xmlns:p14="http://schemas.microsoft.com/office/powerpoint/2010/main" val="1017069442"/>
      </p:ext>
    </p:extLst>
  </p:cSld>
</p:sld>
</file>

<file path=ppt/slides/slide6.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23B8088F-078A-4D29-98FA-61160303861F}"/>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Preparation cannot remove every barrier</a:t>
            </a:r>
          </a:p>
        </p:txBody>
      </p:sp>
      <p:sp>
        <p:nvSpPr>
          <p:cNvPr id="2" name="lead">
            <a:extLst xmlns:a="http://schemas.openxmlformats.org/drawingml/2006/main">
              <a:ext uri="{FF2B5EF4-FFF2-40B4-BE49-F238E27FC236}">
                <a16:creationId xmlns:a16="http://schemas.microsoft.com/office/drawing/2014/main" id="{F39E1629-7258-4094-A7B9-7EB6D5F7F61B}"/>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Some difficulties concern the work or hiring process itself.</a:t>
            </a:r>
          </a:p>
        </p:txBody>
      </p:sp>
      <p:sp>
        <p:nvSpPr>
          <p:cNvPr id="3" name="column-heading-0">
            <a:extLst xmlns:a="http://schemas.openxmlformats.org/drawingml/2006/main">
              <a:ext uri="{FF2B5EF4-FFF2-40B4-BE49-F238E27FC236}">
                <a16:creationId xmlns:a16="http://schemas.microsoft.com/office/drawing/2014/main" id="{9C6F899F-9A02-42B7-8DFC-802AFAEBB3E8}"/>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Feasibility and access</a:t>
            </a:r>
          </a:p>
        </p:txBody>
      </p:sp>
      <p:sp>
        <p:nvSpPr>
          <p:cNvPr id="4" name="column-0-detail-0">
            <a:extLst xmlns:a="http://schemas.openxmlformats.org/drawingml/2006/main">
              <a:ext uri="{FF2B5EF4-FFF2-40B4-BE49-F238E27FC236}">
                <a16:creationId xmlns:a16="http://schemas.microsoft.com/office/drawing/2014/main" id="{F5C598D0-6A9A-4347-ADFE-FD6EE4182856}"/>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Care responsibilities, shifts and working conditions can limit feasible options.</a:t>
            </a:r>
          </a:p>
        </p:txBody>
      </p:sp>
      <p:sp>
        <p:nvSpPr>
          <p:cNvPr id="5" name="column-0-detail-1">
            <a:extLst xmlns:a="http://schemas.openxmlformats.org/drawingml/2006/main">
              <a:ext uri="{FF2B5EF4-FFF2-40B4-BE49-F238E27FC236}">
                <a16:creationId xmlns:a16="http://schemas.microsoft.com/office/drawing/2014/main" id="{9365E861-CBC4-437B-90E9-33D1858E470C}"/>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Application accessibility can exclude people before their experience receives consideration.</a:t>
            </a:r>
          </a:p>
        </p:txBody>
      </p:sp>
      <p:sp>
        <p:nvSpPr>
          <p:cNvPr id="6" name="column-heading-1">
            <a:extLst xmlns:a="http://schemas.openxmlformats.org/drawingml/2006/main">
              <a:ext uri="{FF2B5EF4-FFF2-40B4-BE49-F238E27FC236}">
                <a16:creationId xmlns:a16="http://schemas.microsoft.com/office/drawing/2014/main" id="{38525595-5629-4DDA-A608-6AF3D76229C7}"/>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94B28"/>
                </a:solidFill>
                <a:latin typeface="Arial"/>
                <a:ea typeface="Arial"/>
                <a:cs typeface="Arial"/>
              </a:defRPr>
            </a:defPPr>
            <a:lvl1pPr algn="l">
              <a:defRPr sz="2325" b="1">
                <a:solidFill>
                  <a:srgbClr val="B94B28"/>
                </a:solidFill>
                <a:latin typeface="Arial"/>
                <a:ea typeface="Arial"/>
                <a:cs typeface="Arial"/>
              </a:defRPr>
            </a:lvl1pPr>
            <a:lvl2pPr algn="l">
              <a:defRPr sz="2325" b="1">
                <a:solidFill>
                  <a:srgbClr val="B94B28"/>
                </a:solidFill>
                <a:latin typeface="Arial"/>
                <a:ea typeface="Arial"/>
                <a:cs typeface="Arial"/>
              </a:defRPr>
            </a:lvl2pPr>
            <a:lvl3pPr algn="l">
              <a:defRPr sz="2325" b="1">
                <a:solidFill>
                  <a:srgbClr val="B94B28"/>
                </a:solidFill>
                <a:latin typeface="Arial"/>
                <a:ea typeface="Arial"/>
                <a:cs typeface="Arial"/>
              </a:defRPr>
            </a:lvl3pPr>
            <a:lvl4pPr algn="l">
              <a:defRPr sz="2325" b="1">
                <a:solidFill>
                  <a:srgbClr val="B94B28"/>
                </a:solidFill>
                <a:latin typeface="Arial"/>
                <a:ea typeface="Arial"/>
                <a:cs typeface="Arial"/>
              </a:defRPr>
            </a:lvl4pPr>
            <a:lvl5pPr algn="l">
              <a:defRPr sz="2325" b="1">
                <a:solidFill>
                  <a:srgbClr val="B94B28"/>
                </a:solidFill>
                <a:latin typeface="Arial"/>
                <a:ea typeface="Arial"/>
                <a:cs typeface="Arial"/>
              </a:defRPr>
            </a:lvl5pPr>
            <a:lvl6pPr algn="l">
              <a:defRPr sz="2325" b="1">
                <a:solidFill>
                  <a:srgbClr val="B94B28"/>
                </a:solidFill>
                <a:latin typeface="Arial"/>
                <a:ea typeface="Arial"/>
                <a:cs typeface="Arial"/>
              </a:defRPr>
            </a:lvl6pPr>
            <a:lvl7pPr algn="l">
              <a:defRPr sz="2325" b="1">
                <a:solidFill>
                  <a:srgbClr val="B94B28"/>
                </a:solidFill>
                <a:latin typeface="Arial"/>
                <a:ea typeface="Arial"/>
                <a:cs typeface="Arial"/>
              </a:defRPr>
            </a:lvl7pPr>
            <a:lvl8pPr algn="l">
              <a:defRPr sz="2325" b="1">
                <a:solidFill>
                  <a:srgbClr val="B94B28"/>
                </a:solidFill>
                <a:latin typeface="Arial"/>
                <a:ea typeface="Arial"/>
                <a:cs typeface="Arial"/>
              </a:defRPr>
            </a:lvl8pPr>
            <a:lvl9pPr algn="l">
              <a:defRPr sz="2325" b="1">
                <a:solidFill>
                  <a:srgbClr val="B94B28"/>
                </a:solidFill>
                <a:latin typeface="Arial"/>
                <a:ea typeface="Arial"/>
                <a:cs typeface="Arial"/>
              </a:defRPr>
            </a:lvl9pPr>
          </a:lstStyle>
          <a:p xmlns:a="http://schemas.openxmlformats.org/drawingml/2006/main">
            <a:pPr algn="l">
              <a:defRPr sz="2325" b="1">
                <a:solidFill>
                  <a:srgbClr val="B94B28"/>
                </a:solidFill>
                <a:latin typeface="Arial"/>
                <a:ea typeface="Arial"/>
                <a:cs typeface="Arial"/>
              </a:defRPr>
            </a:pPr>
            <a:r>
              <a:rPr sz="2325" b="1">
                <a:solidFill>
                  <a:srgbClr val="B94B28"/>
                </a:solidFill>
                <a:latin typeface="Arial"/>
                <a:ea typeface="Arial"/>
                <a:cs typeface="Arial"/>
              </a:rPr>
              <a:t>Employer-controlled steps</a:t>
            </a:r>
          </a:p>
        </p:txBody>
      </p:sp>
      <p:sp>
        <p:nvSpPr>
          <p:cNvPr id="7" name="column-1-detail-0">
            <a:extLst xmlns:a="http://schemas.openxmlformats.org/drawingml/2006/main">
              <a:ext uri="{FF2B5EF4-FFF2-40B4-BE49-F238E27FC236}">
                <a16:creationId xmlns:a16="http://schemas.microsoft.com/office/drawing/2014/main" id="{AFD74679-D534-4732-9487-1A898F7A015B}"/>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Waiting, unclear responses and scheduling can remain outside the applicant's control.</a:t>
            </a:r>
          </a:p>
        </p:txBody>
      </p:sp>
      <p:sp>
        <p:nvSpPr>
          <p:cNvPr id="8" name="column-1-detail-1">
            <a:extLst xmlns:a="http://schemas.openxmlformats.org/drawingml/2006/main">
              <a:ext uri="{FF2B5EF4-FFF2-40B4-BE49-F238E27FC236}">
                <a16:creationId xmlns:a16="http://schemas.microsoft.com/office/drawing/2014/main" id="{DC6D7ACE-CC7E-4C0B-9BC2-D6F84520D816}"/>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Better wording alone cannot change those conditions.</a:t>
            </a:r>
          </a:p>
        </p:txBody>
      </p:sp>
      <p:sp>
        <p:nvSpPr>
          <p:cNvPr id="9" name="takeaway">
            <a:extLst xmlns:a="http://schemas.openxmlformats.org/drawingml/2006/main">
              <a:ext uri="{FF2B5EF4-FFF2-40B4-BE49-F238E27FC236}">
                <a16:creationId xmlns:a16="http://schemas.microsoft.com/office/drawing/2014/main" id="{59302B7B-12B5-4B87-8974-E14BA47296DD}"/>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JobHub's possible contribution needs a boundary as well as a benefit.</a:t>
            </a:r>
          </a:p>
        </p:txBody>
      </p:sp>
      <p:sp>
        <p:nvSpPr>
          <p:cNvPr id="10" name="evidence-boundary">
            <a:extLst xmlns:a="http://schemas.openxmlformats.org/drawingml/2006/main">
              <a:ext uri="{FF2B5EF4-FFF2-40B4-BE49-F238E27FC236}">
                <a16:creationId xmlns:a16="http://schemas.microsoft.com/office/drawing/2014/main" id="{F6E70EC2-34F6-455F-B4B7-DE62FCA0B457}"/>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Includes a 2023 US expert screen-reader evaluation. No shared prevalence or current Singapore access test.</a:t>
            </a:r>
          </a:p>
        </p:txBody>
      </p:sp>
      <p:sp>
        <p:nvSpPr>
          <p:cNvPr id="11" name="slide-number">
            <a:extLst xmlns:a="http://schemas.openxmlformats.org/drawingml/2006/main">
              <a:ext uri="{FF2B5EF4-FFF2-40B4-BE49-F238E27FC236}">
                <a16:creationId xmlns:a16="http://schemas.microsoft.com/office/drawing/2014/main" id="{E18E1885-8EBA-46AC-9476-D2DFAC26C82F}"/>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06</a:t>
            </a:r>
          </a:p>
        </p:txBody>
      </p:sp>
    </p:spTree>
    <p:extLst>
      <p:ext uri="{BB962C8B-B14F-4D97-AF65-F5344CB8AC3E}">
        <p14:creationId xmlns:p14="http://schemas.microsoft.com/office/powerpoint/2010/main" val="2017168230"/>
      </p:ext>
    </p:extLst>
  </p:cSld>
</p:sld>
</file>

<file path=ppt/slides/slide7.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8CAFA90C-2E49-4484-89FF-AB015AF990E3}"/>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Which opportunities deserve effort?</a:t>
            </a:r>
          </a:p>
        </p:txBody>
      </p:sp>
      <p:sp>
        <p:nvSpPr>
          <p:cNvPr id="2" name="lead">
            <a:extLst xmlns:a="http://schemas.openxmlformats.org/drawingml/2006/main">
              <a:ext uri="{FF2B5EF4-FFF2-40B4-BE49-F238E27FC236}">
                <a16:creationId xmlns:a16="http://schemas.microsoft.com/office/drawing/2014/main" id="{19A7B9AD-239B-40CB-84B0-64614654FC2D}"/>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 job title alone leaves important questions unanswered.</a:t>
            </a:r>
          </a:p>
        </p:txBody>
      </p:sp>
      <p:sp>
        <p:nvSpPr>
          <p:cNvPr id="3" name="column-heading-0">
            <a:extLst xmlns:a="http://schemas.openxmlformats.org/drawingml/2006/main">
              <a:ext uri="{FF2B5EF4-FFF2-40B4-BE49-F238E27FC236}">
                <a16:creationId xmlns:a16="http://schemas.microsoft.com/office/drawing/2014/main" id="{66ACD4BD-007A-4BC1-9C4D-860ECBE6DA33}"/>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The work and conditions</a:t>
            </a:r>
          </a:p>
        </p:txBody>
      </p:sp>
      <p:sp>
        <p:nvSpPr>
          <p:cNvPr id="4" name="column-0-detail-0">
            <a:extLst xmlns:a="http://schemas.openxmlformats.org/drawingml/2006/main">
              <a:ext uri="{FF2B5EF4-FFF2-40B4-BE49-F238E27FC236}">
                <a16:creationId xmlns:a16="http://schemas.microsoft.com/office/drawing/2014/main" id="{057645D5-3153-4F47-A48B-8833F693A56A}"/>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What tasks and essential requirements are involved?</a:t>
            </a:r>
          </a:p>
        </p:txBody>
      </p:sp>
      <p:sp>
        <p:nvSpPr>
          <p:cNvPr id="5" name="column-0-detail-1">
            <a:extLst xmlns:a="http://schemas.openxmlformats.org/drawingml/2006/main">
              <a:ext uri="{FF2B5EF4-FFF2-40B4-BE49-F238E27FC236}">
                <a16:creationId xmlns:a16="http://schemas.microsoft.com/office/drawing/2014/main" id="{2854A8F3-93B0-440B-BE68-3D73B73EB8A6}"/>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What hours, location and compensation terms apply?</a:t>
            </a:r>
          </a:p>
        </p:txBody>
      </p:sp>
      <p:sp>
        <p:nvSpPr>
          <p:cNvPr id="6" name="column-heading-1">
            <a:extLst xmlns:a="http://schemas.openxmlformats.org/drawingml/2006/main">
              <a:ext uri="{FF2B5EF4-FFF2-40B4-BE49-F238E27FC236}">
                <a16:creationId xmlns:a16="http://schemas.microsoft.com/office/drawing/2014/main" id="{69CE1DA0-0248-4BBC-8648-EF6DDBB37266}"/>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The person's evidence</a:t>
            </a:r>
          </a:p>
        </p:txBody>
      </p:sp>
      <p:sp>
        <p:nvSpPr>
          <p:cNvPr id="7" name="column-1-detail-0">
            <a:extLst xmlns:a="http://schemas.openxmlformats.org/drawingml/2006/main">
              <a:ext uri="{FF2B5EF4-FFF2-40B4-BE49-F238E27FC236}">
                <a16:creationId xmlns:a16="http://schemas.microsoft.com/office/drawing/2014/main" id="{230149E3-0A62-4775-9D37-38B809A39F90}"/>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Which real experience supports those tasks?</a:t>
            </a:r>
          </a:p>
        </p:txBody>
      </p:sp>
      <p:sp>
        <p:nvSpPr>
          <p:cNvPr id="8" name="column-1-detail-1">
            <a:extLst xmlns:a="http://schemas.openxmlformats.org/drawingml/2006/main">
              <a:ext uri="{FF2B5EF4-FFF2-40B4-BE49-F238E27FC236}">
                <a16:creationId xmlns:a16="http://schemas.microsoft.com/office/drawing/2014/main" id="{056C5F99-C2E8-44CC-9F79-A80FB979524C}"/>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Which constraints, preferences or gaps matter?</a:t>
            </a:r>
          </a:p>
        </p:txBody>
      </p:sp>
      <p:sp>
        <p:nvSpPr>
          <p:cNvPr id="9" name="takeaway">
            <a:extLst xmlns:a="http://schemas.openxmlformats.org/drawingml/2006/main">
              <a:ext uri="{FF2B5EF4-FFF2-40B4-BE49-F238E27FC236}">
                <a16:creationId xmlns:a16="http://schemas.microsoft.com/office/drawing/2014/main" id="{F6A41E1E-6406-46A5-B2C9-0E5AC1BBD2DA}"/>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Missing information should become a question, rather than an assumed answer.</a:t>
            </a:r>
          </a:p>
        </p:txBody>
      </p:sp>
      <p:sp>
        <p:nvSpPr>
          <p:cNvPr id="10" name="evidence-boundary">
            <a:extLst xmlns:a="http://schemas.openxmlformats.org/drawingml/2006/main">
              <a:ext uri="{FF2B5EF4-FFF2-40B4-BE49-F238E27FC236}">
                <a16:creationId xmlns:a16="http://schemas.microsoft.com/office/drawing/2014/main" id="{6384639D-C8D0-4DD7-934C-BAAF4EA90BB2}"/>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D02–D05, D10–D12. Research-derived guidance, not an individual suitability assessment.</a:t>
            </a:r>
          </a:p>
        </p:txBody>
      </p:sp>
      <p:sp>
        <p:nvSpPr>
          <p:cNvPr id="11" name="slide-number">
            <a:extLst xmlns:a="http://schemas.openxmlformats.org/drawingml/2006/main">
              <a:ext uri="{FF2B5EF4-FFF2-40B4-BE49-F238E27FC236}">
                <a16:creationId xmlns:a16="http://schemas.microsoft.com/office/drawing/2014/main" id="{B885A992-6C1E-48A2-AC27-A1ABDE1F3C0D}"/>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07</a:t>
            </a:r>
          </a:p>
        </p:txBody>
      </p:sp>
    </p:spTree>
    <p:extLst>
      <p:ext uri="{BB962C8B-B14F-4D97-AF65-F5344CB8AC3E}">
        <p14:creationId xmlns:p14="http://schemas.microsoft.com/office/powerpoint/2010/main" val="477170097"/>
      </p:ext>
    </p:extLst>
  </p:cSld>
</p:sld>
</file>

<file path=ppt/slides/slide8.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83E4FF8-1E71-4665-9D47-647046CBE2D1}"/>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A warning sign starts a check</a:t>
            </a:r>
          </a:p>
        </p:txBody>
      </p:sp>
      <p:sp>
        <p:nvSpPr>
          <p:cNvPr id="2" name="lead">
            <a:extLst xmlns:a="http://schemas.openxmlformats.org/drawingml/2006/main">
              <a:ext uri="{FF2B5EF4-FFF2-40B4-BE49-F238E27FC236}">
                <a16:creationId xmlns:a16="http://schemas.microsoft.com/office/drawing/2014/main" id="{F6B79772-CC6B-49F6-9D82-F782C6AAD9D3}"/>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 specific concern is more useful when paired with a proportionate question.</a:t>
            </a:r>
          </a:p>
        </p:txBody>
      </p:sp>
      <p:graphicFrame>
        <p:nvGraphicFramePr>
          <p:cNvPr id="3" name="">
            <a:extLst xmlns:a="http://schemas.openxmlformats.org/drawingml/2006/main">
              <a:ext uri="{FF2B5EF4-FFF2-40B4-BE49-F238E27FC236}">
                <a16:creationId xmlns:a16="http://schemas.microsoft.com/office/drawing/2014/main" id="{D3B35553-3C4B-4055-AFFD-017D5F89204A}"/>
              </a:ext>
            </a:extLst>
          </p:cNvPr>
          <p:cNvGraphicFramePr/>
          <p:nvPr/>
        </p:nvGraphicFramePr>
        <p:xfrm>
          <a:off xmlns:a="http://schemas.openxmlformats.org/drawingml/2006/main" x="723900" y="2533650"/>
          <a:ext xmlns:a="http://schemas.openxmlformats.org/drawingml/2006/main" cx="10820400" cy="3219450"/>
        </p:xfrm>
        <a:graphic xmlns:a="http://schemas.openxmlformats.org/drawingml/2006/main">
          <a:graphicData uri="http://schemas.openxmlformats.org/drawingml/2006/table">
            <a:tbl>
              <a:tblPr firstRow="1" bandRow="0"/>
              <a:tblGrid>
                <a:gridCol w="4191000"/>
                <a:gridCol w="6629400"/>
              </a:tblGrid>
              <a:tr h="457200">
                <a:tc>
                  <a:txBody>
                    <a:bodyPr wrap="square" lIns="133350" tIns="76200" rIns="133350" bIns="76200">
                      <a:noAutofit/>
                    </a:bodyPr>
                    <a:lstStyle/>
                    <a:p>
                      <a:r>
                        <a:rPr sz="1800" b="1">
                          <a:solidFill>
                            <a:srgbClr val="FFFFFF"/>
                          </a:solidFill>
                          <a:latin typeface="Arial"/>
                          <a:ea typeface="Arial"/>
                          <a:cs typeface="Arial"/>
                        </a:rPr>
                        <a:t>Signal or uncertainty</a:t>
                      </a:r>
                    </a:p>
                  </a:txBody>
                  <a:tcPr marL="91440" marR="91440" marT="45720" marB="45720" anchor="ctr">
                    <a:lnL w="6668">
                      <a:solidFill>
                        <a:srgbClr val="D9D8D2"/>
                      </a:solidFill>
                      <a:prstDash val="solid"/>
                    </a:lnL>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76200" rIns="133350" bIns="76200">
                      <a:noAutofit/>
                    </a:bodyPr>
                    <a:lstStyle/>
                    <a:p>
                      <a:r>
                        <a:rPr sz="1800" b="1">
                          <a:solidFill>
                            <a:srgbClr val="FFFFFF"/>
                          </a:solidFill>
                          <a:latin typeface="Arial"/>
                          <a:ea typeface="Arial"/>
                          <a:cs typeface="Arial"/>
                        </a:rPr>
                        <a:t>Useful next check</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r>
              <a:tr h="690563">
                <a:tc>
                  <a:txBody>
                    <a:bodyPr wrap="square" lIns="133350" tIns="76200" rIns="133350" bIns="76200">
                      <a:noAutofit/>
                    </a:bodyPr>
                    <a:lstStyle/>
                    <a:p>
                      <a:r>
                        <a:rPr sz="1875" b="0">
                          <a:solidFill>
                            <a:srgbClr val="172D40"/>
                          </a:solidFill>
                          <a:latin typeface="Arial"/>
                          <a:ea typeface="Arial"/>
                          <a:cs typeface="Arial"/>
                        </a:rPr>
                        <a:t>Unclear recruiter identity</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Independently confirm the organisation, contact and vacancy.</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Vague or changing duties</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Ask what the work involves and how success is assessed.</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Pressure or substantial unpaid work</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Clarify the deadline, assessment scope and reason.</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Repeated listing or hostile wording</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Ask about hiring history, expectations and conditions.</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bl>
          </a:graphicData>
        </a:graphic>
      </p:graphicFrame>
      <p:sp>
        <p:nvSpPr>
          <p:cNvPr id="4" name="evidence-boundary">
            <a:extLst xmlns:a="http://schemas.openxmlformats.org/drawingml/2006/main">
              <a:ext uri="{FF2B5EF4-FFF2-40B4-BE49-F238E27FC236}">
                <a16:creationId xmlns:a16="http://schemas.microsoft.com/office/drawing/2014/main" id="{5ED4AD75-20EC-4E68-B3B1-D718C1FB4582}"/>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D01, D02, D05, D08–D09. Wording or a repeated listing cannot establish employer intent.</a:t>
            </a:r>
          </a:p>
        </p:txBody>
      </p:sp>
      <p:sp>
        <p:nvSpPr>
          <p:cNvPr id="5" name="slide-number">
            <a:extLst xmlns:a="http://schemas.openxmlformats.org/drawingml/2006/main">
              <a:ext uri="{FF2B5EF4-FFF2-40B4-BE49-F238E27FC236}">
                <a16:creationId xmlns:a16="http://schemas.microsoft.com/office/drawing/2014/main" id="{A164A670-F41A-4820-8292-E4A640FFAEF7}"/>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08</a:t>
            </a:r>
          </a:p>
        </p:txBody>
      </p:sp>
    </p:spTree>
    <p:extLst>
      <p:ext uri="{BB962C8B-B14F-4D97-AF65-F5344CB8AC3E}">
        <p14:creationId xmlns:p14="http://schemas.microsoft.com/office/powerpoint/2010/main" val="94617539"/>
      </p:ext>
    </p:extLst>
  </p:cSld>
</p:sld>
</file>

<file path=ppt/slides/slide9.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E2F76761-CC13-47A0-ADEB-A762D2C9AC66}"/>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Fit is more than a keyword score</a:t>
            </a:r>
          </a:p>
        </p:txBody>
      </p:sp>
      <p:sp>
        <p:nvSpPr>
          <p:cNvPr id="2" name="lead">
            <a:extLst xmlns:a="http://schemas.openxmlformats.org/drawingml/2006/main">
              <a:ext uri="{FF2B5EF4-FFF2-40B4-BE49-F238E27FC236}">
                <a16:creationId xmlns:a16="http://schemas.microsoft.com/office/drawing/2014/main" id="{2AB4AD30-33A2-478C-88AA-89A50FC89B7C}"/>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An incomplete record is different from a demonstrated skill gap.</a:t>
            </a:r>
          </a:p>
        </p:txBody>
      </p:sp>
      <p:sp>
        <p:nvSpPr>
          <p:cNvPr id="3" name="diagram-heading-0">
            <a:extLst xmlns:a="http://schemas.openxmlformats.org/drawingml/2006/main">
              <a:ext uri="{FF2B5EF4-FFF2-40B4-BE49-F238E27FC236}">
                <a16:creationId xmlns:a16="http://schemas.microsoft.com/office/drawing/2014/main" id="{C5FF8AFF-F683-4889-A5E7-65B9BE407AAC}"/>
              </a:ext>
            </a:extLst>
          </p:cNvPr>
          <p:cNvSpPr>
            <a:spLocks xmlns:a="http://schemas.openxmlformats.org/drawingml/2006/main" noGrp="1"/>
          </p:cNvSpPr>
          <p:nvPr/>
        </p:nvSpPr>
        <p:spPr>
          <a:xfrm xmlns:a="http://schemas.openxmlformats.org/drawingml/2006/main">
            <a:off x="762000" y="281940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166B65"/>
                </a:solidFill>
                <a:latin typeface="Arial"/>
                <a:ea typeface="Arial"/>
                <a:cs typeface="Arial"/>
              </a:defRPr>
            </a:defPPr>
            <a:lvl1pPr algn="l">
              <a:defRPr sz="2625" b="1">
                <a:solidFill>
                  <a:srgbClr val="166B65"/>
                </a:solidFill>
                <a:latin typeface="Arial"/>
                <a:ea typeface="Arial"/>
                <a:cs typeface="Arial"/>
              </a:defRPr>
            </a:lvl1pPr>
            <a:lvl2pPr algn="l">
              <a:defRPr sz="2625" b="1">
                <a:solidFill>
                  <a:srgbClr val="166B65"/>
                </a:solidFill>
                <a:latin typeface="Arial"/>
                <a:ea typeface="Arial"/>
                <a:cs typeface="Arial"/>
              </a:defRPr>
            </a:lvl2pPr>
            <a:lvl3pPr algn="l">
              <a:defRPr sz="2625" b="1">
                <a:solidFill>
                  <a:srgbClr val="166B65"/>
                </a:solidFill>
                <a:latin typeface="Arial"/>
                <a:ea typeface="Arial"/>
                <a:cs typeface="Arial"/>
              </a:defRPr>
            </a:lvl3pPr>
            <a:lvl4pPr algn="l">
              <a:defRPr sz="2625" b="1">
                <a:solidFill>
                  <a:srgbClr val="166B65"/>
                </a:solidFill>
                <a:latin typeface="Arial"/>
                <a:ea typeface="Arial"/>
                <a:cs typeface="Arial"/>
              </a:defRPr>
            </a:lvl4pPr>
            <a:lvl5pPr algn="l">
              <a:defRPr sz="2625" b="1">
                <a:solidFill>
                  <a:srgbClr val="166B65"/>
                </a:solidFill>
                <a:latin typeface="Arial"/>
                <a:ea typeface="Arial"/>
                <a:cs typeface="Arial"/>
              </a:defRPr>
            </a:lvl5pPr>
            <a:lvl6pPr algn="l">
              <a:defRPr sz="2625" b="1">
                <a:solidFill>
                  <a:srgbClr val="166B65"/>
                </a:solidFill>
                <a:latin typeface="Arial"/>
                <a:ea typeface="Arial"/>
                <a:cs typeface="Arial"/>
              </a:defRPr>
            </a:lvl6pPr>
            <a:lvl7pPr algn="l">
              <a:defRPr sz="2625" b="1">
                <a:solidFill>
                  <a:srgbClr val="166B65"/>
                </a:solidFill>
                <a:latin typeface="Arial"/>
                <a:ea typeface="Arial"/>
                <a:cs typeface="Arial"/>
              </a:defRPr>
            </a:lvl7pPr>
            <a:lvl8pPr algn="l">
              <a:defRPr sz="2625" b="1">
                <a:solidFill>
                  <a:srgbClr val="166B65"/>
                </a:solidFill>
                <a:latin typeface="Arial"/>
                <a:ea typeface="Arial"/>
                <a:cs typeface="Arial"/>
              </a:defRPr>
            </a:lvl8pPr>
            <a:lvl9pPr algn="l">
              <a:defRPr sz="2625" b="1">
                <a:solidFill>
                  <a:srgbClr val="166B65"/>
                </a:solidFill>
                <a:latin typeface="Arial"/>
                <a:ea typeface="Arial"/>
                <a:cs typeface="Arial"/>
              </a:defRPr>
            </a:lvl9pPr>
          </a:lstStyle>
          <a:p xmlns:a="http://schemas.openxmlformats.org/drawingml/2006/main">
            <a:pPr algn="l">
              <a:defRPr sz="2625" b="1">
                <a:solidFill>
                  <a:srgbClr val="166B65"/>
                </a:solidFill>
                <a:latin typeface="Arial"/>
                <a:ea typeface="Arial"/>
                <a:cs typeface="Arial"/>
              </a:defRPr>
            </a:pPr>
            <a:r>
              <a:rPr sz="2625" b="1">
                <a:solidFill>
                  <a:srgbClr val="166B65"/>
                </a:solidFill>
                <a:latin typeface="Arial"/>
                <a:ea typeface="Arial"/>
                <a:cs typeface="Arial"/>
              </a:rPr>
              <a:t>Demonstrated</a:t>
            </a:r>
          </a:p>
        </p:txBody>
      </p:sp>
      <p:sp>
        <p:nvSpPr>
          <p:cNvPr id="4" name="diagram-detail-0">
            <a:extLst xmlns:a="http://schemas.openxmlformats.org/drawingml/2006/main">
              <a:ext uri="{FF2B5EF4-FFF2-40B4-BE49-F238E27FC236}">
                <a16:creationId xmlns:a16="http://schemas.microsoft.com/office/drawing/2014/main" id="{064284D8-622A-4AA5-8685-C349C9186D98}"/>
              </a:ext>
            </a:extLst>
          </p:cNvPr>
          <p:cNvSpPr>
            <a:spLocks xmlns:a="http://schemas.openxmlformats.org/drawingml/2006/main" noGrp="1"/>
          </p:cNvSpPr>
          <p:nvPr/>
        </p:nvSpPr>
        <p:spPr>
          <a:xfrm xmlns:a="http://schemas.openxmlformats.org/drawingml/2006/main">
            <a:off x="762000" y="3857625"/>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 real task or outcome supports the requirement.</a:t>
            </a:r>
          </a:p>
        </p:txBody>
      </p:sp>
      <p:sp>
        <p:nvSpPr>
          <p:cNvPr id="5" name="diagram-heading-1">
            <a:extLst xmlns:a="http://schemas.openxmlformats.org/drawingml/2006/main">
              <a:ext uri="{FF2B5EF4-FFF2-40B4-BE49-F238E27FC236}">
                <a16:creationId xmlns:a16="http://schemas.microsoft.com/office/drawing/2014/main" id="{5A15B4D6-606F-46E4-A272-6AAAA6FF5C4C}"/>
              </a:ext>
            </a:extLst>
          </p:cNvPr>
          <p:cNvSpPr>
            <a:spLocks xmlns:a="http://schemas.openxmlformats.org/drawingml/2006/main" noGrp="1"/>
          </p:cNvSpPr>
          <p:nvPr/>
        </p:nvSpPr>
        <p:spPr>
          <a:xfrm xmlns:a="http://schemas.openxmlformats.org/drawingml/2006/main">
            <a:off x="4476750" y="281940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166B65"/>
                </a:solidFill>
                <a:latin typeface="Arial"/>
                <a:ea typeface="Arial"/>
                <a:cs typeface="Arial"/>
              </a:defRPr>
            </a:defPPr>
            <a:lvl1pPr algn="l">
              <a:defRPr sz="2625" b="1">
                <a:solidFill>
                  <a:srgbClr val="166B65"/>
                </a:solidFill>
                <a:latin typeface="Arial"/>
                <a:ea typeface="Arial"/>
                <a:cs typeface="Arial"/>
              </a:defRPr>
            </a:lvl1pPr>
            <a:lvl2pPr algn="l">
              <a:defRPr sz="2625" b="1">
                <a:solidFill>
                  <a:srgbClr val="166B65"/>
                </a:solidFill>
                <a:latin typeface="Arial"/>
                <a:ea typeface="Arial"/>
                <a:cs typeface="Arial"/>
              </a:defRPr>
            </a:lvl2pPr>
            <a:lvl3pPr algn="l">
              <a:defRPr sz="2625" b="1">
                <a:solidFill>
                  <a:srgbClr val="166B65"/>
                </a:solidFill>
                <a:latin typeface="Arial"/>
                <a:ea typeface="Arial"/>
                <a:cs typeface="Arial"/>
              </a:defRPr>
            </a:lvl3pPr>
            <a:lvl4pPr algn="l">
              <a:defRPr sz="2625" b="1">
                <a:solidFill>
                  <a:srgbClr val="166B65"/>
                </a:solidFill>
                <a:latin typeface="Arial"/>
                <a:ea typeface="Arial"/>
                <a:cs typeface="Arial"/>
              </a:defRPr>
            </a:lvl4pPr>
            <a:lvl5pPr algn="l">
              <a:defRPr sz="2625" b="1">
                <a:solidFill>
                  <a:srgbClr val="166B65"/>
                </a:solidFill>
                <a:latin typeface="Arial"/>
                <a:ea typeface="Arial"/>
                <a:cs typeface="Arial"/>
              </a:defRPr>
            </a:lvl5pPr>
            <a:lvl6pPr algn="l">
              <a:defRPr sz="2625" b="1">
                <a:solidFill>
                  <a:srgbClr val="166B65"/>
                </a:solidFill>
                <a:latin typeface="Arial"/>
                <a:ea typeface="Arial"/>
                <a:cs typeface="Arial"/>
              </a:defRPr>
            </a:lvl6pPr>
            <a:lvl7pPr algn="l">
              <a:defRPr sz="2625" b="1">
                <a:solidFill>
                  <a:srgbClr val="166B65"/>
                </a:solidFill>
                <a:latin typeface="Arial"/>
                <a:ea typeface="Arial"/>
                <a:cs typeface="Arial"/>
              </a:defRPr>
            </a:lvl7pPr>
            <a:lvl8pPr algn="l">
              <a:defRPr sz="2625" b="1">
                <a:solidFill>
                  <a:srgbClr val="166B65"/>
                </a:solidFill>
                <a:latin typeface="Arial"/>
                <a:ea typeface="Arial"/>
                <a:cs typeface="Arial"/>
              </a:defRPr>
            </a:lvl8pPr>
            <a:lvl9pPr algn="l">
              <a:defRPr sz="2625" b="1">
                <a:solidFill>
                  <a:srgbClr val="166B65"/>
                </a:solidFill>
                <a:latin typeface="Arial"/>
                <a:ea typeface="Arial"/>
                <a:cs typeface="Arial"/>
              </a:defRPr>
            </a:lvl9pPr>
          </a:lstStyle>
          <a:p xmlns:a="http://schemas.openxmlformats.org/drawingml/2006/main">
            <a:pPr algn="l">
              <a:defRPr sz="2625" b="1">
                <a:solidFill>
                  <a:srgbClr val="166B65"/>
                </a:solidFill>
                <a:latin typeface="Arial"/>
                <a:ea typeface="Arial"/>
                <a:cs typeface="Arial"/>
              </a:defRPr>
            </a:pPr>
            <a:r>
              <a:rPr sz="2625" b="1">
                <a:solidFill>
                  <a:srgbClr val="166B65"/>
                </a:solidFill>
                <a:latin typeface="Arial"/>
                <a:ea typeface="Arial"/>
                <a:cs typeface="Arial"/>
              </a:rPr>
              <a:t>Transferable</a:t>
            </a:r>
          </a:p>
        </p:txBody>
      </p:sp>
      <p:sp>
        <p:nvSpPr>
          <p:cNvPr id="6" name="diagram-detail-1">
            <a:extLst xmlns:a="http://schemas.openxmlformats.org/drawingml/2006/main">
              <a:ext uri="{FF2B5EF4-FFF2-40B4-BE49-F238E27FC236}">
                <a16:creationId xmlns:a16="http://schemas.microsoft.com/office/drawing/2014/main" id="{E93B2D1C-4830-40A7-95A9-956633505000}"/>
              </a:ext>
            </a:extLst>
          </p:cNvPr>
          <p:cNvSpPr>
            <a:spLocks xmlns:a="http://schemas.openxmlformats.org/drawingml/2006/main" noGrp="1"/>
          </p:cNvSpPr>
          <p:nvPr/>
        </p:nvSpPr>
        <p:spPr>
          <a:xfrm xmlns:a="http://schemas.openxmlformats.org/drawingml/2006/main">
            <a:off x="4476750" y="3857625"/>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Explain how existing experience applies here.</a:t>
            </a:r>
          </a:p>
        </p:txBody>
      </p:sp>
      <p:sp>
        <p:nvSpPr>
          <p:cNvPr id="7" name="diagram-heading-2">
            <a:extLst xmlns:a="http://schemas.openxmlformats.org/drawingml/2006/main">
              <a:ext uri="{FF2B5EF4-FFF2-40B4-BE49-F238E27FC236}">
                <a16:creationId xmlns:a16="http://schemas.microsoft.com/office/drawing/2014/main" id="{4AFDA2E8-5758-41E2-B96D-58F6462A8879}"/>
              </a:ext>
            </a:extLst>
          </p:cNvPr>
          <p:cNvSpPr>
            <a:spLocks xmlns:a="http://schemas.openxmlformats.org/drawingml/2006/main" noGrp="1"/>
          </p:cNvSpPr>
          <p:nvPr/>
        </p:nvSpPr>
        <p:spPr>
          <a:xfrm xmlns:a="http://schemas.openxmlformats.org/drawingml/2006/main">
            <a:off x="8191500" y="281940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166B65"/>
                </a:solidFill>
                <a:latin typeface="Arial"/>
                <a:ea typeface="Arial"/>
                <a:cs typeface="Arial"/>
              </a:defRPr>
            </a:defPPr>
            <a:lvl1pPr algn="l">
              <a:defRPr sz="2625" b="1">
                <a:solidFill>
                  <a:srgbClr val="166B65"/>
                </a:solidFill>
                <a:latin typeface="Arial"/>
                <a:ea typeface="Arial"/>
                <a:cs typeface="Arial"/>
              </a:defRPr>
            </a:lvl1pPr>
            <a:lvl2pPr algn="l">
              <a:defRPr sz="2625" b="1">
                <a:solidFill>
                  <a:srgbClr val="166B65"/>
                </a:solidFill>
                <a:latin typeface="Arial"/>
                <a:ea typeface="Arial"/>
                <a:cs typeface="Arial"/>
              </a:defRPr>
            </a:lvl2pPr>
            <a:lvl3pPr algn="l">
              <a:defRPr sz="2625" b="1">
                <a:solidFill>
                  <a:srgbClr val="166B65"/>
                </a:solidFill>
                <a:latin typeface="Arial"/>
                <a:ea typeface="Arial"/>
                <a:cs typeface="Arial"/>
              </a:defRPr>
            </a:lvl3pPr>
            <a:lvl4pPr algn="l">
              <a:defRPr sz="2625" b="1">
                <a:solidFill>
                  <a:srgbClr val="166B65"/>
                </a:solidFill>
                <a:latin typeface="Arial"/>
                <a:ea typeface="Arial"/>
                <a:cs typeface="Arial"/>
              </a:defRPr>
            </a:lvl4pPr>
            <a:lvl5pPr algn="l">
              <a:defRPr sz="2625" b="1">
                <a:solidFill>
                  <a:srgbClr val="166B65"/>
                </a:solidFill>
                <a:latin typeface="Arial"/>
                <a:ea typeface="Arial"/>
                <a:cs typeface="Arial"/>
              </a:defRPr>
            </a:lvl5pPr>
            <a:lvl6pPr algn="l">
              <a:defRPr sz="2625" b="1">
                <a:solidFill>
                  <a:srgbClr val="166B65"/>
                </a:solidFill>
                <a:latin typeface="Arial"/>
                <a:ea typeface="Arial"/>
                <a:cs typeface="Arial"/>
              </a:defRPr>
            </a:lvl6pPr>
            <a:lvl7pPr algn="l">
              <a:defRPr sz="2625" b="1">
                <a:solidFill>
                  <a:srgbClr val="166B65"/>
                </a:solidFill>
                <a:latin typeface="Arial"/>
                <a:ea typeface="Arial"/>
                <a:cs typeface="Arial"/>
              </a:defRPr>
            </a:lvl7pPr>
            <a:lvl8pPr algn="l">
              <a:defRPr sz="2625" b="1">
                <a:solidFill>
                  <a:srgbClr val="166B65"/>
                </a:solidFill>
                <a:latin typeface="Arial"/>
                <a:ea typeface="Arial"/>
                <a:cs typeface="Arial"/>
              </a:defRPr>
            </a:lvl8pPr>
            <a:lvl9pPr algn="l">
              <a:defRPr sz="2625" b="1">
                <a:solidFill>
                  <a:srgbClr val="166B65"/>
                </a:solidFill>
                <a:latin typeface="Arial"/>
                <a:ea typeface="Arial"/>
                <a:cs typeface="Arial"/>
              </a:defRPr>
            </a:lvl9pPr>
          </a:lstStyle>
          <a:p xmlns:a="http://schemas.openxmlformats.org/drawingml/2006/main">
            <a:pPr algn="l">
              <a:defRPr sz="2625" b="1">
                <a:solidFill>
                  <a:srgbClr val="166B65"/>
                </a:solidFill>
                <a:latin typeface="Arial"/>
                <a:ea typeface="Arial"/>
                <a:cs typeface="Arial"/>
              </a:defRPr>
            </a:pPr>
            <a:r>
              <a:rPr sz="2625" b="1">
                <a:solidFill>
                  <a:srgbClr val="166B65"/>
                </a:solidFill>
                <a:latin typeface="Arial"/>
                <a:ea typeface="Arial"/>
                <a:cs typeface="Arial"/>
              </a:rPr>
              <a:t>Unconfirmed</a:t>
            </a:r>
          </a:p>
        </p:txBody>
      </p:sp>
      <p:sp>
        <p:nvSpPr>
          <p:cNvPr id="8" name="diagram-detail-2">
            <a:extLst xmlns:a="http://schemas.openxmlformats.org/drawingml/2006/main">
              <a:ext uri="{FF2B5EF4-FFF2-40B4-BE49-F238E27FC236}">
                <a16:creationId xmlns:a16="http://schemas.microsoft.com/office/drawing/2014/main" id="{6B14B57A-B6B2-4928-8FDE-6BD2F5BBBB73}"/>
              </a:ext>
            </a:extLst>
          </p:cNvPr>
          <p:cNvSpPr>
            <a:spLocks xmlns:a="http://schemas.openxmlformats.org/drawingml/2006/main" noGrp="1"/>
          </p:cNvSpPr>
          <p:nvPr/>
        </p:nvSpPr>
        <p:spPr>
          <a:xfrm xmlns:a="http://schemas.openxmlformats.org/drawingml/2006/main">
            <a:off x="8191500" y="3857625"/>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Ask for evidence or retain a genuine gap.</a:t>
            </a:r>
          </a:p>
        </p:txBody>
      </p:sp>
      <p:sp>
        <p:nvSpPr>
          <p:cNvPr id="9" name="takeaway">
            <a:extLst xmlns:a="http://schemas.openxmlformats.org/drawingml/2006/main">
              <a:ext uri="{FF2B5EF4-FFF2-40B4-BE49-F238E27FC236}">
                <a16:creationId xmlns:a16="http://schemas.microsoft.com/office/drawing/2014/main" id="{A0DC7106-69EA-44FB-81B2-D10BCC80C1FC}"/>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Essential criteria still matter. Missing profile detail does not prove missing ability.</a:t>
            </a:r>
          </a:p>
        </p:txBody>
      </p:sp>
      <p:sp>
        <p:nvSpPr>
          <p:cNvPr id="10" name="evidence-boundary">
            <a:extLst xmlns:a="http://schemas.openxmlformats.org/drawingml/2006/main">
              <a:ext uri="{FF2B5EF4-FFF2-40B4-BE49-F238E27FC236}">
                <a16:creationId xmlns:a16="http://schemas.microsoft.com/office/drawing/2014/main" id="{03F297F8-E24F-40E0-865F-6BCA412349E4}"/>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D02, D03, D10, D12. These are assessment distinctions, not a predictive scoring system.</a:t>
            </a:r>
          </a:p>
        </p:txBody>
      </p:sp>
      <p:sp>
        <p:nvSpPr>
          <p:cNvPr id="11" name="slide-number">
            <a:extLst xmlns:a="http://schemas.openxmlformats.org/drawingml/2006/main">
              <a:ext uri="{FF2B5EF4-FFF2-40B4-BE49-F238E27FC236}">
                <a16:creationId xmlns:a16="http://schemas.microsoft.com/office/drawing/2014/main" id="{5EA792AC-DE60-4618-AE42-3AAF6B686495}"/>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09</a:t>
            </a:r>
          </a:p>
        </p:txBody>
      </p:sp>
    </p:spTree>
    <p:extLst>
      <p:ext uri="{BB962C8B-B14F-4D97-AF65-F5344CB8AC3E}">
        <p14:creationId xmlns:p14="http://schemas.microsoft.com/office/powerpoint/2010/main" val="1980496862"/>
      </p:ext>
    </p:extLst>
  </p:cSld>
</p:sld>
</file>

<file path=ppt/slides/slide10.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E627235-693B-4946-9E65-F7F469D6C4C4}"/>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Truthful tailoring begins with facts</a:t>
            </a:r>
          </a:p>
        </p:txBody>
      </p:sp>
      <p:sp>
        <p:nvSpPr>
          <p:cNvPr id="2" name="lead">
            <a:extLst xmlns:a="http://schemas.openxmlformats.org/drawingml/2006/main">
              <a:ext uri="{FF2B5EF4-FFF2-40B4-BE49-F238E27FC236}">
                <a16:creationId xmlns:a16="http://schemas.microsoft.com/office/drawing/2014/main" id="{D76F69E4-96B7-41C4-ADB6-38A12FF0D72D}"/>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Fictional fact record: clearer wording must stay within what it establishes.</a:t>
            </a:r>
          </a:p>
        </p:txBody>
      </p:sp>
      <p:graphicFrame>
        <p:nvGraphicFramePr>
          <p:cNvPr id="3" name="">
            <a:extLst xmlns:a="http://schemas.openxmlformats.org/drawingml/2006/main">
              <a:ext uri="{FF2B5EF4-FFF2-40B4-BE49-F238E27FC236}">
                <a16:creationId xmlns:a16="http://schemas.microsoft.com/office/drawing/2014/main" id="{AF65C8BF-7CD0-472B-9784-9356501093F0}"/>
              </a:ext>
            </a:extLst>
          </p:cNvPr>
          <p:cNvGraphicFramePr/>
          <p:nvPr/>
        </p:nvGraphicFramePr>
        <p:xfrm>
          <a:off xmlns:a="http://schemas.openxmlformats.org/drawingml/2006/main" x="723900" y="2533650"/>
          <a:ext xmlns:a="http://schemas.openxmlformats.org/drawingml/2006/main" cx="10820400" cy="3143250"/>
        </p:xfrm>
        <a:graphic xmlns:a="http://schemas.openxmlformats.org/drawingml/2006/main">
          <a:graphicData uri="http://schemas.openxmlformats.org/drawingml/2006/table">
            <a:tbl>
              <a:tblPr firstRow="1" bandRow="0"/>
              <a:tblGrid>
                <a:gridCol w="3143250"/>
                <a:gridCol w="4438650"/>
                <a:gridCol w="3238500"/>
              </a:tblGrid>
              <a:tr h="457200">
                <a:tc>
                  <a:txBody>
                    <a:bodyPr wrap="square" lIns="133350" tIns="76200" rIns="133350" bIns="76200">
                      <a:noAutofit/>
                    </a:bodyPr>
                    <a:lstStyle/>
                    <a:p>
                      <a:r>
                        <a:rPr sz="1800" b="1">
                          <a:solidFill>
                            <a:srgbClr val="FFFFFF"/>
                          </a:solidFill>
                          <a:latin typeface="Arial"/>
                          <a:ea typeface="Arial"/>
                          <a:cs typeface="Arial"/>
                        </a:rPr>
                        <a:t>Known experience</a:t>
                      </a:r>
                    </a:p>
                  </a:txBody>
                  <a:tcPr marL="91440" marR="91440" marT="45720" marB="45720" anchor="ctr">
                    <a:lnL w="6668">
                      <a:solidFill>
                        <a:srgbClr val="D9D8D2"/>
                      </a:solidFill>
                      <a:prstDash val="solid"/>
                    </a:lnL>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76200" rIns="133350" bIns="76200">
                      <a:noAutofit/>
                    </a:bodyPr>
                    <a:lstStyle/>
                    <a:p>
                      <a:r>
                        <a:rPr sz="1800" b="1">
                          <a:solidFill>
                            <a:srgbClr val="FFFFFF"/>
                          </a:solidFill>
                          <a:latin typeface="Arial"/>
                          <a:ea typeface="Arial"/>
                          <a:cs typeface="Arial"/>
                        </a:rPr>
                        <a:t>Reviewable wording</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76200" rIns="133350" bIns="76200">
                      <a:noAutofit/>
                    </a:bodyPr>
                    <a:lstStyle/>
                    <a:p>
                      <a:r>
                        <a:rPr sz="1800" b="1">
                          <a:solidFill>
                            <a:srgbClr val="FFFFFF"/>
                          </a:solidFill>
                          <a:latin typeface="Arial"/>
                          <a:ea typeface="Arial"/>
                          <a:cs typeface="Arial"/>
                        </a:rPr>
                        <a:t>Still unconfirmed</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r>
              <a:tr h="895350">
                <a:tc>
                  <a:txBody>
                    <a:bodyPr wrap="square" lIns="133350" tIns="76200" rIns="133350" bIns="76200">
                      <a:noAutofit/>
                    </a:bodyPr>
                    <a:lstStyle/>
                    <a:p>
                      <a:r>
                        <a:rPr sz="1875" b="0">
                          <a:solidFill>
                            <a:srgbClr val="172D40"/>
                          </a:solidFill>
                          <a:latin typeface="Arial"/>
                          <a:ea typeface="Arial"/>
                          <a:cs typeface="Arial"/>
                        </a:rPr>
                        <a:t>Daily stock updates in Excel</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Maintained daily inventory records in Excel.</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SQL or database proficiency</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895350">
                <a:tc>
                  <a:txBody>
                    <a:bodyPr wrap="square" lIns="133350" tIns="76200" rIns="133350" bIns="76200">
                      <a:noAutofit/>
                    </a:bodyPr>
                    <a:lstStyle/>
                    <a:p>
                      <a:r>
                        <a:rPr sz="1875" b="0">
                          <a:solidFill>
                            <a:srgbClr val="172D40"/>
                          </a:solidFill>
                          <a:latin typeface="Arial"/>
                          <a:ea typeface="Arial"/>
                          <a:cs typeface="Arial"/>
                        </a:rPr>
                        <a:t>Answered delivery-status enquiries</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Responded to customer enquiries about delivery status.</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The new role's technical tasks</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895350">
                <a:tc>
                  <a:txBody>
                    <a:bodyPr wrap="square" lIns="133350" tIns="76200" rIns="133350" bIns="76200">
                      <a:noAutofit/>
                    </a:bodyPr>
                    <a:lstStyle/>
                    <a:p>
                      <a:r>
                        <a:rPr sz="1875" b="0">
                          <a:solidFill>
                            <a:srgbClr val="172D40"/>
                          </a:solidFill>
                          <a:latin typeface="Arial"/>
                          <a:ea typeface="Arial"/>
                          <a:cs typeface="Arial"/>
                        </a:rPr>
                        <a:t>Showed a colleague the stock sheet</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Demonstrated the inventory spreadsheet to a colleague.</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Formal management experience</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bl>
          </a:graphicData>
        </a:graphic>
      </p:graphicFrame>
      <p:sp>
        <p:nvSpPr>
          <p:cNvPr id="4" name="evidence-boundary">
            <a:extLst xmlns:a="http://schemas.openxmlformats.org/drawingml/2006/main">
              <a:ext uri="{FF2B5EF4-FFF2-40B4-BE49-F238E27FC236}">
                <a16:creationId xmlns:a16="http://schemas.microsoft.com/office/drawing/2014/main" id="{A2AA31BF-AD33-4E5F-8A97-973674ECC9C7}"/>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Fictional examples based on guidance. Actual titles, dates, credentials and metrics must stay factual.</a:t>
            </a:r>
          </a:p>
        </p:txBody>
      </p:sp>
      <p:sp>
        <p:nvSpPr>
          <p:cNvPr id="5" name="slide-number">
            <a:extLst xmlns:a="http://schemas.openxmlformats.org/drawingml/2006/main">
              <a:ext uri="{FF2B5EF4-FFF2-40B4-BE49-F238E27FC236}">
                <a16:creationId xmlns:a16="http://schemas.microsoft.com/office/drawing/2014/main" id="{64A28D5B-3857-4936-988C-BADC746E2741}"/>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10</a:t>
            </a:r>
          </a:p>
        </p:txBody>
      </p:sp>
    </p:spTree>
    <p:extLst>
      <p:ext uri="{BB962C8B-B14F-4D97-AF65-F5344CB8AC3E}">
        <p14:creationId xmlns:p14="http://schemas.microsoft.com/office/powerpoint/2010/main" val="638949803"/>
      </p:ext>
    </p:extLst>
  </p:cSld>
</p:sld>
</file>

<file path=ppt/slides/slide11.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73A5C0D7-3566-4BD9-BC2D-828EEF3C76EF}"/>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People report different resume strategies</a:t>
            </a:r>
          </a:p>
        </p:txBody>
      </p:sp>
      <p:sp>
        <p:nvSpPr>
          <p:cNvPr id="2" name="lead">
            <a:extLst xmlns:a="http://schemas.openxmlformats.org/drawingml/2006/main">
              <a:ext uri="{FF2B5EF4-FFF2-40B4-BE49-F238E27FC236}">
                <a16:creationId xmlns:a16="http://schemas.microsoft.com/office/drawing/2014/main" id="{A8D86CDD-1509-4471-9E1D-4900A5C69F37}"/>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The collected accounts do not establish one best routine.</a:t>
            </a:r>
          </a:p>
        </p:txBody>
      </p:sp>
      <p:sp>
        <p:nvSpPr>
          <p:cNvPr id="3" name="column-heading-0">
            <a:extLst xmlns:a="http://schemas.openxmlformats.org/drawingml/2006/main">
              <a:ext uri="{FF2B5EF4-FFF2-40B4-BE49-F238E27FC236}">
                <a16:creationId xmlns:a16="http://schemas.microsoft.com/office/drawing/2014/main" id="{991093AE-CA17-4E8A-8534-EB2811BEF408}"/>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Intensive tailoring</a:t>
            </a:r>
          </a:p>
        </p:txBody>
      </p:sp>
      <p:sp>
        <p:nvSpPr>
          <p:cNvPr id="4" name="column-0-detail-0">
            <a:extLst xmlns:a="http://schemas.openxmlformats.org/drawingml/2006/main">
              <a:ext uri="{FF2B5EF4-FFF2-40B4-BE49-F238E27FC236}">
                <a16:creationId xmlns:a16="http://schemas.microsoft.com/office/drawing/2014/main" id="{B6429AC3-945B-453D-977A-1E8CE6B0602C}"/>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Some accounts associate it with interview requests.</a:t>
            </a:r>
          </a:p>
        </p:txBody>
      </p:sp>
      <p:sp>
        <p:nvSpPr>
          <p:cNvPr id="5" name="column-0-detail-1">
            <a:extLst xmlns:a="http://schemas.openxmlformats.org/drawingml/2006/main">
              <a:ext uri="{FF2B5EF4-FFF2-40B4-BE49-F238E27FC236}">
                <a16:creationId xmlns:a16="http://schemas.microsoft.com/office/drawing/2014/main" id="{CDDB2D5D-BBE0-4134-9E77-5DD6A5F92EA4}"/>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They also describe substantial repeated effort.</a:t>
            </a:r>
          </a:p>
        </p:txBody>
      </p:sp>
      <p:sp>
        <p:nvSpPr>
          <p:cNvPr id="6" name="column-heading-1">
            <a:extLst xmlns:a="http://schemas.openxmlformats.org/drawingml/2006/main">
              <a:ext uri="{FF2B5EF4-FFF2-40B4-BE49-F238E27FC236}">
                <a16:creationId xmlns:a16="http://schemas.microsoft.com/office/drawing/2014/main" id="{CF179F20-0F47-4840-8ADB-21CF26C94925}"/>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94B28"/>
                </a:solidFill>
                <a:latin typeface="Arial"/>
                <a:ea typeface="Arial"/>
                <a:cs typeface="Arial"/>
              </a:defRPr>
            </a:defPPr>
            <a:lvl1pPr algn="l">
              <a:defRPr sz="2325" b="1">
                <a:solidFill>
                  <a:srgbClr val="B94B28"/>
                </a:solidFill>
                <a:latin typeface="Arial"/>
                <a:ea typeface="Arial"/>
                <a:cs typeface="Arial"/>
              </a:defRPr>
            </a:lvl1pPr>
            <a:lvl2pPr algn="l">
              <a:defRPr sz="2325" b="1">
                <a:solidFill>
                  <a:srgbClr val="B94B28"/>
                </a:solidFill>
                <a:latin typeface="Arial"/>
                <a:ea typeface="Arial"/>
                <a:cs typeface="Arial"/>
              </a:defRPr>
            </a:lvl2pPr>
            <a:lvl3pPr algn="l">
              <a:defRPr sz="2325" b="1">
                <a:solidFill>
                  <a:srgbClr val="B94B28"/>
                </a:solidFill>
                <a:latin typeface="Arial"/>
                <a:ea typeface="Arial"/>
                <a:cs typeface="Arial"/>
              </a:defRPr>
            </a:lvl3pPr>
            <a:lvl4pPr algn="l">
              <a:defRPr sz="2325" b="1">
                <a:solidFill>
                  <a:srgbClr val="B94B28"/>
                </a:solidFill>
                <a:latin typeface="Arial"/>
                <a:ea typeface="Arial"/>
                <a:cs typeface="Arial"/>
              </a:defRPr>
            </a:lvl4pPr>
            <a:lvl5pPr algn="l">
              <a:defRPr sz="2325" b="1">
                <a:solidFill>
                  <a:srgbClr val="B94B28"/>
                </a:solidFill>
                <a:latin typeface="Arial"/>
                <a:ea typeface="Arial"/>
                <a:cs typeface="Arial"/>
              </a:defRPr>
            </a:lvl5pPr>
            <a:lvl6pPr algn="l">
              <a:defRPr sz="2325" b="1">
                <a:solidFill>
                  <a:srgbClr val="B94B28"/>
                </a:solidFill>
                <a:latin typeface="Arial"/>
                <a:ea typeface="Arial"/>
                <a:cs typeface="Arial"/>
              </a:defRPr>
            </a:lvl6pPr>
            <a:lvl7pPr algn="l">
              <a:defRPr sz="2325" b="1">
                <a:solidFill>
                  <a:srgbClr val="B94B28"/>
                </a:solidFill>
                <a:latin typeface="Arial"/>
                <a:ea typeface="Arial"/>
                <a:cs typeface="Arial"/>
              </a:defRPr>
            </a:lvl7pPr>
            <a:lvl8pPr algn="l">
              <a:defRPr sz="2325" b="1">
                <a:solidFill>
                  <a:srgbClr val="B94B28"/>
                </a:solidFill>
                <a:latin typeface="Arial"/>
                <a:ea typeface="Arial"/>
                <a:cs typeface="Arial"/>
              </a:defRPr>
            </a:lvl8pPr>
            <a:lvl9pPr algn="l">
              <a:defRPr sz="2325" b="1">
                <a:solidFill>
                  <a:srgbClr val="B94B28"/>
                </a:solidFill>
                <a:latin typeface="Arial"/>
                <a:ea typeface="Arial"/>
                <a:cs typeface="Arial"/>
              </a:defRPr>
            </a:lvl9pPr>
          </a:lstStyle>
          <a:p xmlns:a="http://schemas.openxmlformats.org/drawingml/2006/main">
            <a:pPr algn="l">
              <a:defRPr sz="2325" b="1">
                <a:solidFill>
                  <a:srgbClr val="B94B28"/>
                </a:solidFill>
                <a:latin typeface="Arial"/>
                <a:ea typeface="Arial"/>
                <a:cs typeface="Arial"/>
              </a:defRPr>
            </a:pPr>
            <a:r>
              <a:rPr sz="2325" b="1">
                <a:solidFill>
                  <a:srgbClr val="B94B28"/>
                </a:solidFill>
                <a:latin typeface="Arial"/>
                <a:ea typeface="Arial"/>
                <a:cs typeface="Arial"/>
              </a:rPr>
              <a:t>Reuse and selective changes</a:t>
            </a:r>
          </a:p>
        </p:txBody>
      </p:sp>
      <p:sp>
        <p:nvSpPr>
          <p:cNvPr id="7" name="column-1-detail-0">
            <a:extLst xmlns:a="http://schemas.openxmlformats.org/drawingml/2006/main">
              <a:ext uri="{FF2B5EF4-FFF2-40B4-BE49-F238E27FC236}">
                <a16:creationId xmlns:a16="http://schemas.microsoft.com/office/drawing/2014/main" id="{A4DBE8CC-9B52-4030-AFF6-8F20F8E637A3}"/>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Others report benefits from stable versions or a master resume.</a:t>
            </a:r>
          </a:p>
        </p:txBody>
      </p:sp>
      <p:sp>
        <p:nvSpPr>
          <p:cNvPr id="8" name="column-1-detail-1">
            <a:extLst xmlns:a="http://schemas.openxmlformats.org/drawingml/2006/main">
              <a:ext uri="{FF2B5EF4-FFF2-40B4-BE49-F238E27FC236}">
                <a16:creationId xmlns:a16="http://schemas.microsoft.com/office/drawing/2014/main" id="{F546E2AA-6708-4D86-A8B8-919CB73FA9AD}"/>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Their roles, timing and circumstances differ.</a:t>
            </a:r>
          </a:p>
        </p:txBody>
      </p:sp>
      <p:sp>
        <p:nvSpPr>
          <p:cNvPr id="9" name="takeaway">
            <a:extLst xmlns:a="http://schemas.openxmlformats.org/drawingml/2006/main">
              <a:ext uri="{FF2B5EF4-FFF2-40B4-BE49-F238E27FC236}">
                <a16:creationId xmlns:a16="http://schemas.microsoft.com/office/drawing/2014/main" id="{6BA97D7C-2E50-4601-97EA-DE2900F96909}"/>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Compare approaches on the same task before prescribing a universal workflow.</a:t>
            </a:r>
          </a:p>
        </p:txBody>
      </p:sp>
      <p:sp>
        <p:nvSpPr>
          <p:cNvPr id="10" name="evidence-boundary">
            <a:extLst xmlns:a="http://schemas.openxmlformats.org/drawingml/2006/main">
              <a:ext uri="{FF2B5EF4-FFF2-40B4-BE49-F238E27FC236}">
                <a16:creationId xmlns:a16="http://schemas.microsoft.com/office/drawing/2014/main" id="{8405A294-2397-4346-B145-EDDB67CC3064}"/>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P10 and Round 01 counterexamples. Self-reports, not a controlled comparison.</a:t>
            </a:r>
          </a:p>
        </p:txBody>
      </p:sp>
      <p:sp>
        <p:nvSpPr>
          <p:cNvPr id="11" name="slide-number">
            <a:extLst xmlns:a="http://schemas.openxmlformats.org/drawingml/2006/main">
              <a:ext uri="{FF2B5EF4-FFF2-40B4-BE49-F238E27FC236}">
                <a16:creationId xmlns:a16="http://schemas.microsoft.com/office/drawing/2014/main" id="{0E6ADFED-FEAD-4A63-A2C9-6326592F8660}"/>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11</a:t>
            </a:r>
          </a:p>
        </p:txBody>
      </p:sp>
    </p:spTree>
    <p:extLst>
      <p:ext uri="{BB962C8B-B14F-4D97-AF65-F5344CB8AC3E}">
        <p14:creationId xmlns:p14="http://schemas.microsoft.com/office/powerpoint/2010/main" val="588472549"/>
      </p:ext>
    </p:extLst>
  </p:cSld>
</p:sld>
</file>

<file path=ppt/slides/slide12.xml><?xml version="1.0" encoding="utf-8"?>
<p:sld xmlns:p="http://schemas.openxmlformats.org/presentationml/2006/main">
  <p:cSld>
    <p:bg>
      <p:bgPr>
        <a:solidFill xmlns:a="http://schemas.openxmlformats.org/drawingml/2006/main">
          <a:srgbClr val="102235"/>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95F0031-16BB-47CA-8474-6F81E159216A}"/>
              </a:ext>
            </a:extLst>
          </p:cNvPr>
          <p:cNvPicPr>
            <a:picLocks xmlns:a="http://schemas.openxmlformats.org/drawingml/2006/main" noChangeAspect="1"/>
          </p:cNvPicPr>
          <p:nvPr/>
        </p:nvPicPr>
        <p:blipFill>
          <a:blip xmlns:r="http://schemas.openxmlformats.org/officeDocument/2006/relationships" xmlns:a="http://schemas.openxmlformats.org/drawingml/2006/main" r:embed="R2eb7e3b656b34f2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ED485F5D-83EE-4922-815D-408090F9AC11}"/>
              </a:ext>
            </a:extLst>
          </p:cNvPr>
          <p:cNvSpPr>
            <a:spLocks xmlns:a="http://schemas.openxmlformats.org/drawingml/2006/main" noGrp="1"/>
          </p:cNvSpPr>
          <p:nvPr/>
        </p:nvSpPr>
        <p:spPr>
          <a:xfrm xmlns:a="http://schemas.openxmlformats.org/drawingml/2006/main">
            <a:off x="723900" y="1200150"/>
            <a:ext cx="4619625" cy="2724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a:solidFill>
                  <a:srgbClr val="FFFFFF"/>
                </a:solidFill>
                <a:latin typeface="Arial"/>
                <a:ea typeface="Arial"/>
                <a:cs typeface="Arial"/>
              </a:defRPr>
            </a:defPPr>
            <a:lvl1pPr algn="l">
              <a:defRPr sz="4050" b="1">
                <a:solidFill>
                  <a:srgbClr val="FFFFFF"/>
                </a:solidFill>
                <a:latin typeface="Arial"/>
                <a:ea typeface="Arial"/>
                <a:cs typeface="Arial"/>
              </a:defRPr>
            </a:lvl1pPr>
            <a:lvl2pPr algn="l">
              <a:defRPr sz="4050" b="1">
                <a:solidFill>
                  <a:srgbClr val="FFFFFF"/>
                </a:solidFill>
                <a:latin typeface="Arial"/>
                <a:ea typeface="Arial"/>
                <a:cs typeface="Arial"/>
              </a:defRPr>
            </a:lvl2pPr>
            <a:lvl3pPr algn="l">
              <a:defRPr sz="4050" b="1">
                <a:solidFill>
                  <a:srgbClr val="FFFFFF"/>
                </a:solidFill>
                <a:latin typeface="Arial"/>
                <a:ea typeface="Arial"/>
                <a:cs typeface="Arial"/>
              </a:defRPr>
            </a:lvl3pPr>
            <a:lvl4pPr algn="l">
              <a:defRPr sz="4050" b="1">
                <a:solidFill>
                  <a:srgbClr val="FFFFFF"/>
                </a:solidFill>
                <a:latin typeface="Arial"/>
                <a:ea typeface="Arial"/>
                <a:cs typeface="Arial"/>
              </a:defRPr>
            </a:lvl4pPr>
            <a:lvl5pPr algn="l">
              <a:defRPr sz="4050" b="1">
                <a:solidFill>
                  <a:srgbClr val="FFFFFF"/>
                </a:solidFill>
                <a:latin typeface="Arial"/>
                <a:ea typeface="Arial"/>
                <a:cs typeface="Arial"/>
              </a:defRPr>
            </a:lvl5pPr>
            <a:lvl6pPr algn="l">
              <a:defRPr sz="4050" b="1">
                <a:solidFill>
                  <a:srgbClr val="FFFFFF"/>
                </a:solidFill>
                <a:latin typeface="Arial"/>
                <a:ea typeface="Arial"/>
                <a:cs typeface="Arial"/>
              </a:defRPr>
            </a:lvl6pPr>
            <a:lvl7pPr algn="l">
              <a:defRPr sz="4050" b="1">
                <a:solidFill>
                  <a:srgbClr val="FFFFFF"/>
                </a:solidFill>
                <a:latin typeface="Arial"/>
                <a:ea typeface="Arial"/>
                <a:cs typeface="Arial"/>
              </a:defRPr>
            </a:lvl7pPr>
            <a:lvl8pPr algn="l">
              <a:defRPr sz="4050" b="1">
                <a:solidFill>
                  <a:srgbClr val="FFFFFF"/>
                </a:solidFill>
                <a:latin typeface="Arial"/>
                <a:ea typeface="Arial"/>
                <a:cs typeface="Arial"/>
              </a:defRPr>
            </a:lvl8pPr>
            <a:lvl9pPr algn="l">
              <a:defRPr sz="4050" b="1">
                <a:solidFill>
                  <a:srgbClr val="FFFFFF"/>
                </a:solidFill>
                <a:latin typeface="Arial"/>
                <a:ea typeface="Arial"/>
                <a:cs typeface="Arial"/>
              </a:defRPr>
            </a:lvl9pPr>
          </a:lstStyle>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AI enters an</a:t>
            </a:r>
          </a:p>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already</a:t>
            </a:r>
          </a:p>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demanding</a:t>
            </a:r>
          </a:p>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process</a:t>
            </a:r>
          </a:p>
        </p:txBody>
      </p:sp>
      <p:sp>
        <p:nvSpPr>
          <p:cNvPr id="3" name="subtitle">
            <a:extLst xmlns:a="http://schemas.openxmlformats.org/drawingml/2006/main">
              <a:ext uri="{FF2B5EF4-FFF2-40B4-BE49-F238E27FC236}">
                <a16:creationId xmlns:a16="http://schemas.microsoft.com/office/drawing/2014/main" id="{1E0F3B94-1529-48FE-9721-9ACE48997075}"/>
              </a:ext>
            </a:extLst>
          </p:cNvPr>
          <p:cNvSpPr>
            <a:spLocks xmlns:a="http://schemas.openxmlformats.org/drawingml/2006/main" noGrp="1"/>
          </p:cNvSpPr>
          <p:nvPr/>
        </p:nvSpPr>
        <p:spPr>
          <a:xfrm xmlns:a="http://schemas.openxmlformats.org/drawingml/2006/main">
            <a:off x="762000" y="4324350"/>
            <a:ext cx="4667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D7E1E3"/>
                </a:solidFill>
                <a:latin typeface="Arial"/>
                <a:ea typeface="Arial"/>
                <a:cs typeface="Arial"/>
              </a:defRPr>
            </a:defPPr>
            <a:lvl1pPr algn="l">
              <a:defRPr sz="2175" b="0">
                <a:solidFill>
                  <a:srgbClr val="D7E1E3"/>
                </a:solidFill>
                <a:latin typeface="Arial"/>
                <a:ea typeface="Arial"/>
                <a:cs typeface="Arial"/>
              </a:defRPr>
            </a:lvl1pPr>
            <a:lvl2pPr algn="l">
              <a:defRPr sz="2175" b="0">
                <a:solidFill>
                  <a:srgbClr val="D7E1E3"/>
                </a:solidFill>
                <a:latin typeface="Arial"/>
                <a:ea typeface="Arial"/>
                <a:cs typeface="Arial"/>
              </a:defRPr>
            </a:lvl2pPr>
            <a:lvl3pPr algn="l">
              <a:defRPr sz="2175" b="0">
                <a:solidFill>
                  <a:srgbClr val="D7E1E3"/>
                </a:solidFill>
                <a:latin typeface="Arial"/>
                <a:ea typeface="Arial"/>
                <a:cs typeface="Arial"/>
              </a:defRPr>
            </a:lvl3pPr>
            <a:lvl4pPr algn="l">
              <a:defRPr sz="2175" b="0">
                <a:solidFill>
                  <a:srgbClr val="D7E1E3"/>
                </a:solidFill>
                <a:latin typeface="Arial"/>
                <a:ea typeface="Arial"/>
                <a:cs typeface="Arial"/>
              </a:defRPr>
            </a:lvl4pPr>
            <a:lvl5pPr algn="l">
              <a:defRPr sz="2175" b="0">
                <a:solidFill>
                  <a:srgbClr val="D7E1E3"/>
                </a:solidFill>
                <a:latin typeface="Arial"/>
                <a:ea typeface="Arial"/>
                <a:cs typeface="Arial"/>
              </a:defRPr>
            </a:lvl5pPr>
            <a:lvl6pPr algn="l">
              <a:defRPr sz="2175" b="0">
                <a:solidFill>
                  <a:srgbClr val="D7E1E3"/>
                </a:solidFill>
                <a:latin typeface="Arial"/>
                <a:ea typeface="Arial"/>
                <a:cs typeface="Arial"/>
              </a:defRPr>
            </a:lvl6pPr>
            <a:lvl7pPr algn="l">
              <a:defRPr sz="2175" b="0">
                <a:solidFill>
                  <a:srgbClr val="D7E1E3"/>
                </a:solidFill>
                <a:latin typeface="Arial"/>
                <a:ea typeface="Arial"/>
                <a:cs typeface="Arial"/>
              </a:defRPr>
            </a:lvl7pPr>
            <a:lvl8pPr algn="l">
              <a:defRPr sz="2175" b="0">
                <a:solidFill>
                  <a:srgbClr val="D7E1E3"/>
                </a:solidFill>
                <a:latin typeface="Arial"/>
                <a:ea typeface="Arial"/>
                <a:cs typeface="Arial"/>
              </a:defRPr>
            </a:lvl8pPr>
            <a:lvl9pPr algn="l">
              <a:defRPr sz="2175" b="0">
                <a:solidFill>
                  <a:srgbClr val="D7E1E3"/>
                </a:solidFill>
                <a:latin typeface="Arial"/>
                <a:ea typeface="Arial"/>
                <a:cs typeface="Arial"/>
              </a:defRPr>
            </a:lvl9pPr>
          </a:lstStyle>
          <a:p xmlns:a="http://schemas.openxmlformats.org/drawingml/2006/main">
            <a:pPr algn="l">
              <a:defRPr sz="2175" b="0">
                <a:solidFill>
                  <a:srgbClr val="D7E1E3"/>
                </a:solidFill>
                <a:latin typeface="Arial"/>
                <a:ea typeface="Arial"/>
                <a:cs typeface="Arial"/>
              </a:defRPr>
            </a:pPr>
            <a:r>
              <a:rPr sz="2175" b="0">
                <a:solidFill>
                  <a:srgbClr val="D7E1E3"/>
                </a:solidFill>
                <a:latin typeface="Arial"/>
                <a:ea typeface="Arial"/>
                <a:cs typeface="Arial"/>
              </a:rPr>
              <a:t>Assistance changes the work.</a:t>
            </a:r>
          </a:p>
          <a:p xmlns:a="http://schemas.openxmlformats.org/drawingml/2006/main">
            <a:pPr algn="l">
              <a:defRPr sz="2175" b="0">
                <a:solidFill>
                  <a:srgbClr val="D7E1E3"/>
                </a:solidFill>
                <a:latin typeface="Arial"/>
                <a:ea typeface="Arial"/>
                <a:cs typeface="Arial"/>
              </a:defRPr>
            </a:pPr>
            <a:r>
              <a:rPr sz="2175" b="0">
                <a:solidFill>
                  <a:srgbClr val="D7E1E3"/>
                </a:solidFill>
                <a:latin typeface="Arial"/>
                <a:ea typeface="Arial"/>
                <a:cs typeface="Arial"/>
              </a:rPr>
              <a:t>It also creates things to check.</a:t>
            </a:r>
          </a:p>
        </p:txBody>
      </p:sp>
      <p:sp>
        <p:nvSpPr>
          <p:cNvPr id="4" name="evidence-boundary">
            <a:extLst xmlns:a="http://schemas.openxmlformats.org/drawingml/2006/main">
              <a:ext uri="{FF2B5EF4-FFF2-40B4-BE49-F238E27FC236}">
                <a16:creationId xmlns:a16="http://schemas.microsoft.com/office/drawing/2014/main" id="{8CAC0FBE-D208-4A8B-9DDC-297F96982CC0}"/>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D7E1E3"/>
                </a:solidFill>
                <a:latin typeface="Arial"/>
                <a:ea typeface="Arial"/>
                <a:cs typeface="Arial"/>
              </a:defRPr>
            </a:defPPr>
            <a:lvl1pPr algn="l">
              <a:defRPr sz="1350" b="0">
                <a:solidFill>
                  <a:srgbClr val="D7E1E3"/>
                </a:solidFill>
                <a:latin typeface="Arial"/>
                <a:ea typeface="Arial"/>
                <a:cs typeface="Arial"/>
              </a:defRPr>
            </a:lvl1pPr>
            <a:lvl2pPr algn="l">
              <a:defRPr sz="1350" b="0">
                <a:solidFill>
                  <a:srgbClr val="D7E1E3"/>
                </a:solidFill>
                <a:latin typeface="Arial"/>
                <a:ea typeface="Arial"/>
                <a:cs typeface="Arial"/>
              </a:defRPr>
            </a:lvl2pPr>
            <a:lvl3pPr algn="l">
              <a:defRPr sz="1350" b="0">
                <a:solidFill>
                  <a:srgbClr val="D7E1E3"/>
                </a:solidFill>
                <a:latin typeface="Arial"/>
                <a:ea typeface="Arial"/>
                <a:cs typeface="Arial"/>
              </a:defRPr>
            </a:lvl3pPr>
            <a:lvl4pPr algn="l">
              <a:defRPr sz="1350" b="0">
                <a:solidFill>
                  <a:srgbClr val="D7E1E3"/>
                </a:solidFill>
                <a:latin typeface="Arial"/>
                <a:ea typeface="Arial"/>
                <a:cs typeface="Arial"/>
              </a:defRPr>
            </a:lvl4pPr>
            <a:lvl5pPr algn="l">
              <a:defRPr sz="1350" b="0">
                <a:solidFill>
                  <a:srgbClr val="D7E1E3"/>
                </a:solidFill>
                <a:latin typeface="Arial"/>
                <a:ea typeface="Arial"/>
                <a:cs typeface="Arial"/>
              </a:defRPr>
            </a:lvl5pPr>
            <a:lvl6pPr algn="l">
              <a:defRPr sz="1350" b="0">
                <a:solidFill>
                  <a:srgbClr val="D7E1E3"/>
                </a:solidFill>
                <a:latin typeface="Arial"/>
                <a:ea typeface="Arial"/>
                <a:cs typeface="Arial"/>
              </a:defRPr>
            </a:lvl6pPr>
            <a:lvl7pPr algn="l">
              <a:defRPr sz="1350" b="0">
                <a:solidFill>
                  <a:srgbClr val="D7E1E3"/>
                </a:solidFill>
                <a:latin typeface="Arial"/>
                <a:ea typeface="Arial"/>
                <a:cs typeface="Arial"/>
              </a:defRPr>
            </a:lvl7pPr>
            <a:lvl8pPr algn="l">
              <a:defRPr sz="1350" b="0">
                <a:solidFill>
                  <a:srgbClr val="D7E1E3"/>
                </a:solidFill>
                <a:latin typeface="Arial"/>
                <a:ea typeface="Arial"/>
                <a:cs typeface="Arial"/>
              </a:defRPr>
            </a:lvl8pPr>
            <a:lvl9pPr algn="l">
              <a:defRPr sz="1350" b="0">
                <a:solidFill>
                  <a:srgbClr val="D7E1E3"/>
                </a:solidFill>
                <a:latin typeface="Arial"/>
                <a:ea typeface="Arial"/>
                <a:cs typeface="Arial"/>
              </a:defRPr>
            </a:lvl9pPr>
          </a:lstStyle>
          <a:p xmlns:a="http://schemas.openxmlformats.org/drawingml/2006/main">
            <a:pPr algn="l">
              <a:defRPr sz="1350" b="0">
                <a:solidFill>
                  <a:srgbClr val="D7E1E3"/>
                </a:solidFill>
                <a:latin typeface="Arial"/>
                <a:ea typeface="Arial"/>
                <a:cs typeface="Arial"/>
              </a:defRPr>
            </a:pPr>
            <a:r>
              <a:rPr sz="1350" b="0">
                <a:solidFill>
                  <a:srgbClr val="D7E1E3"/>
                </a:solidFill>
                <a:latin typeface="Arial"/>
                <a:ea typeface="Arial"/>
                <a:cs typeface="Arial"/>
              </a:rPr>
              <a:t>Fictional illustration. AI findings follow.</a:t>
            </a:r>
          </a:p>
        </p:txBody>
      </p:sp>
      <p:sp>
        <p:nvSpPr>
          <p:cNvPr id="5" name="slide-number">
            <a:extLst xmlns:a="http://schemas.openxmlformats.org/drawingml/2006/main">
              <a:ext uri="{FF2B5EF4-FFF2-40B4-BE49-F238E27FC236}">
                <a16:creationId xmlns:a16="http://schemas.microsoft.com/office/drawing/2014/main" id="{23706276-BFA3-44C8-B342-DA3230F159EC}"/>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1C58A"/>
                </a:solidFill>
                <a:latin typeface="Arial"/>
                <a:ea typeface="Arial"/>
                <a:cs typeface="Arial"/>
              </a:defRPr>
            </a:defPPr>
            <a:lvl1pPr algn="l">
              <a:defRPr sz="1575" b="1">
                <a:solidFill>
                  <a:srgbClr val="F1C58A"/>
                </a:solidFill>
                <a:latin typeface="Arial"/>
                <a:ea typeface="Arial"/>
                <a:cs typeface="Arial"/>
              </a:defRPr>
            </a:lvl1pPr>
            <a:lvl2pPr algn="l">
              <a:defRPr sz="1575" b="1">
                <a:solidFill>
                  <a:srgbClr val="F1C58A"/>
                </a:solidFill>
                <a:latin typeface="Arial"/>
                <a:ea typeface="Arial"/>
                <a:cs typeface="Arial"/>
              </a:defRPr>
            </a:lvl2pPr>
            <a:lvl3pPr algn="l">
              <a:defRPr sz="1575" b="1">
                <a:solidFill>
                  <a:srgbClr val="F1C58A"/>
                </a:solidFill>
                <a:latin typeface="Arial"/>
                <a:ea typeface="Arial"/>
                <a:cs typeface="Arial"/>
              </a:defRPr>
            </a:lvl3pPr>
            <a:lvl4pPr algn="l">
              <a:defRPr sz="1575" b="1">
                <a:solidFill>
                  <a:srgbClr val="F1C58A"/>
                </a:solidFill>
                <a:latin typeface="Arial"/>
                <a:ea typeface="Arial"/>
                <a:cs typeface="Arial"/>
              </a:defRPr>
            </a:lvl4pPr>
            <a:lvl5pPr algn="l">
              <a:defRPr sz="1575" b="1">
                <a:solidFill>
                  <a:srgbClr val="F1C58A"/>
                </a:solidFill>
                <a:latin typeface="Arial"/>
                <a:ea typeface="Arial"/>
                <a:cs typeface="Arial"/>
              </a:defRPr>
            </a:lvl5pPr>
            <a:lvl6pPr algn="l">
              <a:defRPr sz="1575" b="1">
                <a:solidFill>
                  <a:srgbClr val="F1C58A"/>
                </a:solidFill>
                <a:latin typeface="Arial"/>
                <a:ea typeface="Arial"/>
                <a:cs typeface="Arial"/>
              </a:defRPr>
            </a:lvl6pPr>
            <a:lvl7pPr algn="l">
              <a:defRPr sz="1575" b="1">
                <a:solidFill>
                  <a:srgbClr val="F1C58A"/>
                </a:solidFill>
                <a:latin typeface="Arial"/>
                <a:ea typeface="Arial"/>
                <a:cs typeface="Arial"/>
              </a:defRPr>
            </a:lvl7pPr>
            <a:lvl8pPr algn="l">
              <a:defRPr sz="1575" b="1">
                <a:solidFill>
                  <a:srgbClr val="F1C58A"/>
                </a:solidFill>
                <a:latin typeface="Arial"/>
                <a:ea typeface="Arial"/>
                <a:cs typeface="Arial"/>
              </a:defRPr>
            </a:lvl8pPr>
            <a:lvl9pPr algn="l">
              <a:defRPr sz="1575" b="1">
                <a:solidFill>
                  <a:srgbClr val="F1C58A"/>
                </a:solidFill>
                <a:latin typeface="Arial"/>
                <a:ea typeface="Arial"/>
                <a:cs typeface="Arial"/>
              </a:defRPr>
            </a:lvl9pPr>
          </a:lstStyle>
          <a:p xmlns:a="http://schemas.openxmlformats.org/drawingml/2006/main">
            <a:pPr algn="l">
              <a:defRPr sz="1575" b="1">
                <a:solidFill>
                  <a:srgbClr val="F1C58A"/>
                </a:solidFill>
                <a:latin typeface="Arial"/>
                <a:ea typeface="Arial"/>
                <a:cs typeface="Arial"/>
              </a:defRPr>
            </a:pPr>
            <a:r>
              <a:rPr sz="1575" b="1">
                <a:solidFill>
                  <a:srgbClr val="F1C58A"/>
                </a:solidFill>
                <a:latin typeface="Arial"/>
                <a:ea typeface="Arial"/>
                <a:cs typeface="Arial"/>
              </a:rPr>
              <a:t>12</a:t>
            </a:r>
          </a:p>
        </p:txBody>
      </p:sp>
    </p:spTree>
    <p:extLst>
      <p:ext uri="{BB962C8B-B14F-4D97-AF65-F5344CB8AC3E}">
        <p14:creationId xmlns:p14="http://schemas.microsoft.com/office/powerpoint/2010/main" val="1182124166"/>
      </p:ext>
    </p:extLst>
  </p:cSld>
</p:sld>
</file>

<file path=ppt/slides/slide13.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8BB5468C-8D33-4235-98A8-C0F682B60E5A}"/>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People use AI in different ways</a:t>
            </a:r>
          </a:p>
        </p:txBody>
      </p:sp>
      <p:sp>
        <p:nvSpPr>
          <p:cNvPr id="2" name="lead">
            <a:extLst xmlns:a="http://schemas.openxmlformats.org/drawingml/2006/main">
              <a:ext uri="{FF2B5EF4-FFF2-40B4-BE49-F238E27FC236}">
                <a16:creationId xmlns:a16="http://schemas.microsoft.com/office/drawing/2014/main" id="{4A7C2B90-6DC4-4CC1-A09C-EFDFD5B5A1BB}"/>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The research includes assistance, selective use and non-use.</a:t>
            </a:r>
          </a:p>
        </p:txBody>
      </p:sp>
      <p:sp>
        <p:nvSpPr>
          <p:cNvPr id="3" name="column-heading-0">
            <a:extLst xmlns:a="http://schemas.openxmlformats.org/drawingml/2006/main">
              <a:ext uri="{FF2B5EF4-FFF2-40B4-BE49-F238E27FC236}">
                <a16:creationId xmlns:a16="http://schemas.microsoft.com/office/drawing/2014/main" id="{6BD03D67-B64E-47EB-8974-B765DA62A52D}"/>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Reported uses</a:t>
            </a:r>
          </a:p>
        </p:txBody>
      </p:sp>
      <p:sp>
        <p:nvSpPr>
          <p:cNvPr id="4" name="column-0-detail-0">
            <a:extLst xmlns:a="http://schemas.openxmlformats.org/drawingml/2006/main">
              <a:ext uri="{FF2B5EF4-FFF2-40B4-BE49-F238E27FC236}">
                <a16:creationId xmlns:a16="http://schemas.microsoft.com/office/drawing/2014/main" id="{578727CC-C6F0-427E-ACD4-5E48F59652DB}"/>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Reviewing or rewording information supplied by the person.</a:t>
            </a:r>
          </a:p>
        </p:txBody>
      </p:sp>
      <p:sp>
        <p:nvSpPr>
          <p:cNvPr id="5" name="column-0-detail-1">
            <a:extLst xmlns:a="http://schemas.openxmlformats.org/drawingml/2006/main">
              <a:ext uri="{FF2B5EF4-FFF2-40B4-BE49-F238E27FC236}">
                <a16:creationId xmlns:a16="http://schemas.microsoft.com/office/drawing/2014/main" id="{43C5924B-7674-4D15-9128-83C79885CA62}"/>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Drafting application text or supporting interview preparation.</a:t>
            </a:r>
          </a:p>
        </p:txBody>
      </p:sp>
      <p:sp>
        <p:nvSpPr>
          <p:cNvPr id="6" name="column-heading-1">
            <a:extLst xmlns:a="http://schemas.openxmlformats.org/drawingml/2006/main">
              <a:ext uri="{FF2B5EF4-FFF2-40B4-BE49-F238E27FC236}">
                <a16:creationId xmlns:a16="http://schemas.microsoft.com/office/drawing/2014/main" id="{1E6FF0F5-E6B6-403B-9244-F1FCF4644775}"/>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Different starting points</a:t>
            </a:r>
          </a:p>
        </p:txBody>
      </p:sp>
      <p:sp>
        <p:nvSpPr>
          <p:cNvPr id="7" name="column-1-detail-0">
            <a:extLst xmlns:a="http://schemas.openxmlformats.org/drawingml/2006/main">
              <a:ext uri="{FF2B5EF4-FFF2-40B4-BE49-F238E27FC236}">
                <a16:creationId xmlns:a16="http://schemas.microsoft.com/office/drawing/2014/main" id="{83570E45-2432-4157-A7CA-2CE929D70403}"/>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Some participants used templates or made little use of AI for applications.</a:t>
            </a:r>
          </a:p>
        </p:txBody>
      </p:sp>
      <p:sp>
        <p:nvSpPr>
          <p:cNvPr id="8" name="column-1-detail-1">
            <a:extLst xmlns:a="http://schemas.openxmlformats.org/drawingml/2006/main">
              <a:ext uri="{FF2B5EF4-FFF2-40B4-BE49-F238E27FC236}">
                <a16:creationId xmlns:a16="http://schemas.microsoft.com/office/drawing/2014/main" id="{B075C286-7946-4579-BAED-4BEF96D3AB42}"/>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Authenticity, confidence and access affected how they approached it.</a:t>
            </a:r>
          </a:p>
        </p:txBody>
      </p:sp>
      <p:sp>
        <p:nvSpPr>
          <p:cNvPr id="9" name="takeaway">
            <a:extLst xmlns:a="http://schemas.openxmlformats.org/drawingml/2006/main">
              <a:ext uri="{FF2B5EF4-FFF2-40B4-BE49-F238E27FC236}">
                <a16:creationId xmlns:a16="http://schemas.microsoft.com/office/drawing/2014/main" id="{2AAB4821-3BEE-424B-86A2-72A1CD4D36D5}"/>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A fluent draft is only one part of a usable, personally owned application.</a:t>
            </a:r>
          </a:p>
        </p:txBody>
      </p:sp>
      <p:sp>
        <p:nvSpPr>
          <p:cNvPr id="10" name="evidence-boundary">
            <a:extLst xmlns:a="http://schemas.openxmlformats.org/drawingml/2006/main">
              <a:ext uri="{FF2B5EF4-FFF2-40B4-BE49-F238E27FC236}">
                <a16:creationId xmlns:a16="http://schemas.microsoft.com/office/drawing/2014/main" id="{D570BD81-F349-4CBD-B1FD-5B18A640416E}"/>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P03, P05, P08–P09. International cohorts and selected accounts do not estimate Singapore adoption.</a:t>
            </a:r>
          </a:p>
        </p:txBody>
      </p:sp>
      <p:sp>
        <p:nvSpPr>
          <p:cNvPr id="11" name="slide-number">
            <a:extLst xmlns:a="http://schemas.openxmlformats.org/drawingml/2006/main">
              <a:ext uri="{FF2B5EF4-FFF2-40B4-BE49-F238E27FC236}">
                <a16:creationId xmlns:a16="http://schemas.microsoft.com/office/drawing/2014/main" id="{C5D9EF6B-7481-482B-9D3E-0A111481D32D}"/>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13</a:t>
            </a:r>
          </a:p>
        </p:txBody>
      </p:sp>
    </p:spTree>
    <p:extLst>
      <p:ext uri="{BB962C8B-B14F-4D97-AF65-F5344CB8AC3E}">
        <p14:creationId xmlns:p14="http://schemas.microsoft.com/office/powerpoint/2010/main" val="599534221"/>
      </p:ext>
    </p:extLst>
  </p:cSld>
</p:sld>
</file>

<file path=ppt/slides/slide14.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F7D21B25-9810-40D0-A03C-E5A7911C4605}"/>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Clearer writing helped in one experiment</a:t>
            </a:r>
          </a:p>
        </p:txBody>
      </p:sp>
      <p:sp>
        <p:nvSpPr>
          <p:cNvPr id="2" name="lead">
            <a:extLst xmlns:a="http://schemas.openxmlformats.org/drawingml/2006/main">
              <a:ext uri="{FF2B5EF4-FFF2-40B4-BE49-F238E27FC236}">
                <a16:creationId xmlns:a16="http://schemas.microsoft.com/office/drawing/2014/main" id="{4CCC96B7-0B96-4D5B-8CEC-EC53D8EBC082}"/>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Algorithmic assistance edited job seekers' resume writing.</a:t>
            </a:r>
          </a:p>
        </p:txBody>
      </p:sp>
      <p:sp>
        <p:nvSpPr>
          <p:cNvPr id="3" name="reported-effect">
            <a:extLst xmlns:a="http://schemas.openxmlformats.org/drawingml/2006/main">
              <a:ext uri="{FF2B5EF4-FFF2-40B4-BE49-F238E27FC236}">
                <a16:creationId xmlns:a16="http://schemas.microsoft.com/office/drawing/2014/main" id="{89EAF804-0941-424E-AE1A-C60FD33C8769}"/>
              </a:ext>
            </a:extLst>
          </p:cNvPr>
          <p:cNvSpPr>
            <a:spLocks xmlns:a="http://schemas.openxmlformats.org/drawingml/2006/main" noGrp="1"/>
          </p:cNvSpPr>
          <p:nvPr/>
        </p:nvSpPr>
        <p:spPr>
          <a:xfrm xmlns:a="http://schemas.openxmlformats.org/drawingml/2006/main">
            <a:off x="723900" y="2457450"/>
            <a:ext cx="4857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050" b="1">
                <a:solidFill>
                  <a:srgbClr val="B94B28"/>
                </a:solidFill>
                <a:latin typeface="Arial"/>
                <a:ea typeface="Arial"/>
                <a:cs typeface="Arial"/>
              </a:defRPr>
            </a:defPPr>
            <a:lvl1pPr algn="l">
              <a:defRPr sz="13050" b="1">
                <a:solidFill>
                  <a:srgbClr val="B94B28"/>
                </a:solidFill>
                <a:latin typeface="Arial"/>
                <a:ea typeface="Arial"/>
                <a:cs typeface="Arial"/>
              </a:defRPr>
            </a:lvl1pPr>
            <a:lvl2pPr algn="l">
              <a:defRPr sz="13050" b="1">
                <a:solidFill>
                  <a:srgbClr val="B94B28"/>
                </a:solidFill>
                <a:latin typeface="Arial"/>
                <a:ea typeface="Arial"/>
                <a:cs typeface="Arial"/>
              </a:defRPr>
            </a:lvl2pPr>
            <a:lvl3pPr algn="l">
              <a:defRPr sz="13050" b="1">
                <a:solidFill>
                  <a:srgbClr val="B94B28"/>
                </a:solidFill>
                <a:latin typeface="Arial"/>
                <a:ea typeface="Arial"/>
                <a:cs typeface="Arial"/>
              </a:defRPr>
            </a:lvl3pPr>
            <a:lvl4pPr algn="l">
              <a:defRPr sz="13050" b="1">
                <a:solidFill>
                  <a:srgbClr val="B94B28"/>
                </a:solidFill>
                <a:latin typeface="Arial"/>
                <a:ea typeface="Arial"/>
                <a:cs typeface="Arial"/>
              </a:defRPr>
            </a:lvl4pPr>
            <a:lvl5pPr algn="l">
              <a:defRPr sz="13050" b="1">
                <a:solidFill>
                  <a:srgbClr val="B94B28"/>
                </a:solidFill>
                <a:latin typeface="Arial"/>
                <a:ea typeface="Arial"/>
                <a:cs typeface="Arial"/>
              </a:defRPr>
            </a:lvl5pPr>
            <a:lvl6pPr algn="l">
              <a:defRPr sz="13050" b="1">
                <a:solidFill>
                  <a:srgbClr val="B94B28"/>
                </a:solidFill>
                <a:latin typeface="Arial"/>
                <a:ea typeface="Arial"/>
                <a:cs typeface="Arial"/>
              </a:defRPr>
            </a:lvl6pPr>
            <a:lvl7pPr algn="l">
              <a:defRPr sz="13050" b="1">
                <a:solidFill>
                  <a:srgbClr val="B94B28"/>
                </a:solidFill>
                <a:latin typeface="Arial"/>
                <a:ea typeface="Arial"/>
                <a:cs typeface="Arial"/>
              </a:defRPr>
            </a:lvl7pPr>
            <a:lvl8pPr algn="l">
              <a:defRPr sz="13050" b="1">
                <a:solidFill>
                  <a:srgbClr val="B94B28"/>
                </a:solidFill>
                <a:latin typeface="Arial"/>
                <a:ea typeface="Arial"/>
                <a:cs typeface="Arial"/>
              </a:defRPr>
            </a:lvl8pPr>
            <a:lvl9pPr algn="l">
              <a:defRPr sz="13050" b="1">
                <a:solidFill>
                  <a:srgbClr val="B94B28"/>
                </a:solidFill>
                <a:latin typeface="Arial"/>
                <a:ea typeface="Arial"/>
                <a:cs typeface="Arial"/>
              </a:defRPr>
            </a:lvl9pPr>
          </a:lstStyle>
          <a:p xmlns:a="http://schemas.openxmlformats.org/drawingml/2006/main">
            <a:pPr algn="l">
              <a:defRPr sz="13050" b="1">
                <a:solidFill>
                  <a:srgbClr val="B94B28"/>
                </a:solidFill>
                <a:latin typeface="Arial"/>
                <a:ea typeface="Arial"/>
                <a:cs typeface="Arial"/>
              </a:defRPr>
            </a:pPr>
            <a:r>
              <a:rPr sz="13050" b="1">
                <a:solidFill>
                  <a:srgbClr val="B94B28"/>
                </a:solidFill>
                <a:latin typeface="Arial"/>
                <a:ea typeface="Arial"/>
                <a:cs typeface="Arial"/>
              </a:rPr>
              <a:t>8%</a:t>
            </a:r>
          </a:p>
        </p:txBody>
      </p:sp>
      <p:sp>
        <p:nvSpPr>
          <p:cNvPr id="4" name="effect-definition">
            <a:extLst xmlns:a="http://schemas.openxmlformats.org/drawingml/2006/main">
              <a:ext uri="{FF2B5EF4-FFF2-40B4-BE49-F238E27FC236}">
                <a16:creationId xmlns:a16="http://schemas.microsoft.com/office/drawing/2014/main" id="{F7D4E65B-634D-450C-92E5-4555E8D62DA5}"/>
              </a:ext>
            </a:extLst>
          </p:cNvPr>
          <p:cNvSpPr>
            <a:spLocks xmlns:a="http://schemas.openxmlformats.org/drawingml/2006/main" noGrp="1"/>
          </p:cNvSpPr>
          <p:nvPr/>
        </p:nvSpPr>
        <p:spPr>
          <a:xfrm xmlns:a="http://schemas.openxmlformats.org/drawingml/2006/main">
            <a:off x="819150" y="4486275"/>
            <a:ext cx="44291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72D40"/>
                </a:solidFill>
                <a:latin typeface="Arial"/>
                <a:ea typeface="Arial"/>
                <a:cs typeface="Arial"/>
              </a:defRPr>
            </a:defPPr>
            <a:lvl1pPr algn="l">
              <a:defRPr sz="2400" b="1">
                <a:solidFill>
                  <a:srgbClr val="172D40"/>
                </a:solidFill>
                <a:latin typeface="Arial"/>
                <a:ea typeface="Arial"/>
                <a:cs typeface="Arial"/>
              </a:defRPr>
            </a:lvl1pPr>
            <a:lvl2pPr algn="l">
              <a:defRPr sz="2400" b="1">
                <a:solidFill>
                  <a:srgbClr val="172D40"/>
                </a:solidFill>
                <a:latin typeface="Arial"/>
                <a:ea typeface="Arial"/>
                <a:cs typeface="Arial"/>
              </a:defRPr>
            </a:lvl2pPr>
            <a:lvl3pPr algn="l">
              <a:defRPr sz="2400" b="1">
                <a:solidFill>
                  <a:srgbClr val="172D40"/>
                </a:solidFill>
                <a:latin typeface="Arial"/>
                <a:ea typeface="Arial"/>
                <a:cs typeface="Arial"/>
              </a:defRPr>
            </a:lvl3pPr>
            <a:lvl4pPr algn="l">
              <a:defRPr sz="2400" b="1">
                <a:solidFill>
                  <a:srgbClr val="172D40"/>
                </a:solidFill>
                <a:latin typeface="Arial"/>
                <a:ea typeface="Arial"/>
                <a:cs typeface="Arial"/>
              </a:defRPr>
            </a:lvl4pPr>
            <a:lvl5pPr algn="l">
              <a:defRPr sz="2400" b="1">
                <a:solidFill>
                  <a:srgbClr val="172D40"/>
                </a:solidFill>
                <a:latin typeface="Arial"/>
                <a:ea typeface="Arial"/>
                <a:cs typeface="Arial"/>
              </a:defRPr>
            </a:lvl5pPr>
            <a:lvl6pPr algn="l">
              <a:defRPr sz="2400" b="1">
                <a:solidFill>
                  <a:srgbClr val="172D40"/>
                </a:solidFill>
                <a:latin typeface="Arial"/>
                <a:ea typeface="Arial"/>
                <a:cs typeface="Arial"/>
              </a:defRPr>
            </a:lvl6pPr>
            <a:lvl7pPr algn="l">
              <a:defRPr sz="2400" b="1">
                <a:solidFill>
                  <a:srgbClr val="172D40"/>
                </a:solidFill>
                <a:latin typeface="Arial"/>
                <a:ea typeface="Arial"/>
                <a:cs typeface="Arial"/>
              </a:defRPr>
            </a:lvl7pPr>
            <a:lvl8pPr algn="l">
              <a:defRPr sz="2400" b="1">
                <a:solidFill>
                  <a:srgbClr val="172D40"/>
                </a:solidFill>
                <a:latin typeface="Arial"/>
                <a:ea typeface="Arial"/>
                <a:cs typeface="Arial"/>
              </a:defRPr>
            </a:lvl8pPr>
            <a:lvl9pPr algn="l">
              <a:defRPr sz="2400" b="1">
                <a:solidFill>
                  <a:srgbClr val="172D40"/>
                </a:solidFill>
                <a:latin typeface="Arial"/>
                <a:ea typeface="Arial"/>
                <a:cs typeface="Arial"/>
              </a:defRPr>
            </a:lvl9pPr>
          </a:lstStyle>
          <a:p xmlns:a="http://schemas.openxmlformats.org/drawingml/2006/main">
            <a:pPr algn="l">
              <a:defRPr sz="2400" b="1">
                <a:solidFill>
                  <a:srgbClr val="172D40"/>
                </a:solidFill>
                <a:latin typeface="Arial"/>
                <a:ea typeface="Arial"/>
                <a:cs typeface="Arial"/>
              </a:defRPr>
            </a:pPr>
            <a:r>
              <a:rPr sz="2400" b="1">
                <a:solidFill>
                  <a:srgbClr val="172D40"/>
                </a:solidFill>
                <a:latin typeface="Arial"/>
                <a:ea typeface="Arial"/>
                <a:cs typeface="Arial"/>
              </a:rPr>
              <a:t>relative increase in hiring probability</a:t>
            </a:r>
          </a:p>
        </p:txBody>
      </p:sp>
      <p:sp>
        <p:nvSpPr>
          <p:cNvPr id="5" name="study-context-0">
            <a:extLst xmlns:a="http://schemas.openxmlformats.org/drawingml/2006/main">
              <a:ext uri="{FF2B5EF4-FFF2-40B4-BE49-F238E27FC236}">
                <a16:creationId xmlns:a16="http://schemas.microsoft.com/office/drawing/2014/main" id="{6984A404-6334-4DC6-9854-880B0F4364D6}"/>
              </a:ext>
            </a:extLst>
          </p:cNvPr>
          <p:cNvSpPr>
            <a:spLocks xmlns:a="http://schemas.openxmlformats.org/drawingml/2006/main" noGrp="1"/>
          </p:cNvSpPr>
          <p:nvPr/>
        </p:nvSpPr>
        <p:spPr>
          <a:xfrm xmlns:a="http://schemas.openxmlformats.org/drawingml/2006/main">
            <a:off x="6477000" y="2571750"/>
            <a:ext cx="4953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66B65"/>
                </a:solidFill>
                <a:latin typeface="Arial"/>
                <a:ea typeface="Arial"/>
                <a:cs typeface="Arial"/>
              </a:defRPr>
            </a:defPPr>
            <a:lvl1pPr algn="l">
              <a:defRPr sz="2250" b="1">
                <a:solidFill>
                  <a:srgbClr val="166B65"/>
                </a:solidFill>
                <a:latin typeface="Arial"/>
                <a:ea typeface="Arial"/>
                <a:cs typeface="Arial"/>
              </a:defRPr>
            </a:lvl1pPr>
            <a:lvl2pPr algn="l">
              <a:defRPr sz="2250" b="1">
                <a:solidFill>
                  <a:srgbClr val="166B65"/>
                </a:solidFill>
                <a:latin typeface="Arial"/>
                <a:ea typeface="Arial"/>
                <a:cs typeface="Arial"/>
              </a:defRPr>
            </a:lvl2pPr>
            <a:lvl3pPr algn="l">
              <a:defRPr sz="2250" b="1">
                <a:solidFill>
                  <a:srgbClr val="166B65"/>
                </a:solidFill>
                <a:latin typeface="Arial"/>
                <a:ea typeface="Arial"/>
                <a:cs typeface="Arial"/>
              </a:defRPr>
            </a:lvl3pPr>
            <a:lvl4pPr algn="l">
              <a:defRPr sz="2250" b="1">
                <a:solidFill>
                  <a:srgbClr val="166B65"/>
                </a:solidFill>
                <a:latin typeface="Arial"/>
                <a:ea typeface="Arial"/>
                <a:cs typeface="Arial"/>
              </a:defRPr>
            </a:lvl4pPr>
            <a:lvl5pPr algn="l">
              <a:defRPr sz="2250" b="1">
                <a:solidFill>
                  <a:srgbClr val="166B65"/>
                </a:solidFill>
                <a:latin typeface="Arial"/>
                <a:ea typeface="Arial"/>
                <a:cs typeface="Arial"/>
              </a:defRPr>
            </a:lvl5pPr>
            <a:lvl6pPr algn="l">
              <a:defRPr sz="2250" b="1">
                <a:solidFill>
                  <a:srgbClr val="166B65"/>
                </a:solidFill>
                <a:latin typeface="Arial"/>
                <a:ea typeface="Arial"/>
                <a:cs typeface="Arial"/>
              </a:defRPr>
            </a:lvl6pPr>
            <a:lvl7pPr algn="l">
              <a:defRPr sz="2250" b="1">
                <a:solidFill>
                  <a:srgbClr val="166B65"/>
                </a:solidFill>
                <a:latin typeface="Arial"/>
                <a:ea typeface="Arial"/>
                <a:cs typeface="Arial"/>
              </a:defRPr>
            </a:lvl7pPr>
            <a:lvl8pPr algn="l">
              <a:defRPr sz="2250" b="1">
                <a:solidFill>
                  <a:srgbClr val="166B65"/>
                </a:solidFill>
                <a:latin typeface="Arial"/>
                <a:ea typeface="Arial"/>
                <a:cs typeface="Arial"/>
              </a:defRPr>
            </a:lvl8pPr>
            <a:lvl9pPr algn="l">
              <a:defRPr sz="2250" b="1">
                <a:solidFill>
                  <a:srgbClr val="166B65"/>
                </a:solidFill>
                <a:latin typeface="Arial"/>
                <a:ea typeface="Arial"/>
                <a:cs typeface="Arial"/>
              </a:defRPr>
            </a:lvl9pPr>
          </a:lstStyle>
          <a:p xmlns:a="http://schemas.openxmlformats.org/drawingml/2006/main">
            <a:pPr algn="l">
              <a:defRPr sz="2250" b="1">
                <a:solidFill>
                  <a:srgbClr val="166B65"/>
                </a:solidFill>
                <a:latin typeface="Arial"/>
                <a:ea typeface="Arial"/>
                <a:cs typeface="Arial"/>
              </a:defRPr>
            </a:pPr>
            <a:r>
              <a:rPr sz="2250" b="1">
                <a:solidFill>
                  <a:srgbClr val="166B65"/>
                </a:solidFill>
                <a:latin typeface="Arial"/>
                <a:ea typeface="Arial"/>
                <a:cs typeface="Arial"/>
              </a:rPr>
              <a:t>What the authors report</a:t>
            </a:r>
          </a:p>
        </p:txBody>
      </p:sp>
      <p:sp>
        <p:nvSpPr>
          <p:cNvPr id="6" name="study-context-detail-0">
            <a:extLst xmlns:a="http://schemas.openxmlformats.org/drawingml/2006/main">
              <a:ext uri="{FF2B5EF4-FFF2-40B4-BE49-F238E27FC236}">
                <a16:creationId xmlns:a16="http://schemas.microsoft.com/office/drawing/2014/main" id="{94ABC90D-F61D-4EA9-9D97-81BB267EE718}"/>
              </a:ext>
            </a:extLst>
          </p:cNvPr>
          <p:cNvSpPr>
            <a:spLocks xmlns:a="http://schemas.openxmlformats.org/drawingml/2006/main" noGrp="1"/>
          </p:cNvSpPr>
          <p:nvPr/>
        </p:nvSpPr>
        <p:spPr>
          <a:xfrm xmlns:a="http://schemas.openxmlformats.org/drawingml/2006/main">
            <a:off x="6477000" y="3362325"/>
            <a:ext cx="4857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72D40"/>
                </a:solidFill>
                <a:latin typeface="Arial"/>
                <a:ea typeface="Arial"/>
                <a:cs typeface="Arial"/>
              </a:defRPr>
            </a:defPPr>
            <a:lvl1pPr algn="l">
              <a:defRPr sz="1950" b="0">
                <a:solidFill>
                  <a:srgbClr val="172D40"/>
                </a:solidFill>
                <a:latin typeface="Arial"/>
                <a:ea typeface="Arial"/>
                <a:cs typeface="Arial"/>
              </a:defRPr>
            </a:lvl1pPr>
            <a:lvl2pPr algn="l">
              <a:defRPr sz="1950" b="0">
                <a:solidFill>
                  <a:srgbClr val="172D40"/>
                </a:solidFill>
                <a:latin typeface="Arial"/>
                <a:ea typeface="Arial"/>
                <a:cs typeface="Arial"/>
              </a:defRPr>
            </a:lvl2pPr>
            <a:lvl3pPr algn="l">
              <a:defRPr sz="1950" b="0">
                <a:solidFill>
                  <a:srgbClr val="172D40"/>
                </a:solidFill>
                <a:latin typeface="Arial"/>
                <a:ea typeface="Arial"/>
                <a:cs typeface="Arial"/>
              </a:defRPr>
            </a:lvl3pPr>
            <a:lvl4pPr algn="l">
              <a:defRPr sz="1950" b="0">
                <a:solidFill>
                  <a:srgbClr val="172D40"/>
                </a:solidFill>
                <a:latin typeface="Arial"/>
                <a:ea typeface="Arial"/>
                <a:cs typeface="Arial"/>
              </a:defRPr>
            </a:lvl4pPr>
            <a:lvl5pPr algn="l">
              <a:defRPr sz="1950" b="0">
                <a:solidFill>
                  <a:srgbClr val="172D40"/>
                </a:solidFill>
                <a:latin typeface="Arial"/>
                <a:ea typeface="Arial"/>
                <a:cs typeface="Arial"/>
              </a:defRPr>
            </a:lvl5pPr>
            <a:lvl6pPr algn="l">
              <a:defRPr sz="1950" b="0">
                <a:solidFill>
                  <a:srgbClr val="172D40"/>
                </a:solidFill>
                <a:latin typeface="Arial"/>
                <a:ea typeface="Arial"/>
                <a:cs typeface="Arial"/>
              </a:defRPr>
            </a:lvl6pPr>
            <a:lvl7pPr algn="l">
              <a:defRPr sz="1950" b="0">
                <a:solidFill>
                  <a:srgbClr val="172D40"/>
                </a:solidFill>
                <a:latin typeface="Arial"/>
                <a:ea typeface="Arial"/>
                <a:cs typeface="Arial"/>
              </a:defRPr>
            </a:lvl7pPr>
            <a:lvl8pPr algn="l">
              <a:defRPr sz="1950" b="0">
                <a:solidFill>
                  <a:srgbClr val="172D40"/>
                </a:solidFill>
                <a:latin typeface="Arial"/>
                <a:ea typeface="Arial"/>
                <a:cs typeface="Arial"/>
              </a:defRPr>
            </a:lvl8pPr>
            <a:lvl9pPr algn="l">
              <a:defRPr sz="1950" b="0">
                <a:solidFill>
                  <a:srgbClr val="172D40"/>
                </a:solidFill>
                <a:latin typeface="Arial"/>
                <a:ea typeface="Arial"/>
                <a:cs typeface="Arial"/>
              </a:defRPr>
            </a:lvl9pPr>
          </a:lstStyle>
          <a:p xmlns:a="http://schemas.openxmlformats.org/drawingml/2006/main">
            <a:pPr algn="l">
              <a:defRPr sz="1950" b="0">
                <a:solidFill>
                  <a:srgbClr val="172D40"/>
                </a:solidFill>
                <a:latin typeface="Arial"/>
                <a:ea typeface="Arial"/>
                <a:cs typeface="Arial"/>
              </a:defRPr>
            </a:pPr>
            <a:r>
              <a:rPr sz="1950" b="0">
                <a:solidFill>
                  <a:srgbClr val="172D40"/>
                </a:solidFill>
                <a:latin typeface="Arial"/>
                <a:ea typeface="Arial"/>
                <a:cs typeface="Arial"/>
              </a:rPr>
              <a:t>An online labour-market field experiment with nearly half a million job seekers.</a:t>
            </a:r>
          </a:p>
        </p:txBody>
      </p:sp>
      <p:sp>
        <p:nvSpPr>
          <p:cNvPr id="7" name="study-context-1">
            <a:extLst xmlns:a="http://schemas.openxmlformats.org/drawingml/2006/main">
              <a:ext uri="{FF2B5EF4-FFF2-40B4-BE49-F238E27FC236}">
                <a16:creationId xmlns:a16="http://schemas.microsoft.com/office/drawing/2014/main" id="{9EE2389F-51AA-4DE5-9825-D010EFF0B339}"/>
              </a:ext>
            </a:extLst>
          </p:cNvPr>
          <p:cNvSpPr>
            <a:spLocks xmlns:a="http://schemas.openxmlformats.org/drawingml/2006/main" noGrp="1"/>
          </p:cNvSpPr>
          <p:nvPr/>
        </p:nvSpPr>
        <p:spPr>
          <a:xfrm xmlns:a="http://schemas.openxmlformats.org/drawingml/2006/main">
            <a:off x="6477000" y="4238625"/>
            <a:ext cx="4953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66B65"/>
                </a:solidFill>
                <a:latin typeface="Arial"/>
                <a:ea typeface="Arial"/>
                <a:cs typeface="Arial"/>
              </a:defRPr>
            </a:defPPr>
            <a:lvl1pPr algn="l">
              <a:defRPr sz="2250" b="1">
                <a:solidFill>
                  <a:srgbClr val="166B65"/>
                </a:solidFill>
                <a:latin typeface="Arial"/>
                <a:ea typeface="Arial"/>
                <a:cs typeface="Arial"/>
              </a:defRPr>
            </a:lvl1pPr>
            <a:lvl2pPr algn="l">
              <a:defRPr sz="2250" b="1">
                <a:solidFill>
                  <a:srgbClr val="166B65"/>
                </a:solidFill>
                <a:latin typeface="Arial"/>
                <a:ea typeface="Arial"/>
                <a:cs typeface="Arial"/>
              </a:defRPr>
            </a:lvl2pPr>
            <a:lvl3pPr algn="l">
              <a:defRPr sz="2250" b="1">
                <a:solidFill>
                  <a:srgbClr val="166B65"/>
                </a:solidFill>
                <a:latin typeface="Arial"/>
                <a:ea typeface="Arial"/>
                <a:cs typeface="Arial"/>
              </a:defRPr>
            </a:lvl3pPr>
            <a:lvl4pPr algn="l">
              <a:defRPr sz="2250" b="1">
                <a:solidFill>
                  <a:srgbClr val="166B65"/>
                </a:solidFill>
                <a:latin typeface="Arial"/>
                <a:ea typeface="Arial"/>
                <a:cs typeface="Arial"/>
              </a:defRPr>
            </a:lvl4pPr>
            <a:lvl5pPr algn="l">
              <a:defRPr sz="2250" b="1">
                <a:solidFill>
                  <a:srgbClr val="166B65"/>
                </a:solidFill>
                <a:latin typeface="Arial"/>
                <a:ea typeface="Arial"/>
                <a:cs typeface="Arial"/>
              </a:defRPr>
            </a:lvl5pPr>
            <a:lvl6pPr algn="l">
              <a:defRPr sz="2250" b="1">
                <a:solidFill>
                  <a:srgbClr val="166B65"/>
                </a:solidFill>
                <a:latin typeface="Arial"/>
                <a:ea typeface="Arial"/>
                <a:cs typeface="Arial"/>
              </a:defRPr>
            </a:lvl6pPr>
            <a:lvl7pPr algn="l">
              <a:defRPr sz="2250" b="1">
                <a:solidFill>
                  <a:srgbClr val="166B65"/>
                </a:solidFill>
                <a:latin typeface="Arial"/>
                <a:ea typeface="Arial"/>
                <a:cs typeface="Arial"/>
              </a:defRPr>
            </a:lvl7pPr>
            <a:lvl8pPr algn="l">
              <a:defRPr sz="2250" b="1">
                <a:solidFill>
                  <a:srgbClr val="166B65"/>
                </a:solidFill>
                <a:latin typeface="Arial"/>
                <a:ea typeface="Arial"/>
                <a:cs typeface="Arial"/>
              </a:defRPr>
            </a:lvl8pPr>
            <a:lvl9pPr algn="l">
              <a:defRPr sz="2250" b="1">
                <a:solidFill>
                  <a:srgbClr val="166B65"/>
                </a:solidFill>
                <a:latin typeface="Arial"/>
                <a:ea typeface="Arial"/>
                <a:cs typeface="Arial"/>
              </a:defRPr>
            </a:lvl9pPr>
          </a:lstStyle>
          <a:p xmlns:a="http://schemas.openxmlformats.org/drawingml/2006/main">
            <a:pPr algn="l">
              <a:defRPr sz="2250" b="1">
                <a:solidFill>
                  <a:srgbClr val="166B65"/>
                </a:solidFill>
                <a:latin typeface="Arial"/>
                <a:ea typeface="Arial"/>
                <a:cs typeface="Arial"/>
              </a:defRPr>
            </a:pPr>
            <a:r>
              <a:rPr sz="2250" b="1">
                <a:solidFill>
                  <a:srgbClr val="166B65"/>
                </a:solidFill>
                <a:latin typeface="Arial"/>
                <a:ea typeface="Arial"/>
                <a:cs typeface="Arial"/>
              </a:rPr>
              <a:t>What it does not establish</a:t>
            </a:r>
          </a:p>
        </p:txBody>
      </p:sp>
      <p:sp>
        <p:nvSpPr>
          <p:cNvPr id="8" name="study-context-detail-1">
            <a:extLst xmlns:a="http://schemas.openxmlformats.org/drawingml/2006/main">
              <a:ext uri="{FF2B5EF4-FFF2-40B4-BE49-F238E27FC236}">
                <a16:creationId xmlns:a16="http://schemas.microsoft.com/office/drawing/2014/main" id="{B24D173F-6277-42CA-81ED-D5E890F76489}"/>
              </a:ext>
            </a:extLst>
          </p:cNvPr>
          <p:cNvSpPr>
            <a:spLocks xmlns:a="http://schemas.openxmlformats.org/drawingml/2006/main" noGrp="1"/>
          </p:cNvSpPr>
          <p:nvPr/>
        </p:nvSpPr>
        <p:spPr>
          <a:xfrm xmlns:a="http://schemas.openxmlformats.org/drawingml/2006/main">
            <a:off x="6477000" y="5029200"/>
            <a:ext cx="4857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72D40"/>
                </a:solidFill>
                <a:latin typeface="Arial"/>
                <a:ea typeface="Arial"/>
                <a:cs typeface="Arial"/>
              </a:defRPr>
            </a:defPPr>
            <a:lvl1pPr algn="l">
              <a:defRPr sz="1950" b="0">
                <a:solidFill>
                  <a:srgbClr val="172D40"/>
                </a:solidFill>
                <a:latin typeface="Arial"/>
                <a:ea typeface="Arial"/>
                <a:cs typeface="Arial"/>
              </a:defRPr>
            </a:lvl1pPr>
            <a:lvl2pPr algn="l">
              <a:defRPr sz="1950" b="0">
                <a:solidFill>
                  <a:srgbClr val="172D40"/>
                </a:solidFill>
                <a:latin typeface="Arial"/>
                <a:ea typeface="Arial"/>
                <a:cs typeface="Arial"/>
              </a:defRPr>
            </a:lvl2pPr>
            <a:lvl3pPr algn="l">
              <a:defRPr sz="1950" b="0">
                <a:solidFill>
                  <a:srgbClr val="172D40"/>
                </a:solidFill>
                <a:latin typeface="Arial"/>
                <a:ea typeface="Arial"/>
                <a:cs typeface="Arial"/>
              </a:defRPr>
            </a:lvl3pPr>
            <a:lvl4pPr algn="l">
              <a:defRPr sz="1950" b="0">
                <a:solidFill>
                  <a:srgbClr val="172D40"/>
                </a:solidFill>
                <a:latin typeface="Arial"/>
                <a:ea typeface="Arial"/>
                <a:cs typeface="Arial"/>
              </a:defRPr>
            </a:lvl4pPr>
            <a:lvl5pPr algn="l">
              <a:defRPr sz="1950" b="0">
                <a:solidFill>
                  <a:srgbClr val="172D40"/>
                </a:solidFill>
                <a:latin typeface="Arial"/>
                <a:ea typeface="Arial"/>
                <a:cs typeface="Arial"/>
              </a:defRPr>
            </a:lvl5pPr>
            <a:lvl6pPr algn="l">
              <a:defRPr sz="1950" b="0">
                <a:solidFill>
                  <a:srgbClr val="172D40"/>
                </a:solidFill>
                <a:latin typeface="Arial"/>
                <a:ea typeface="Arial"/>
                <a:cs typeface="Arial"/>
              </a:defRPr>
            </a:lvl6pPr>
            <a:lvl7pPr algn="l">
              <a:defRPr sz="1950" b="0">
                <a:solidFill>
                  <a:srgbClr val="172D40"/>
                </a:solidFill>
                <a:latin typeface="Arial"/>
                <a:ea typeface="Arial"/>
                <a:cs typeface="Arial"/>
              </a:defRPr>
            </a:lvl7pPr>
            <a:lvl8pPr algn="l">
              <a:defRPr sz="1950" b="0">
                <a:solidFill>
                  <a:srgbClr val="172D40"/>
                </a:solidFill>
                <a:latin typeface="Arial"/>
                <a:ea typeface="Arial"/>
                <a:cs typeface="Arial"/>
              </a:defRPr>
            </a:lvl8pPr>
            <a:lvl9pPr algn="l">
              <a:defRPr sz="1950" b="0">
                <a:solidFill>
                  <a:srgbClr val="172D40"/>
                </a:solidFill>
                <a:latin typeface="Arial"/>
                <a:ea typeface="Arial"/>
                <a:cs typeface="Arial"/>
              </a:defRPr>
            </a:lvl9pPr>
          </a:lstStyle>
          <a:p xmlns:a="http://schemas.openxmlformats.org/drawingml/2006/main">
            <a:pPr algn="l">
              <a:defRPr sz="1950" b="0">
                <a:solidFill>
                  <a:srgbClr val="172D40"/>
                </a:solidFill>
                <a:latin typeface="Arial"/>
                <a:ea typeface="Arial"/>
                <a:cs typeface="Arial"/>
              </a:defRPr>
            </a:pPr>
            <a:r>
              <a:rPr sz="1950" b="0">
                <a:solidFill>
                  <a:srgbClr val="172D40"/>
                </a:solidFill>
                <a:latin typeface="Arial"/>
                <a:ea typeface="Arial"/>
                <a:cs typeface="Arial"/>
              </a:rPr>
              <a:t>The effect of today's chatbots, fabricated experience or a JobHub product.</a:t>
            </a:r>
          </a:p>
        </p:txBody>
      </p:sp>
      <p:sp>
        <p:nvSpPr>
          <p:cNvPr id="9" name="evidence-boundary">
            <a:extLst xmlns:a="http://schemas.openxmlformats.org/drawingml/2006/main">
              <a:ext uri="{FF2B5EF4-FFF2-40B4-BE49-F238E27FC236}">
                <a16:creationId xmlns:a16="http://schemas.microsoft.com/office/drawing/2014/main" id="{1A212738-B2B5-4788-9051-F338209C098F}"/>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C01, Jan 2023 abstract. Editing existing text. Relative change, not 8 percentage points.</a:t>
            </a:r>
          </a:p>
        </p:txBody>
      </p:sp>
      <p:sp>
        <p:nvSpPr>
          <p:cNvPr id="10" name="slide-number">
            <a:extLst xmlns:a="http://schemas.openxmlformats.org/drawingml/2006/main">
              <a:ext uri="{FF2B5EF4-FFF2-40B4-BE49-F238E27FC236}">
                <a16:creationId xmlns:a16="http://schemas.microsoft.com/office/drawing/2014/main" id="{D64F43E6-1272-4150-B76A-26F44E20313D}"/>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14</a:t>
            </a:r>
          </a:p>
        </p:txBody>
      </p:sp>
    </p:spTree>
    <p:extLst>
      <p:ext uri="{BB962C8B-B14F-4D97-AF65-F5344CB8AC3E}">
        <p14:creationId xmlns:p14="http://schemas.microsoft.com/office/powerpoint/2010/main" val="1407487851"/>
      </p:ext>
    </p:extLst>
  </p:cSld>
</p:sld>
</file>

<file path=ppt/slides/slide15.xml><?xml version="1.0" encoding="utf-8"?>
<p:sld xmlns:p="http://schemas.openxmlformats.org/presentationml/2006/main">
  <p:cSld>
    <p:bg>
      <p:bgPr>
        <a:solidFill xmlns:a="http://schemas.openxmlformats.org/drawingml/2006/main">
          <a:srgbClr val="102235"/>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5360E650-BAB9-467B-978A-82E22A963763}"/>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vl1pPr algn="l">
              <a:defRPr sz="3450" b="1">
                <a:solidFill>
                  <a:srgbClr val="FFFFFF"/>
                </a:solidFill>
                <a:latin typeface="Arial"/>
                <a:ea typeface="Arial"/>
                <a:cs typeface="Arial"/>
              </a:defRPr>
            </a:lvl1pPr>
            <a:lvl2pPr algn="l">
              <a:defRPr sz="3450" b="1">
                <a:solidFill>
                  <a:srgbClr val="FFFFFF"/>
                </a:solidFill>
                <a:latin typeface="Arial"/>
                <a:ea typeface="Arial"/>
                <a:cs typeface="Arial"/>
              </a:defRPr>
            </a:lvl2pPr>
            <a:lvl3pPr algn="l">
              <a:defRPr sz="3450" b="1">
                <a:solidFill>
                  <a:srgbClr val="FFFFFF"/>
                </a:solidFill>
                <a:latin typeface="Arial"/>
                <a:ea typeface="Arial"/>
                <a:cs typeface="Arial"/>
              </a:defRPr>
            </a:lvl3pPr>
            <a:lvl4pPr algn="l">
              <a:defRPr sz="3450" b="1">
                <a:solidFill>
                  <a:srgbClr val="FFFFFF"/>
                </a:solidFill>
                <a:latin typeface="Arial"/>
                <a:ea typeface="Arial"/>
                <a:cs typeface="Arial"/>
              </a:defRPr>
            </a:lvl4pPr>
            <a:lvl5pPr algn="l">
              <a:defRPr sz="3450" b="1">
                <a:solidFill>
                  <a:srgbClr val="FFFFFF"/>
                </a:solidFill>
                <a:latin typeface="Arial"/>
                <a:ea typeface="Arial"/>
                <a:cs typeface="Arial"/>
              </a:defRPr>
            </a:lvl5pPr>
            <a:lvl6pPr algn="l">
              <a:defRPr sz="3450" b="1">
                <a:solidFill>
                  <a:srgbClr val="FFFFFF"/>
                </a:solidFill>
                <a:latin typeface="Arial"/>
                <a:ea typeface="Arial"/>
                <a:cs typeface="Arial"/>
              </a:defRPr>
            </a:lvl6pPr>
            <a:lvl7pPr algn="l">
              <a:defRPr sz="3450" b="1">
                <a:solidFill>
                  <a:srgbClr val="FFFFFF"/>
                </a:solidFill>
                <a:latin typeface="Arial"/>
                <a:ea typeface="Arial"/>
                <a:cs typeface="Arial"/>
              </a:defRPr>
            </a:lvl7pPr>
            <a:lvl8pPr algn="l">
              <a:defRPr sz="3450" b="1">
                <a:solidFill>
                  <a:srgbClr val="FFFFFF"/>
                </a:solidFill>
                <a:latin typeface="Arial"/>
                <a:ea typeface="Arial"/>
                <a:cs typeface="Arial"/>
              </a:defRPr>
            </a:lvl8pPr>
            <a:lvl9pPr algn="l">
              <a:defRPr sz="3450" b="1">
                <a:solidFill>
                  <a:srgbClr val="FFFFFF"/>
                </a:solidFill>
                <a:latin typeface="Arial"/>
                <a:ea typeface="Arial"/>
                <a:cs typeface="Arial"/>
              </a:defRPr>
            </a:lvl9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Cheaper writing did not guarantee more matches</a:t>
            </a:r>
          </a:p>
        </p:txBody>
      </p:sp>
      <p:sp>
        <p:nvSpPr>
          <p:cNvPr id="2" name="lead">
            <a:extLst xmlns:a="http://schemas.openxmlformats.org/drawingml/2006/main">
              <a:ext uri="{FF2B5EF4-FFF2-40B4-BE49-F238E27FC236}">
                <a16:creationId xmlns:a16="http://schemas.microsoft.com/office/drawing/2014/main" id="{14738DA7-A903-431D-B95D-965A9020EEE5}"/>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D7E1E3"/>
                </a:solidFill>
                <a:latin typeface="Arial"/>
                <a:ea typeface="Arial"/>
                <a:cs typeface="Arial"/>
              </a:defRPr>
            </a:defPPr>
            <a:lvl1pPr algn="l">
              <a:defRPr sz="2025" b="0">
                <a:solidFill>
                  <a:srgbClr val="D7E1E3"/>
                </a:solidFill>
                <a:latin typeface="Arial"/>
                <a:ea typeface="Arial"/>
                <a:cs typeface="Arial"/>
              </a:defRPr>
            </a:lvl1pPr>
            <a:lvl2pPr algn="l">
              <a:defRPr sz="2025" b="0">
                <a:solidFill>
                  <a:srgbClr val="D7E1E3"/>
                </a:solidFill>
                <a:latin typeface="Arial"/>
                <a:ea typeface="Arial"/>
                <a:cs typeface="Arial"/>
              </a:defRPr>
            </a:lvl2pPr>
            <a:lvl3pPr algn="l">
              <a:defRPr sz="2025" b="0">
                <a:solidFill>
                  <a:srgbClr val="D7E1E3"/>
                </a:solidFill>
                <a:latin typeface="Arial"/>
                <a:ea typeface="Arial"/>
                <a:cs typeface="Arial"/>
              </a:defRPr>
            </a:lvl3pPr>
            <a:lvl4pPr algn="l">
              <a:defRPr sz="2025" b="0">
                <a:solidFill>
                  <a:srgbClr val="D7E1E3"/>
                </a:solidFill>
                <a:latin typeface="Arial"/>
                <a:ea typeface="Arial"/>
                <a:cs typeface="Arial"/>
              </a:defRPr>
            </a:lvl4pPr>
            <a:lvl5pPr algn="l">
              <a:defRPr sz="2025" b="0">
                <a:solidFill>
                  <a:srgbClr val="D7E1E3"/>
                </a:solidFill>
                <a:latin typeface="Arial"/>
                <a:ea typeface="Arial"/>
                <a:cs typeface="Arial"/>
              </a:defRPr>
            </a:lvl5pPr>
            <a:lvl6pPr algn="l">
              <a:defRPr sz="2025" b="0">
                <a:solidFill>
                  <a:srgbClr val="D7E1E3"/>
                </a:solidFill>
                <a:latin typeface="Arial"/>
                <a:ea typeface="Arial"/>
                <a:cs typeface="Arial"/>
              </a:defRPr>
            </a:lvl6pPr>
            <a:lvl7pPr algn="l">
              <a:defRPr sz="2025" b="0">
                <a:solidFill>
                  <a:srgbClr val="D7E1E3"/>
                </a:solidFill>
                <a:latin typeface="Arial"/>
                <a:ea typeface="Arial"/>
                <a:cs typeface="Arial"/>
              </a:defRPr>
            </a:lvl7pPr>
            <a:lvl8pPr algn="l">
              <a:defRPr sz="2025" b="0">
                <a:solidFill>
                  <a:srgbClr val="D7E1E3"/>
                </a:solidFill>
                <a:latin typeface="Arial"/>
                <a:ea typeface="Arial"/>
                <a:cs typeface="Arial"/>
              </a:defRPr>
            </a:lvl8pPr>
            <a:lvl9pPr algn="l">
              <a:defRPr sz="2025" b="0">
                <a:solidFill>
                  <a:srgbClr val="D7E1E3"/>
                </a:solidFill>
                <a:latin typeface="Arial"/>
                <a:ea typeface="Arial"/>
                <a:cs typeface="Arial"/>
              </a:defRPr>
            </a:lvl9pPr>
          </a:lstStyle>
          <a:p xmlns:a="http://schemas.openxmlformats.org/drawingml/2006/main">
            <a:pPr algn="l">
              <a:defRPr sz="2025" b="0">
                <a:solidFill>
                  <a:srgbClr val="D7E1E3"/>
                </a:solidFill>
                <a:latin typeface="Arial"/>
                <a:ea typeface="Arial"/>
                <a:cs typeface="Arial"/>
              </a:defRPr>
            </a:pPr>
            <a:r>
              <a:rPr sz="2025" b="0">
                <a:solidFill>
                  <a:srgbClr val="D7E1E3"/>
                </a:solidFill>
                <a:latin typeface="Arial"/>
                <a:ea typeface="Arial"/>
                <a:cs typeface="Arial"/>
              </a:rPr>
              <a:t>A separate experiment offered employers AI-written job-post drafts.</a:t>
            </a:r>
          </a:p>
        </p:txBody>
      </p:sp>
      <p:sp>
        <p:nvSpPr>
          <p:cNvPr id="3" name="reported-effect-0">
            <a:extLst xmlns:a="http://schemas.openxmlformats.org/drawingml/2006/main">
              <a:ext uri="{FF2B5EF4-FFF2-40B4-BE49-F238E27FC236}">
                <a16:creationId xmlns:a16="http://schemas.microsoft.com/office/drawing/2014/main" id="{7CAF35EB-4C8F-4822-BEB0-02359A74755A}"/>
              </a:ext>
            </a:extLst>
          </p:cNvPr>
          <p:cNvSpPr>
            <a:spLocks xmlns:a="http://schemas.openxmlformats.org/drawingml/2006/main" noGrp="1"/>
          </p:cNvSpPr>
          <p:nvPr/>
        </p:nvSpPr>
        <p:spPr>
          <a:xfrm xmlns:a="http://schemas.openxmlformats.org/drawingml/2006/main">
            <a:off x="762000" y="2552700"/>
            <a:ext cx="5048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25" b="1">
                <a:solidFill>
                  <a:srgbClr val="F1C58A"/>
                </a:solidFill>
                <a:latin typeface="Arial"/>
                <a:ea typeface="Arial"/>
                <a:cs typeface="Arial"/>
              </a:defRPr>
            </a:defPPr>
            <a:lvl1pPr algn="l">
              <a:defRPr sz="10125" b="1">
                <a:solidFill>
                  <a:srgbClr val="F1C58A"/>
                </a:solidFill>
                <a:latin typeface="Arial"/>
                <a:ea typeface="Arial"/>
                <a:cs typeface="Arial"/>
              </a:defRPr>
            </a:lvl1pPr>
            <a:lvl2pPr algn="l">
              <a:defRPr sz="10125" b="1">
                <a:solidFill>
                  <a:srgbClr val="F1C58A"/>
                </a:solidFill>
                <a:latin typeface="Arial"/>
                <a:ea typeface="Arial"/>
                <a:cs typeface="Arial"/>
              </a:defRPr>
            </a:lvl2pPr>
            <a:lvl3pPr algn="l">
              <a:defRPr sz="10125" b="1">
                <a:solidFill>
                  <a:srgbClr val="F1C58A"/>
                </a:solidFill>
                <a:latin typeface="Arial"/>
                <a:ea typeface="Arial"/>
                <a:cs typeface="Arial"/>
              </a:defRPr>
            </a:lvl3pPr>
            <a:lvl4pPr algn="l">
              <a:defRPr sz="10125" b="1">
                <a:solidFill>
                  <a:srgbClr val="F1C58A"/>
                </a:solidFill>
                <a:latin typeface="Arial"/>
                <a:ea typeface="Arial"/>
                <a:cs typeface="Arial"/>
              </a:defRPr>
            </a:lvl4pPr>
            <a:lvl5pPr algn="l">
              <a:defRPr sz="10125" b="1">
                <a:solidFill>
                  <a:srgbClr val="F1C58A"/>
                </a:solidFill>
                <a:latin typeface="Arial"/>
                <a:ea typeface="Arial"/>
                <a:cs typeface="Arial"/>
              </a:defRPr>
            </a:lvl5pPr>
            <a:lvl6pPr algn="l">
              <a:defRPr sz="10125" b="1">
                <a:solidFill>
                  <a:srgbClr val="F1C58A"/>
                </a:solidFill>
                <a:latin typeface="Arial"/>
                <a:ea typeface="Arial"/>
                <a:cs typeface="Arial"/>
              </a:defRPr>
            </a:lvl6pPr>
            <a:lvl7pPr algn="l">
              <a:defRPr sz="10125" b="1">
                <a:solidFill>
                  <a:srgbClr val="F1C58A"/>
                </a:solidFill>
                <a:latin typeface="Arial"/>
                <a:ea typeface="Arial"/>
                <a:cs typeface="Arial"/>
              </a:defRPr>
            </a:lvl7pPr>
            <a:lvl8pPr algn="l">
              <a:defRPr sz="10125" b="1">
                <a:solidFill>
                  <a:srgbClr val="F1C58A"/>
                </a:solidFill>
                <a:latin typeface="Arial"/>
                <a:ea typeface="Arial"/>
                <a:cs typeface="Arial"/>
              </a:defRPr>
            </a:lvl8pPr>
            <a:lvl9pPr algn="l">
              <a:defRPr sz="10125" b="1">
                <a:solidFill>
                  <a:srgbClr val="F1C58A"/>
                </a:solidFill>
                <a:latin typeface="Arial"/>
                <a:ea typeface="Arial"/>
                <a:cs typeface="Arial"/>
              </a:defRPr>
            </a:lvl9pPr>
          </a:lstStyle>
          <a:p xmlns:a="http://schemas.openxmlformats.org/drawingml/2006/main">
            <a:pPr algn="l">
              <a:defRPr sz="10125" b="1">
                <a:solidFill>
                  <a:srgbClr val="F1C58A"/>
                </a:solidFill>
                <a:latin typeface="Arial"/>
                <a:ea typeface="Arial"/>
                <a:cs typeface="Arial"/>
              </a:defRPr>
            </a:pPr>
            <a:r>
              <a:rPr sz="10125" b="1">
                <a:solidFill>
                  <a:srgbClr val="F1C58A"/>
                </a:solidFill>
                <a:latin typeface="Arial"/>
                <a:ea typeface="Arial"/>
                <a:cs typeface="Arial"/>
              </a:rPr>
              <a:t>44%</a:t>
            </a:r>
          </a:p>
        </p:txBody>
      </p:sp>
      <p:sp>
        <p:nvSpPr>
          <p:cNvPr id="4" name="effect-definition-0">
            <a:extLst xmlns:a="http://schemas.openxmlformats.org/drawingml/2006/main">
              <a:ext uri="{FF2B5EF4-FFF2-40B4-BE49-F238E27FC236}">
                <a16:creationId xmlns:a16="http://schemas.microsoft.com/office/drawing/2014/main" id="{25C69035-1918-4255-AABD-000AD801B416}"/>
              </a:ext>
            </a:extLst>
          </p:cNvPr>
          <p:cNvSpPr>
            <a:spLocks xmlns:a="http://schemas.openxmlformats.org/drawingml/2006/main" noGrp="1"/>
          </p:cNvSpPr>
          <p:nvPr/>
        </p:nvSpPr>
        <p:spPr>
          <a:xfrm xmlns:a="http://schemas.openxmlformats.org/drawingml/2006/main">
            <a:off x="809625" y="4219575"/>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less drafting time among</a:t>
            </a:r>
          </a:p>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employers who posted</a:t>
            </a:r>
          </a:p>
        </p:txBody>
      </p:sp>
      <p:sp>
        <p:nvSpPr>
          <p:cNvPr id="5" name="reported-effect-1">
            <a:extLst xmlns:a="http://schemas.openxmlformats.org/drawingml/2006/main">
              <a:ext uri="{FF2B5EF4-FFF2-40B4-BE49-F238E27FC236}">
                <a16:creationId xmlns:a16="http://schemas.microsoft.com/office/drawing/2014/main" id="{353E5935-487E-4886-817D-4EC34AC8CF92}"/>
              </a:ext>
            </a:extLst>
          </p:cNvPr>
          <p:cNvSpPr>
            <a:spLocks xmlns:a="http://schemas.openxmlformats.org/drawingml/2006/main" noGrp="1"/>
          </p:cNvSpPr>
          <p:nvPr/>
        </p:nvSpPr>
        <p:spPr>
          <a:xfrm xmlns:a="http://schemas.openxmlformats.org/drawingml/2006/main">
            <a:off x="6381750" y="2552700"/>
            <a:ext cx="5048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25" b="1">
                <a:solidFill>
                  <a:srgbClr val="F1C58A"/>
                </a:solidFill>
                <a:latin typeface="Arial"/>
                <a:ea typeface="Arial"/>
                <a:cs typeface="Arial"/>
              </a:defRPr>
            </a:defPPr>
            <a:lvl1pPr algn="l">
              <a:defRPr sz="10125" b="1">
                <a:solidFill>
                  <a:srgbClr val="F1C58A"/>
                </a:solidFill>
                <a:latin typeface="Arial"/>
                <a:ea typeface="Arial"/>
                <a:cs typeface="Arial"/>
              </a:defRPr>
            </a:lvl1pPr>
            <a:lvl2pPr algn="l">
              <a:defRPr sz="10125" b="1">
                <a:solidFill>
                  <a:srgbClr val="F1C58A"/>
                </a:solidFill>
                <a:latin typeface="Arial"/>
                <a:ea typeface="Arial"/>
                <a:cs typeface="Arial"/>
              </a:defRPr>
            </a:lvl2pPr>
            <a:lvl3pPr algn="l">
              <a:defRPr sz="10125" b="1">
                <a:solidFill>
                  <a:srgbClr val="F1C58A"/>
                </a:solidFill>
                <a:latin typeface="Arial"/>
                <a:ea typeface="Arial"/>
                <a:cs typeface="Arial"/>
              </a:defRPr>
            </a:lvl3pPr>
            <a:lvl4pPr algn="l">
              <a:defRPr sz="10125" b="1">
                <a:solidFill>
                  <a:srgbClr val="F1C58A"/>
                </a:solidFill>
                <a:latin typeface="Arial"/>
                <a:ea typeface="Arial"/>
                <a:cs typeface="Arial"/>
              </a:defRPr>
            </a:lvl4pPr>
            <a:lvl5pPr algn="l">
              <a:defRPr sz="10125" b="1">
                <a:solidFill>
                  <a:srgbClr val="F1C58A"/>
                </a:solidFill>
                <a:latin typeface="Arial"/>
                <a:ea typeface="Arial"/>
                <a:cs typeface="Arial"/>
              </a:defRPr>
            </a:lvl5pPr>
            <a:lvl6pPr algn="l">
              <a:defRPr sz="10125" b="1">
                <a:solidFill>
                  <a:srgbClr val="F1C58A"/>
                </a:solidFill>
                <a:latin typeface="Arial"/>
                <a:ea typeface="Arial"/>
                <a:cs typeface="Arial"/>
              </a:defRPr>
            </a:lvl6pPr>
            <a:lvl7pPr algn="l">
              <a:defRPr sz="10125" b="1">
                <a:solidFill>
                  <a:srgbClr val="F1C58A"/>
                </a:solidFill>
                <a:latin typeface="Arial"/>
                <a:ea typeface="Arial"/>
                <a:cs typeface="Arial"/>
              </a:defRPr>
            </a:lvl7pPr>
            <a:lvl8pPr algn="l">
              <a:defRPr sz="10125" b="1">
                <a:solidFill>
                  <a:srgbClr val="F1C58A"/>
                </a:solidFill>
                <a:latin typeface="Arial"/>
                <a:ea typeface="Arial"/>
                <a:cs typeface="Arial"/>
              </a:defRPr>
            </a:lvl8pPr>
            <a:lvl9pPr algn="l">
              <a:defRPr sz="10125" b="1">
                <a:solidFill>
                  <a:srgbClr val="F1C58A"/>
                </a:solidFill>
                <a:latin typeface="Arial"/>
                <a:ea typeface="Arial"/>
                <a:cs typeface="Arial"/>
              </a:defRPr>
            </a:lvl9pPr>
          </a:lstStyle>
          <a:p xmlns:a="http://schemas.openxmlformats.org/drawingml/2006/main">
            <a:pPr algn="l">
              <a:defRPr sz="10125" b="1">
                <a:solidFill>
                  <a:srgbClr val="F1C58A"/>
                </a:solidFill>
                <a:latin typeface="Arial"/>
                <a:ea typeface="Arial"/>
                <a:cs typeface="Arial"/>
              </a:defRPr>
            </a:pPr>
            <a:r>
              <a:rPr sz="10125" b="1">
                <a:solidFill>
                  <a:srgbClr val="F1C58A"/>
                </a:solidFill>
                <a:latin typeface="Arial"/>
                <a:ea typeface="Arial"/>
                <a:cs typeface="Arial"/>
              </a:rPr>
              <a:t>19%</a:t>
            </a:r>
          </a:p>
        </p:txBody>
      </p:sp>
      <p:sp>
        <p:nvSpPr>
          <p:cNvPr id="6" name="effect-definition-1">
            <a:extLst xmlns:a="http://schemas.openxmlformats.org/drawingml/2006/main">
              <a:ext uri="{FF2B5EF4-FFF2-40B4-BE49-F238E27FC236}">
                <a16:creationId xmlns:a16="http://schemas.microsoft.com/office/drawing/2014/main" id="{2F058D68-C8F7-4EF5-929F-1D1C828EAAF0}"/>
              </a:ext>
            </a:extLst>
          </p:cNvPr>
          <p:cNvSpPr>
            <a:spLocks xmlns:a="http://schemas.openxmlformats.org/drawingml/2006/main" noGrp="1"/>
          </p:cNvSpPr>
          <p:nvPr/>
        </p:nvSpPr>
        <p:spPr>
          <a:xfrm xmlns:a="http://schemas.openxmlformats.org/drawingml/2006/main">
            <a:off x="6429375" y="4219575"/>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higher posting probability</a:t>
            </a:r>
          </a:p>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(relative increase)</a:t>
            </a:r>
          </a:p>
        </p:txBody>
      </p:sp>
      <p:sp>
        <p:nvSpPr>
          <p:cNvPr id="7" name="takeaway">
            <a:extLst xmlns:a="http://schemas.openxmlformats.org/drawingml/2006/main">
              <a:ext uri="{FF2B5EF4-FFF2-40B4-BE49-F238E27FC236}">
                <a16:creationId xmlns:a16="http://schemas.microsoft.com/office/drawing/2014/main" id="{77FE522E-D642-447A-A7FD-BBF2112BE4DD}"/>
              </a:ext>
            </a:extLst>
          </p:cNvPr>
          <p:cNvSpPr>
            <a:spLocks xmlns:a="http://schemas.openxmlformats.org/drawingml/2006/main" noGrp="1"/>
          </p:cNvSpPr>
          <p:nvPr/>
        </p:nvSpPr>
        <p:spPr>
          <a:xfrm xmlns:a="http://schemas.openxmlformats.org/drawingml/2006/main">
            <a:off x="762000" y="5191125"/>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Arial"/>
                <a:ea typeface="Arial"/>
                <a:cs typeface="Arial"/>
              </a:defRPr>
            </a:defPPr>
            <a:lvl1pPr algn="l">
              <a:defRPr sz="2400" b="1">
                <a:solidFill>
                  <a:srgbClr val="FFFFFF"/>
                </a:solidFill>
                <a:latin typeface="Arial"/>
                <a:ea typeface="Arial"/>
                <a:cs typeface="Arial"/>
              </a:defRPr>
            </a:lvl1pPr>
            <a:lvl2pPr algn="l">
              <a:defRPr sz="2400" b="1">
                <a:solidFill>
                  <a:srgbClr val="FFFFFF"/>
                </a:solidFill>
                <a:latin typeface="Arial"/>
                <a:ea typeface="Arial"/>
                <a:cs typeface="Arial"/>
              </a:defRPr>
            </a:lvl2pPr>
            <a:lvl3pPr algn="l">
              <a:defRPr sz="2400" b="1">
                <a:solidFill>
                  <a:srgbClr val="FFFFFF"/>
                </a:solidFill>
                <a:latin typeface="Arial"/>
                <a:ea typeface="Arial"/>
                <a:cs typeface="Arial"/>
              </a:defRPr>
            </a:lvl3pPr>
            <a:lvl4pPr algn="l">
              <a:defRPr sz="2400" b="1">
                <a:solidFill>
                  <a:srgbClr val="FFFFFF"/>
                </a:solidFill>
                <a:latin typeface="Arial"/>
                <a:ea typeface="Arial"/>
                <a:cs typeface="Arial"/>
              </a:defRPr>
            </a:lvl4pPr>
            <a:lvl5pPr algn="l">
              <a:defRPr sz="2400" b="1">
                <a:solidFill>
                  <a:srgbClr val="FFFFFF"/>
                </a:solidFill>
                <a:latin typeface="Arial"/>
                <a:ea typeface="Arial"/>
                <a:cs typeface="Arial"/>
              </a:defRPr>
            </a:lvl5pPr>
            <a:lvl6pPr algn="l">
              <a:defRPr sz="2400" b="1">
                <a:solidFill>
                  <a:srgbClr val="FFFFFF"/>
                </a:solidFill>
                <a:latin typeface="Arial"/>
                <a:ea typeface="Arial"/>
                <a:cs typeface="Arial"/>
              </a:defRPr>
            </a:lvl6pPr>
            <a:lvl7pPr algn="l">
              <a:defRPr sz="2400" b="1">
                <a:solidFill>
                  <a:srgbClr val="FFFFFF"/>
                </a:solidFill>
                <a:latin typeface="Arial"/>
                <a:ea typeface="Arial"/>
                <a:cs typeface="Arial"/>
              </a:defRPr>
            </a:lvl7pPr>
            <a:lvl8pPr algn="l">
              <a:defRPr sz="2400" b="1">
                <a:solidFill>
                  <a:srgbClr val="FFFFFF"/>
                </a:solidFill>
                <a:latin typeface="Arial"/>
                <a:ea typeface="Arial"/>
                <a:cs typeface="Arial"/>
              </a:defRPr>
            </a:lvl8pPr>
            <a:lvl9pPr algn="l">
              <a:defRPr sz="2400" b="1">
                <a:solidFill>
                  <a:srgbClr val="FFFFFF"/>
                </a:solidFill>
                <a:latin typeface="Arial"/>
                <a:ea typeface="Arial"/>
                <a:cs typeface="Arial"/>
              </a:defRPr>
            </a:lvl9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The authors found no discernible increase in matches.</a:t>
            </a:r>
          </a:p>
        </p:txBody>
      </p:sp>
      <p:sp>
        <p:nvSpPr>
          <p:cNvPr id="8" name="evidence-boundary">
            <a:extLst xmlns:a="http://schemas.openxmlformats.org/drawingml/2006/main">
              <a:ext uri="{FF2B5EF4-FFF2-40B4-BE49-F238E27FC236}">
                <a16:creationId xmlns:a16="http://schemas.microsoft.com/office/drawing/2014/main" id="{C54D12B3-6B84-43CF-B3F5-B1F3BA0F62F3}"/>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D7E1E3"/>
                </a:solidFill>
                <a:latin typeface="Arial"/>
                <a:ea typeface="Arial"/>
                <a:cs typeface="Arial"/>
              </a:defRPr>
            </a:defPPr>
            <a:lvl1pPr algn="l">
              <a:defRPr sz="1350" b="0">
                <a:solidFill>
                  <a:srgbClr val="D7E1E3"/>
                </a:solidFill>
                <a:latin typeface="Arial"/>
                <a:ea typeface="Arial"/>
                <a:cs typeface="Arial"/>
              </a:defRPr>
            </a:lvl1pPr>
            <a:lvl2pPr algn="l">
              <a:defRPr sz="1350" b="0">
                <a:solidFill>
                  <a:srgbClr val="D7E1E3"/>
                </a:solidFill>
                <a:latin typeface="Arial"/>
                <a:ea typeface="Arial"/>
                <a:cs typeface="Arial"/>
              </a:defRPr>
            </a:lvl2pPr>
            <a:lvl3pPr algn="l">
              <a:defRPr sz="1350" b="0">
                <a:solidFill>
                  <a:srgbClr val="D7E1E3"/>
                </a:solidFill>
                <a:latin typeface="Arial"/>
                <a:ea typeface="Arial"/>
                <a:cs typeface="Arial"/>
              </a:defRPr>
            </a:lvl3pPr>
            <a:lvl4pPr algn="l">
              <a:defRPr sz="1350" b="0">
                <a:solidFill>
                  <a:srgbClr val="D7E1E3"/>
                </a:solidFill>
                <a:latin typeface="Arial"/>
                <a:ea typeface="Arial"/>
                <a:cs typeface="Arial"/>
              </a:defRPr>
            </a:lvl4pPr>
            <a:lvl5pPr algn="l">
              <a:defRPr sz="1350" b="0">
                <a:solidFill>
                  <a:srgbClr val="D7E1E3"/>
                </a:solidFill>
                <a:latin typeface="Arial"/>
                <a:ea typeface="Arial"/>
                <a:cs typeface="Arial"/>
              </a:defRPr>
            </a:lvl5pPr>
            <a:lvl6pPr algn="l">
              <a:defRPr sz="1350" b="0">
                <a:solidFill>
                  <a:srgbClr val="D7E1E3"/>
                </a:solidFill>
                <a:latin typeface="Arial"/>
                <a:ea typeface="Arial"/>
                <a:cs typeface="Arial"/>
              </a:defRPr>
            </a:lvl6pPr>
            <a:lvl7pPr algn="l">
              <a:defRPr sz="1350" b="0">
                <a:solidFill>
                  <a:srgbClr val="D7E1E3"/>
                </a:solidFill>
                <a:latin typeface="Arial"/>
                <a:ea typeface="Arial"/>
                <a:cs typeface="Arial"/>
              </a:defRPr>
            </a:lvl7pPr>
            <a:lvl8pPr algn="l">
              <a:defRPr sz="1350" b="0">
                <a:solidFill>
                  <a:srgbClr val="D7E1E3"/>
                </a:solidFill>
                <a:latin typeface="Arial"/>
                <a:ea typeface="Arial"/>
                <a:cs typeface="Arial"/>
              </a:defRPr>
            </a:lvl8pPr>
            <a:lvl9pPr algn="l">
              <a:defRPr sz="1350" b="0">
                <a:solidFill>
                  <a:srgbClr val="D7E1E3"/>
                </a:solidFill>
                <a:latin typeface="Arial"/>
                <a:ea typeface="Arial"/>
                <a:cs typeface="Arial"/>
              </a:defRPr>
            </a:lvl9pPr>
          </a:lstStyle>
          <a:p xmlns:a="http://schemas.openxmlformats.org/drawingml/2006/main">
            <a:pPr algn="l">
              <a:defRPr sz="1350" b="0">
                <a:solidFill>
                  <a:srgbClr val="D7E1E3"/>
                </a:solidFill>
                <a:latin typeface="Arial"/>
                <a:ea typeface="Arial"/>
                <a:cs typeface="Arial"/>
              </a:defRPr>
            </a:pPr>
            <a:r>
              <a:rPr sz="1350" b="0">
                <a:solidFill>
                  <a:srgbClr val="D7E1E3"/>
                </a:solidFill>
                <a:latin typeface="Arial"/>
                <a:ea typeface="Arial"/>
                <a:cs typeface="Arial"/>
              </a:rPr>
              <a:t>C02, Sep 2026 working paper. Online labour market. Treatment vs control. Different task from C01.</a:t>
            </a:r>
          </a:p>
        </p:txBody>
      </p:sp>
      <p:sp>
        <p:nvSpPr>
          <p:cNvPr id="9" name="slide-number">
            <a:extLst xmlns:a="http://schemas.openxmlformats.org/drawingml/2006/main">
              <a:ext uri="{FF2B5EF4-FFF2-40B4-BE49-F238E27FC236}">
                <a16:creationId xmlns:a16="http://schemas.microsoft.com/office/drawing/2014/main" id="{07080C0C-AE0E-4B17-9A5C-C4FAD132E31C}"/>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1C58A"/>
                </a:solidFill>
                <a:latin typeface="Arial"/>
                <a:ea typeface="Arial"/>
                <a:cs typeface="Arial"/>
              </a:defRPr>
            </a:defPPr>
            <a:lvl1pPr algn="l">
              <a:defRPr sz="1575" b="1">
                <a:solidFill>
                  <a:srgbClr val="F1C58A"/>
                </a:solidFill>
                <a:latin typeface="Arial"/>
                <a:ea typeface="Arial"/>
                <a:cs typeface="Arial"/>
              </a:defRPr>
            </a:lvl1pPr>
            <a:lvl2pPr algn="l">
              <a:defRPr sz="1575" b="1">
                <a:solidFill>
                  <a:srgbClr val="F1C58A"/>
                </a:solidFill>
                <a:latin typeface="Arial"/>
                <a:ea typeface="Arial"/>
                <a:cs typeface="Arial"/>
              </a:defRPr>
            </a:lvl2pPr>
            <a:lvl3pPr algn="l">
              <a:defRPr sz="1575" b="1">
                <a:solidFill>
                  <a:srgbClr val="F1C58A"/>
                </a:solidFill>
                <a:latin typeface="Arial"/>
                <a:ea typeface="Arial"/>
                <a:cs typeface="Arial"/>
              </a:defRPr>
            </a:lvl3pPr>
            <a:lvl4pPr algn="l">
              <a:defRPr sz="1575" b="1">
                <a:solidFill>
                  <a:srgbClr val="F1C58A"/>
                </a:solidFill>
                <a:latin typeface="Arial"/>
                <a:ea typeface="Arial"/>
                <a:cs typeface="Arial"/>
              </a:defRPr>
            </a:lvl4pPr>
            <a:lvl5pPr algn="l">
              <a:defRPr sz="1575" b="1">
                <a:solidFill>
                  <a:srgbClr val="F1C58A"/>
                </a:solidFill>
                <a:latin typeface="Arial"/>
                <a:ea typeface="Arial"/>
                <a:cs typeface="Arial"/>
              </a:defRPr>
            </a:lvl5pPr>
            <a:lvl6pPr algn="l">
              <a:defRPr sz="1575" b="1">
                <a:solidFill>
                  <a:srgbClr val="F1C58A"/>
                </a:solidFill>
                <a:latin typeface="Arial"/>
                <a:ea typeface="Arial"/>
                <a:cs typeface="Arial"/>
              </a:defRPr>
            </a:lvl6pPr>
            <a:lvl7pPr algn="l">
              <a:defRPr sz="1575" b="1">
                <a:solidFill>
                  <a:srgbClr val="F1C58A"/>
                </a:solidFill>
                <a:latin typeface="Arial"/>
                <a:ea typeface="Arial"/>
                <a:cs typeface="Arial"/>
              </a:defRPr>
            </a:lvl7pPr>
            <a:lvl8pPr algn="l">
              <a:defRPr sz="1575" b="1">
                <a:solidFill>
                  <a:srgbClr val="F1C58A"/>
                </a:solidFill>
                <a:latin typeface="Arial"/>
                <a:ea typeface="Arial"/>
                <a:cs typeface="Arial"/>
              </a:defRPr>
            </a:lvl8pPr>
            <a:lvl9pPr algn="l">
              <a:defRPr sz="1575" b="1">
                <a:solidFill>
                  <a:srgbClr val="F1C58A"/>
                </a:solidFill>
                <a:latin typeface="Arial"/>
                <a:ea typeface="Arial"/>
                <a:cs typeface="Arial"/>
              </a:defRPr>
            </a:lvl9pPr>
          </a:lstStyle>
          <a:p xmlns:a="http://schemas.openxmlformats.org/drawingml/2006/main">
            <a:pPr algn="l">
              <a:defRPr sz="1575" b="1">
                <a:solidFill>
                  <a:srgbClr val="F1C58A"/>
                </a:solidFill>
                <a:latin typeface="Arial"/>
                <a:ea typeface="Arial"/>
                <a:cs typeface="Arial"/>
              </a:defRPr>
            </a:pPr>
            <a:r>
              <a:rPr sz="1575" b="1">
                <a:solidFill>
                  <a:srgbClr val="F1C58A"/>
                </a:solidFill>
                <a:latin typeface="Arial"/>
                <a:ea typeface="Arial"/>
                <a:cs typeface="Arial"/>
              </a:rPr>
              <a:t>15</a:t>
            </a:r>
          </a:p>
        </p:txBody>
      </p:sp>
    </p:spTree>
    <p:extLst>
      <p:ext uri="{BB962C8B-B14F-4D97-AF65-F5344CB8AC3E}">
        <p14:creationId xmlns:p14="http://schemas.microsoft.com/office/powerpoint/2010/main" val="595129765"/>
      </p:ext>
    </p:extLst>
  </p:cSld>
</p:sld>
</file>

<file path=ppt/slides/slide16.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238FE57B-BC6E-4BB5-AB6E-1DDE7E624327}"/>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Explaining real experience in interviews</a:t>
            </a:r>
          </a:p>
        </p:txBody>
      </p:sp>
      <p:sp>
        <p:nvSpPr>
          <p:cNvPr id="2" name="lead">
            <a:extLst xmlns:a="http://schemas.openxmlformats.org/drawingml/2006/main">
              <a:ext uri="{FF2B5EF4-FFF2-40B4-BE49-F238E27FC236}">
                <a16:creationId xmlns:a16="http://schemas.microsoft.com/office/drawing/2014/main" id="{93564E01-41A4-4BD0-A6F0-12197B7B2A1A}"/>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After applying, if shortlisted: rehearse in a format you can use.</a:t>
            </a:r>
          </a:p>
        </p:txBody>
      </p:sp>
      <p:sp>
        <p:nvSpPr>
          <p:cNvPr id="3" name="diagram-index-0">
            <a:extLst xmlns:a="http://schemas.openxmlformats.org/drawingml/2006/main">
              <a:ext uri="{FF2B5EF4-FFF2-40B4-BE49-F238E27FC236}">
                <a16:creationId xmlns:a16="http://schemas.microsoft.com/office/drawing/2014/main" id="{35292FF4-05F1-4D87-9D40-FA9468146AB1}"/>
              </a:ext>
            </a:extLst>
          </p:cNvPr>
          <p:cNvSpPr>
            <a:spLocks xmlns:a="http://schemas.openxmlformats.org/drawingml/2006/main" noGrp="1"/>
          </p:cNvSpPr>
          <p:nvPr/>
        </p:nvSpPr>
        <p:spPr>
          <a:xfrm xmlns:a="http://schemas.openxmlformats.org/drawingml/2006/main">
            <a:off x="762000"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01</a:t>
            </a:r>
          </a:p>
        </p:txBody>
      </p:sp>
      <p:sp>
        <p:nvSpPr>
          <p:cNvPr id="4" name="diagram-heading-0">
            <a:extLst xmlns:a="http://schemas.openxmlformats.org/drawingml/2006/main">
              <a:ext uri="{FF2B5EF4-FFF2-40B4-BE49-F238E27FC236}">
                <a16:creationId xmlns:a16="http://schemas.microsoft.com/office/drawing/2014/main" id="{7C4DF108-0745-47FB-A642-C1C693E164C8}"/>
              </a:ext>
            </a:extLst>
          </p:cNvPr>
          <p:cNvSpPr>
            <a:spLocks xmlns:a="http://schemas.openxmlformats.org/drawingml/2006/main" noGrp="1"/>
          </p:cNvSpPr>
          <p:nvPr/>
        </p:nvSpPr>
        <p:spPr>
          <a:xfrm xmlns:a="http://schemas.openxmlformats.org/drawingml/2006/main">
            <a:off x="762000"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Choose</a:t>
            </a:r>
          </a:p>
        </p:txBody>
      </p:sp>
      <p:sp>
        <p:nvSpPr>
          <p:cNvPr id="5" name="diagram-detail-0">
            <a:extLst xmlns:a="http://schemas.openxmlformats.org/drawingml/2006/main">
              <a:ext uri="{FF2B5EF4-FFF2-40B4-BE49-F238E27FC236}">
                <a16:creationId xmlns:a16="http://schemas.microsoft.com/office/drawing/2014/main" id="{0165B5AE-9BCA-429B-897F-68032EEA6727}"/>
              </a:ext>
            </a:extLst>
          </p:cNvPr>
          <p:cNvSpPr>
            <a:spLocks xmlns:a="http://schemas.openxmlformats.org/drawingml/2006/main" noGrp="1"/>
          </p:cNvSpPr>
          <p:nvPr/>
        </p:nvSpPr>
        <p:spPr>
          <a:xfrm xmlns:a="http://schemas.openxmlformats.org/drawingml/2006/main">
            <a:off x="762000"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 real experience relevant to the role.</a:t>
            </a:r>
          </a:p>
        </p:txBody>
      </p:sp>
      <p:sp>
        <p:nvSpPr>
          <p:cNvPr id="6" name="diagram-sequence-0">
            <a:extLst xmlns:a="http://schemas.openxmlformats.org/drawingml/2006/main">
              <a:ext uri="{FF2B5EF4-FFF2-40B4-BE49-F238E27FC236}">
                <a16:creationId xmlns:a16="http://schemas.microsoft.com/office/drawing/2014/main" id="{FE13D60E-DDA0-409C-BE7B-EFC4E8091661}"/>
              </a:ext>
            </a:extLst>
          </p:cNvPr>
          <p:cNvSpPr>
            <a:spLocks xmlns:a="http://schemas.openxmlformats.org/drawingml/2006/main" noGrp="1"/>
          </p:cNvSpPr>
          <p:nvPr/>
        </p:nvSpPr>
        <p:spPr>
          <a:xfrm xmlns:a="http://schemas.openxmlformats.org/drawingml/2006/main">
            <a:off x="1524000" y="3009900"/>
            <a:ext cx="2024063"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7" name="diagram-index-1">
            <a:extLst xmlns:a="http://schemas.openxmlformats.org/drawingml/2006/main">
              <a:ext uri="{FF2B5EF4-FFF2-40B4-BE49-F238E27FC236}">
                <a16:creationId xmlns:a16="http://schemas.microsoft.com/office/drawing/2014/main" id="{08B2A2FF-F10C-4DD9-B1C0-9C9E24D1D660}"/>
              </a:ext>
            </a:extLst>
          </p:cNvPr>
          <p:cNvSpPr>
            <a:spLocks xmlns:a="http://schemas.openxmlformats.org/drawingml/2006/main" noGrp="1"/>
          </p:cNvSpPr>
          <p:nvPr/>
        </p:nvSpPr>
        <p:spPr>
          <a:xfrm xmlns:a="http://schemas.openxmlformats.org/drawingml/2006/main">
            <a:off x="3548063"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02</a:t>
            </a:r>
          </a:p>
        </p:txBody>
      </p:sp>
      <p:sp>
        <p:nvSpPr>
          <p:cNvPr id="8" name="diagram-heading-1">
            <a:extLst xmlns:a="http://schemas.openxmlformats.org/drawingml/2006/main">
              <a:ext uri="{FF2B5EF4-FFF2-40B4-BE49-F238E27FC236}">
                <a16:creationId xmlns:a16="http://schemas.microsoft.com/office/drawing/2014/main" id="{BE946E3B-0941-44CB-B5F0-90D534C49A73}"/>
              </a:ext>
            </a:extLst>
          </p:cNvPr>
          <p:cNvSpPr>
            <a:spLocks xmlns:a="http://schemas.openxmlformats.org/drawingml/2006/main" noGrp="1"/>
          </p:cNvSpPr>
          <p:nvPr/>
        </p:nvSpPr>
        <p:spPr>
          <a:xfrm xmlns:a="http://schemas.openxmlformats.org/drawingml/2006/main">
            <a:off x="3548063"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Explain</a:t>
            </a:r>
          </a:p>
        </p:txBody>
      </p:sp>
      <p:sp>
        <p:nvSpPr>
          <p:cNvPr id="9" name="diagram-detail-1">
            <a:extLst xmlns:a="http://schemas.openxmlformats.org/drawingml/2006/main">
              <a:ext uri="{FF2B5EF4-FFF2-40B4-BE49-F238E27FC236}">
                <a16:creationId xmlns:a16="http://schemas.microsoft.com/office/drawing/2014/main" id="{7A196884-B2A0-4582-90EF-57191E318D4F}"/>
              </a:ext>
            </a:extLst>
          </p:cNvPr>
          <p:cNvSpPr>
            <a:spLocks xmlns:a="http://schemas.openxmlformats.org/drawingml/2006/main" noGrp="1"/>
          </p:cNvSpPr>
          <p:nvPr/>
        </p:nvSpPr>
        <p:spPr>
          <a:xfrm xmlns:a="http://schemas.openxmlformats.org/drawingml/2006/main">
            <a:off x="3548063"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What happened and what you actually did.</a:t>
            </a:r>
          </a:p>
        </p:txBody>
      </p:sp>
      <p:sp>
        <p:nvSpPr>
          <p:cNvPr id="10" name="diagram-sequence-1">
            <a:extLst xmlns:a="http://schemas.openxmlformats.org/drawingml/2006/main">
              <a:ext uri="{FF2B5EF4-FFF2-40B4-BE49-F238E27FC236}">
                <a16:creationId xmlns:a16="http://schemas.microsoft.com/office/drawing/2014/main" id="{7D1AAD16-92BA-4AD9-8E58-B1BCC2576960}"/>
              </a:ext>
            </a:extLst>
          </p:cNvPr>
          <p:cNvSpPr>
            <a:spLocks xmlns:a="http://schemas.openxmlformats.org/drawingml/2006/main" noGrp="1"/>
          </p:cNvSpPr>
          <p:nvPr/>
        </p:nvSpPr>
        <p:spPr>
          <a:xfrm xmlns:a="http://schemas.openxmlformats.org/drawingml/2006/main">
            <a:off x="4310063" y="3009900"/>
            <a:ext cx="2024063"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11" name="diagram-index-2">
            <a:extLst xmlns:a="http://schemas.openxmlformats.org/drawingml/2006/main">
              <a:ext uri="{FF2B5EF4-FFF2-40B4-BE49-F238E27FC236}">
                <a16:creationId xmlns:a16="http://schemas.microsoft.com/office/drawing/2014/main" id="{82806669-81E1-411B-93AD-C065B42906B2}"/>
              </a:ext>
            </a:extLst>
          </p:cNvPr>
          <p:cNvSpPr>
            <a:spLocks xmlns:a="http://schemas.openxmlformats.org/drawingml/2006/main" noGrp="1"/>
          </p:cNvSpPr>
          <p:nvPr/>
        </p:nvSpPr>
        <p:spPr>
          <a:xfrm xmlns:a="http://schemas.openxmlformats.org/drawingml/2006/main">
            <a:off x="6334125"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03</a:t>
            </a:r>
          </a:p>
        </p:txBody>
      </p:sp>
      <p:sp>
        <p:nvSpPr>
          <p:cNvPr id="12" name="diagram-heading-2">
            <a:extLst xmlns:a="http://schemas.openxmlformats.org/drawingml/2006/main">
              <a:ext uri="{FF2B5EF4-FFF2-40B4-BE49-F238E27FC236}">
                <a16:creationId xmlns:a16="http://schemas.microsoft.com/office/drawing/2014/main" id="{DA1AC123-360E-4C4E-BA93-8CCCC9A9F315}"/>
              </a:ext>
            </a:extLst>
          </p:cNvPr>
          <p:cNvSpPr>
            <a:spLocks xmlns:a="http://schemas.openxmlformats.org/drawingml/2006/main" noGrp="1"/>
          </p:cNvSpPr>
          <p:nvPr/>
        </p:nvSpPr>
        <p:spPr>
          <a:xfrm xmlns:a="http://schemas.openxmlformats.org/drawingml/2006/main">
            <a:off x="6334125"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Rehearse</a:t>
            </a:r>
          </a:p>
        </p:txBody>
      </p:sp>
      <p:sp>
        <p:nvSpPr>
          <p:cNvPr id="13" name="diagram-detail-2">
            <a:extLst xmlns:a="http://schemas.openxmlformats.org/drawingml/2006/main">
              <a:ext uri="{FF2B5EF4-FFF2-40B4-BE49-F238E27FC236}">
                <a16:creationId xmlns:a16="http://schemas.microsoft.com/office/drawing/2014/main" id="{BC59D0CE-AC20-4D58-9B63-5701F0487934}"/>
              </a:ext>
            </a:extLst>
          </p:cNvPr>
          <p:cNvSpPr>
            <a:spLocks xmlns:a="http://schemas.openxmlformats.org/drawingml/2006/main" noGrp="1"/>
          </p:cNvSpPr>
          <p:nvPr/>
        </p:nvSpPr>
        <p:spPr>
          <a:xfrm xmlns:a="http://schemas.openxmlformats.org/drawingml/2006/main">
            <a:off x="6334125"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Practise aloud or in an accessible alternative format.</a:t>
            </a:r>
          </a:p>
        </p:txBody>
      </p:sp>
      <p:sp>
        <p:nvSpPr>
          <p:cNvPr id="14" name="diagram-sequence-2">
            <a:extLst xmlns:a="http://schemas.openxmlformats.org/drawingml/2006/main">
              <a:ext uri="{FF2B5EF4-FFF2-40B4-BE49-F238E27FC236}">
                <a16:creationId xmlns:a16="http://schemas.microsoft.com/office/drawing/2014/main" id="{A3E620E7-314D-4914-83C1-933FE2EC3528}"/>
              </a:ext>
            </a:extLst>
          </p:cNvPr>
          <p:cNvSpPr>
            <a:spLocks xmlns:a="http://schemas.openxmlformats.org/drawingml/2006/main" noGrp="1"/>
          </p:cNvSpPr>
          <p:nvPr/>
        </p:nvSpPr>
        <p:spPr>
          <a:xfrm xmlns:a="http://schemas.openxmlformats.org/drawingml/2006/main">
            <a:off x="7096125" y="3009900"/>
            <a:ext cx="2024063"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15" name="diagram-index-3">
            <a:extLst xmlns:a="http://schemas.openxmlformats.org/drawingml/2006/main">
              <a:ext uri="{FF2B5EF4-FFF2-40B4-BE49-F238E27FC236}">
                <a16:creationId xmlns:a16="http://schemas.microsoft.com/office/drawing/2014/main" id="{7DACD2E7-3C42-433D-B34A-08BE4C338096}"/>
              </a:ext>
            </a:extLst>
          </p:cNvPr>
          <p:cNvSpPr>
            <a:spLocks xmlns:a="http://schemas.openxmlformats.org/drawingml/2006/main" noGrp="1"/>
          </p:cNvSpPr>
          <p:nvPr/>
        </p:nvSpPr>
        <p:spPr>
          <a:xfrm xmlns:a="http://schemas.openxmlformats.org/drawingml/2006/main">
            <a:off x="9120188"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04</a:t>
            </a:r>
          </a:p>
        </p:txBody>
      </p:sp>
      <p:sp>
        <p:nvSpPr>
          <p:cNvPr id="16" name="diagram-heading-3">
            <a:extLst xmlns:a="http://schemas.openxmlformats.org/drawingml/2006/main">
              <a:ext uri="{FF2B5EF4-FFF2-40B4-BE49-F238E27FC236}">
                <a16:creationId xmlns:a16="http://schemas.microsoft.com/office/drawing/2014/main" id="{7A9D1B2E-E714-4286-B908-3B3228EAE5EF}"/>
              </a:ext>
            </a:extLst>
          </p:cNvPr>
          <p:cNvSpPr>
            <a:spLocks xmlns:a="http://schemas.openxmlformats.org/drawingml/2006/main" noGrp="1"/>
          </p:cNvSpPr>
          <p:nvPr/>
        </p:nvSpPr>
        <p:spPr>
          <a:xfrm xmlns:a="http://schemas.openxmlformats.org/drawingml/2006/main">
            <a:off x="9120188"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Review</a:t>
            </a:r>
          </a:p>
        </p:txBody>
      </p:sp>
      <p:sp>
        <p:nvSpPr>
          <p:cNvPr id="17" name="diagram-detail-3">
            <a:extLst xmlns:a="http://schemas.openxmlformats.org/drawingml/2006/main">
              <a:ext uri="{FF2B5EF4-FFF2-40B4-BE49-F238E27FC236}">
                <a16:creationId xmlns:a16="http://schemas.microsoft.com/office/drawing/2014/main" id="{0E034D5E-2D99-468E-AC7F-265FFA84F864}"/>
              </a:ext>
            </a:extLst>
          </p:cNvPr>
          <p:cNvSpPr>
            <a:spLocks xmlns:a="http://schemas.openxmlformats.org/drawingml/2006/main" noGrp="1"/>
          </p:cNvSpPr>
          <p:nvPr/>
        </p:nvSpPr>
        <p:spPr>
          <a:xfrm xmlns:a="http://schemas.openxmlformats.org/drawingml/2006/main">
            <a:off x="9120188"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Record weak points and the next practice step.</a:t>
            </a:r>
          </a:p>
        </p:txBody>
      </p:sp>
      <p:sp>
        <p:nvSpPr>
          <p:cNvPr id="18" name="takeaway">
            <a:extLst xmlns:a="http://schemas.openxmlformats.org/drawingml/2006/main">
              <a:ext uri="{FF2B5EF4-FFF2-40B4-BE49-F238E27FC236}">
                <a16:creationId xmlns:a16="http://schemas.microsoft.com/office/drawing/2014/main" id="{F456CCCD-4BE8-46B0-BABA-B898FDD5C934}"/>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Useful preparation preserves the person's voice and ability to explain their claims.</a:t>
            </a:r>
          </a:p>
        </p:txBody>
      </p:sp>
      <p:sp>
        <p:nvSpPr>
          <p:cNvPr id="19" name="evidence-boundary">
            <a:extLst xmlns:a="http://schemas.openxmlformats.org/drawingml/2006/main">
              <a:ext uri="{FF2B5EF4-FFF2-40B4-BE49-F238E27FC236}">
                <a16:creationId xmlns:a16="http://schemas.microsoft.com/office/drawing/2014/main" id="{BB343AE9-F2DA-4523-8E83-D9CD96069BB1}"/>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P08–P09, I06–I07, V08. Guidance and reported routines, not a calibrated readiness score.</a:t>
            </a:r>
          </a:p>
        </p:txBody>
      </p:sp>
      <p:sp>
        <p:nvSpPr>
          <p:cNvPr id="20" name="slide-number">
            <a:extLst xmlns:a="http://schemas.openxmlformats.org/drawingml/2006/main">
              <a:ext uri="{FF2B5EF4-FFF2-40B4-BE49-F238E27FC236}">
                <a16:creationId xmlns:a16="http://schemas.microsoft.com/office/drawing/2014/main" id="{177598CA-C30B-44DC-8853-711A2B799E42}"/>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16</a:t>
            </a:r>
          </a:p>
        </p:txBody>
      </p:sp>
    </p:spTree>
    <p:extLst>
      <p:ext uri="{BB962C8B-B14F-4D97-AF65-F5344CB8AC3E}">
        <p14:creationId xmlns:p14="http://schemas.microsoft.com/office/powerpoint/2010/main" val="1930729285"/>
      </p:ext>
    </p:extLst>
  </p:cSld>
</p:sld>
</file>

<file path=ppt/slides/slide17.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7B37853-26C9-4318-BE41-A1DC09BB23E5}"/>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Pay needs a like-for-like comparison</a:t>
            </a:r>
          </a:p>
        </p:txBody>
      </p:sp>
      <p:sp>
        <p:nvSpPr>
          <p:cNvPr id="2" name="lead">
            <a:extLst xmlns:a="http://schemas.openxmlformats.org/drawingml/2006/main">
              <a:ext uri="{FF2B5EF4-FFF2-40B4-BE49-F238E27FC236}">
                <a16:creationId xmlns:a16="http://schemas.microsoft.com/office/drawing/2014/main" id="{FB56DD66-5A58-4BA3-8045-1A57C90C1103}"/>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If an offer arrives: compare the full package before judging its value.</a:t>
            </a:r>
          </a:p>
        </p:txBody>
      </p:sp>
      <p:graphicFrame>
        <p:nvGraphicFramePr>
          <p:cNvPr id="3" name="">
            <a:extLst xmlns:a="http://schemas.openxmlformats.org/drawingml/2006/main">
              <a:ext uri="{FF2B5EF4-FFF2-40B4-BE49-F238E27FC236}">
                <a16:creationId xmlns:a16="http://schemas.microsoft.com/office/drawing/2014/main" id="{709A6986-0941-44CA-8E76-D0D5FC59BF75}"/>
              </a:ext>
            </a:extLst>
          </p:cNvPr>
          <p:cNvGraphicFramePr/>
          <p:nvPr/>
        </p:nvGraphicFramePr>
        <p:xfrm>
          <a:off xmlns:a="http://schemas.openxmlformats.org/drawingml/2006/main" x="723900" y="2533650"/>
          <a:ext xmlns:a="http://schemas.openxmlformats.org/drawingml/2006/main" cx="10820400" cy="3219450"/>
        </p:xfrm>
        <a:graphic xmlns:a="http://schemas.openxmlformats.org/drawingml/2006/main">
          <a:graphicData uri="http://schemas.openxmlformats.org/drawingml/2006/table">
            <a:tbl>
              <a:tblPr firstRow="1" bandRow="0"/>
              <a:tblGrid>
                <a:gridCol w="3238500"/>
                <a:gridCol w="7581900"/>
              </a:tblGrid>
              <a:tr h="457200">
                <a:tc>
                  <a:txBody>
                    <a:bodyPr wrap="square" lIns="133350" tIns="76200" rIns="133350" bIns="76200">
                      <a:noAutofit/>
                    </a:bodyPr>
                    <a:lstStyle/>
                    <a:p>
                      <a:r>
                        <a:rPr sz="1800" b="1">
                          <a:solidFill>
                            <a:srgbClr val="FFFFFF"/>
                          </a:solidFill>
                          <a:latin typeface="Arial"/>
                          <a:ea typeface="Arial"/>
                          <a:cs typeface="Arial"/>
                        </a:rPr>
                        <a:t>Compare</a:t>
                      </a:r>
                    </a:p>
                  </a:txBody>
                  <a:tcPr marL="91440" marR="91440" marT="45720" marB="45720" anchor="ctr">
                    <a:lnL w="6668">
                      <a:solidFill>
                        <a:srgbClr val="D9D8D2"/>
                      </a:solidFill>
                      <a:prstDash val="solid"/>
                    </a:lnL>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76200" rIns="133350" bIns="76200">
                      <a:noAutofit/>
                    </a:bodyPr>
                    <a:lstStyle/>
                    <a:p>
                      <a:r>
                        <a:rPr sz="1800" b="1">
                          <a:solidFill>
                            <a:srgbClr val="FFFFFF"/>
                          </a:solidFill>
                          <a:latin typeface="Arial"/>
                          <a:ea typeface="Arial"/>
                          <a:cs typeface="Arial"/>
                        </a:rPr>
                        <a:t>Record before judging</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r>
              <a:tr h="690563">
                <a:tc>
                  <a:txBody>
                    <a:bodyPr wrap="square" lIns="133350" tIns="76200" rIns="133350" bIns="76200">
                      <a:noAutofit/>
                    </a:bodyPr>
                    <a:lstStyle/>
                    <a:p>
                      <a:r>
                        <a:rPr sz="1875" b="0">
                          <a:solidFill>
                            <a:srgbClr val="172D40"/>
                          </a:solidFill>
                          <a:latin typeface="Arial"/>
                          <a:ea typeface="Arial"/>
                          <a:cs typeface="Arial"/>
                        </a:rPr>
                        <a:t>Market benchmark</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Role, scope, level, location, reference date and pay definition.</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Recurring cash</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Basic pay, regular allowances, relevant overtime and hours.</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Conditional value</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Bonus, commission, equity, eligibility and timing.</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Work package</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Leave, benefits, shifts, location and contract terms.</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bl>
          </a:graphicData>
        </a:graphic>
      </p:graphicFrame>
      <p:sp>
        <p:nvSpPr>
          <p:cNvPr id="4" name="evidence-boundary">
            <a:extLst xmlns:a="http://schemas.openxmlformats.org/drawingml/2006/main">
              <a:ext uri="{FF2B5EF4-FFF2-40B4-BE49-F238E27FC236}">
                <a16:creationId xmlns:a16="http://schemas.microsoft.com/office/drawing/2014/main" id="{4ADA400C-576F-4458-B833-D9CDD9901108}"/>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D04–D06. MOM's June 2025 wage reference is guidance context, not an individual's entitlement.</a:t>
            </a:r>
          </a:p>
        </p:txBody>
      </p:sp>
      <p:sp>
        <p:nvSpPr>
          <p:cNvPr id="5" name="slide-number">
            <a:extLst xmlns:a="http://schemas.openxmlformats.org/drawingml/2006/main">
              <a:ext uri="{FF2B5EF4-FFF2-40B4-BE49-F238E27FC236}">
                <a16:creationId xmlns:a16="http://schemas.microsoft.com/office/drawing/2014/main" id="{F13842C6-9E64-45B2-AA74-35F2EB6E4A55}"/>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17</a:t>
            </a:r>
          </a:p>
        </p:txBody>
      </p:sp>
    </p:spTree>
    <p:extLst>
      <p:ext uri="{BB962C8B-B14F-4D97-AF65-F5344CB8AC3E}">
        <p14:creationId xmlns:p14="http://schemas.microsoft.com/office/powerpoint/2010/main" val="1139194475"/>
      </p:ext>
    </p:extLst>
  </p:cSld>
</p:sld>
</file>

<file path=ppt/slides/slide18.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64D1EAE5-99F5-4A63-8B34-F2CEEBBF5757}"/>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Negotiation depends on the offer</a:t>
            </a:r>
          </a:p>
        </p:txBody>
      </p:sp>
      <p:sp>
        <p:nvSpPr>
          <p:cNvPr id="2" name="lead">
            <a:extLst xmlns:a="http://schemas.openxmlformats.org/drawingml/2006/main">
              <a:ext uri="{FF2B5EF4-FFF2-40B4-BE49-F238E27FC236}">
                <a16:creationId xmlns:a16="http://schemas.microsoft.com/office/drawing/2014/main" id="{AD7209A0-0E7A-4849-AA8F-925C62CBD58D}"/>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Preparation should make the available choices clearer.</a:t>
            </a:r>
          </a:p>
        </p:txBody>
      </p:sp>
      <p:sp>
        <p:nvSpPr>
          <p:cNvPr id="3" name="column-heading-0">
            <a:extLst xmlns:a="http://schemas.openxmlformats.org/drawingml/2006/main">
              <a:ext uri="{FF2B5EF4-FFF2-40B4-BE49-F238E27FC236}">
                <a16:creationId xmlns:a16="http://schemas.microsoft.com/office/drawing/2014/main" id="{30ACB3EE-A8E5-420D-9B8F-06275BB9852A}"/>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Evidence to prepare</a:t>
            </a:r>
          </a:p>
        </p:txBody>
      </p:sp>
      <p:sp>
        <p:nvSpPr>
          <p:cNvPr id="4" name="column-0-detail-0">
            <a:extLst xmlns:a="http://schemas.openxmlformats.org/drawingml/2006/main">
              <a:ext uri="{FF2B5EF4-FFF2-40B4-BE49-F238E27FC236}">
                <a16:creationId xmlns:a16="http://schemas.microsoft.com/office/drawing/2014/main" id="{C2D05CE7-F5FC-4162-91C3-58B82288912B}"/>
              </a:ext>
            </a:extLst>
          </p:cNvPr>
          <p:cNvSpPr>
            <a:spLocks xmlns:a="http://schemas.openxmlformats.org/drawingml/2006/main" noGrp="1"/>
          </p:cNvSpPr>
          <p:nvPr/>
        </p:nvSpPr>
        <p:spPr>
          <a:xfrm xmlns:a="http://schemas.openxmlformats.org/drawingml/2006/main">
            <a:off x="76200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Comparable role and package information.</a:t>
            </a:r>
          </a:p>
        </p:txBody>
      </p:sp>
      <p:sp>
        <p:nvSpPr>
          <p:cNvPr id="5" name="column-0-detail-1">
            <a:extLst xmlns:a="http://schemas.openxmlformats.org/drawingml/2006/main">
              <a:ext uri="{FF2B5EF4-FFF2-40B4-BE49-F238E27FC236}">
                <a16:creationId xmlns:a16="http://schemas.microsoft.com/office/drawing/2014/main" id="{DFFB9FCD-29E3-4621-A3B1-3F5F15F93961}"/>
              </a:ext>
            </a:extLst>
          </p:cNvPr>
          <p:cNvSpPr>
            <a:spLocks xmlns:a="http://schemas.openxmlformats.org/drawingml/2006/main" noGrp="1"/>
          </p:cNvSpPr>
          <p:nvPr/>
        </p:nvSpPr>
        <p:spPr>
          <a:xfrm xmlns:a="http://schemas.openxmlformats.org/drawingml/2006/main">
            <a:off x="76200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Questions about what can change and when.</a:t>
            </a:r>
          </a:p>
        </p:txBody>
      </p:sp>
      <p:sp>
        <p:nvSpPr>
          <p:cNvPr id="6" name="column-0-detail-2">
            <a:extLst xmlns:a="http://schemas.openxmlformats.org/drawingml/2006/main">
              <a:ext uri="{FF2B5EF4-FFF2-40B4-BE49-F238E27FC236}">
                <a16:creationId xmlns:a16="http://schemas.microsoft.com/office/drawing/2014/main" id="{0EB5C51B-F0B0-45B3-ADB9-3D415F4AE206}"/>
              </a:ext>
            </a:extLst>
          </p:cNvPr>
          <p:cNvSpPr>
            <a:spLocks xmlns:a="http://schemas.openxmlformats.org/drawingml/2006/main" noGrp="1"/>
          </p:cNvSpPr>
          <p:nvPr/>
        </p:nvSpPr>
        <p:spPr>
          <a:xfrm xmlns:a="http://schemas.openxmlformats.org/drawingml/2006/main">
            <a:off x="76200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Personal priorities, alternatives and risk tolerance.</a:t>
            </a:r>
          </a:p>
        </p:txBody>
      </p:sp>
      <p:sp>
        <p:nvSpPr>
          <p:cNvPr id="7" name="column-heading-1">
            <a:extLst xmlns:a="http://schemas.openxmlformats.org/drawingml/2006/main">
              <a:ext uri="{FF2B5EF4-FFF2-40B4-BE49-F238E27FC236}">
                <a16:creationId xmlns:a16="http://schemas.microsoft.com/office/drawing/2014/main" id="{4515524D-CF7B-4DD1-AEA1-EC383076A150}"/>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94B28"/>
                </a:solidFill>
                <a:latin typeface="Arial"/>
                <a:ea typeface="Arial"/>
                <a:cs typeface="Arial"/>
              </a:defRPr>
            </a:defPPr>
            <a:lvl1pPr algn="l">
              <a:defRPr sz="2325" b="1">
                <a:solidFill>
                  <a:srgbClr val="B94B28"/>
                </a:solidFill>
                <a:latin typeface="Arial"/>
                <a:ea typeface="Arial"/>
                <a:cs typeface="Arial"/>
              </a:defRPr>
            </a:lvl1pPr>
            <a:lvl2pPr algn="l">
              <a:defRPr sz="2325" b="1">
                <a:solidFill>
                  <a:srgbClr val="B94B28"/>
                </a:solidFill>
                <a:latin typeface="Arial"/>
                <a:ea typeface="Arial"/>
                <a:cs typeface="Arial"/>
              </a:defRPr>
            </a:lvl2pPr>
            <a:lvl3pPr algn="l">
              <a:defRPr sz="2325" b="1">
                <a:solidFill>
                  <a:srgbClr val="B94B28"/>
                </a:solidFill>
                <a:latin typeface="Arial"/>
                <a:ea typeface="Arial"/>
                <a:cs typeface="Arial"/>
              </a:defRPr>
            </a:lvl3pPr>
            <a:lvl4pPr algn="l">
              <a:defRPr sz="2325" b="1">
                <a:solidFill>
                  <a:srgbClr val="B94B28"/>
                </a:solidFill>
                <a:latin typeface="Arial"/>
                <a:ea typeface="Arial"/>
                <a:cs typeface="Arial"/>
              </a:defRPr>
            </a:lvl4pPr>
            <a:lvl5pPr algn="l">
              <a:defRPr sz="2325" b="1">
                <a:solidFill>
                  <a:srgbClr val="B94B28"/>
                </a:solidFill>
                <a:latin typeface="Arial"/>
                <a:ea typeface="Arial"/>
                <a:cs typeface="Arial"/>
              </a:defRPr>
            </a:lvl5pPr>
            <a:lvl6pPr algn="l">
              <a:defRPr sz="2325" b="1">
                <a:solidFill>
                  <a:srgbClr val="B94B28"/>
                </a:solidFill>
                <a:latin typeface="Arial"/>
                <a:ea typeface="Arial"/>
                <a:cs typeface="Arial"/>
              </a:defRPr>
            </a:lvl6pPr>
            <a:lvl7pPr algn="l">
              <a:defRPr sz="2325" b="1">
                <a:solidFill>
                  <a:srgbClr val="B94B28"/>
                </a:solidFill>
                <a:latin typeface="Arial"/>
                <a:ea typeface="Arial"/>
                <a:cs typeface="Arial"/>
              </a:defRPr>
            </a:lvl7pPr>
            <a:lvl8pPr algn="l">
              <a:defRPr sz="2325" b="1">
                <a:solidFill>
                  <a:srgbClr val="B94B28"/>
                </a:solidFill>
                <a:latin typeface="Arial"/>
                <a:ea typeface="Arial"/>
                <a:cs typeface="Arial"/>
              </a:defRPr>
            </a:lvl8pPr>
            <a:lvl9pPr algn="l">
              <a:defRPr sz="2325" b="1">
                <a:solidFill>
                  <a:srgbClr val="B94B28"/>
                </a:solidFill>
                <a:latin typeface="Arial"/>
                <a:ea typeface="Arial"/>
                <a:cs typeface="Arial"/>
              </a:defRPr>
            </a:lvl9pPr>
          </a:lstStyle>
          <a:p xmlns:a="http://schemas.openxmlformats.org/drawingml/2006/main">
            <a:pPr algn="l">
              <a:defRPr sz="2325" b="1">
                <a:solidFill>
                  <a:srgbClr val="B94B28"/>
                </a:solidFill>
                <a:latin typeface="Arial"/>
                <a:ea typeface="Arial"/>
                <a:cs typeface="Arial"/>
              </a:defRPr>
            </a:pPr>
            <a:r>
              <a:rPr sz="2325" b="1">
                <a:solidFill>
                  <a:srgbClr val="B94B28"/>
                </a:solidFill>
                <a:latin typeface="Arial"/>
                <a:ea typeface="Arial"/>
                <a:cs typeface="Arial"/>
              </a:rPr>
              <a:t>Conditions to recognise</a:t>
            </a:r>
          </a:p>
        </p:txBody>
      </p:sp>
      <p:sp>
        <p:nvSpPr>
          <p:cNvPr id="8" name="column-1-detail-0">
            <a:extLst xmlns:a="http://schemas.openxmlformats.org/drawingml/2006/main">
              <a:ext uri="{FF2B5EF4-FFF2-40B4-BE49-F238E27FC236}">
                <a16:creationId xmlns:a16="http://schemas.microsoft.com/office/drawing/2014/main" id="{8E17B827-5249-4BDC-96D8-CBAB14C7E4C6}"/>
              </a:ext>
            </a:extLst>
          </p:cNvPr>
          <p:cNvSpPr>
            <a:spLocks xmlns:a="http://schemas.openxmlformats.org/drawingml/2006/main" noGrp="1"/>
          </p:cNvSpPr>
          <p:nvPr/>
        </p:nvSpPr>
        <p:spPr>
          <a:xfrm xmlns:a="http://schemas.openxmlformats.org/drawingml/2006/main">
            <a:off x="638175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Fixed bands or standardised scales.</a:t>
            </a:r>
          </a:p>
        </p:txBody>
      </p:sp>
      <p:sp>
        <p:nvSpPr>
          <p:cNvPr id="9" name="column-1-detail-1">
            <a:extLst xmlns:a="http://schemas.openxmlformats.org/drawingml/2006/main">
              <a:ext uri="{FF2B5EF4-FFF2-40B4-BE49-F238E27FC236}">
                <a16:creationId xmlns:a16="http://schemas.microsoft.com/office/drawing/2014/main" id="{D17797B9-991F-4468-875E-18CF54F401A9}"/>
              </a:ext>
            </a:extLst>
          </p:cNvPr>
          <p:cNvSpPr>
            <a:spLocks xmlns:a="http://schemas.openxmlformats.org/drawingml/2006/main" noGrp="1"/>
          </p:cNvSpPr>
          <p:nvPr/>
        </p:nvSpPr>
        <p:spPr>
          <a:xfrm xmlns:a="http://schemas.openxmlformats.org/drawingml/2006/main">
            <a:off x="638175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Variable pay, contract terms and deadlines.</a:t>
            </a:r>
          </a:p>
        </p:txBody>
      </p:sp>
      <p:sp>
        <p:nvSpPr>
          <p:cNvPr id="10" name="column-1-detail-2">
            <a:extLst xmlns:a="http://schemas.openxmlformats.org/drawingml/2006/main">
              <a:ext uri="{FF2B5EF4-FFF2-40B4-BE49-F238E27FC236}">
                <a16:creationId xmlns:a16="http://schemas.microsoft.com/office/drawing/2014/main" id="{1029ECA8-E01B-4242-9905-6E472DBE3A68}"/>
              </a:ext>
            </a:extLst>
          </p:cNvPr>
          <p:cNvSpPr>
            <a:spLocks xmlns:a="http://schemas.openxmlformats.org/drawingml/2006/main" noGrp="1"/>
          </p:cNvSpPr>
          <p:nvPr/>
        </p:nvSpPr>
        <p:spPr>
          <a:xfrm xmlns:a="http://schemas.openxmlformats.org/drawingml/2006/main">
            <a:off x="638175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Accepting, countering or declining can each be reasonable.</a:t>
            </a:r>
          </a:p>
        </p:txBody>
      </p:sp>
      <p:sp>
        <p:nvSpPr>
          <p:cNvPr id="11" name="takeaway">
            <a:extLst xmlns:a="http://schemas.openxmlformats.org/drawingml/2006/main">
              <a:ext uri="{FF2B5EF4-FFF2-40B4-BE49-F238E27FC236}">
                <a16:creationId xmlns:a16="http://schemas.microsoft.com/office/drawing/2014/main" id="{FA89BBB9-2558-475C-854C-0B9BC04BF0F8}"/>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No universal counteroffer rule or guaranteed pay uplift follows from this research.</a:t>
            </a:r>
          </a:p>
        </p:txBody>
      </p:sp>
      <p:sp>
        <p:nvSpPr>
          <p:cNvPr id="12" name="evidence-boundary">
            <a:extLst xmlns:a="http://schemas.openxmlformats.org/drawingml/2006/main">
              <a:ext uri="{FF2B5EF4-FFF2-40B4-BE49-F238E27FC236}">
                <a16:creationId xmlns:a16="http://schemas.microsoft.com/office/drawing/2014/main" id="{9104513D-3965-412B-BA8F-20FE8DD61136}"/>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D06–D07, D11. International experimental evidence does not establish Singapore-wide outcomes.</a:t>
            </a:r>
          </a:p>
        </p:txBody>
      </p:sp>
      <p:sp>
        <p:nvSpPr>
          <p:cNvPr id="13" name="slide-number">
            <a:extLst xmlns:a="http://schemas.openxmlformats.org/drawingml/2006/main">
              <a:ext uri="{FF2B5EF4-FFF2-40B4-BE49-F238E27FC236}">
                <a16:creationId xmlns:a16="http://schemas.microsoft.com/office/drawing/2014/main" id="{4D43FC25-0288-458F-B936-041E7500A1B1}"/>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18</a:t>
            </a:r>
          </a:p>
        </p:txBody>
      </p:sp>
    </p:spTree>
    <p:extLst>
      <p:ext uri="{BB962C8B-B14F-4D97-AF65-F5344CB8AC3E}">
        <p14:creationId xmlns:p14="http://schemas.microsoft.com/office/powerpoint/2010/main" val="1619959968"/>
      </p:ext>
    </p:extLst>
  </p:cSld>
</p:sld>
</file>

<file path=ppt/slides/slide19.xml><?xml version="1.0" encoding="utf-8"?>
<p:sld xmlns:p="http://schemas.openxmlformats.org/presentationml/2006/main">
  <p:cSld>
    <p:bg>
      <p:bgPr>
        <a:solidFill xmlns:a="http://schemas.openxmlformats.org/drawingml/2006/main">
          <a:srgbClr val="102235"/>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4CDF9D4F-20C0-4CC6-8D0D-4B40A2B23F3E}"/>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vl1pPr algn="l">
              <a:defRPr sz="3450" b="1">
                <a:solidFill>
                  <a:srgbClr val="FFFFFF"/>
                </a:solidFill>
                <a:latin typeface="Arial"/>
                <a:ea typeface="Arial"/>
                <a:cs typeface="Arial"/>
              </a:defRPr>
            </a:lvl1pPr>
            <a:lvl2pPr algn="l">
              <a:defRPr sz="3450" b="1">
                <a:solidFill>
                  <a:srgbClr val="FFFFFF"/>
                </a:solidFill>
                <a:latin typeface="Arial"/>
                <a:ea typeface="Arial"/>
                <a:cs typeface="Arial"/>
              </a:defRPr>
            </a:lvl2pPr>
            <a:lvl3pPr algn="l">
              <a:defRPr sz="3450" b="1">
                <a:solidFill>
                  <a:srgbClr val="FFFFFF"/>
                </a:solidFill>
                <a:latin typeface="Arial"/>
                <a:ea typeface="Arial"/>
                <a:cs typeface="Arial"/>
              </a:defRPr>
            </a:lvl3pPr>
            <a:lvl4pPr algn="l">
              <a:defRPr sz="3450" b="1">
                <a:solidFill>
                  <a:srgbClr val="FFFFFF"/>
                </a:solidFill>
                <a:latin typeface="Arial"/>
                <a:ea typeface="Arial"/>
                <a:cs typeface="Arial"/>
              </a:defRPr>
            </a:lvl4pPr>
            <a:lvl5pPr algn="l">
              <a:defRPr sz="3450" b="1">
                <a:solidFill>
                  <a:srgbClr val="FFFFFF"/>
                </a:solidFill>
                <a:latin typeface="Arial"/>
                <a:ea typeface="Arial"/>
                <a:cs typeface="Arial"/>
              </a:defRPr>
            </a:lvl5pPr>
            <a:lvl6pPr algn="l">
              <a:defRPr sz="3450" b="1">
                <a:solidFill>
                  <a:srgbClr val="FFFFFF"/>
                </a:solidFill>
                <a:latin typeface="Arial"/>
                <a:ea typeface="Arial"/>
                <a:cs typeface="Arial"/>
              </a:defRPr>
            </a:lvl6pPr>
            <a:lvl7pPr algn="l">
              <a:defRPr sz="3450" b="1">
                <a:solidFill>
                  <a:srgbClr val="FFFFFF"/>
                </a:solidFill>
                <a:latin typeface="Arial"/>
                <a:ea typeface="Arial"/>
                <a:cs typeface="Arial"/>
              </a:defRPr>
            </a:lvl7pPr>
            <a:lvl8pPr algn="l">
              <a:defRPr sz="3450" b="1">
                <a:solidFill>
                  <a:srgbClr val="FFFFFF"/>
                </a:solidFill>
                <a:latin typeface="Arial"/>
                <a:ea typeface="Arial"/>
                <a:cs typeface="Arial"/>
              </a:defRPr>
            </a:lvl8pPr>
            <a:lvl9pPr algn="l">
              <a:defRPr sz="3450" b="1">
                <a:solidFill>
                  <a:srgbClr val="FFFFFF"/>
                </a:solidFill>
                <a:latin typeface="Arial"/>
                <a:ea typeface="Arial"/>
                <a:cs typeface="Arial"/>
              </a:defRPr>
            </a:lvl9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Returning to unfinished work</a:t>
            </a:r>
          </a:p>
        </p:txBody>
      </p:sp>
      <p:sp>
        <p:nvSpPr>
          <p:cNvPr id="2" name="lead">
            <a:extLst xmlns:a="http://schemas.openxmlformats.org/drawingml/2006/main">
              <a:ext uri="{FF2B5EF4-FFF2-40B4-BE49-F238E27FC236}">
                <a16:creationId xmlns:a16="http://schemas.microsoft.com/office/drawing/2014/main" id="{974084A3-A093-478F-B713-54127ECFDD61}"/>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D7E1E3"/>
                </a:solidFill>
                <a:latin typeface="Arial"/>
                <a:ea typeface="Arial"/>
                <a:cs typeface="Arial"/>
              </a:defRPr>
            </a:defPPr>
            <a:lvl1pPr algn="l">
              <a:defRPr sz="2025" b="0">
                <a:solidFill>
                  <a:srgbClr val="D7E1E3"/>
                </a:solidFill>
                <a:latin typeface="Arial"/>
                <a:ea typeface="Arial"/>
                <a:cs typeface="Arial"/>
              </a:defRPr>
            </a:lvl1pPr>
            <a:lvl2pPr algn="l">
              <a:defRPr sz="2025" b="0">
                <a:solidFill>
                  <a:srgbClr val="D7E1E3"/>
                </a:solidFill>
                <a:latin typeface="Arial"/>
                <a:ea typeface="Arial"/>
                <a:cs typeface="Arial"/>
              </a:defRPr>
            </a:lvl2pPr>
            <a:lvl3pPr algn="l">
              <a:defRPr sz="2025" b="0">
                <a:solidFill>
                  <a:srgbClr val="D7E1E3"/>
                </a:solidFill>
                <a:latin typeface="Arial"/>
                <a:ea typeface="Arial"/>
                <a:cs typeface="Arial"/>
              </a:defRPr>
            </a:lvl3pPr>
            <a:lvl4pPr algn="l">
              <a:defRPr sz="2025" b="0">
                <a:solidFill>
                  <a:srgbClr val="D7E1E3"/>
                </a:solidFill>
                <a:latin typeface="Arial"/>
                <a:ea typeface="Arial"/>
                <a:cs typeface="Arial"/>
              </a:defRPr>
            </a:lvl4pPr>
            <a:lvl5pPr algn="l">
              <a:defRPr sz="2025" b="0">
                <a:solidFill>
                  <a:srgbClr val="D7E1E3"/>
                </a:solidFill>
                <a:latin typeface="Arial"/>
                <a:ea typeface="Arial"/>
                <a:cs typeface="Arial"/>
              </a:defRPr>
            </a:lvl5pPr>
            <a:lvl6pPr algn="l">
              <a:defRPr sz="2025" b="0">
                <a:solidFill>
                  <a:srgbClr val="D7E1E3"/>
                </a:solidFill>
                <a:latin typeface="Arial"/>
                <a:ea typeface="Arial"/>
                <a:cs typeface="Arial"/>
              </a:defRPr>
            </a:lvl6pPr>
            <a:lvl7pPr algn="l">
              <a:defRPr sz="2025" b="0">
                <a:solidFill>
                  <a:srgbClr val="D7E1E3"/>
                </a:solidFill>
                <a:latin typeface="Arial"/>
                <a:ea typeface="Arial"/>
                <a:cs typeface="Arial"/>
              </a:defRPr>
            </a:lvl7pPr>
            <a:lvl8pPr algn="l">
              <a:defRPr sz="2025" b="0">
                <a:solidFill>
                  <a:srgbClr val="D7E1E3"/>
                </a:solidFill>
                <a:latin typeface="Arial"/>
                <a:ea typeface="Arial"/>
                <a:cs typeface="Arial"/>
              </a:defRPr>
            </a:lvl8pPr>
            <a:lvl9pPr algn="l">
              <a:defRPr sz="2025" b="0">
                <a:solidFill>
                  <a:srgbClr val="D7E1E3"/>
                </a:solidFill>
                <a:latin typeface="Arial"/>
                <a:ea typeface="Arial"/>
                <a:cs typeface="Arial"/>
              </a:defRPr>
            </a:lvl9pPr>
          </a:lstStyle>
          <a:p xmlns:a="http://schemas.openxmlformats.org/drawingml/2006/main">
            <a:pPr algn="l">
              <a:defRPr sz="2025" b="0">
                <a:solidFill>
                  <a:srgbClr val="D7E1E3"/>
                </a:solidFill>
                <a:latin typeface="Arial"/>
                <a:ea typeface="Arial"/>
                <a:cs typeface="Arial"/>
              </a:defRPr>
            </a:pPr>
            <a:r>
              <a:rPr sz="2025" b="0">
                <a:solidFill>
                  <a:srgbClr val="D7E1E3"/>
                </a:solidFill>
                <a:latin typeface="Arial"/>
                <a:ea typeface="Arial"/>
                <a:cs typeface="Arial"/>
              </a:rPr>
              <a:t>Interruptions can happen at any stage. These fields form a proposed checkpoint.</a:t>
            </a:r>
          </a:p>
        </p:txBody>
      </p:sp>
      <p:sp>
        <p:nvSpPr>
          <p:cNvPr id="3" name="diagram-heading-0">
            <a:extLst xmlns:a="http://schemas.openxmlformats.org/drawingml/2006/main">
              <a:ext uri="{FF2B5EF4-FFF2-40B4-BE49-F238E27FC236}">
                <a16:creationId xmlns:a16="http://schemas.microsoft.com/office/drawing/2014/main" id="{653FF205-B7F3-4D5E-9EF3-9B6B33A1E27C}"/>
              </a:ext>
            </a:extLst>
          </p:cNvPr>
          <p:cNvSpPr>
            <a:spLocks xmlns:a="http://schemas.openxmlformats.org/drawingml/2006/main" noGrp="1"/>
          </p:cNvSpPr>
          <p:nvPr/>
        </p:nvSpPr>
        <p:spPr>
          <a:xfrm xmlns:a="http://schemas.openxmlformats.org/drawingml/2006/main">
            <a:off x="762000" y="281940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F1C58A"/>
                </a:solidFill>
                <a:latin typeface="Arial"/>
                <a:ea typeface="Arial"/>
                <a:cs typeface="Arial"/>
              </a:defRPr>
            </a:defPPr>
            <a:lvl1pPr algn="l">
              <a:defRPr sz="2625" b="1">
                <a:solidFill>
                  <a:srgbClr val="F1C58A"/>
                </a:solidFill>
                <a:latin typeface="Arial"/>
                <a:ea typeface="Arial"/>
                <a:cs typeface="Arial"/>
              </a:defRPr>
            </a:lvl1pPr>
            <a:lvl2pPr algn="l">
              <a:defRPr sz="2625" b="1">
                <a:solidFill>
                  <a:srgbClr val="F1C58A"/>
                </a:solidFill>
                <a:latin typeface="Arial"/>
                <a:ea typeface="Arial"/>
                <a:cs typeface="Arial"/>
              </a:defRPr>
            </a:lvl2pPr>
            <a:lvl3pPr algn="l">
              <a:defRPr sz="2625" b="1">
                <a:solidFill>
                  <a:srgbClr val="F1C58A"/>
                </a:solidFill>
                <a:latin typeface="Arial"/>
                <a:ea typeface="Arial"/>
                <a:cs typeface="Arial"/>
              </a:defRPr>
            </a:lvl3pPr>
            <a:lvl4pPr algn="l">
              <a:defRPr sz="2625" b="1">
                <a:solidFill>
                  <a:srgbClr val="F1C58A"/>
                </a:solidFill>
                <a:latin typeface="Arial"/>
                <a:ea typeface="Arial"/>
                <a:cs typeface="Arial"/>
              </a:defRPr>
            </a:lvl4pPr>
            <a:lvl5pPr algn="l">
              <a:defRPr sz="2625" b="1">
                <a:solidFill>
                  <a:srgbClr val="F1C58A"/>
                </a:solidFill>
                <a:latin typeface="Arial"/>
                <a:ea typeface="Arial"/>
                <a:cs typeface="Arial"/>
              </a:defRPr>
            </a:lvl5pPr>
            <a:lvl6pPr algn="l">
              <a:defRPr sz="2625" b="1">
                <a:solidFill>
                  <a:srgbClr val="F1C58A"/>
                </a:solidFill>
                <a:latin typeface="Arial"/>
                <a:ea typeface="Arial"/>
                <a:cs typeface="Arial"/>
              </a:defRPr>
            </a:lvl6pPr>
            <a:lvl7pPr algn="l">
              <a:defRPr sz="2625" b="1">
                <a:solidFill>
                  <a:srgbClr val="F1C58A"/>
                </a:solidFill>
                <a:latin typeface="Arial"/>
                <a:ea typeface="Arial"/>
                <a:cs typeface="Arial"/>
              </a:defRPr>
            </a:lvl7pPr>
            <a:lvl8pPr algn="l">
              <a:defRPr sz="2625" b="1">
                <a:solidFill>
                  <a:srgbClr val="F1C58A"/>
                </a:solidFill>
                <a:latin typeface="Arial"/>
                <a:ea typeface="Arial"/>
                <a:cs typeface="Arial"/>
              </a:defRPr>
            </a:lvl8pPr>
            <a:lvl9pPr algn="l">
              <a:defRPr sz="2625" b="1">
                <a:solidFill>
                  <a:srgbClr val="F1C58A"/>
                </a:solidFill>
                <a:latin typeface="Arial"/>
                <a:ea typeface="Arial"/>
                <a:cs typeface="Arial"/>
              </a:defRPr>
            </a:lvl9pPr>
          </a:lstStyle>
          <a:p xmlns:a="http://schemas.openxmlformats.org/drawingml/2006/main">
            <a:pPr algn="l">
              <a:defRPr sz="2625" b="1">
                <a:solidFill>
                  <a:srgbClr val="F1C58A"/>
                </a:solidFill>
                <a:latin typeface="Arial"/>
                <a:ea typeface="Arial"/>
                <a:cs typeface="Arial"/>
              </a:defRPr>
            </a:pPr>
            <a:r>
              <a:rPr sz="2625" b="1">
                <a:solidFill>
                  <a:srgbClr val="F1C58A"/>
                </a:solidFill>
                <a:latin typeface="Arial"/>
                <a:ea typeface="Arial"/>
                <a:cs typeface="Arial"/>
              </a:rPr>
              <a:t>Source</a:t>
            </a:r>
          </a:p>
        </p:txBody>
      </p:sp>
      <p:sp>
        <p:nvSpPr>
          <p:cNvPr id="4" name="diagram-detail-0">
            <a:extLst xmlns:a="http://schemas.openxmlformats.org/drawingml/2006/main">
              <a:ext uri="{FF2B5EF4-FFF2-40B4-BE49-F238E27FC236}">
                <a16:creationId xmlns:a16="http://schemas.microsoft.com/office/drawing/2014/main" id="{C7BB157F-B29B-4BE3-AD1C-1F1A643F4185}"/>
              </a:ext>
            </a:extLst>
          </p:cNvPr>
          <p:cNvSpPr>
            <a:spLocks xmlns:a="http://schemas.openxmlformats.org/drawingml/2006/main" noGrp="1"/>
          </p:cNvSpPr>
          <p:nvPr/>
        </p:nvSpPr>
        <p:spPr>
          <a:xfrm xmlns:a="http://schemas.openxmlformats.org/drawingml/2006/main">
            <a:off x="762000" y="3857625"/>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D7E1E3"/>
                </a:solidFill>
                <a:latin typeface="Arial"/>
                <a:ea typeface="Arial"/>
                <a:cs typeface="Arial"/>
              </a:defRPr>
            </a:defPPr>
            <a:lvl1pPr algn="l">
              <a:defRPr sz="2025" b="0">
                <a:solidFill>
                  <a:srgbClr val="D7E1E3"/>
                </a:solidFill>
                <a:latin typeface="Arial"/>
                <a:ea typeface="Arial"/>
                <a:cs typeface="Arial"/>
              </a:defRPr>
            </a:lvl1pPr>
            <a:lvl2pPr algn="l">
              <a:defRPr sz="2025" b="0">
                <a:solidFill>
                  <a:srgbClr val="D7E1E3"/>
                </a:solidFill>
                <a:latin typeface="Arial"/>
                <a:ea typeface="Arial"/>
                <a:cs typeface="Arial"/>
              </a:defRPr>
            </a:lvl2pPr>
            <a:lvl3pPr algn="l">
              <a:defRPr sz="2025" b="0">
                <a:solidFill>
                  <a:srgbClr val="D7E1E3"/>
                </a:solidFill>
                <a:latin typeface="Arial"/>
                <a:ea typeface="Arial"/>
                <a:cs typeface="Arial"/>
              </a:defRPr>
            </a:lvl3pPr>
            <a:lvl4pPr algn="l">
              <a:defRPr sz="2025" b="0">
                <a:solidFill>
                  <a:srgbClr val="D7E1E3"/>
                </a:solidFill>
                <a:latin typeface="Arial"/>
                <a:ea typeface="Arial"/>
                <a:cs typeface="Arial"/>
              </a:defRPr>
            </a:lvl4pPr>
            <a:lvl5pPr algn="l">
              <a:defRPr sz="2025" b="0">
                <a:solidFill>
                  <a:srgbClr val="D7E1E3"/>
                </a:solidFill>
                <a:latin typeface="Arial"/>
                <a:ea typeface="Arial"/>
                <a:cs typeface="Arial"/>
              </a:defRPr>
            </a:lvl5pPr>
            <a:lvl6pPr algn="l">
              <a:defRPr sz="2025" b="0">
                <a:solidFill>
                  <a:srgbClr val="D7E1E3"/>
                </a:solidFill>
                <a:latin typeface="Arial"/>
                <a:ea typeface="Arial"/>
                <a:cs typeface="Arial"/>
              </a:defRPr>
            </a:lvl6pPr>
            <a:lvl7pPr algn="l">
              <a:defRPr sz="2025" b="0">
                <a:solidFill>
                  <a:srgbClr val="D7E1E3"/>
                </a:solidFill>
                <a:latin typeface="Arial"/>
                <a:ea typeface="Arial"/>
                <a:cs typeface="Arial"/>
              </a:defRPr>
            </a:lvl7pPr>
            <a:lvl8pPr algn="l">
              <a:defRPr sz="2025" b="0">
                <a:solidFill>
                  <a:srgbClr val="D7E1E3"/>
                </a:solidFill>
                <a:latin typeface="Arial"/>
                <a:ea typeface="Arial"/>
                <a:cs typeface="Arial"/>
              </a:defRPr>
            </a:lvl8pPr>
            <a:lvl9pPr algn="l">
              <a:defRPr sz="2025" b="0">
                <a:solidFill>
                  <a:srgbClr val="D7E1E3"/>
                </a:solidFill>
                <a:latin typeface="Arial"/>
                <a:ea typeface="Arial"/>
                <a:cs typeface="Arial"/>
              </a:defRPr>
            </a:lvl9pPr>
          </a:lstStyle>
          <a:p xmlns:a="http://schemas.openxmlformats.org/drawingml/2006/main">
            <a:pPr algn="l">
              <a:defRPr sz="2025" b="0">
                <a:solidFill>
                  <a:srgbClr val="D7E1E3"/>
                </a:solidFill>
                <a:latin typeface="Arial"/>
                <a:ea typeface="Arial"/>
                <a:cs typeface="Arial"/>
              </a:defRPr>
            </a:pPr>
            <a:r>
              <a:rPr sz="2025" b="0">
                <a:solidFill>
                  <a:srgbClr val="D7E1E3"/>
                </a:solidFill>
                <a:latin typeface="Arial"/>
                <a:ea typeface="Arial"/>
                <a:cs typeface="Arial"/>
              </a:rPr>
              <a:t>The posting and where it came from.</a:t>
            </a:r>
          </a:p>
        </p:txBody>
      </p:sp>
      <p:sp>
        <p:nvSpPr>
          <p:cNvPr id="5" name="diagram-heading-1">
            <a:extLst xmlns:a="http://schemas.openxmlformats.org/drawingml/2006/main">
              <a:ext uri="{FF2B5EF4-FFF2-40B4-BE49-F238E27FC236}">
                <a16:creationId xmlns:a16="http://schemas.microsoft.com/office/drawing/2014/main" id="{FC6F0815-DDC2-4D5D-B787-E56FD4B7B8AC}"/>
              </a:ext>
            </a:extLst>
          </p:cNvPr>
          <p:cNvSpPr>
            <a:spLocks xmlns:a="http://schemas.openxmlformats.org/drawingml/2006/main" noGrp="1"/>
          </p:cNvSpPr>
          <p:nvPr/>
        </p:nvSpPr>
        <p:spPr>
          <a:xfrm xmlns:a="http://schemas.openxmlformats.org/drawingml/2006/main">
            <a:off x="4476750" y="281940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F1C58A"/>
                </a:solidFill>
                <a:latin typeface="Arial"/>
                <a:ea typeface="Arial"/>
                <a:cs typeface="Arial"/>
              </a:defRPr>
            </a:defPPr>
            <a:lvl1pPr algn="l">
              <a:defRPr sz="2625" b="1">
                <a:solidFill>
                  <a:srgbClr val="F1C58A"/>
                </a:solidFill>
                <a:latin typeface="Arial"/>
                <a:ea typeface="Arial"/>
                <a:cs typeface="Arial"/>
              </a:defRPr>
            </a:lvl1pPr>
            <a:lvl2pPr algn="l">
              <a:defRPr sz="2625" b="1">
                <a:solidFill>
                  <a:srgbClr val="F1C58A"/>
                </a:solidFill>
                <a:latin typeface="Arial"/>
                <a:ea typeface="Arial"/>
                <a:cs typeface="Arial"/>
              </a:defRPr>
            </a:lvl2pPr>
            <a:lvl3pPr algn="l">
              <a:defRPr sz="2625" b="1">
                <a:solidFill>
                  <a:srgbClr val="F1C58A"/>
                </a:solidFill>
                <a:latin typeface="Arial"/>
                <a:ea typeface="Arial"/>
                <a:cs typeface="Arial"/>
              </a:defRPr>
            </a:lvl3pPr>
            <a:lvl4pPr algn="l">
              <a:defRPr sz="2625" b="1">
                <a:solidFill>
                  <a:srgbClr val="F1C58A"/>
                </a:solidFill>
                <a:latin typeface="Arial"/>
                <a:ea typeface="Arial"/>
                <a:cs typeface="Arial"/>
              </a:defRPr>
            </a:lvl4pPr>
            <a:lvl5pPr algn="l">
              <a:defRPr sz="2625" b="1">
                <a:solidFill>
                  <a:srgbClr val="F1C58A"/>
                </a:solidFill>
                <a:latin typeface="Arial"/>
                <a:ea typeface="Arial"/>
                <a:cs typeface="Arial"/>
              </a:defRPr>
            </a:lvl5pPr>
            <a:lvl6pPr algn="l">
              <a:defRPr sz="2625" b="1">
                <a:solidFill>
                  <a:srgbClr val="F1C58A"/>
                </a:solidFill>
                <a:latin typeface="Arial"/>
                <a:ea typeface="Arial"/>
                <a:cs typeface="Arial"/>
              </a:defRPr>
            </a:lvl6pPr>
            <a:lvl7pPr algn="l">
              <a:defRPr sz="2625" b="1">
                <a:solidFill>
                  <a:srgbClr val="F1C58A"/>
                </a:solidFill>
                <a:latin typeface="Arial"/>
                <a:ea typeface="Arial"/>
                <a:cs typeface="Arial"/>
              </a:defRPr>
            </a:lvl7pPr>
            <a:lvl8pPr algn="l">
              <a:defRPr sz="2625" b="1">
                <a:solidFill>
                  <a:srgbClr val="F1C58A"/>
                </a:solidFill>
                <a:latin typeface="Arial"/>
                <a:ea typeface="Arial"/>
                <a:cs typeface="Arial"/>
              </a:defRPr>
            </a:lvl8pPr>
            <a:lvl9pPr algn="l">
              <a:defRPr sz="2625" b="1">
                <a:solidFill>
                  <a:srgbClr val="F1C58A"/>
                </a:solidFill>
                <a:latin typeface="Arial"/>
                <a:ea typeface="Arial"/>
                <a:cs typeface="Arial"/>
              </a:defRPr>
            </a:lvl9pPr>
          </a:lstStyle>
          <a:p xmlns:a="http://schemas.openxmlformats.org/drawingml/2006/main">
            <a:pPr algn="l">
              <a:defRPr sz="2625" b="1">
                <a:solidFill>
                  <a:srgbClr val="F1C58A"/>
                </a:solidFill>
                <a:latin typeface="Arial"/>
                <a:ea typeface="Arial"/>
                <a:cs typeface="Arial"/>
              </a:defRPr>
            </a:pPr>
            <a:r>
              <a:rPr sz="2625" b="1">
                <a:solidFill>
                  <a:srgbClr val="F1C58A"/>
                </a:solidFill>
                <a:latin typeface="Arial"/>
                <a:ea typeface="Arial"/>
                <a:cs typeface="Arial"/>
              </a:rPr>
              <a:t>State</a:t>
            </a:r>
          </a:p>
        </p:txBody>
      </p:sp>
      <p:sp>
        <p:nvSpPr>
          <p:cNvPr id="6" name="diagram-detail-1">
            <a:extLst xmlns:a="http://schemas.openxmlformats.org/drawingml/2006/main">
              <a:ext uri="{FF2B5EF4-FFF2-40B4-BE49-F238E27FC236}">
                <a16:creationId xmlns:a16="http://schemas.microsoft.com/office/drawing/2014/main" id="{5E4FEC3E-68C8-452E-82E3-4E9CCBB5CA69}"/>
              </a:ext>
            </a:extLst>
          </p:cNvPr>
          <p:cNvSpPr>
            <a:spLocks xmlns:a="http://schemas.openxmlformats.org/drawingml/2006/main" noGrp="1"/>
          </p:cNvSpPr>
          <p:nvPr/>
        </p:nvSpPr>
        <p:spPr>
          <a:xfrm xmlns:a="http://schemas.openxmlformats.org/drawingml/2006/main">
            <a:off x="4476750" y="3857625"/>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D7E1E3"/>
                </a:solidFill>
                <a:latin typeface="Arial"/>
                <a:ea typeface="Arial"/>
                <a:cs typeface="Arial"/>
              </a:defRPr>
            </a:defPPr>
            <a:lvl1pPr algn="l">
              <a:defRPr sz="2025" b="0">
                <a:solidFill>
                  <a:srgbClr val="D7E1E3"/>
                </a:solidFill>
                <a:latin typeface="Arial"/>
                <a:ea typeface="Arial"/>
                <a:cs typeface="Arial"/>
              </a:defRPr>
            </a:lvl1pPr>
            <a:lvl2pPr algn="l">
              <a:defRPr sz="2025" b="0">
                <a:solidFill>
                  <a:srgbClr val="D7E1E3"/>
                </a:solidFill>
                <a:latin typeface="Arial"/>
                <a:ea typeface="Arial"/>
                <a:cs typeface="Arial"/>
              </a:defRPr>
            </a:lvl2pPr>
            <a:lvl3pPr algn="l">
              <a:defRPr sz="2025" b="0">
                <a:solidFill>
                  <a:srgbClr val="D7E1E3"/>
                </a:solidFill>
                <a:latin typeface="Arial"/>
                <a:ea typeface="Arial"/>
                <a:cs typeface="Arial"/>
              </a:defRPr>
            </a:lvl3pPr>
            <a:lvl4pPr algn="l">
              <a:defRPr sz="2025" b="0">
                <a:solidFill>
                  <a:srgbClr val="D7E1E3"/>
                </a:solidFill>
                <a:latin typeface="Arial"/>
                <a:ea typeface="Arial"/>
                <a:cs typeface="Arial"/>
              </a:defRPr>
            </a:lvl4pPr>
            <a:lvl5pPr algn="l">
              <a:defRPr sz="2025" b="0">
                <a:solidFill>
                  <a:srgbClr val="D7E1E3"/>
                </a:solidFill>
                <a:latin typeface="Arial"/>
                <a:ea typeface="Arial"/>
                <a:cs typeface="Arial"/>
              </a:defRPr>
            </a:lvl5pPr>
            <a:lvl6pPr algn="l">
              <a:defRPr sz="2025" b="0">
                <a:solidFill>
                  <a:srgbClr val="D7E1E3"/>
                </a:solidFill>
                <a:latin typeface="Arial"/>
                <a:ea typeface="Arial"/>
                <a:cs typeface="Arial"/>
              </a:defRPr>
            </a:lvl6pPr>
            <a:lvl7pPr algn="l">
              <a:defRPr sz="2025" b="0">
                <a:solidFill>
                  <a:srgbClr val="D7E1E3"/>
                </a:solidFill>
                <a:latin typeface="Arial"/>
                <a:ea typeface="Arial"/>
                <a:cs typeface="Arial"/>
              </a:defRPr>
            </a:lvl7pPr>
            <a:lvl8pPr algn="l">
              <a:defRPr sz="2025" b="0">
                <a:solidFill>
                  <a:srgbClr val="D7E1E3"/>
                </a:solidFill>
                <a:latin typeface="Arial"/>
                <a:ea typeface="Arial"/>
                <a:cs typeface="Arial"/>
              </a:defRPr>
            </a:lvl8pPr>
            <a:lvl9pPr algn="l">
              <a:defRPr sz="2025" b="0">
                <a:solidFill>
                  <a:srgbClr val="D7E1E3"/>
                </a:solidFill>
                <a:latin typeface="Arial"/>
                <a:ea typeface="Arial"/>
                <a:cs typeface="Arial"/>
              </a:defRPr>
            </a:lvl9pPr>
          </a:lstStyle>
          <a:p xmlns:a="http://schemas.openxmlformats.org/drawingml/2006/main">
            <a:pPr algn="l">
              <a:defRPr sz="2025" b="0">
                <a:solidFill>
                  <a:srgbClr val="D7E1E3"/>
                </a:solidFill>
                <a:latin typeface="Arial"/>
                <a:ea typeface="Arial"/>
                <a:cs typeface="Arial"/>
              </a:defRPr>
            </a:pPr>
            <a:r>
              <a:rPr sz="2025" b="0">
                <a:solidFill>
                  <a:srgbClr val="D7E1E3"/>
                </a:solidFill>
                <a:latin typeface="Arial"/>
                <a:ea typeface="Arial"/>
                <a:cs typeface="Arial"/>
              </a:rPr>
              <a:t>Current stage, document version and submission confirmation.</a:t>
            </a:r>
          </a:p>
        </p:txBody>
      </p:sp>
      <p:sp>
        <p:nvSpPr>
          <p:cNvPr id="7" name="diagram-heading-2">
            <a:extLst xmlns:a="http://schemas.openxmlformats.org/drawingml/2006/main">
              <a:ext uri="{FF2B5EF4-FFF2-40B4-BE49-F238E27FC236}">
                <a16:creationId xmlns:a16="http://schemas.microsoft.com/office/drawing/2014/main" id="{4ED36CD7-5F57-4752-AA89-854AAE47B67F}"/>
              </a:ext>
            </a:extLst>
          </p:cNvPr>
          <p:cNvSpPr>
            <a:spLocks xmlns:a="http://schemas.openxmlformats.org/drawingml/2006/main" noGrp="1"/>
          </p:cNvSpPr>
          <p:nvPr/>
        </p:nvSpPr>
        <p:spPr>
          <a:xfrm xmlns:a="http://schemas.openxmlformats.org/drawingml/2006/main">
            <a:off x="8191500" y="281940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F1C58A"/>
                </a:solidFill>
                <a:latin typeface="Arial"/>
                <a:ea typeface="Arial"/>
                <a:cs typeface="Arial"/>
              </a:defRPr>
            </a:defPPr>
            <a:lvl1pPr algn="l">
              <a:defRPr sz="2625" b="1">
                <a:solidFill>
                  <a:srgbClr val="F1C58A"/>
                </a:solidFill>
                <a:latin typeface="Arial"/>
                <a:ea typeface="Arial"/>
                <a:cs typeface="Arial"/>
              </a:defRPr>
            </a:lvl1pPr>
            <a:lvl2pPr algn="l">
              <a:defRPr sz="2625" b="1">
                <a:solidFill>
                  <a:srgbClr val="F1C58A"/>
                </a:solidFill>
                <a:latin typeface="Arial"/>
                <a:ea typeface="Arial"/>
                <a:cs typeface="Arial"/>
              </a:defRPr>
            </a:lvl2pPr>
            <a:lvl3pPr algn="l">
              <a:defRPr sz="2625" b="1">
                <a:solidFill>
                  <a:srgbClr val="F1C58A"/>
                </a:solidFill>
                <a:latin typeface="Arial"/>
                <a:ea typeface="Arial"/>
                <a:cs typeface="Arial"/>
              </a:defRPr>
            </a:lvl3pPr>
            <a:lvl4pPr algn="l">
              <a:defRPr sz="2625" b="1">
                <a:solidFill>
                  <a:srgbClr val="F1C58A"/>
                </a:solidFill>
                <a:latin typeface="Arial"/>
                <a:ea typeface="Arial"/>
                <a:cs typeface="Arial"/>
              </a:defRPr>
            </a:lvl4pPr>
            <a:lvl5pPr algn="l">
              <a:defRPr sz="2625" b="1">
                <a:solidFill>
                  <a:srgbClr val="F1C58A"/>
                </a:solidFill>
                <a:latin typeface="Arial"/>
                <a:ea typeface="Arial"/>
                <a:cs typeface="Arial"/>
              </a:defRPr>
            </a:lvl5pPr>
            <a:lvl6pPr algn="l">
              <a:defRPr sz="2625" b="1">
                <a:solidFill>
                  <a:srgbClr val="F1C58A"/>
                </a:solidFill>
                <a:latin typeface="Arial"/>
                <a:ea typeface="Arial"/>
                <a:cs typeface="Arial"/>
              </a:defRPr>
            </a:lvl6pPr>
            <a:lvl7pPr algn="l">
              <a:defRPr sz="2625" b="1">
                <a:solidFill>
                  <a:srgbClr val="F1C58A"/>
                </a:solidFill>
                <a:latin typeface="Arial"/>
                <a:ea typeface="Arial"/>
                <a:cs typeface="Arial"/>
              </a:defRPr>
            </a:lvl7pPr>
            <a:lvl8pPr algn="l">
              <a:defRPr sz="2625" b="1">
                <a:solidFill>
                  <a:srgbClr val="F1C58A"/>
                </a:solidFill>
                <a:latin typeface="Arial"/>
                <a:ea typeface="Arial"/>
                <a:cs typeface="Arial"/>
              </a:defRPr>
            </a:lvl8pPr>
            <a:lvl9pPr algn="l">
              <a:defRPr sz="2625" b="1">
                <a:solidFill>
                  <a:srgbClr val="F1C58A"/>
                </a:solidFill>
                <a:latin typeface="Arial"/>
                <a:ea typeface="Arial"/>
                <a:cs typeface="Arial"/>
              </a:defRPr>
            </a:lvl9pPr>
          </a:lstStyle>
          <a:p xmlns:a="http://schemas.openxmlformats.org/drawingml/2006/main">
            <a:pPr algn="l">
              <a:defRPr sz="2625" b="1">
                <a:solidFill>
                  <a:srgbClr val="F1C58A"/>
                </a:solidFill>
                <a:latin typeface="Arial"/>
                <a:ea typeface="Arial"/>
                <a:cs typeface="Arial"/>
              </a:defRPr>
            </a:pPr>
            <a:r>
              <a:rPr sz="2625" b="1">
                <a:solidFill>
                  <a:srgbClr val="F1C58A"/>
                </a:solidFill>
                <a:latin typeface="Arial"/>
                <a:ea typeface="Arial"/>
                <a:cs typeface="Arial"/>
              </a:rPr>
              <a:t>Next action</a:t>
            </a:r>
          </a:p>
        </p:txBody>
      </p:sp>
      <p:sp>
        <p:nvSpPr>
          <p:cNvPr id="8" name="diagram-detail-2">
            <a:extLst xmlns:a="http://schemas.openxmlformats.org/drawingml/2006/main">
              <a:ext uri="{FF2B5EF4-FFF2-40B4-BE49-F238E27FC236}">
                <a16:creationId xmlns:a16="http://schemas.microsoft.com/office/drawing/2014/main" id="{2CD19CFE-DAD1-412C-97EC-5719F104BEC5}"/>
              </a:ext>
            </a:extLst>
          </p:cNvPr>
          <p:cNvSpPr>
            <a:spLocks xmlns:a="http://schemas.openxmlformats.org/drawingml/2006/main" noGrp="1"/>
          </p:cNvSpPr>
          <p:nvPr/>
        </p:nvSpPr>
        <p:spPr>
          <a:xfrm xmlns:a="http://schemas.openxmlformats.org/drawingml/2006/main">
            <a:off x="8191500" y="3857625"/>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D7E1E3"/>
                </a:solidFill>
                <a:latin typeface="Arial"/>
                <a:ea typeface="Arial"/>
                <a:cs typeface="Arial"/>
              </a:defRPr>
            </a:defPPr>
            <a:lvl1pPr algn="l">
              <a:defRPr sz="2025" b="0">
                <a:solidFill>
                  <a:srgbClr val="D7E1E3"/>
                </a:solidFill>
                <a:latin typeface="Arial"/>
                <a:ea typeface="Arial"/>
                <a:cs typeface="Arial"/>
              </a:defRPr>
            </a:lvl1pPr>
            <a:lvl2pPr algn="l">
              <a:defRPr sz="2025" b="0">
                <a:solidFill>
                  <a:srgbClr val="D7E1E3"/>
                </a:solidFill>
                <a:latin typeface="Arial"/>
                <a:ea typeface="Arial"/>
                <a:cs typeface="Arial"/>
              </a:defRPr>
            </a:lvl2pPr>
            <a:lvl3pPr algn="l">
              <a:defRPr sz="2025" b="0">
                <a:solidFill>
                  <a:srgbClr val="D7E1E3"/>
                </a:solidFill>
                <a:latin typeface="Arial"/>
                <a:ea typeface="Arial"/>
                <a:cs typeface="Arial"/>
              </a:defRPr>
            </a:lvl3pPr>
            <a:lvl4pPr algn="l">
              <a:defRPr sz="2025" b="0">
                <a:solidFill>
                  <a:srgbClr val="D7E1E3"/>
                </a:solidFill>
                <a:latin typeface="Arial"/>
                <a:ea typeface="Arial"/>
                <a:cs typeface="Arial"/>
              </a:defRPr>
            </a:lvl4pPr>
            <a:lvl5pPr algn="l">
              <a:defRPr sz="2025" b="0">
                <a:solidFill>
                  <a:srgbClr val="D7E1E3"/>
                </a:solidFill>
                <a:latin typeface="Arial"/>
                <a:ea typeface="Arial"/>
                <a:cs typeface="Arial"/>
              </a:defRPr>
            </a:lvl5pPr>
            <a:lvl6pPr algn="l">
              <a:defRPr sz="2025" b="0">
                <a:solidFill>
                  <a:srgbClr val="D7E1E3"/>
                </a:solidFill>
                <a:latin typeface="Arial"/>
                <a:ea typeface="Arial"/>
                <a:cs typeface="Arial"/>
              </a:defRPr>
            </a:lvl6pPr>
            <a:lvl7pPr algn="l">
              <a:defRPr sz="2025" b="0">
                <a:solidFill>
                  <a:srgbClr val="D7E1E3"/>
                </a:solidFill>
                <a:latin typeface="Arial"/>
                <a:ea typeface="Arial"/>
                <a:cs typeface="Arial"/>
              </a:defRPr>
            </a:lvl7pPr>
            <a:lvl8pPr algn="l">
              <a:defRPr sz="2025" b="0">
                <a:solidFill>
                  <a:srgbClr val="D7E1E3"/>
                </a:solidFill>
                <a:latin typeface="Arial"/>
                <a:ea typeface="Arial"/>
                <a:cs typeface="Arial"/>
              </a:defRPr>
            </a:lvl8pPr>
            <a:lvl9pPr algn="l">
              <a:defRPr sz="2025" b="0">
                <a:solidFill>
                  <a:srgbClr val="D7E1E3"/>
                </a:solidFill>
                <a:latin typeface="Arial"/>
                <a:ea typeface="Arial"/>
                <a:cs typeface="Arial"/>
              </a:defRPr>
            </a:lvl9pPr>
          </a:lstStyle>
          <a:p xmlns:a="http://schemas.openxmlformats.org/drawingml/2006/main">
            <a:pPr algn="l">
              <a:defRPr sz="2025" b="0">
                <a:solidFill>
                  <a:srgbClr val="D7E1E3"/>
                </a:solidFill>
                <a:latin typeface="Arial"/>
                <a:ea typeface="Arial"/>
                <a:cs typeface="Arial"/>
              </a:defRPr>
            </a:pPr>
            <a:r>
              <a:rPr sz="2025" b="0">
                <a:solidFill>
                  <a:srgbClr val="D7E1E3"/>
                </a:solidFill>
                <a:latin typeface="Arial"/>
                <a:ea typeface="Arial"/>
                <a:cs typeface="Arial"/>
              </a:rPr>
              <a:t>One task and the unresolved questions.</a:t>
            </a:r>
          </a:p>
        </p:txBody>
      </p:sp>
      <p:sp>
        <p:nvSpPr>
          <p:cNvPr id="9" name="takeaway">
            <a:extLst xmlns:a="http://schemas.openxmlformats.org/drawingml/2006/main">
              <a:ext uri="{FF2B5EF4-FFF2-40B4-BE49-F238E27FC236}">
                <a16:creationId xmlns:a16="http://schemas.microsoft.com/office/drawing/2014/main" id="{01C75CB5-74C7-4594-96B6-74D54467884B}"/>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Saved or prepared does not mean submitted. Recovery needs testing across the journey.</a:t>
            </a:r>
          </a:p>
        </p:txBody>
      </p:sp>
      <p:sp>
        <p:nvSpPr>
          <p:cNvPr id="10" name="evidence-boundary">
            <a:extLst xmlns:a="http://schemas.openxmlformats.org/drawingml/2006/main">
              <a:ext uri="{FF2B5EF4-FFF2-40B4-BE49-F238E27FC236}">
                <a16:creationId xmlns:a16="http://schemas.microsoft.com/office/drawing/2014/main" id="{24E5BDB6-D61D-42BF-B747-1C540EFC9122}"/>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D7E1E3"/>
                </a:solidFill>
                <a:latin typeface="Arial"/>
                <a:ea typeface="Arial"/>
                <a:cs typeface="Arial"/>
              </a:defRPr>
            </a:defPPr>
            <a:lvl1pPr algn="l">
              <a:defRPr sz="1350" b="0">
                <a:solidFill>
                  <a:srgbClr val="D7E1E3"/>
                </a:solidFill>
                <a:latin typeface="Arial"/>
                <a:ea typeface="Arial"/>
                <a:cs typeface="Arial"/>
              </a:defRPr>
            </a:lvl1pPr>
            <a:lvl2pPr algn="l">
              <a:defRPr sz="1350" b="0">
                <a:solidFill>
                  <a:srgbClr val="D7E1E3"/>
                </a:solidFill>
                <a:latin typeface="Arial"/>
                <a:ea typeface="Arial"/>
                <a:cs typeface="Arial"/>
              </a:defRPr>
            </a:lvl2pPr>
            <a:lvl3pPr algn="l">
              <a:defRPr sz="1350" b="0">
                <a:solidFill>
                  <a:srgbClr val="D7E1E3"/>
                </a:solidFill>
                <a:latin typeface="Arial"/>
                <a:ea typeface="Arial"/>
                <a:cs typeface="Arial"/>
              </a:defRPr>
            </a:lvl3pPr>
            <a:lvl4pPr algn="l">
              <a:defRPr sz="1350" b="0">
                <a:solidFill>
                  <a:srgbClr val="D7E1E3"/>
                </a:solidFill>
                <a:latin typeface="Arial"/>
                <a:ea typeface="Arial"/>
                <a:cs typeface="Arial"/>
              </a:defRPr>
            </a:lvl4pPr>
            <a:lvl5pPr algn="l">
              <a:defRPr sz="1350" b="0">
                <a:solidFill>
                  <a:srgbClr val="D7E1E3"/>
                </a:solidFill>
                <a:latin typeface="Arial"/>
                <a:ea typeface="Arial"/>
                <a:cs typeface="Arial"/>
              </a:defRPr>
            </a:lvl5pPr>
            <a:lvl6pPr algn="l">
              <a:defRPr sz="1350" b="0">
                <a:solidFill>
                  <a:srgbClr val="D7E1E3"/>
                </a:solidFill>
                <a:latin typeface="Arial"/>
                <a:ea typeface="Arial"/>
                <a:cs typeface="Arial"/>
              </a:defRPr>
            </a:lvl6pPr>
            <a:lvl7pPr algn="l">
              <a:defRPr sz="1350" b="0">
                <a:solidFill>
                  <a:srgbClr val="D7E1E3"/>
                </a:solidFill>
                <a:latin typeface="Arial"/>
                <a:ea typeface="Arial"/>
                <a:cs typeface="Arial"/>
              </a:defRPr>
            </a:lvl7pPr>
            <a:lvl8pPr algn="l">
              <a:defRPr sz="1350" b="0">
                <a:solidFill>
                  <a:srgbClr val="D7E1E3"/>
                </a:solidFill>
                <a:latin typeface="Arial"/>
                <a:ea typeface="Arial"/>
                <a:cs typeface="Arial"/>
              </a:defRPr>
            </a:lvl8pPr>
            <a:lvl9pPr algn="l">
              <a:defRPr sz="1350" b="0">
                <a:solidFill>
                  <a:srgbClr val="D7E1E3"/>
                </a:solidFill>
                <a:latin typeface="Arial"/>
                <a:ea typeface="Arial"/>
                <a:cs typeface="Arial"/>
              </a:defRPr>
            </a:lvl9pPr>
          </a:lstStyle>
          <a:p xmlns:a="http://schemas.openxmlformats.org/drawingml/2006/main">
            <a:pPr algn="l">
              <a:defRPr sz="1350" b="0">
                <a:solidFill>
                  <a:srgbClr val="D7E1E3"/>
                </a:solidFill>
                <a:latin typeface="Arial"/>
                <a:ea typeface="Arial"/>
                <a:cs typeface="Arial"/>
              </a:defRPr>
            </a:pPr>
            <a:r>
              <a:rPr sz="1350" b="0">
                <a:solidFill>
                  <a:srgbClr val="D7E1E3"/>
                </a:solidFill>
                <a:latin typeface="Arial"/>
                <a:ea typeface="Arial"/>
                <a:cs typeface="Arial"/>
              </a:rPr>
              <a:t>Proposed aid. The exact Singapore phone-to-laptop lost-opportunity chain remains unsupported.</a:t>
            </a:r>
          </a:p>
        </p:txBody>
      </p:sp>
      <p:sp>
        <p:nvSpPr>
          <p:cNvPr id="11" name="slide-number">
            <a:extLst xmlns:a="http://schemas.openxmlformats.org/drawingml/2006/main">
              <a:ext uri="{FF2B5EF4-FFF2-40B4-BE49-F238E27FC236}">
                <a16:creationId xmlns:a16="http://schemas.microsoft.com/office/drawing/2014/main" id="{2100AF2A-B4C8-4453-A00B-7C22C5FED457}"/>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1C58A"/>
                </a:solidFill>
                <a:latin typeface="Arial"/>
                <a:ea typeface="Arial"/>
                <a:cs typeface="Arial"/>
              </a:defRPr>
            </a:defPPr>
            <a:lvl1pPr algn="l">
              <a:defRPr sz="1575" b="1">
                <a:solidFill>
                  <a:srgbClr val="F1C58A"/>
                </a:solidFill>
                <a:latin typeface="Arial"/>
                <a:ea typeface="Arial"/>
                <a:cs typeface="Arial"/>
              </a:defRPr>
            </a:lvl1pPr>
            <a:lvl2pPr algn="l">
              <a:defRPr sz="1575" b="1">
                <a:solidFill>
                  <a:srgbClr val="F1C58A"/>
                </a:solidFill>
                <a:latin typeface="Arial"/>
                <a:ea typeface="Arial"/>
                <a:cs typeface="Arial"/>
              </a:defRPr>
            </a:lvl2pPr>
            <a:lvl3pPr algn="l">
              <a:defRPr sz="1575" b="1">
                <a:solidFill>
                  <a:srgbClr val="F1C58A"/>
                </a:solidFill>
                <a:latin typeface="Arial"/>
                <a:ea typeface="Arial"/>
                <a:cs typeface="Arial"/>
              </a:defRPr>
            </a:lvl3pPr>
            <a:lvl4pPr algn="l">
              <a:defRPr sz="1575" b="1">
                <a:solidFill>
                  <a:srgbClr val="F1C58A"/>
                </a:solidFill>
                <a:latin typeface="Arial"/>
                <a:ea typeface="Arial"/>
                <a:cs typeface="Arial"/>
              </a:defRPr>
            </a:lvl4pPr>
            <a:lvl5pPr algn="l">
              <a:defRPr sz="1575" b="1">
                <a:solidFill>
                  <a:srgbClr val="F1C58A"/>
                </a:solidFill>
                <a:latin typeface="Arial"/>
                <a:ea typeface="Arial"/>
                <a:cs typeface="Arial"/>
              </a:defRPr>
            </a:lvl5pPr>
            <a:lvl6pPr algn="l">
              <a:defRPr sz="1575" b="1">
                <a:solidFill>
                  <a:srgbClr val="F1C58A"/>
                </a:solidFill>
                <a:latin typeface="Arial"/>
                <a:ea typeface="Arial"/>
                <a:cs typeface="Arial"/>
              </a:defRPr>
            </a:lvl6pPr>
            <a:lvl7pPr algn="l">
              <a:defRPr sz="1575" b="1">
                <a:solidFill>
                  <a:srgbClr val="F1C58A"/>
                </a:solidFill>
                <a:latin typeface="Arial"/>
                <a:ea typeface="Arial"/>
                <a:cs typeface="Arial"/>
              </a:defRPr>
            </a:lvl7pPr>
            <a:lvl8pPr algn="l">
              <a:defRPr sz="1575" b="1">
                <a:solidFill>
                  <a:srgbClr val="F1C58A"/>
                </a:solidFill>
                <a:latin typeface="Arial"/>
                <a:ea typeface="Arial"/>
                <a:cs typeface="Arial"/>
              </a:defRPr>
            </a:lvl8pPr>
            <a:lvl9pPr algn="l">
              <a:defRPr sz="1575" b="1">
                <a:solidFill>
                  <a:srgbClr val="F1C58A"/>
                </a:solidFill>
                <a:latin typeface="Arial"/>
                <a:ea typeface="Arial"/>
                <a:cs typeface="Arial"/>
              </a:defRPr>
            </a:lvl9pPr>
          </a:lstStyle>
          <a:p xmlns:a="http://schemas.openxmlformats.org/drawingml/2006/main">
            <a:pPr algn="l">
              <a:defRPr sz="1575" b="1">
                <a:solidFill>
                  <a:srgbClr val="F1C58A"/>
                </a:solidFill>
                <a:latin typeface="Arial"/>
                <a:ea typeface="Arial"/>
                <a:cs typeface="Arial"/>
              </a:defRPr>
            </a:pPr>
            <a:r>
              <a:rPr sz="1575" b="1">
                <a:solidFill>
                  <a:srgbClr val="F1C58A"/>
                </a:solidFill>
                <a:latin typeface="Arial"/>
                <a:ea typeface="Arial"/>
                <a:cs typeface="Arial"/>
              </a:rPr>
              <a:t>19</a:t>
            </a:r>
          </a:p>
        </p:txBody>
      </p:sp>
    </p:spTree>
    <p:extLst>
      <p:ext uri="{BB962C8B-B14F-4D97-AF65-F5344CB8AC3E}">
        <p14:creationId xmlns:p14="http://schemas.microsoft.com/office/powerpoint/2010/main" val="1019256382"/>
      </p:ext>
    </p:extLst>
  </p:cSld>
</p:sld>
</file>

<file path=ppt/slides/slide20.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6F358AF4-242F-41C8-8C59-1913C8D4C656}"/>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Lessons from the owner's workflow</a:t>
            </a:r>
          </a:p>
        </p:txBody>
      </p:sp>
      <p:sp>
        <p:nvSpPr>
          <p:cNvPr id="2" name="lead">
            <a:extLst xmlns:a="http://schemas.openxmlformats.org/drawingml/2006/main">
              <a:ext uri="{FF2B5EF4-FFF2-40B4-BE49-F238E27FC236}">
                <a16:creationId xmlns:a16="http://schemas.microsoft.com/office/drawing/2014/main" id="{09705CA0-D37A-4BC5-AA37-4CEEB5137A38}"/>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The owner's materials provide a process reference, not representative user evidence.</a:t>
            </a:r>
          </a:p>
        </p:txBody>
      </p:sp>
      <p:sp>
        <p:nvSpPr>
          <p:cNvPr id="3" name="column-heading-0">
            <a:extLst xmlns:a="http://schemas.openxmlformats.org/drawingml/2006/main">
              <a:ext uri="{FF2B5EF4-FFF2-40B4-BE49-F238E27FC236}">
                <a16:creationId xmlns:a16="http://schemas.microsoft.com/office/drawing/2014/main" id="{1FCCBA30-73AE-48A0-8605-28E5CD7A3F37}"/>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Useful ideas in the records</a:t>
            </a:r>
          </a:p>
        </p:txBody>
      </p:sp>
      <p:sp>
        <p:nvSpPr>
          <p:cNvPr id="4" name="column-0-detail-0">
            <a:extLst xmlns:a="http://schemas.openxmlformats.org/drawingml/2006/main">
              <a:ext uri="{FF2B5EF4-FFF2-40B4-BE49-F238E27FC236}">
                <a16:creationId xmlns:a16="http://schemas.microsoft.com/office/drawing/2014/main" id="{B0EAA002-BC06-408A-AA10-EEF2B1FC7DE5}"/>
              </a:ext>
            </a:extLst>
          </p:cNvPr>
          <p:cNvSpPr>
            <a:spLocks xmlns:a="http://schemas.openxmlformats.org/drawingml/2006/main" noGrp="1"/>
          </p:cNvSpPr>
          <p:nvPr/>
        </p:nvSpPr>
        <p:spPr>
          <a:xfrm xmlns:a="http://schemas.openxmlformats.org/drawingml/2006/main">
            <a:off x="76200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Trace career claims to factual evidence.</a:t>
            </a:r>
          </a:p>
        </p:txBody>
      </p:sp>
      <p:sp>
        <p:nvSpPr>
          <p:cNvPr id="5" name="column-0-detail-1">
            <a:extLst xmlns:a="http://schemas.openxmlformats.org/drawingml/2006/main">
              <a:ext uri="{FF2B5EF4-FFF2-40B4-BE49-F238E27FC236}">
                <a16:creationId xmlns:a16="http://schemas.microsoft.com/office/drawing/2014/main" id="{2EDD1393-D019-4551-B20C-BA0D2DDEFB56}"/>
              </a:ext>
            </a:extLst>
          </p:cNvPr>
          <p:cNvSpPr>
            <a:spLocks xmlns:a="http://schemas.openxmlformats.org/drawingml/2006/main" noGrp="1"/>
          </p:cNvSpPr>
          <p:nvPr/>
        </p:nvSpPr>
        <p:spPr>
          <a:xfrm xmlns:a="http://schemas.openxmlformats.org/drawingml/2006/main">
            <a:off x="76200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Separate whether a job is genuine from whether it fits.</a:t>
            </a:r>
          </a:p>
        </p:txBody>
      </p:sp>
      <p:sp>
        <p:nvSpPr>
          <p:cNvPr id="6" name="column-0-detail-2">
            <a:extLst xmlns:a="http://schemas.openxmlformats.org/drawingml/2006/main">
              <a:ext uri="{FF2B5EF4-FFF2-40B4-BE49-F238E27FC236}">
                <a16:creationId xmlns:a16="http://schemas.microsoft.com/office/drawing/2014/main" id="{D61ECA4A-903B-474C-B17E-2C37FABD6316}"/>
              </a:ext>
            </a:extLst>
          </p:cNvPr>
          <p:cNvSpPr>
            <a:spLocks xmlns:a="http://schemas.openxmlformats.org/drawingml/2006/main" noGrp="1"/>
          </p:cNvSpPr>
          <p:nvPr/>
        </p:nvSpPr>
        <p:spPr>
          <a:xfrm xmlns:a="http://schemas.openxmlformats.org/drawingml/2006/main">
            <a:off x="76200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Confirm submission and keep examples for practice.</a:t>
            </a:r>
          </a:p>
        </p:txBody>
      </p:sp>
      <p:sp>
        <p:nvSpPr>
          <p:cNvPr id="7" name="column-heading-1">
            <a:extLst xmlns:a="http://schemas.openxmlformats.org/drawingml/2006/main">
              <a:ext uri="{FF2B5EF4-FFF2-40B4-BE49-F238E27FC236}">
                <a16:creationId xmlns:a16="http://schemas.microsoft.com/office/drawing/2014/main" id="{D3B8C4C2-F5B3-40BA-808E-D16E2F9EAB89}"/>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still needs checking</a:t>
            </a:r>
          </a:p>
        </p:txBody>
      </p:sp>
      <p:sp>
        <p:nvSpPr>
          <p:cNvPr id="8" name="column-1-detail-0">
            <a:extLst xmlns:a="http://schemas.openxmlformats.org/drawingml/2006/main">
              <a:ext uri="{FF2B5EF4-FFF2-40B4-BE49-F238E27FC236}">
                <a16:creationId xmlns:a16="http://schemas.microsoft.com/office/drawing/2014/main" id="{FB5B21B6-C059-40FA-8428-2867BC9BBB54}"/>
              </a:ext>
            </a:extLst>
          </p:cNvPr>
          <p:cNvSpPr>
            <a:spLocks xmlns:a="http://schemas.openxmlformats.org/drawingml/2006/main" noGrp="1"/>
          </p:cNvSpPr>
          <p:nvPr/>
        </p:nvSpPr>
        <p:spPr>
          <a:xfrm xmlns:a="http://schemas.openxmlformats.org/drawingml/2006/main">
            <a:off x="638175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Conflicting guidance and a focus on technical careers.</a:t>
            </a:r>
          </a:p>
        </p:txBody>
      </p:sp>
      <p:sp>
        <p:nvSpPr>
          <p:cNvPr id="9" name="column-1-detail-1">
            <a:extLst xmlns:a="http://schemas.openxmlformats.org/drawingml/2006/main">
              <a:ext uri="{FF2B5EF4-FFF2-40B4-BE49-F238E27FC236}">
                <a16:creationId xmlns:a16="http://schemas.microsoft.com/office/drawing/2014/main" id="{AEA579A8-CB78-4928-960D-F794CAFD8882}"/>
              </a:ext>
            </a:extLst>
          </p:cNvPr>
          <p:cNvSpPr>
            <a:spLocks xmlns:a="http://schemas.openxmlformats.org/drawingml/2006/main" noGrp="1"/>
          </p:cNvSpPr>
          <p:nvPr/>
        </p:nvSpPr>
        <p:spPr>
          <a:xfrm xmlns:a="http://schemas.openxmlformats.org/drawingml/2006/main">
            <a:off x="638175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Rigid salary rules and the effort needed to keep records current.</a:t>
            </a:r>
          </a:p>
        </p:txBody>
      </p:sp>
      <p:sp>
        <p:nvSpPr>
          <p:cNvPr id="10" name="column-1-detail-2">
            <a:extLst xmlns:a="http://schemas.openxmlformats.org/drawingml/2006/main">
              <a:ext uri="{FF2B5EF4-FFF2-40B4-BE49-F238E27FC236}">
                <a16:creationId xmlns:a16="http://schemas.microsoft.com/office/drawing/2014/main" id="{F388E28C-D553-41F0-9A96-9B45433678E3}"/>
              </a:ext>
            </a:extLst>
          </p:cNvPr>
          <p:cNvSpPr>
            <a:spLocks xmlns:a="http://schemas.openxmlformats.org/drawingml/2006/main" noGrp="1"/>
          </p:cNvSpPr>
          <p:nvPr/>
        </p:nvSpPr>
        <p:spPr>
          <a:xfrm xmlns:a="http://schemas.openxmlformats.org/drawingml/2006/main">
            <a:off x="638175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Past capture failures and how the workflow operates today.</a:t>
            </a:r>
          </a:p>
        </p:txBody>
      </p:sp>
      <p:sp>
        <p:nvSpPr>
          <p:cNvPr id="11" name="takeaway">
            <a:extLst xmlns:a="http://schemas.openxmlformats.org/drawingml/2006/main">
              <a:ext uri="{FF2B5EF4-FFF2-40B4-BE49-F238E27FC236}">
                <a16:creationId xmlns:a16="http://schemas.microsoft.com/office/drawing/2014/main" id="{3A7A6904-2379-49D5-A461-76615DB8B7FA}"/>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Reuse useful principles. Test the current workflow before copying its complexity.</a:t>
            </a:r>
          </a:p>
        </p:txBody>
      </p:sp>
      <p:sp>
        <p:nvSpPr>
          <p:cNvPr id="12" name="evidence-boundary">
            <a:extLst xmlns:a="http://schemas.openxmlformats.org/drawingml/2006/main">
              <a:ext uri="{FF2B5EF4-FFF2-40B4-BE49-F238E27FC236}">
                <a16:creationId xmlns:a16="http://schemas.microsoft.com/office/drawing/2014/main" id="{CA5015A0-4ABE-4FB0-8963-F86B5069B600}"/>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I01–I16. Bounded document/artifact review, not a current end-to-end operation test.</a:t>
            </a:r>
          </a:p>
        </p:txBody>
      </p:sp>
      <p:sp>
        <p:nvSpPr>
          <p:cNvPr id="13" name="slide-number">
            <a:extLst xmlns:a="http://schemas.openxmlformats.org/drawingml/2006/main">
              <a:ext uri="{FF2B5EF4-FFF2-40B4-BE49-F238E27FC236}">
                <a16:creationId xmlns:a16="http://schemas.microsoft.com/office/drawing/2014/main" id="{E791FABA-AF78-4300-A665-82E357FB85C8}"/>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20</a:t>
            </a:r>
          </a:p>
        </p:txBody>
      </p:sp>
    </p:spTree>
    <p:extLst>
      <p:ext uri="{BB962C8B-B14F-4D97-AF65-F5344CB8AC3E}">
        <p14:creationId xmlns:p14="http://schemas.microsoft.com/office/powerpoint/2010/main" val="1211936296"/>
      </p:ext>
    </p:extLst>
  </p:cSld>
</p:sld>
</file>

<file path=ppt/slides/slide21.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073378E-6215-404B-903C-94AEF38B523A}"/>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Existing alternatives cover parts of the journey</a:t>
            </a:r>
          </a:p>
        </p:txBody>
      </p:sp>
      <p:sp>
        <p:nvSpPr>
          <p:cNvPr id="2" name="lead">
            <a:extLst xmlns:a="http://schemas.openxmlformats.org/drawingml/2006/main">
              <a:ext uri="{FF2B5EF4-FFF2-40B4-BE49-F238E27FC236}">
                <a16:creationId xmlns:a16="http://schemas.microsoft.com/office/drawing/2014/main" id="{CDABDA9C-9A00-461A-8FEF-1840E6F259B1}"/>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JobHub would compete with combinations of tools and human support.</a:t>
            </a:r>
          </a:p>
        </p:txBody>
      </p:sp>
      <p:graphicFrame>
        <p:nvGraphicFramePr>
          <p:cNvPr id="3" name="">
            <a:extLst xmlns:a="http://schemas.openxmlformats.org/drawingml/2006/main">
              <a:ext uri="{FF2B5EF4-FFF2-40B4-BE49-F238E27FC236}">
                <a16:creationId xmlns:a16="http://schemas.microsoft.com/office/drawing/2014/main" id="{9A365B8A-B987-418D-9C5D-6D04F3357D0E}"/>
              </a:ext>
            </a:extLst>
          </p:cNvPr>
          <p:cNvGraphicFramePr/>
          <p:nvPr/>
        </p:nvGraphicFramePr>
        <p:xfrm>
          <a:off xmlns:a="http://schemas.openxmlformats.org/drawingml/2006/main" x="723900" y="2533650"/>
          <a:ext xmlns:a="http://schemas.openxmlformats.org/drawingml/2006/main" cx="10820400" cy="3219450"/>
        </p:xfrm>
        <a:graphic xmlns:a="http://schemas.openxmlformats.org/drawingml/2006/main">
          <a:graphicData uri="http://schemas.openxmlformats.org/drawingml/2006/table">
            <a:tbl>
              <a:tblPr firstRow="1" bandRow="0"/>
              <a:tblGrid>
                <a:gridCol w="3714750"/>
                <a:gridCol w="7105650"/>
              </a:tblGrid>
              <a:tr h="457200">
                <a:tc>
                  <a:txBody>
                    <a:bodyPr wrap="square" lIns="133350" tIns="76200" rIns="133350" bIns="76200">
                      <a:noAutofit/>
                    </a:bodyPr>
                    <a:lstStyle/>
                    <a:p>
                      <a:r>
                        <a:rPr sz="1800" b="1">
                          <a:solidFill>
                            <a:srgbClr val="FFFFFF"/>
                          </a:solidFill>
                          <a:latin typeface="Arial"/>
                          <a:ea typeface="Arial"/>
                          <a:cs typeface="Arial"/>
                        </a:rPr>
                        <a:t>Alternative</a:t>
                      </a:r>
                    </a:p>
                  </a:txBody>
                  <a:tcPr marL="91440" marR="91440" marT="45720" marB="45720" anchor="ctr">
                    <a:lnL w="6668">
                      <a:solidFill>
                        <a:srgbClr val="D9D8D2"/>
                      </a:solidFill>
                      <a:prstDash val="solid"/>
                    </a:lnL>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76200" rIns="133350" bIns="76200">
                      <a:noAutofit/>
                    </a:bodyPr>
                    <a:lstStyle/>
                    <a:p>
                      <a:r>
                        <a:rPr sz="1800" b="1">
                          <a:solidFill>
                            <a:srgbClr val="FFFFFF"/>
                          </a:solidFill>
                          <a:latin typeface="Arial"/>
                          <a:ea typeface="Arial"/>
                          <a:cs typeface="Arial"/>
                        </a:rPr>
                        <a:t>Role in the workflow</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r>
              <a:tr h="690563">
                <a:tc>
                  <a:txBody>
                    <a:bodyPr wrap="square" lIns="133350" tIns="76200" rIns="133350" bIns="76200">
                      <a:noAutofit/>
                    </a:bodyPr>
                    <a:lstStyle/>
                    <a:p>
                      <a:r>
                        <a:rPr sz="1875" b="0">
                          <a:solidFill>
                            <a:srgbClr val="172D40"/>
                          </a:solidFill>
                          <a:latin typeface="Arial"/>
                          <a:ea typeface="Arial"/>
                          <a:cs typeface="Arial"/>
                        </a:rPr>
                        <a:t>Manual records and a master resume</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Preserve facts, reusable examples, versions and next steps.</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General AI assistants</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Help with drafting or preparation, subject to review.</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Specialised career platforms</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Address parts of tracking, tailoring, matching or practice.</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Peers, coaches and career services</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Provide context, feedback, rehearsal and support.</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bl>
          </a:graphicData>
        </a:graphic>
      </p:graphicFrame>
      <p:sp>
        <p:nvSpPr>
          <p:cNvPr id="4" name="evidence-boundary">
            <a:extLst xmlns:a="http://schemas.openxmlformats.org/drawingml/2006/main">
              <a:ext uri="{FF2B5EF4-FFF2-40B4-BE49-F238E27FC236}">
                <a16:creationId xmlns:a16="http://schemas.microsoft.com/office/drawing/2014/main" id="{023140B8-79A7-4CC4-8759-FD532EFCDCE8}"/>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Baseline research plus later accounts. Capability categories, not a current provider ranking.</a:t>
            </a:r>
          </a:p>
        </p:txBody>
      </p:sp>
      <p:sp>
        <p:nvSpPr>
          <p:cNvPr id="5" name="slide-number">
            <a:extLst xmlns:a="http://schemas.openxmlformats.org/drawingml/2006/main">
              <a:ext uri="{FF2B5EF4-FFF2-40B4-BE49-F238E27FC236}">
                <a16:creationId xmlns:a16="http://schemas.microsoft.com/office/drawing/2014/main" id="{1B9CD2F7-9FF2-48B8-9695-9C3AC72115F1}"/>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21</a:t>
            </a:r>
          </a:p>
        </p:txBody>
      </p:sp>
    </p:spTree>
    <p:extLst>
      <p:ext uri="{BB962C8B-B14F-4D97-AF65-F5344CB8AC3E}">
        <p14:creationId xmlns:p14="http://schemas.microsoft.com/office/powerpoint/2010/main" val="1008921233"/>
      </p:ext>
    </p:extLst>
  </p:cSld>
</p:sld>
</file>

<file path=ppt/slides/slide22.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0DC08C15-08EC-4C31-932D-49A522BAEEB6}"/>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Convenience has a review cost</a:t>
            </a:r>
          </a:p>
        </p:txBody>
      </p:sp>
      <p:sp>
        <p:nvSpPr>
          <p:cNvPr id="2" name="lead">
            <a:extLst xmlns:a="http://schemas.openxmlformats.org/drawingml/2006/main">
              <a:ext uri="{FF2B5EF4-FFF2-40B4-BE49-F238E27FC236}">
                <a16:creationId xmlns:a16="http://schemas.microsoft.com/office/drawing/2014/main" id="{AE60DEB3-29F4-4E4A-98FA-D8E7A75AFDA1}"/>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 draft can save one kind of work while creating another.</a:t>
            </a:r>
          </a:p>
        </p:txBody>
      </p:sp>
      <p:sp>
        <p:nvSpPr>
          <p:cNvPr id="3" name="column-heading-0">
            <a:extLst xmlns:a="http://schemas.openxmlformats.org/drawingml/2006/main">
              <a:ext uri="{FF2B5EF4-FFF2-40B4-BE49-F238E27FC236}">
                <a16:creationId xmlns:a16="http://schemas.microsoft.com/office/drawing/2014/main" id="{09DF0304-6428-44EF-A721-102E2967C190}"/>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Potential assistance</a:t>
            </a:r>
          </a:p>
        </p:txBody>
      </p:sp>
      <p:sp>
        <p:nvSpPr>
          <p:cNvPr id="4" name="column-0-detail-0">
            <a:extLst xmlns:a="http://schemas.openxmlformats.org/drawingml/2006/main">
              <a:ext uri="{FF2B5EF4-FFF2-40B4-BE49-F238E27FC236}">
                <a16:creationId xmlns:a16="http://schemas.microsoft.com/office/drawing/2014/main" id="{342734D5-7E12-4D90-91AB-548AF19A5361}"/>
              </a:ext>
            </a:extLst>
          </p:cNvPr>
          <p:cNvSpPr>
            <a:spLocks xmlns:a="http://schemas.openxmlformats.org/drawingml/2006/main" noGrp="1"/>
          </p:cNvSpPr>
          <p:nvPr/>
        </p:nvSpPr>
        <p:spPr>
          <a:xfrm xmlns:a="http://schemas.openxmlformats.org/drawingml/2006/main">
            <a:off x="76200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Rewording supplied information.</a:t>
            </a:r>
          </a:p>
        </p:txBody>
      </p:sp>
      <p:sp>
        <p:nvSpPr>
          <p:cNvPr id="5" name="column-0-detail-1">
            <a:extLst xmlns:a="http://schemas.openxmlformats.org/drawingml/2006/main">
              <a:ext uri="{FF2B5EF4-FFF2-40B4-BE49-F238E27FC236}">
                <a16:creationId xmlns:a16="http://schemas.microsoft.com/office/drawing/2014/main" id="{603999EF-7AF0-46BC-BDFD-19FF5473EA08}"/>
              </a:ext>
            </a:extLst>
          </p:cNvPr>
          <p:cNvSpPr>
            <a:spLocks xmlns:a="http://schemas.openxmlformats.org/drawingml/2006/main" noGrp="1"/>
          </p:cNvSpPr>
          <p:nvPr/>
        </p:nvSpPr>
        <p:spPr>
          <a:xfrm xmlns:a="http://schemas.openxmlformats.org/drawingml/2006/main">
            <a:off x="76200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Organising evidence and preparation.</a:t>
            </a:r>
          </a:p>
        </p:txBody>
      </p:sp>
      <p:sp>
        <p:nvSpPr>
          <p:cNvPr id="6" name="column-0-detail-2">
            <a:extLst xmlns:a="http://schemas.openxmlformats.org/drawingml/2006/main">
              <a:ext uri="{FF2B5EF4-FFF2-40B4-BE49-F238E27FC236}">
                <a16:creationId xmlns:a16="http://schemas.microsoft.com/office/drawing/2014/main" id="{1A301A19-C7D6-4530-80D2-CC65335D8AE5}"/>
              </a:ext>
            </a:extLst>
          </p:cNvPr>
          <p:cNvSpPr>
            <a:spLocks xmlns:a="http://schemas.openxmlformats.org/drawingml/2006/main" noGrp="1"/>
          </p:cNvSpPr>
          <p:nvPr/>
        </p:nvSpPr>
        <p:spPr>
          <a:xfrm xmlns:a="http://schemas.openxmlformats.org/drawingml/2006/main">
            <a:off x="76200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Making the next action easier to see.</a:t>
            </a:r>
          </a:p>
        </p:txBody>
      </p:sp>
      <p:sp>
        <p:nvSpPr>
          <p:cNvPr id="7" name="column-heading-1">
            <a:extLst xmlns:a="http://schemas.openxmlformats.org/drawingml/2006/main">
              <a:ext uri="{FF2B5EF4-FFF2-40B4-BE49-F238E27FC236}">
                <a16:creationId xmlns:a16="http://schemas.microsoft.com/office/drawing/2014/main" id="{1B200962-F7A3-4894-A43B-732A5F8F36EA}"/>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94B28"/>
                </a:solidFill>
                <a:latin typeface="Arial"/>
                <a:ea typeface="Arial"/>
                <a:cs typeface="Arial"/>
              </a:defRPr>
            </a:defPPr>
            <a:lvl1pPr algn="l">
              <a:defRPr sz="2325" b="1">
                <a:solidFill>
                  <a:srgbClr val="B94B28"/>
                </a:solidFill>
                <a:latin typeface="Arial"/>
                <a:ea typeface="Arial"/>
                <a:cs typeface="Arial"/>
              </a:defRPr>
            </a:lvl1pPr>
            <a:lvl2pPr algn="l">
              <a:defRPr sz="2325" b="1">
                <a:solidFill>
                  <a:srgbClr val="B94B28"/>
                </a:solidFill>
                <a:latin typeface="Arial"/>
                <a:ea typeface="Arial"/>
                <a:cs typeface="Arial"/>
              </a:defRPr>
            </a:lvl2pPr>
            <a:lvl3pPr algn="l">
              <a:defRPr sz="2325" b="1">
                <a:solidFill>
                  <a:srgbClr val="B94B28"/>
                </a:solidFill>
                <a:latin typeface="Arial"/>
                <a:ea typeface="Arial"/>
                <a:cs typeface="Arial"/>
              </a:defRPr>
            </a:lvl3pPr>
            <a:lvl4pPr algn="l">
              <a:defRPr sz="2325" b="1">
                <a:solidFill>
                  <a:srgbClr val="B94B28"/>
                </a:solidFill>
                <a:latin typeface="Arial"/>
                <a:ea typeface="Arial"/>
                <a:cs typeface="Arial"/>
              </a:defRPr>
            </a:lvl4pPr>
            <a:lvl5pPr algn="l">
              <a:defRPr sz="2325" b="1">
                <a:solidFill>
                  <a:srgbClr val="B94B28"/>
                </a:solidFill>
                <a:latin typeface="Arial"/>
                <a:ea typeface="Arial"/>
                <a:cs typeface="Arial"/>
              </a:defRPr>
            </a:lvl5pPr>
            <a:lvl6pPr algn="l">
              <a:defRPr sz="2325" b="1">
                <a:solidFill>
                  <a:srgbClr val="B94B28"/>
                </a:solidFill>
                <a:latin typeface="Arial"/>
                <a:ea typeface="Arial"/>
                <a:cs typeface="Arial"/>
              </a:defRPr>
            </a:lvl6pPr>
            <a:lvl7pPr algn="l">
              <a:defRPr sz="2325" b="1">
                <a:solidFill>
                  <a:srgbClr val="B94B28"/>
                </a:solidFill>
                <a:latin typeface="Arial"/>
                <a:ea typeface="Arial"/>
                <a:cs typeface="Arial"/>
              </a:defRPr>
            </a:lvl7pPr>
            <a:lvl8pPr algn="l">
              <a:defRPr sz="2325" b="1">
                <a:solidFill>
                  <a:srgbClr val="B94B28"/>
                </a:solidFill>
                <a:latin typeface="Arial"/>
                <a:ea typeface="Arial"/>
                <a:cs typeface="Arial"/>
              </a:defRPr>
            </a:lvl8pPr>
            <a:lvl9pPr algn="l">
              <a:defRPr sz="2325" b="1">
                <a:solidFill>
                  <a:srgbClr val="B94B28"/>
                </a:solidFill>
                <a:latin typeface="Arial"/>
                <a:ea typeface="Arial"/>
                <a:cs typeface="Arial"/>
              </a:defRPr>
            </a:lvl9pPr>
          </a:lstStyle>
          <a:p xmlns:a="http://schemas.openxmlformats.org/drawingml/2006/main">
            <a:pPr algn="l">
              <a:defRPr sz="2325" b="1">
                <a:solidFill>
                  <a:srgbClr val="B94B28"/>
                </a:solidFill>
                <a:latin typeface="Arial"/>
                <a:ea typeface="Arial"/>
                <a:cs typeface="Arial"/>
              </a:defRPr>
            </a:pPr>
            <a:r>
              <a:rPr sz="2325" b="1">
                <a:solidFill>
                  <a:srgbClr val="B94B28"/>
                </a:solidFill>
                <a:latin typeface="Arial"/>
                <a:ea typeface="Arial"/>
                <a:cs typeface="Arial"/>
              </a:rPr>
              <a:t>Work that remains</a:t>
            </a:r>
          </a:p>
        </p:txBody>
      </p:sp>
      <p:sp>
        <p:nvSpPr>
          <p:cNvPr id="8" name="column-1-detail-0">
            <a:extLst xmlns:a="http://schemas.openxmlformats.org/drawingml/2006/main">
              <a:ext uri="{FF2B5EF4-FFF2-40B4-BE49-F238E27FC236}">
                <a16:creationId xmlns:a16="http://schemas.microsoft.com/office/drawing/2014/main" id="{AD15F34F-D3A1-48D6-A65D-4226DA0B7C36}"/>
              </a:ext>
            </a:extLst>
          </p:cNvPr>
          <p:cNvSpPr>
            <a:spLocks xmlns:a="http://schemas.openxmlformats.org/drawingml/2006/main" noGrp="1"/>
          </p:cNvSpPr>
          <p:nvPr/>
        </p:nvSpPr>
        <p:spPr>
          <a:xfrm xmlns:a="http://schemas.openxmlformats.org/drawingml/2006/main">
            <a:off x="638175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Check factual claims and source interpretation.</a:t>
            </a:r>
          </a:p>
        </p:txBody>
      </p:sp>
      <p:sp>
        <p:nvSpPr>
          <p:cNvPr id="9" name="column-1-detail-1">
            <a:extLst xmlns:a="http://schemas.openxmlformats.org/drawingml/2006/main">
              <a:ext uri="{FF2B5EF4-FFF2-40B4-BE49-F238E27FC236}">
                <a16:creationId xmlns:a16="http://schemas.microsoft.com/office/drawing/2014/main" id="{253BACF4-46C4-40C8-8698-260B0AC4FFB3}"/>
              </a:ext>
            </a:extLst>
          </p:cNvPr>
          <p:cNvSpPr>
            <a:spLocks xmlns:a="http://schemas.openxmlformats.org/drawingml/2006/main" noGrp="1"/>
          </p:cNvSpPr>
          <p:nvPr/>
        </p:nvSpPr>
        <p:spPr>
          <a:xfrm xmlns:a="http://schemas.openxmlformats.org/drawingml/2006/main">
            <a:off x="638175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Inspect the final document and explain its content.</a:t>
            </a:r>
          </a:p>
        </p:txBody>
      </p:sp>
      <p:sp>
        <p:nvSpPr>
          <p:cNvPr id="10" name="column-1-detail-2">
            <a:extLst xmlns:a="http://schemas.openxmlformats.org/drawingml/2006/main">
              <a:ext uri="{FF2B5EF4-FFF2-40B4-BE49-F238E27FC236}">
                <a16:creationId xmlns:a16="http://schemas.microsoft.com/office/drawing/2014/main" id="{F1B8A486-67A6-45C0-B582-39A1B785B3FF}"/>
              </a:ext>
            </a:extLst>
          </p:cNvPr>
          <p:cNvSpPr>
            <a:spLocks xmlns:a="http://schemas.openxmlformats.org/drawingml/2006/main" noGrp="1"/>
          </p:cNvSpPr>
          <p:nvPr/>
        </p:nvSpPr>
        <p:spPr>
          <a:xfrm xmlns:a="http://schemas.openxmlformats.org/drawingml/2006/main">
            <a:off x="638175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Review what personal data is shared and retained.</a:t>
            </a:r>
          </a:p>
        </p:txBody>
      </p:sp>
      <p:sp>
        <p:nvSpPr>
          <p:cNvPr id="11" name="takeaway">
            <a:extLst xmlns:a="http://schemas.openxmlformats.org/drawingml/2006/main">
              <a:ext uri="{FF2B5EF4-FFF2-40B4-BE49-F238E27FC236}">
                <a16:creationId xmlns:a16="http://schemas.microsoft.com/office/drawing/2014/main" id="{2BB543DC-EC60-4CAF-ADDB-1EE509450F5B}"/>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Measure total effort, including correction and recovery. Net savings remain untested.</a:t>
            </a:r>
          </a:p>
        </p:txBody>
      </p:sp>
      <p:sp>
        <p:nvSpPr>
          <p:cNvPr id="12" name="evidence-boundary">
            <a:extLst xmlns:a="http://schemas.openxmlformats.org/drawingml/2006/main">
              <a:ext uri="{FF2B5EF4-FFF2-40B4-BE49-F238E27FC236}">
                <a16:creationId xmlns:a16="http://schemas.microsoft.com/office/drawing/2014/main" id="{FB253EDA-D426-42C2-9C6A-13CD35AD0D75}"/>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F08 and F12. No comprehensive current provider-policy assessment, implemented privacy design or time study.</a:t>
            </a:r>
          </a:p>
        </p:txBody>
      </p:sp>
      <p:sp>
        <p:nvSpPr>
          <p:cNvPr id="13" name="slide-number">
            <a:extLst xmlns:a="http://schemas.openxmlformats.org/drawingml/2006/main">
              <a:ext uri="{FF2B5EF4-FFF2-40B4-BE49-F238E27FC236}">
                <a16:creationId xmlns:a16="http://schemas.microsoft.com/office/drawing/2014/main" id="{0D8D5131-2F5D-4C5A-920D-B66E7F822503}"/>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22</a:t>
            </a:r>
          </a:p>
        </p:txBody>
      </p:sp>
    </p:spTree>
    <p:extLst>
      <p:ext uri="{BB962C8B-B14F-4D97-AF65-F5344CB8AC3E}">
        <p14:creationId xmlns:p14="http://schemas.microsoft.com/office/powerpoint/2010/main" val="383914949"/>
      </p:ext>
    </p:extLst>
  </p:cSld>
</p:sld>
</file>

<file path=ppt/slides/slide23.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9454B7F7-197F-4E30-8AB7-DAAEEAE9A20F}"/>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The evidence has clear boundaries</a:t>
            </a:r>
          </a:p>
        </p:txBody>
      </p:sp>
      <p:sp>
        <p:nvSpPr>
          <p:cNvPr id="2" name="lead">
            <a:extLst xmlns:a="http://schemas.openxmlformats.org/drawingml/2006/main">
              <a:ext uri="{FF2B5EF4-FFF2-40B4-BE49-F238E27FC236}">
                <a16:creationId xmlns:a16="http://schemas.microsoft.com/office/drawing/2014/main" id="{0DC59DE9-D1C7-44A9-8E3B-8CD339B66AF9}"/>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Understanding a mechanism is different from proving a product opportunity.</a:t>
            </a:r>
          </a:p>
        </p:txBody>
      </p:sp>
      <p:sp>
        <p:nvSpPr>
          <p:cNvPr id="3" name="column-heading-0">
            <a:extLst xmlns:a="http://schemas.openxmlformats.org/drawingml/2006/main">
              <a:ext uri="{FF2B5EF4-FFF2-40B4-BE49-F238E27FC236}">
                <a16:creationId xmlns:a16="http://schemas.microsoft.com/office/drawing/2014/main" id="{5F1D5C5C-FF25-4D30-B818-13EB88A28218}"/>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In the sources reviewed</a:t>
            </a:r>
          </a:p>
        </p:txBody>
      </p:sp>
      <p:sp>
        <p:nvSpPr>
          <p:cNvPr id="4" name="column-0-detail-0">
            <a:extLst xmlns:a="http://schemas.openxmlformats.org/drawingml/2006/main">
              <a:ext uri="{FF2B5EF4-FFF2-40B4-BE49-F238E27FC236}">
                <a16:creationId xmlns:a16="http://schemas.microsoft.com/office/drawing/2014/main" id="{0A7E2F4A-4317-41B0-A367-F76249809E72}"/>
              </a:ext>
            </a:extLst>
          </p:cNvPr>
          <p:cNvSpPr>
            <a:spLocks xmlns:a="http://schemas.openxmlformats.org/drawingml/2006/main" noGrp="1"/>
          </p:cNvSpPr>
          <p:nvPr/>
        </p:nvSpPr>
        <p:spPr>
          <a:xfrm xmlns:a="http://schemas.openxmlformats.org/drawingml/2006/main">
            <a:off x="76200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Repeated decisions and preparation work appear in accounts.</a:t>
            </a:r>
          </a:p>
        </p:txBody>
      </p:sp>
      <p:sp>
        <p:nvSpPr>
          <p:cNvPr id="5" name="column-0-detail-1">
            <a:extLst xmlns:a="http://schemas.openxmlformats.org/drawingml/2006/main">
              <a:ext uri="{FF2B5EF4-FFF2-40B4-BE49-F238E27FC236}">
                <a16:creationId xmlns:a16="http://schemas.microsoft.com/office/drawing/2014/main" id="{B9C08722-BDA1-4774-9C6A-5AF28C636099}"/>
              </a:ext>
            </a:extLst>
          </p:cNvPr>
          <p:cNvSpPr>
            <a:spLocks xmlns:a="http://schemas.openxmlformats.org/drawingml/2006/main" noGrp="1"/>
          </p:cNvSpPr>
          <p:nvPr/>
        </p:nvSpPr>
        <p:spPr>
          <a:xfrm xmlns:a="http://schemas.openxmlformats.org/drawingml/2006/main">
            <a:off x="76200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Guidance favours verification and truthful examples.</a:t>
            </a:r>
          </a:p>
        </p:txBody>
      </p:sp>
      <p:sp>
        <p:nvSpPr>
          <p:cNvPr id="6" name="column-0-detail-2">
            <a:extLst xmlns:a="http://schemas.openxmlformats.org/drawingml/2006/main">
              <a:ext uri="{FF2B5EF4-FFF2-40B4-BE49-F238E27FC236}">
                <a16:creationId xmlns:a16="http://schemas.microsoft.com/office/drawing/2014/main" id="{4C24BDF6-FD45-4B42-B926-DE23289B2BD4}"/>
              </a:ext>
            </a:extLst>
          </p:cNvPr>
          <p:cNvSpPr>
            <a:spLocks xmlns:a="http://schemas.openxmlformats.org/drawingml/2006/main" noGrp="1"/>
          </p:cNvSpPr>
          <p:nvPr/>
        </p:nvSpPr>
        <p:spPr>
          <a:xfrm xmlns:a="http://schemas.openxmlformats.org/drawingml/2006/main">
            <a:off x="76200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AI interventions can have different outcomes.</a:t>
            </a:r>
          </a:p>
        </p:txBody>
      </p:sp>
      <p:sp>
        <p:nvSpPr>
          <p:cNvPr id="7" name="column-heading-1">
            <a:extLst xmlns:a="http://schemas.openxmlformats.org/drawingml/2006/main">
              <a:ext uri="{FF2B5EF4-FFF2-40B4-BE49-F238E27FC236}">
                <a16:creationId xmlns:a16="http://schemas.microsoft.com/office/drawing/2014/main" id="{2610ABA5-1886-4107-A36F-D5A96B7C08CF}"/>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Still unknown</a:t>
            </a:r>
          </a:p>
        </p:txBody>
      </p:sp>
      <p:sp>
        <p:nvSpPr>
          <p:cNvPr id="8" name="column-1-detail-0">
            <a:extLst xmlns:a="http://schemas.openxmlformats.org/drawingml/2006/main">
              <a:ext uri="{FF2B5EF4-FFF2-40B4-BE49-F238E27FC236}">
                <a16:creationId xmlns:a16="http://schemas.microsoft.com/office/drawing/2014/main" id="{164D3245-6D13-4C7B-8076-D24685B56AAC}"/>
              </a:ext>
            </a:extLst>
          </p:cNvPr>
          <p:cNvSpPr>
            <a:spLocks xmlns:a="http://schemas.openxmlformats.org/drawingml/2006/main" noGrp="1"/>
          </p:cNvSpPr>
          <p:nvPr/>
        </p:nvSpPr>
        <p:spPr>
          <a:xfrm xmlns:a="http://schemas.openxmlformats.org/drawingml/2006/main">
            <a:off x="638175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Which problems are most common or most burdensome.</a:t>
            </a:r>
          </a:p>
        </p:txBody>
      </p:sp>
      <p:sp>
        <p:nvSpPr>
          <p:cNvPr id="9" name="column-1-detail-1">
            <a:extLst xmlns:a="http://schemas.openxmlformats.org/drawingml/2006/main">
              <a:ext uri="{FF2B5EF4-FFF2-40B4-BE49-F238E27FC236}">
                <a16:creationId xmlns:a16="http://schemas.microsoft.com/office/drawing/2014/main" id="{B85E390C-E62E-4C1D-8996-1BF7B6A4FBB9}"/>
              </a:ext>
            </a:extLst>
          </p:cNvPr>
          <p:cNvSpPr>
            <a:spLocks xmlns:a="http://schemas.openxmlformats.org/drawingml/2006/main" noGrp="1"/>
          </p:cNvSpPr>
          <p:nvPr/>
        </p:nvSpPr>
        <p:spPr>
          <a:xfrm xmlns:a="http://schemas.openxmlformats.org/drawingml/2006/main">
            <a:off x="638175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Which segment would benefit or pay.</a:t>
            </a:r>
          </a:p>
        </p:txBody>
      </p:sp>
      <p:sp>
        <p:nvSpPr>
          <p:cNvPr id="10" name="column-1-detail-2">
            <a:extLst xmlns:a="http://schemas.openxmlformats.org/drawingml/2006/main">
              <a:ext uri="{FF2B5EF4-FFF2-40B4-BE49-F238E27FC236}">
                <a16:creationId xmlns:a16="http://schemas.microsoft.com/office/drawing/2014/main" id="{7B5D6EF0-867F-4104-9CAC-F921204B57C6}"/>
              </a:ext>
            </a:extLst>
          </p:cNvPr>
          <p:cNvSpPr>
            <a:spLocks xmlns:a="http://schemas.openxmlformats.org/drawingml/2006/main" noGrp="1"/>
          </p:cNvSpPr>
          <p:nvPr/>
        </p:nvSpPr>
        <p:spPr>
          <a:xfrm xmlns:a="http://schemas.openxmlformats.org/drawingml/2006/main">
            <a:off x="638175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Whether JobHub reduces total effort or improves outcomes.</a:t>
            </a:r>
          </a:p>
        </p:txBody>
      </p:sp>
      <p:sp>
        <p:nvSpPr>
          <p:cNvPr id="11" name="takeaway">
            <a:extLst xmlns:a="http://schemas.openxmlformats.org/drawingml/2006/main">
              <a:ext uri="{FF2B5EF4-FFF2-40B4-BE49-F238E27FC236}">
                <a16:creationId xmlns:a16="http://schemas.microsoft.com/office/drawing/2014/main" id="{974D50CE-2348-41FC-BDCA-50A7AF7FD852}"/>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English-language graduate, office and technology perspectives remain prominent.</a:t>
            </a:r>
          </a:p>
        </p:txBody>
      </p:sp>
      <p:sp>
        <p:nvSpPr>
          <p:cNvPr id="12" name="evidence-boundary">
            <a:extLst xmlns:a="http://schemas.openxmlformats.org/drawingml/2006/main">
              <a:ext uri="{FF2B5EF4-FFF2-40B4-BE49-F238E27FC236}">
                <a16:creationId xmlns:a16="http://schemas.microsoft.com/office/drawing/2014/main" id="{26218B63-10A4-4B0D-BC83-13B3B1A63932}"/>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Selected sources and bounded internal evidence. No estimate of demand, prevalence or JobHub's hiring effect.</a:t>
            </a:r>
          </a:p>
        </p:txBody>
      </p:sp>
      <p:sp>
        <p:nvSpPr>
          <p:cNvPr id="13" name="slide-number">
            <a:extLst xmlns:a="http://schemas.openxmlformats.org/drawingml/2006/main">
              <a:ext uri="{FF2B5EF4-FFF2-40B4-BE49-F238E27FC236}">
                <a16:creationId xmlns:a16="http://schemas.microsoft.com/office/drawing/2014/main" id="{26F83203-B37B-45D9-A849-A385C8FB36B4}"/>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23</a:t>
            </a:r>
          </a:p>
        </p:txBody>
      </p:sp>
    </p:spTree>
    <p:extLst>
      <p:ext uri="{BB962C8B-B14F-4D97-AF65-F5344CB8AC3E}">
        <p14:creationId xmlns:p14="http://schemas.microsoft.com/office/powerpoint/2010/main" val="1952468924"/>
      </p:ext>
    </p:extLst>
  </p:cSld>
</p:sld>
</file>

<file path=ppt/slides/slide24.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7" name="title">
            <a:extLst xmlns:a="http://schemas.openxmlformats.org/drawingml/2006/main">
              <a:ext uri="{FF2B5EF4-FFF2-40B4-BE49-F238E27FC236}">
                <a16:creationId xmlns:a16="http://schemas.microsoft.com/office/drawing/2014/main" id="{B44F85C1-00CA-4CBE-A395-88791AE75DE0}"/>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One small comparison could test usefulness</a:t>
            </a:r>
          </a:p>
        </p:txBody>
      </p:sp>
      <p:sp>
        <p:nvSpPr>
          <p:cNvPr id="2" name="lead">
            <a:extLst xmlns:a="http://schemas.openxmlformats.org/drawingml/2006/main">
              <a:ext uri="{FF2B5EF4-FFF2-40B4-BE49-F238E27FC236}">
                <a16:creationId xmlns:a16="http://schemas.microsoft.com/office/drawing/2014/main" id="{83C10CD5-3D37-4717-964C-2248A14FC65D}"/>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Candidate test: select truthful resume evidence for one fictional job.</a:t>
            </a:r>
          </a:p>
        </p:txBody>
      </p:sp>
      <p:sp>
        <p:nvSpPr>
          <p:cNvPr id="3" name="diagram-index-0">
            <a:extLst xmlns:a="http://schemas.openxmlformats.org/drawingml/2006/main">
              <a:ext uri="{FF2B5EF4-FFF2-40B4-BE49-F238E27FC236}">
                <a16:creationId xmlns:a16="http://schemas.microsoft.com/office/drawing/2014/main" id="{368D9FCB-0C2C-436D-99DC-484454AFF65A}"/>
              </a:ext>
            </a:extLst>
          </p:cNvPr>
          <p:cNvSpPr>
            <a:spLocks xmlns:a="http://schemas.openxmlformats.org/drawingml/2006/main" noGrp="1"/>
          </p:cNvSpPr>
          <p:nvPr/>
        </p:nvSpPr>
        <p:spPr>
          <a:xfrm xmlns:a="http://schemas.openxmlformats.org/drawingml/2006/main">
            <a:off x="762000" y="2571750"/>
            <a:ext cx="3390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01</a:t>
            </a:r>
          </a:p>
        </p:txBody>
      </p:sp>
      <p:sp>
        <p:nvSpPr>
          <p:cNvPr id="4" name="diagram-heading-0">
            <a:extLst xmlns:a="http://schemas.openxmlformats.org/drawingml/2006/main">
              <a:ext uri="{FF2B5EF4-FFF2-40B4-BE49-F238E27FC236}">
                <a16:creationId xmlns:a16="http://schemas.microsoft.com/office/drawing/2014/main" id="{6477EFED-B513-43F9-8F28-E2E89388E82A}"/>
              </a:ext>
            </a:extLst>
          </p:cNvPr>
          <p:cNvSpPr>
            <a:spLocks xmlns:a="http://schemas.openxmlformats.org/drawingml/2006/main" noGrp="1"/>
          </p:cNvSpPr>
          <p:nvPr/>
        </p:nvSpPr>
        <p:spPr>
          <a:xfrm xmlns:a="http://schemas.openxmlformats.org/drawingml/2006/main">
            <a:off x="762000" y="344805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Same inputs</a:t>
            </a:r>
          </a:p>
        </p:txBody>
      </p:sp>
      <p:sp>
        <p:nvSpPr>
          <p:cNvPr id="5" name="diagram-detail-0">
            <a:extLst xmlns:a="http://schemas.openxmlformats.org/drawingml/2006/main">
              <a:ext uri="{FF2B5EF4-FFF2-40B4-BE49-F238E27FC236}">
                <a16:creationId xmlns:a16="http://schemas.microsoft.com/office/drawing/2014/main" id="{B1980868-1BCE-4B60-89E7-440D6CD853D6}"/>
              </a:ext>
            </a:extLst>
          </p:cNvPr>
          <p:cNvSpPr>
            <a:spLocks xmlns:a="http://schemas.openxmlformats.org/drawingml/2006/main" noGrp="1"/>
          </p:cNvSpPr>
          <p:nvPr/>
        </p:nvSpPr>
        <p:spPr>
          <a:xfrm xmlns:a="http://schemas.openxmlformats.org/drawingml/2006/main">
            <a:off x="762000" y="4248150"/>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Fictional candidate facts and one job.</a:t>
            </a:r>
          </a:p>
        </p:txBody>
      </p:sp>
      <p:sp>
        <p:nvSpPr>
          <p:cNvPr id="6" name="diagram-sequence-0">
            <a:extLst xmlns:a="http://schemas.openxmlformats.org/drawingml/2006/main">
              <a:ext uri="{FF2B5EF4-FFF2-40B4-BE49-F238E27FC236}">
                <a16:creationId xmlns:a16="http://schemas.microsoft.com/office/drawing/2014/main" id="{2FDC9B6F-FE1B-4374-BD34-6CFDBE5A291E}"/>
              </a:ext>
            </a:extLst>
          </p:cNvPr>
          <p:cNvSpPr>
            <a:spLocks xmlns:a="http://schemas.openxmlformats.org/drawingml/2006/main" noGrp="1"/>
          </p:cNvSpPr>
          <p:nvPr/>
        </p:nvSpPr>
        <p:spPr>
          <a:xfrm xmlns:a="http://schemas.openxmlformats.org/drawingml/2006/main">
            <a:off x="1524000" y="3009900"/>
            <a:ext cx="2952750"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7" name="diagram-index-1">
            <a:extLst xmlns:a="http://schemas.openxmlformats.org/drawingml/2006/main">
              <a:ext uri="{FF2B5EF4-FFF2-40B4-BE49-F238E27FC236}">
                <a16:creationId xmlns:a16="http://schemas.microsoft.com/office/drawing/2014/main" id="{39E72170-5D0E-4590-88E9-4C2A0345B95A}"/>
              </a:ext>
            </a:extLst>
          </p:cNvPr>
          <p:cNvSpPr>
            <a:spLocks xmlns:a="http://schemas.openxmlformats.org/drawingml/2006/main" noGrp="1"/>
          </p:cNvSpPr>
          <p:nvPr/>
        </p:nvSpPr>
        <p:spPr>
          <a:xfrm xmlns:a="http://schemas.openxmlformats.org/drawingml/2006/main">
            <a:off x="4476750" y="2571750"/>
            <a:ext cx="3390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02</a:t>
            </a:r>
          </a:p>
        </p:txBody>
      </p:sp>
      <p:sp>
        <p:nvSpPr>
          <p:cNvPr id="8" name="diagram-heading-1">
            <a:extLst xmlns:a="http://schemas.openxmlformats.org/drawingml/2006/main">
              <a:ext uri="{FF2B5EF4-FFF2-40B4-BE49-F238E27FC236}">
                <a16:creationId xmlns:a16="http://schemas.microsoft.com/office/drawing/2014/main" id="{81324A3F-EB78-43FC-B9A9-4F499932D7A6}"/>
              </a:ext>
            </a:extLst>
          </p:cNvPr>
          <p:cNvSpPr>
            <a:spLocks xmlns:a="http://schemas.openxmlformats.org/drawingml/2006/main" noGrp="1"/>
          </p:cNvSpPr>
          <p:nvPr/>
        </p:nvSpPr>
        <p:spPr>
          <a:xfrm xmlns:a="http://schemas.openxmlformats.org/drawingml/2006/main">
            <a:off x="4476750" y="344805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Two approaches</a:t>
            </a:r>
          </a:p>
        </p:txBody>
      </p:sp>
      <p:sp>
        <p:nvSpPr>
          <p:cNvPr id="9" name="diagram-detail-1">
            <a:extLst xmlns:a="http://schemas.openxmlformats.org/drawingml/2006/main">
              <a:ext uri="{FF2B5EF4-FFF2-40B4-BE49-F238E27FC236}">
                <a16:creationId xmlns:a16="http://schemas.microsoft.com/office/drawing/2014/main" id="{25608C0D-765B-466B-8A6A-8D92F993BD4C}"/>
              </a:ext>
            </a:extLst>
          </p:cNvPr>
          <p:cNvSpPr>
            <a:spLocks xmlns:a="http://schemas.openxmlformats.org/drawingml/2006/main" noGrp="1"/>
          </p:cNvSpPr>
          <p:nvPr/>
        </p:nvSpPr>
        <p:spPr>
          <a:xfrm xmlns:a="http://schemas.openxmlformats.org/drawingml/2006/main">
            <a:off x="4476750" y="4248150"/>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Manual master resume and reviewed AI assistance.</a:t>
            </a:r>
          </a:p>
        </p:txBody>
      </p:sp>
      <p:sp>
        <p:nvSpPr>
          <p:cNvPr id="10" name="diagram-sequence-1">
            <a:extLst xmlns:a="http://schemas.openxmlformats.org/drawingml/2006/main">
              <a:ext uri="{FF2B5EF4-FFF2-40B4-BE49-F238E27FC236}">
                <a16:creationId xmlns:a16="http://schemas.microsoft.com/office/drawing/2014/main" id="{C16CD141-AEB9-4A9A-9F0F-471C452B58DC}"/>
              </a:ext>
            </a:extLst>
          </p:cNvPr>
          <p:cNvSpPr>
            <a:spLocks xmlns:a="http://schemas.openxmlformats.org/drawingml/2006/main" noGrp="1"/>
          </p:cNvSpPr>
          <p:nvPr/>
        </p:nvSpPr>
        <p:spPr>
          <a:xfrm xmlns:a="http://schemas.openxmlformats.org/drawingml/2006/main">
            <a:off x="5238750" y="3009900"/>
            <a:ext cx="2952750"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11" name="diagram-index-2">
            <a:extLst xmlns:a="http://schemas.openxmlformats.org/drawingml/2006/main">
              <a:ext uri="{FF2B5EF4-FFF2-40B4-BE49-F238E27FC236}">
                <a16:creationId xmlns:a16="http://schemas.microsoft.com/office/drawing/2014/main" id="{3FE706D4-A2BC-4395-8B6B-D49305986018}"/>
              </a:ext>
            </a:extLst>
          </p:cNvPr>
          <p:cNvSpPr>
            <a:spLocks xmlns:a="http://schemas.openxmlformats.org/drawingml/2006/main" noGrp="1"/>
          </p:cNvSpPr>
          <p:nvPr/>
        </p:nvSpPr>
        <p:spPr>
          <a:xfrm xmlns:a="http://schemas.openxmlformats.org/drawingml/2006/main">
            <a:off x="8191500" y="2571750"/>
            <a:ext cx="3390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03</a:t>
            </a:r>
          </a:p>
        </p:txBody>
      </p:sp>
      <p:sp>
        <p:nvSpPr>
          <p:cNvPr id="12" name="diagram-heading-2">
            <a:extLst xmlns:a="http://schemas.openxmlformats.org/drawingml/2006/main">
              <a:ext uri="{FF2B5EF4-FFF2-40B4-BE49-F238E27FC236}">
                <a16:creationId xmlns:a16="http://schemas.microsoft.com/office/drawing/2014/main" id="{6B1E0104-C078-417A-8D1D-67EA4B1D74BF}"/>
              </a:ext>
            </a:extLst>
          </p:cNvPr>
          <p:cNvSpPr>
            <a:spLocks xmlns:a="http://schemas.openxmlformats.org/drawingml/2006/main" noGrp="1"/>
          </p:cNvSpPr>
          <p:nvPr/>
        </p:nvSpPr>
        <p:spPr>
          <a:xfrm xmlns:a="http://schemas.openxmlformats.org/drawingml/2006/main">
            <a:off x="8191500" y="344805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Compare</a:t>
            </a:r>
          </a:p>
        </p:txBody>
      </p:sp>
      <p:sp>
        <p:nvSpPr>
          <p:cNvPr id="13" name="diagram-detail-2">
            <a:extLst xmlns:a="http://schemas.openxmlformats.org/drawingml/2006/main">
              <a:ext uri="{FF2B5EF4-FFF2-40B4-BE49-F238E27FC236}">
                <a16:creationId xmlns:a16="http://schemas.microsoft.com/office/drawing/2014/main" id="{7D3DB435-A135-4A4C-88AE-B3688244DFC2}"/>
              </a:ext>
            </a:extLst>
          </p:cNvPr>
          <p:cNvSpPr>
            <a:spLocks xmlns:a="http://schemas.openxmlformats.org/drawingml/2006/main" noGrp="1"/>
          </p:cNvSpPr>
          <p:nvPr/>
        </p:nvSpPr>
        <p:spPr>
          <a:xfrm xmlns:a="http://schemas.openxmlformats.org/drawingml/2006/main">
            <a:off x="8191500" y="4248150"/>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Unsupported claims, clarity, effort and recovery.</a:t>
            </a:r>
          </a:p>
        </p:txBody>
      </p:sp>
      <p:sp>
        <p:nvSpPr>
          <p:cNvPr id="14" name="takeaway">
            <a:extLst xmlns:a="http://schemas.openxmlformats.org/drawingml/2006/main">
              <a:ext uri="{FF2B5EF4-FFF2-40B4-BE49-F238E27FC236}">
                <a16:creationId xmlns:a16="http://schemas.microsoft.com/office/drawing/2014/main" id="{371D6B1E-22E3-4191-BD4D-BDF91049764F}"/>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Include career-change and frontline cases separately. The owner must accept the test first.</a:t>
            </a:r>
          </a:p>
        </p:txBody>
      </p:sp>
      <p:sp>
        <p:nvSpPr>
          <p:cNvPr id="15" name="evidence-boundary">
            <a:extLst xmlns:a="http://schemas.openxmlformats.org/drawingml/2006/main">
              <a:ext uri="{FF2B5EF4-FFF2-40B4-BE49-F238E27FC236}">
                <a16:creationId xmlns:a16="http://schemas.microsoft.com/office/drawing/2014/main" id="{772BE922-1A8E-4AEE-BB81-1F1A62661854}"/>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Proposed experiment from the decision gate. Not executed, user-validated or approved product scope.</a:t>
            </a:r>
          </a:p>
        </p:txBody>
      </p:sp>
      <p:sp>
        <p:nvSpPr>
          <p:cNvPr id="16" name="slide-number">
            <a:extLst xmlns:a="http://schemas.openxmlformats.org/drawingml/2006/main">
              <a:ext uri="{FF2B5EF4-FFF2-40B4-BE49-F238E27FC236}">
                <a16:creationId xmlns:a16="http://schemas.microsoft.com/office/drawing/2014/main" id="{28D73400-5C86-4636-A579-DF9E948116A2}"/>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24</a:t>
            </a:r>
          </a:p>
        </p:txBody>
      </p:sp>
    </p:spTree>
    <p:extLst>
      <p:ext uri="{BB962C8B-B14F-4D97-AF65-F5344CB8AC3E}">
        <p14:creationId xmlns:p14="http://schemas.microsoft.com/office/powerpoint/2010/main" val="1641071365"/>
      </p:ext>
    </p:extLst>
  </p:cSld>
</p:sld>
</file>

<file path=ppt/slides/slide25.xml><?xml version="1.0" encoding="utf-8"?>
<p:sld xmlns:p="http://schemas.openxmlformats.org/presentationml/2006/main">
  <p:cSld>
    <p:bg>
      <p:bgPr>
        <a:solidFill xmlns:a="http://schemas.openxmlformats.org/drawingml/2006/main">
          <a:srgbClr val="102235"/>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A0676EF0-7A66-472D-8922-4C08205FEF28}"/>
              </a:ext>
            </a:extLst>
          </p:cNvPr>
          <p:cNvSpPr>
            <a:spLocks xmlns:a="http://schemas.openxmlformats.org/drawingml/2006/main" noGrp="1"/>
          </p:cNvSpPr>
          <p:nvPr/>
        </p:nvSpPr>
        <p:spPr>
          <a:xfrm xmlns:a="http://schemas.openxmlformats.org/drawingml/2006/main">
            <a:off x="723900" y="57150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FFFFFF"/>
                </a:solidFill>
                <a:latin typeface="Arial"/>
                <a:ea typeface="Arial"/>
                <a:cs typeface="Arial"/>
              </a:defRPr>
            </a:defPPr>
            <a:lvl1pPr algn="l">
              <a:defRPr sz="3600" b="1">
                <a:solidFill>
                  <a:srgbClr val="FFFFFF"/>
                </a:solidFill>
                <a:latin typeface="Arial"/>
                <a:ea typeface="Arial"/>
                <a:cs typeface="Arial"/>
              </a:defRPr>
            </a:lvl1pPr>
            <a:lvl2pPr algn="l">
              <a:defRPr sz="3600" b="1">
                <a:solidFill>
                  <a:srgbClr val="FFFFFF"/>
                </a:solidFill>
                <a:latin typeface="Arial"/>
                <a:ea typeface="Arial"/>
                <a:cs typeface="Arial"/>
              </a:defRPr>
            </a:lvl2pPr>
            <a:lvl3pPr algn="l">
              <a:defRPr sz="3600" b="1">
                <a:solidFill>
                  <a:srgbClr val="FFFFFF"/>
                </a:solidFill>
                <a:latin typeface="Arial"/>
                <a:ea typeface="Arial"/>
                <a:cs typeface="Arial"/>
              </a:defRPr>
            </a:lvl3pPr>
            <a:lvl4pPr algn="l">
              <a:defRPr sz="3600" b="1">
                <a:solidFill>
                  <a:srgbClr val="FFFFFF"/>
                </a:solidFill>
                <a:latin typeface="Arial"/>
                <a:ea typeface="Arial"/>
                <a:cs typeface="Arial"/>
              </a:defRPr>
            </a:lvl4pPr>
            <a:lvl5pPr algn="l">
              <a:defRPr sz="3600" b="1">
                <a:solidFill>
                  <a:srgbClr val="FFFFFF"/>
                </a:solidFill>
                <a:latin typeface="Arial"/>
                <a:ea typeface="Arial"/>
                <a:cs typeface="Arial"/>
              </a:defRPr>
            </a:lvl5pPr>
            <a:lvl6pPr algn="l">
              <a:defRPr sz="3600" b="1">
                <a:solidFill>
                  <a:srgbClr val="FFFFFF"/>
                </a:solidFill>
                <a:latin typeface="Arial"/>
                <a:ea typeface="Arial"/>
                <a:cs typeface="Arial"/>
              </a:defRPr>
            </a:lvl6pPr>
            <a:lvl7pPr algn="l">
              <a:defRPr sz="3600" b="1">
                <a:solidFill>
                  <a:srgbClr val="FFFFFF"/>
                </a:solidFill>
                <a:latin typeface="Arial"/>
                <a:ea typeface="Arial"/>
                <a:cs typeface="Arial"/>
              </a:defRPr>
            </a:lvl7pPr>
            <a:lvl8pPr algn="l">
              <a:defRPr sz="3600" b="1">
                <a:solidFill>
                  <a:srgbClr val="FFFFFF"/>
                </a:solidFill>
                <a:latin typeface="Arial"/>
                <a:ea typeface="Arial"/>
                <a:cs typeface="Arial"/>
              </a:defRPr>
            </a:lvl8pPr>
            <a:lvl9pPr algn="l">
              <a:defRPr sz="3600" b="1">
                <a:solidFill>
                  <a:srgbClr val="FFFFFF"/>
                </a:solidFill>
                <a:latin typeface="Arial"/>
                <a:ea typeface="Arial"/>
                <a:cs typeface="Arial"/>
              </a:defRPr>
            </a:lvl9pPr>
          </a:lstStyle>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What should useful help preserve?</a:t>
            </a:r>
          </a:p>
        </p:txBody>
      </p:sp>
      <p:sp>
        <p:nvSpPr>
          <p:cNvPr id="2" name="synthesis">
            <a:extLst xmlns:a="http://schemas.openxmlformats.org/drawingml/2006/main">
              <a:ext uri="{FF2B5EF4-FFF2-40B4-BE49-F238E27FC236}">
                <a16:creationId xmlns:a16="http://schemas.microsoft.com/office/drawing/2014/main" id="{C5B0A1DD-7926-47A8-AEFF-F5D354134D5C}"/>
              </a:ext>
            </a:extLst>
          </p:cNvPr>
          <p:cNvSpPr>
            <a:spLocks xmlns:a="http://schemas.openxmlformats.org/drawingml/2006/main" noGrp="1"/>
          </p:cNvSpPr>
          <p:nvPr/>
        </p:nvSpPr>
        <p:spPr>
          <a:xfrm xmlns:a="http://schemas.openxmlformats.org/drawingml/2006/main">
            <a:off x="723900" y="2076450"/>
            <a:ext cx="10572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650" b="1">
                <a:solidFill>
                  <a:srgbClr val="FFFFFF"/>
                </a:solidFill>
                <a:latin typeface="Arial"/>
                <a:ea typeface="Arial"/>
                <a:cs typeface="Arial"/>
              </a:defRPr>
            </a:defPPr>
            <a:lvl1pPr algn="l">
              <a:defRPr sz="4650" b="1">
                <a:solidFill>
                  <a:srgbClr val="FFFFFF"/>
                </a:solidFill>
                <a:latin typeface="Arial"/>
                <a:ea typeface="Arial"/>
                <a:cs typeface="Arial"/>
              </a:defRPr>
            </a:lvl1pPr>
            <a:lvl2pPr algn="l">
              <a:defRPr sz="4650" b="1">
                <a:solidFill>
                  <a:srgbClr val="FFFFFF"/>
                </a:solidFill>
                <a:latin typeface="Arial"/>
                <a:ea typeface="Arial"/>
                <a:cs typeface="Arial"/>
              </a:defRPr>
            </a:lvl2pPr>
            <a:lvl3pPr algn="l">
              <a:defRPr sz="4650" b="1">
                <a:solidFill>
                  <a:srgbClr val="FFFFFF"/>
                </a:solidFill>
                <a:latin typeface="Arial"/>
                <a:ea typeface="Arial"/>
                <a:cs typeface="Arial"/>
              </a:defRPr>
            </a:lvl3pPr>
            <a:lvl4pPr algn="l">
              <a:defRPr sz="4650" b="1">
                <a:solidFill>
                  <a:srgbClr val="FFFFFF"/>
                </a:solidFill>
                <a:latin typeface="Arial"/>
                <a:ea typeface="Arial"/>
                <a:cs typeface="Arial"/>
              </a:defRPr>
            </a:lvl4pPr>
            <a:lvl5pPr algn="l">
              <a:defRPr sz="4650" b="1">
                <a:solidFill>
                  <a:srgbClr val="FFFFFF"/>
                </a:solidFill>
                <a:latin typeface="Arial"/>
                <a:ea typeface="Arial"/>
                <a:cs typeface="Arial"/>
              </a:defRPr>
            </a:lvl5pPr>
            <a:lvl6pPr algn="l">
              <a:defRPr sz="4650" b="1">
                <a:solidFill>
                  <a:srgbClr val="FFFFFF"/>
                </a:solidFill>
                <a:latin typeface="Arial"/>
                <a:ea typeface="Arial"/>
                <a:cs typeface="Arial"/>
              </a:defRPr>
            </a:lvl6pPr>
            <a:lvl7pPr algn="l">
              <a:defRPr sz="4650" b="1">
                <a:solidFill>
                  <a:srgbClr val="FFFFFF"/>
                </a:solidFill>
                <a:latin typeface="Arial"/>
                <a:ea typeface="Arial"/>
                <a:cs typeface="Arial"/>
              </a:defRPr>
            </a:lvl7pPr>
            <a:lvl8pPr algn="l">
              <a:defRPr sz="4650" b="1">
                <a:solidFill>
                  <a:srgbClr val="FFFFFF"/>
                </a:solidFill>
                <a:latin typeface="Arial"/>
                <a:ea typeface="Arial"/>
                <a:cs typeface="Arial"/>
              </a:defRPr>
            </a:lvl8pPr>
            <a:lvl9pPr algn="l">
              <a:defRPr sz="4650" b="1">
                <a:solidFill>
                  <a:srgbClr val="FFFFFF"/>
                </a:solidFill>
                <a:latin typeface="Arial"/>
                <a:ea typeface="Arial"/>
                <a:cs typeface="Arial"/>
              </a:defRPr>
            </a:lvl9pPr>
          </a:lstStyle>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The facts about the person.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The context of the opportunity.</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 clear next step.</a:t>
            </a:r>
          </a:p>
        </p:txBody>
      </p:sp>
      <p:sp>
        <p:nvSpPr>
          <p:cNvPr id="3" name="discussion-0">
            <a:extLst xmlns:a="http://schemas.openxmlformats.org/drawingml/2006/main">
              <a:ext uri="{FF2B5EF4-FFF2-40B4-BE49-F238E27FC236}">
                <a16:creationId xmlns:a16="http://schemas.microsoft.com/office/drawing/2014/main" id="{34EC416D-50CF-44A9-BE80-13CE3CE40491}"/>
              </a:ext>
            </a:extLst>
          </p:cNvPr>
          <p:cNvSpPr>
            <a:spLocks xmlns:a="http://schemas.openxmlformats.org/drawingml/2006/main" noGrp="1"/>
          </p:cNvSpPr>
          <p:nvPr/>
        </p:nvSpPr>
        <p:spPr>
          <a:xfrm xmlns:a="http://schemas.openxmlformats.org/drawingml/2006/main">
            <a:off x="723900" y="4895850"/>
            <a:ext cx="5143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1C58A"/>
                </a:solidFill>
                <a:latin typeface="Arial"/>
                <a:ea typeface="Arial"/>
                <a:cs typeface="Arial"/>
              </a:defRPr>
            </a:defPPr>
            <a:lvl1pPr algn="l">
              <a:defRPr sz="1950" b="1">
                <a:solidFill>
                  <a:srgbClr val="F1C58A"/>
                </a:solidFill>
                <a:latin typeface="Arial"/>
                <a:ea typeface="Arial"/>
                <a:cs typeface="Arial"/>
              </a:defRPr>
            </a:lvl1pPr>
            <a:lvl2pPr algn="l">
              <a:defRPr sz="1950" b="1">
                <a:solidFill>
                  <a:srgbClr val="F1C58A"/>
                </a:solidFill>
                <a:latin typeface="Arial"/>
                <a:ea typeface="Arial"/>
                <a:cs typeface="Arial"/>
              </a:defRPr>
            </a:lvl2pPr>
            <a:lvl3pPr algn="l">
              <a:defRPr sz="1950" b="1">
                <a:solidFill>
                  <a:srgbClr val="F1C58A"/>
                </a:solidFill>
                <a:latin typeface="Arial"/>
                <a:ea typeface="Arial"/>
                <a:cs typeface="Arial"/>
              </a:defRPr>
            </a:lvl3pPr>
            <a:lvl4pPr algn="l">
              <a:defRPr sz="1950" b="1">
                <a:solidFill>
                  <a:srgbClr val="F1C58A"/>
                </a:solidFill>
                <a:latin typeface="Arial"/>
                <a:ea typeface="Arial"/>
                <a:cs typeface="Arial"/>
              </a:defRPr>
            </a:lvl4pPr>
            <a:lvl5pPr algn="l">
              <a:defRPr sz="1950" b="1">
                <a:solidFill>
                  <a:srgbClr val="F1C58A"/>
                </a:solidFill>
                <a:latin typeface="Arial"/>
                <a:ea typeface="Arial"/>
                <a:cs typeface="Arial"/>
              </a:defRPr>
            </a:lvl5pPr>
            <a:lvl6pPr algn="l">
              <a:defRPr sz="1950" b="1">
                <a:solidFill>
                  <a:srgbClr val="F1C58A"/>
                </a:solidFill>
                <a:latin typeface="Arial"/>
                <a:ea typeface="Arial"/>
                <a:cs typeface="Arial"/>
              </a:defRPr>
            </a:lvl6pPr>
            <a:lvl7pPr algn="l">
              <a:defRPr sz="1950" b="1">
                <a:solidFill>
                  <a:srgbClr val="F1C58A"/>
                </a:solidFill>
                <a:latin typeface="Arial"/>
                <a:ea typeface="Arial"/>
                <a:cs typeface="Arial"/>
              </a:defRPr>
            </a:lvl7pPr>
            <a:lvl8pPr algn="l">
              <a:defRPr sz="1950" b="1">
                <a:solidFill>
                  <a:srgbClr val="F1C58A"/>
                </a:solidFill>
                <a:latin typeface="Arial"/>
                <a:ea typeface="Arial"/>
                <a:cs typeface="Arial"/>
              </a:defRPr>
            </a:lvl8pPr>
            <a:lvl9pPr algn="l">
              <a:defRPr sz="1950" b="1">
                <a:solidFill>
                  <a:srgbClr val="F1C58A"/>
                </a:solidFill>
                <a:latin typeface="Arial"/>
                <a:ea typeface="Arial"/>
                <a:cs typeface="Arial"/>
              </a:defRPr>
            </a:lvl9pPr>
          </a:lstStyle>
          <a:p xmlns:a="http://schemas.openxmlformats.org/drawingml/2006/main">
            <a:pPr algn="l">
              <a:defRPr sz="1950" b="1">
                <a:solidFill>
                  <a:srgbClr val="F1C58A"/>
                </a:solidFill>
                <a:latin typeface="Arial"/>
                <a:ea typeface="Arial"/>
                <a:cs typeface="Arial"/>
              </a:defRPr>
            </a:pPr>
            <a:r>
              <a:rPr sz="1950" b="1">
                <a:solidFill>
                  <a:srgbClr val="F1C58A"/>
                </a:solidFill>
                <a:latin typeface="Arial"/>
                <a:ea typeface="Arial"/>
                <a:cs typeface="Arial"/>
              </a:rPr>
              <a:t>For the next discussion</a:t>
            </a:r>
          </a:p>
        </p:txBody>
      </p:sp>
      <p:sp>
        <p:nvSpPr>
          <p:cNvPr id="4" name="discussion-detail-0">
            <a:extLst xmlns:a="http://schemas.openxmlformats.org/drawingml/2006/main">
              <a:ext uri="{FF2B5EF4-FFF2-40B4-BE49-F238E27FC236}">
                <a16:creationId xmlns:a16="http://schemas.microsoft.com/office/drawing/2014/main" id="{EFC14621-0CB7-4351-9C34-B7DB42EFEF97}"/>
              </a:ext>
            </a:extLst>
          </p:cNvPr>
          <p:cNvSpPr>
            <a:spLocks xmlns:a="http://schemas.openxmlformats.org/drawingml/2006/main" noGrp="1"/>
          </p:cNvSpPr>
          <p:nvPr/>
        </p:nvSpPr>
        <p:spPr>
          <a:xfrm xmlns:a="http://schemas.openxmlformats.org/drawingml/2006/main">
            <a:off x="723900" y="5334000"/>
            <a:ext cx="5048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7E1E3"/>
                </a:solidFill>
                <a:latin typeface="Arial"/>
                <a:ea typeface="Arial"/>
                <a:cs typeface="Arial"/>
              </a:defRPr>
            </a:defPPr>
            <a:lvl1pPr algn="l">
              <a:defRPr sz="1800" b="0">
                <a:solidFill>
                  <a:srgbClr val="D7E1E3"/>
                </a:solidFill>
                <a:latin typeface="Arial"/>
                <a:ea typeface="Arial"/>
                <a:cs typeface="Arial"/>
              </a:defRPr>
            </a:lvl1pPr>
            <a:lvl2pPr algn="l">
              <a:defRPr sz="1800" b="0">
                <a:solidFill>
                  <a:srgbClr val="D7E1E3"/>
                </a:solidFill>
                <a:latin typeface="Arial"/>
                <a:ea typeface="Arial"/>
                <a:cs typeface="Arial"/>
              </a:defRPr>
            </a:lvl2pPr>
            <a:lvl3pPr algn="l">
              <a:defRPr sz="1800" b="0">
                <a:solidFill>
                  <a:srgbClr val="D7E1E3"/>
                </a:solidFill>
                <a:latin typeface="Arial"/>
                <a:ea typeface="Arial"/>
                <a:cs typeface="Arial"/>
              </a:defRPr>
            </a:lvl3pPr>
            <a:lvl4pPr algn="l">
              <a:defRPr sz="1800" b="0">
                <a:solidFill>
                  <a:srgbClr val="D7E1E3"/>
                </a:solidFill>
                <a:latin typeface="Arial"/>
                <a:ea typeface="Arial"/>
                <a:cs typeface="Arial"/>
              </a:defRPr>
            </a:lvl4pPr>
            <a:lvl5pPr algn="l">
              <a:defRPr sz="1800" b="0">
                <a:solidFill>
                  <a:srgbClr val="D7E1E3"/>
                </a:solidFill>
                <a:latin typeface="Arial"/>
                <a:ea typeface="Arial"/>
                <a:cs typeface="Arial"/>
              </a:defRPr>
            </a:lvl5pPr>
            <a:lvl6pPr algn="l">
              <a:defRPr sz="1800" b="0">
                <a:solidFill>
                  <a:srgbClr val="D7E1E3"/>
                </a:solidFill>
                <a:latin typeface="Arial"/>
                <a:ea typeface="Arial"/>
                <a:cs typeface="Arial"/>
              </a:defRPr>
            </a:lvl6pPr>
            <a:lvl7pPr algn="l">
              <a:defRPr sz="1800" b="0">
                <a:solidFill>
                  <a:srgbClr val="D7E1E3"/>
                </a:solidFill>
                <a:latin typeface="Arial"/>
                <a:ea typeface="Arial"/>
                <a:cs typeface="Arial"/>
              </a:defRPr>
            </a:lvl7pPr>
            <a:lvl8pPr algn="l">
              <a:defRPr sz="1800" b="0">
                <a:solidFill>
                  <a:srgbClr val="D7E1E3"/>
                </a:solidFill>
                <a:latin typeface="Arial"/>
                <a:ea typeface="Arial"/>
                <a:cs typeface="Arial"/>
              </a:defRPr>
            </a:lvl8pPr>
            <a:lvl9pPr algn="l">
              <a:defRPr sz="1800" b="0">
                <a:solidFill>
                  <a:srgbClr val="D7E1E3"/>
                </a:solidFill>
                <a:latin typeface="Arial"/>
                <a:ea typeface="Arial"/>
                <a:cs typeface="Arial"/>
              </a:defRPr>
            </a:lvl9pPr>
          </a:lstStyle>
          <a:p xmlns:a="http://schemas.openxmlformats.org/drawingml/2006/main">
            <a:pPr algn="l">
              <a:defRPr sz="1800" b="0">
                <a:solidFill>
                  <a:srgbClr val="D7E1E3"/>
                </a:solidFill>
                <a:latin typeface="Arial"/>
                <a:ea typeface="Arial"/>
                <a:cs typeface="Arial"/>
              </a:defRPr>
            </a:pPr>
            <a:r>
              <a:rPr sz="1800" b="0">
                <a:solidFill>
                  <a:srgbClr val="D7E1E3"/>
                </a:solidFill>
                <a:latin typeface="Arial"/>
                <a:ea typeface="Arial"/>
                <a:cs typeface="Arial"/>
              </a:rPr>
              <a:t>Which task deserves a fair comparison with today's alternatives?</a:t>
            </a:r>
          </a:p>
        </p:txBody>
      </p:sp>
      <p:sp>
        <p:nvSpPr>
          <p:cNvPr id="5" name="discussion-1">
            <a:extLst xmlns:a="http://schemas.openxmlformats.org/drawingml/2006/main">
              <a:ext uri="{FF2B5EF4-FFF2-40B4-BE49-F238E27FC236}">
                <a16:creationId xmlns:a16="http://schemas.microsoft.com/office/drawing/2014/main" id="{8335FDF7-62A9-47D3-A635-A46158B29CF4}"/>
              </a:ext>
            </a:extLst>
          </p:cNvPr>
          <p:cNvSpPr>
            <a:spLocks xmlns:a="http://schemas.openxmlformats.org/drawingml/2006/main" noGrp="1"/>
          </p:cNvSpPr>
          <p:nvPr/>
        </p:nvSpPr>
        <p:spPr>
          <a:xfrm xmlns:a="http://schemas.openxmlformats.org/drawingml/2006/main">
            <a:off x="6343650" y="4895850"/>
            <a:ext cx="5143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1C58A"/>
                </a:solidFill>
                <a:latin typeface="Arial"/>
                <a:ea typeface="Arial"/>
                <a:cs typeface="Arial"/>
              </a:defRPr>
            </a:defPPr>
            <a:lvl1pPr algn="l">
              <a:defRPr sz="1950" b="1">
                <a:solidFill>
                  <a:srgbClr val="F1C58A"/>
                </a:solidFill>
                <a:latin typeface="Arial"/>
                <a:ea typeface="Arial"/>
                <a:cs typeface="Arial"/>
              </a:defRPr>
            </a:lvl1pPr>
            <a:lvl2pPr algn="l">
              <a:defRPr sz="1950" b="1">
                <a:solidFill>
                  <a:srgbClr val="F1C58A"/>
                </a:solidFill>
                <a:latin typeface="Arial"/>
                <a:ea typeface="Arial"/>
                <a:cs typeface="Arial"/>
              </a:defRPr>
            </a:lvl2pPr>
            <a:lvl3pPr algn="l">
              <a:defRPr sz="1950" b="1">
                <a:solidFill>
                  <a:srgbClr val="F1C58A"/>
                </a:solidFill>
                <a:latin typeface="Arial"/>
                <a:ea typeface="Arial"/>
                <a:cs typeface="Arial"/>
              </a:defRPr>
            </a:lvl3pPr>
            <a:lvl4pPr algn="l">
              <a:defRPr sz="1950" b="1">
                <a:solidFill>
                  <a:srgbClr val="F1C58A"/>
                </a:solidFill>
                <a:latin typeface="Arial"/>
                <a:ea typeface="Arial"/>
                <a:cs typeface="Arial"/>
              </a:defRPr>
            </a:lvl4pPr>
            <a:lvl5pPr algn="l">
              <a:defRPr sz="1950" b="1">
                <a:solidFill>
                  <a:srgbClr val="F1C58A"/>
                </a:solidFill>
                <a:latin typeface="Arial"/>
                <a:ea typeface="Arial"/>
                <a:cs typeface="Arial"/>
              </a:defRPr>
            </a:lvl5pPr>
            <a:lvl6pPr algn="l">
              <a:defRPr sz="1950" b="1">
                <a:solidFill>
                  <a:srgbClr val="F1C58A"/>
                </a:solidFill>
                <a:latin typeface="Arial"/>
                <a:ea typeface="Arial"/>
                <a:cs typeface="Arial"/>
              </a:defRPr>
            </a:lvl6pPr>
            <a:lvl7pPr algn="l">
              <a:defRPr sz="1950" b="1">
                <a:solidFill>
                  <a:srgbClr val="F1C58A"/>
                </a:solidFill>
                <a:latin typeface="Arial"/>
                <a:ea typeface="Arial"/>
                <a:cs typeface="Arial"/>
              </a:defRPr>
            </a:lvl7pPr>
            <a:lvl8pPr algn="l">
              <a:defRPr sz="1950" b="1">
                <a:solidFill>
                  <a:srgbClr val="F1C58A"/>
                </a:solidFill>
                <a:latin typeface="Arial"/>
                <a:ea typeface="Arial"/>
                <a:cs typeface="Arial"/>
              </a:defRPr>
            </a:lvl8pPr>
            <a:lvl9pPr algn="l">
              <a:defRPr sz="1950" b="1">
                <a:solidFill>
                  <a:srgbClr val="F1C58A"/>
                </a:solidFill>
                <a:latin typeface="Arial"/>
                <a:ea typeface="Arial"/>
                <a:cs typeface="Arial"/>
              </a:defRPr>
            </a:lvl9pPr>
          </a:lstStyle>
          <a:p xmlns:a="http://schemas.openxmlformats.org/drawingml/2006/main">
            <a:pPr algn="l">
              <a:defRPr sz="1950" b="1">
                <a:solidFill>
                  <a:srgbClr val="F1C58A"/>
                </a:solidFill>
                <a:latin typeface="Arial"/>
                <a:ea typeface="Arial"/>
                <a:cs typeface="Arial"/>
              </a:defRPr>
            </a:pPr>
            <a:r>
              <a:rPr sz="1950" b="1">
                <a:solidFill>
                  <a:srgbClr val="F1C58A"/>
                </a:solidFill>
                <a:latin typeface="Arial"/>
                <a:ea typeface="Arial"/>
                <a:cs typeface="Arial"/>
              </a:rPr>
              <a:t>Before building</a:t>
            </a:r>
          </a:p>
        </p:txBody>
      </p:sp>
      <p:sp>
        <p:nvSpPr>
          <p:cNvPr id="6" name="discussion-detail-1">
            <a:extLst xmlns:a="http://schemas.openxmlformats.org/drawingml/2006/main">
              <a:ext uri="{FF2B5EF4-FFF2-40B4-BE49-F238E27FC236}">
                <a16:creationId xmlns:a16="http://schemas.microsoft.com/office/drawing/2014/main" id="{7EC573FE-BE77-4E0B-A6AE-A592CC78C991}"/>
              </a:ext>
            </a:extLst>
          </p:cNvPr>
          <p:cNvSpPr>
            <a:spLocks xmlns:a="http://schemas.openxmlformats.org/drawingml/2006/main" noGrp="1"/>
          </p:cNvSpPr>
          <p:nvPr/>
        </p:nvSpPr>
        <p:spPr>
          <a:xfrm xmlns:a="http://schemas.openxmlformats.org/drawingml/2006/main">
            <a:off x="6343650" y="5334000"/>
            <a:ext cx="5048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7E1E3"/>
                </a:solidFill>
                <a:latin typeface="Arial"/>
                <a:ea typeface="Arial"/>
                <a:cs typeface="Arial"/>
              </a:defRPr>
            </a:defPPr>
            <a:lvl1pPr algn="l">
              <a:defRPr sz="1800" b="0">
                <a:solidFill>
                  <a:srgbClr val="D7E1E3"/>
                </a:solidFill>
                <a:latin typeface="Arial"/>
                <a:ea typeface="Arial"/>
                <a:cs typeface="Arial"/>
              </a:defRPr>
            </a:lvl1pPr>
            <a:lvl2pPr algn="l">
              <a:defRPr sz="1800" b="0">
                <a:solidFill>
                  <a:srgbClr val="D7E1E3"/>
                </a:solidFill>
                <a:latin typeface="Arial"/>
                <a:ea typeface="Arial"/>
                <a:cs typeface="Arial"/>
              </a:defRPr>
            </a:lvl2pPr>
            <a:lvl3pPr algn="l">
              <a:defRPr sz="1800" b="0">
                <a:solidFill>
                  <a:srgbClr val="D7E1E3"/>
                </a:solidFill>
                <a:latin typeface="Arial"/>
                <a:ea typeface="Arial"/>
                <a:cs typeface="Arial"/>
              </a:defRPr>
            </a:lvl3pPr>
            <a:lvl4pPr algn="l">
              <a:defRPr sz="1800" b="0">
                <a:solidFill>
                  <a:srgbClr val="D7E1E3"/>
                </a:solidFill>
                <a:latin typeface="Arial"/>
                <a:ea typeface="Arial"/>
                <a:cs typeface="Arial"/>
              </a:defRPr>
            </a:lvl4pPr>
            <a:lvl5pPr algn="l">
              <a:defRPr sz="1800" b="0">
                <a:solidFill>
                  <a:srgbClr val="D7E1E3"/>
                </a:solidFill>
                <a:latin typeface="Arial"/>
                <a:ea typeface="Arial"/>
                <a:cs typeface="Arial"/>
              </a:defRPr>
            </a:lvl5pPr>
            <a:lvl6pPr algn="l">
              <a:defRPr sz="1800" b="0">
                <a:solidFill>
                  <a:srgbClr val="D7E1E3"/>
                </a:solidFill>
                <a:latin typeface="Arial"/>
                <a:ea typeface="Arial"/>
                <a:cs typeface="Arial"/>
              </a:defRPr>
            </a:lvl6pPr>
            <a:lvl7pPr algn="l">
              <a:defRPr sz="1800" b="0">
                <a:solidFill>
                  <a:srgbClr val="D7E1E3"/>
                </a:solidFill>
                <a:latin typeface="Arial"/>
                <a:ea typeface="Arial"/>
                <a:cs typeface="Arial"/>
              </a:defRPr>
            </a:lvl7pPr>
            <a:lvl8pPr algn="l">
              <a:defRPr sz="1800" b="0">
                <a:solidFill>
                  <a:srgbClr val="D7E1E3"/>
                </a:solidFill>
                <a:latin typeface="Arial"/>
                <a:ea typeface="Arial"/>
                <a:cs typeface="Arial"/>
              </a:defRPr>
            </a:lvl8pPr>
            <a:lvl9pPr algn="l">
              <a:defRPr sz="1800" b="0">
                <a:solidFill>
                  <a:srgbClr val="D7E1E3"/>
                </a:solidFill>
                <a:latin typeface="Arial"/>
                <a:ea typeface="Arial"/>
                <a:cs typeface="Arial"/>
              </a:defRPr>
            </a:lvl9pPr>
          </a:lstStyle>
          <a:p xmlns:a="http://schemas.openxmlformats.org/drawingml/2006/main">
            <a:pPr algn="l">
              <a:defRPr sz="1800" b="0">
                <a:solidFill>
                  <a:srgbClr val="D7E1E3"/>
                </a:solidFill>
                <a:latin typeface="Arial"/>
                <a:ea typeface="Arial"/>
                <a:cs typeface="Arial"/>
              </a:defRPr>
            </a:pPr>
            <a:r>
              <a:rPr sz="1800" b="0">
                <a:solidFill>
                  <a:srgbClr val="D7E1E3"/>
                </a:solidFill>
                <a:latin typeface="Arial"/>
                <a:ea typeface="Arial"/>
                <a:cs typeface="Arial"/>
              </a:rPr>
              <a:t>What evidence would make us narrow, change or reject the idea?</a:t>
            </a:r>
          </a:p>
        </p:txBody>
      </p:sp>
      <p:sp>
        <p:nvSpPr>
          <p:cNvPr id="7" name="evidence-boundary">
            <a:extLst xmlns:a="http://schemas.openxmlformats.org/drawingml/2006/main">
              <a:ext uri="{FF2B5EF4-FFF2-40B4-BE49-F238E27FC236}">
                <a16:creationId xmlns:a16="http://schemas.microsoft.com/office/drawing/2014/main" id="{C7F175D5-BFF4-43F2-827F-86172965E010}"/>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D7E1E3"/>
                </a:solidFill>
                <a:latin typeface="Arial"/>
                <a:ea typeface="Arial"/>
                <a:cs typeface="Arial"/>
              </a:defRPr>
            </a:defPPr>
            <a:lvl1pPr algn="l">
              <a:defRPr sz="1350" b="0">
                <a:solidFill>
                  <a:srgbClr val="D7E1E3"/>
                </a:solidFill>
                <a:latin typeface="Arial"/>
                <a:ea typeface="Arial"/>
                <a:cs typeface="Arial"/>
              </a:defRPr>
            </a:lvl1pPr>
            <a:lvl2pPr algn="l">
              <a:defRPr sz="1350" b="0">
                <a:solidFill>
                  <a:srgbClr val="D7E1E3"/>
                </a:solidFill>
                <a:latin typeface="Arial"/>
                <a:ea typeface="Arial"/>
                <a:cs typeface="Arial"/>
              </a:defRPr>
            </a:lvl2pPr>
            <a:lvl3pPr algn="l">
              <a:defRPr sz="1350" b="0">
                <a:solidFill>
                  <a:srgbClr val="D7E1E3"/>
                </a:solidFill>
                <a:latin typeface="Arial"/>
                <a:ea typeface="Arial"/>
                <a:cs typeface="Arial"/>
              </a:defRPr>
            </a:lvl3pPr>
            <a:lvl4pPr algn="l">
              <a:defRPr sz="1350" b="0">
                <a:solidFill>
                  <a:srgbClr val="D7E1E3"/>
                </a:solidFill>
                <a:latin typeface="Arial"/>
                <a:ea typeface="Arial"/>
                <a:cs typeface="Arial"/>
              </a:defRPr>
            </a:lvl4pPr>
            <a:lvl5pPr algn="l">
              <a:defRPr sz="1350" b="0">
                <a:solidFill>
                  <a:srgbClr val="D7E1E3"/>
                </a:solidFill>
                <a:latin typeface="Arial"/>
                <a:ea typeface="Arial"/>
                <a:cs typeface="Arial"/>
              </a:defRPr>
            </a:lvl5pPr>
            <a:lvl6pPr algn="l">
              <a:defRPr sz="1350" b="0">
                <a:solidFill>
                  <a:srgbClr val="D7E1E3"/>
                </a:solidFill>
                <a:latin typeface="Arial"/>
                <a:ea typeface="Arial"/>
                <a:cs typeface="Arial"/>
              </a:defRPr>
            </a:lvl6pPr>
            <a:lvl7pPr algn="l">
              <a:defRPr sz="1350" b="0">
                <a:solidFill>
                  <a:srgbClr val="D7E1E3"/>
                </a:solidFill>
                <a:latin typeface="Arial"/>
                <a:ea typeface="Arial"/>
                <a:cs typeface="Arial"/>
              </a:defRPr>
            </a:lvl7pPr>
            <a:lvl8pPr algn="l">
              <a:defRPr sz="1350" b="0">
                <a:solidFill>
                  <a:srgbClr val="D7E1E3"/>
                </a:solidFill>
                <a:latin typeface="Arial"/>
                <a:ea typeface="Arial"/>
                <a:cs typeface="Arial"/>
              </a:defRPr>
            </a:lvl8pPr>
            <a:lvl9pPr algn="l">
              <a:defRPr sz="1350" b="0">
                <a:solidFill>
                  <a:srgbClr val="D7E1E3"/>
                </a:solidFill>
                <a:latin typeface="Arial"/>
                <a:ea typeface="Arial"/>
                <a:cs typeface="Arial"/>
              </a:defRPr>
            </a:lvl9pPr>
          </a:lstStyle>
          <a:p xmlns:a="http://schemas.openxmlformats.org/drawingml/2006/main">
            <a:pPr algn="l">
              <a:defRPr sz="1350" b="0">
                <a:solidFill>
                  <a:srgbClr val="D7E1E3"/>
                </a:solidFill>
                <a:latin typeface="Arial"/>
                <a:ea typeface="Arial"/>
                <a:cs typeface="Arial"/>
              </a:defRPr>
            </a:pPr>
            <a:r>
              <a:rPr sz="1350" b="0">
                <a:solidFill>
                  <a:srgbClr val="D7E1E3"/>
                </a:solidFill>
                <a:latin typeface="Arial"/>
                <a:ea typeface="Arial"/>
                <a:cs typeface="Arial"/>
              </a:rPr>
              <a:t>Research synthesis and discussion questions. Product decisions remain open.</a:t>
            </a:r>
          </a:p>
        </p:txBody>
      </p:sp>
      <p:sp>
        <p:nvSpPr>
          <p:cNvPr id="8" name="slide-number">
            <a:extLst xmlns:a="http://schemas.openxmlformats.org/drawingml/2006/main">
              <a:ext uri="{FF2B5EF4-FFF2-40B4-BE49-F238E27FC236}">
                <a16:creationId xmlns:a16="http://schemas.microsoft.com/office/drawing/2014/main" id="{4A16F105-917F-4285-A4ED-798B71985CB6}"/>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1C58A"/>
                </a:solidFill>
                <a:latin typeface="Arial"/>
                <a:ea typeface="Arial"/>
                <a:cs typeface="Arial"/>
              </a:defRPr>
            </a:defPPr>
            <a:lvl1pPr algn="l">
              <a:defRPr sz="1575" b="1">
                <a:solidFill>
                  <a:srgbClr val="F1C58A"/>
                </a:solidFill>
                <a:latin typeface="Arial"/>
                <a:ea typeface="Arial"/>
                <a:cs typeface="Arial"/>
              </a:defRPr>
            </a:lvl1pPr>
            <a:lvl2pPr algn="l">
              <a:defRPr sz="1575" b="1">
                <a:solidFill>
                  <a:srgbClr val="F1C58A"/>
                </a:solidFill>
                <a:latin typeface="Arial"/>
                <a:ea typeface="Arial"/>
                <a:cs typeface="Arial"/>
              </a:defRPr>
            </a:lvl2pPr>
            <a:lvl3pPr algn="l">
              <a:defRPr sz="1575" b="1">
                <a:solidFill>
                  <a:srgbClr val="F1C58A"/>
                </a:solidFill>
                <a:latin typeface="Arial"/>
                <a:ea typeface="Arial"/>
                <a:cs typeface="Arial"/>
              </a:defRPr>
            </a:lvl3pPr>
            <a:lvl4pPr algn="l">
              <a:defRPr sz="1575" b="1">
                <a:solidFill>
                  <a:srgbClr val="F1C58A"/>
                </a:solidFill>
                <a:latin typeface="Arial"/>
                <a:ea typeface="Arial"/>
                <a:cs typeface="Arial"/>
              </a:defRPr>
            </a:lvl4pPr>
            <a:lvl5pPr algn="l">
              <a:defRPr sz="1575" b="1">
                <a:solidFill>
                  <a:srgbClr val="F1C58A"/>
                </a:solidFill>
                <a:latin typeface="Arial"/>
                <a:ea typeface="Arial"/>
                <a:cs typeface="Arial"/>
              </a:defRPr>
            </a:lvl5pPr>
            <a:lvl6pPr algn="l">
              <a:defRPr sz="1575" b="1">
                <a:solidFill>
                  <a:srgbClr val="F1C58A"/>
                </a:solidFill>
                <a:latin typeface="Arial"/>
                <a:ea typeface="Arial"/>
                <a:cs typeface="Arial"/>
              </a:defRPr>
            </a:lvl6pPr>
            <a:lvl7pPr algn="l">
              <a:defRPr sz="1575" b="1">
                <a:solidFill>
                  <a:srgbClr val="F1C58A"/>
                </a:solidFill>
                <a:latin typeface="Arial"/>
                <a:ea typeface="Arial"/>
                <a:cs typeface="Arial"/>
              </a:defRPr>
            </a:lvl7pPr>
            <a:lvl8pPr algn="l">
              <a:defRPr sz="1575" b="1">
                <a:solidFill>
                  <a:srgbClr val="F1C58A"/>
                </a:solidFill>
                <a:latin typeface="Arial"/>
                <a:ea typeface="Arial"/>
                <a:cs typeface="Arial"/>
              </a:defRPr>
            </a:lvl8pPr>
            <a:lvl9pPr algn="l">
              <a:defRPr sz="1575" b="1">
                <a:solidFill>
                  <a:srgbClr val="F1C58A"/>
                </a:solidFill>
                <a:latin typeface="Arial"/>
                <a:ea typeface="Arial"/>
                <a:cs typeface="Arial"/>
              </a:defRPr>
            </a:lvl9pPr>
          </a:lstStyle>
          <a:p xmlns:a="http://schemas.openxmlformats.org/drawingml/2006/main">
            <a:pPr algn="l">
              <a:defRPr sz="1575" b="1">
                <a:solidFill>
                  <a:srgbClr val="F1C58A"/>
                </a:solidFill>
                <a:latin typeface="Arial"/>
                <a:ea typeface="Arial"/>
                <a:cs typeface="Arial"/>
              </a:defRPr>
            </a:pPr>
            <a:r>
              <a:rPr sz="1575" b="1">
                <a:solidFill>
                  <a:srgbClr val="F1C58A"/>
                </a:solidFill>
                <a:latin typeface="Arial"/>
                <a:ea typeface="Arial"/>
                <a:cs typeface="Arial"/>
              </a:rPr>
              <a:t>25</a:t>
            </a:r>
          </a:p>
        </p:txBody>
      </p:sp>
    </p:spTree>
    <p:extLst>
      <p:ext uri="{BB962C8B-B14F-4D97-AF65-F5344CB8AC3E}">
        <p14:creationId xmlns:p14="http://schemas.microsoft.com/office/powerpoint/2010/main" val="892194112"/>
      </p:ext>
    </p:extLst>
  </p:cSld>
</p:sld>
</file>

<file path=ppt/slides/slide26.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4A735E8-8653-4B87-9056-718070175CD0}"/>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Appendix: how the research rounds differ</a:t>
            </a:r>
          </a:p>
        </p:txBody>
      </p:sp>
      <p:sp>
        <p:nvSpPr>
          <p:cNvPr id="2" name="lead">
            <a:extLst xmlns:a="http://schemas.openxmlformats.org/drawingml/2006/main">
              <a:ext uri="{FF2B5EF4-FFF2-40B4-BE49-F238E27FC236}">
                <a16:creationId xmlns:a16="http://schemas.microsoft.com/office/drawing/2014/main" id="{D756CFE6-ED6B-483E-A767-87C846AB47AA}"/>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Earlier work informs the context, but does not outrank later corrections.</a:t>
            </a:r>
          </a:p>
        </p:txBody>
      </p:sp>
      <p:graphicFrame>
        <p:nvGraphicFramePr>
          <p:cNvPr id="3" name="">
            <a:extLst xmlns:a="http://schemas.openxmlformats.org/drawingml/2006/main">
              <a:ext uri="{FF2B5EF4-FFF2-40B4-BE49-F238E27FC236}">
                <a16:creationId xmlns:a16="http://schemas.microsoft.com/office/drawing/2014/main" id="{148CB92A-1308-4FA3-AFB9-55D02DC3D015}"/>
              </a:ext>
            </a:extLst>
          </p:cNvPr>
          <p:cNvGraphicFramePr/>
          <p:nvPr/>
        </p:nvGraphicFramePr>
        <p:xfrm>
          <a:off xmlns:a="http://schemas.openxmlformats.org/drawingml/2006/main" x="723900" y="2533650"/>
          <a:ext xmlns:a="http://schemas.openxmlformats.org/drawingml/2006/main" cx="10820400" cy="3143250"/>
        </p:xfrm>
        <a:graphic xmlns:a="http://schemas.openxmlformats.org/drawingml/2006/main">
          <a:graphicData uri="http://schemas.openxmlformats.org/drawingml/2006/table">
            <a:tbl>
              <a:tblPr firstRow="1" bandRow="0"/>
              <a:tblGrid>
                <a:gridCol w="1714500"/>
                <a:gridCol w="4476750"/>
                <a:gridCol w="4629150"/>
              </a:tblGrid>
              <a:tr h="457200">
                <a:tc>
                  <a:txBody>
                    <a:bodyPr wrap="square" lIns="133350" tIns="76200" rIns="133350" bIns="76200">
                      <a:noAutofit/>
                    </a:bodyPr>
                    <a:lstStyle/>
                    <a:p>
                      <a:r>
                        <a:rPr sz="1800" b="1">
                          <a:solidFill>
                            <a:srgbClr val="FFFFFF"/>
                          </a:solidFill>
                          <a:latin typeface="Arial"/>
                          <a:ea typeface="Arial"/>
                          <a:cs typeface="Arial"/>
                        </a:rPr>
                        <a:t>Round</a:t>
                      </a:r>
                    </a:p>
                  </a:txBody>
                  <a:tcPr marL="91440" marR="91440" marT="45720" marB="45720" anchor="ctr">
                    <a:lnL w="6668">
                      <a:solidFill>
                        <a:srgbClr val="D9D8D2"/>
                      </a:solidFill>
                      <a:prstDash val="solid"/>
                    </a:lnL>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76200" rIns="133350" bIns="76200">
                      <a:noAutofit/>
                    </a:bodyPr>
                    <a:lstStyle/>
                    <a:p>
                      <a:r>
                        <a:rPr sz="1800" b="1">
                          <a:solidFill>
                            <a:srgbClr val="FFFFFF"/>
                          </a:solidFill>
                          <a:latin typeface="Arial"/>
                          <a:ea typeface="Arial"/>
                          <a:cs typeface="Arial"/>
                        </a:rPr>
                        <a:t>Contribution</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76200" rIns="133350" bIns="76200">
                      <a:noAutofit/>
                    </a:bodyPr>
                    <a:lstStyle/>
                    <a:p>
                      <a:r>
                        <a:rPr sz="1800" b="1">
                          <a:solidFill>
                            <a:srgbClr val="FFFFFF"/>
                          </a:solidFill>
                          <a:latin typeface="Arial"/>
                          <a:ea typeface="Arial"/>
                          <a:cs typeface="Arial"/>
                        </a:rPr>
                        <a:t>Boundary</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r>
              <a:tr h="895350">
                <a:tc>
                  <a:txBody>
                    <a:bodyPr wrap="square" lIns="133350" tIns="76200" rIns="133350" bIns="76200">
                      <a:noAutofit/>
                    </a:bodyPr>
                    <a:lstStyle/>
                    <a:p>
                      <a:r>
                        <a:rPr sz="1875" b="0">
                          <a:solidFill>
                            <a:srgbClr val="172D40"/>
                          </a:solidFill>
                          <a:latin typeface="Arial"/>
                          <a:ea typeface="Arial"/>
                          <a:cs typeface="Arial"/>
                        </a:rPr>
                        <a:t>00</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Domain, alternatives and AI-era development orientation.</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Desk-research proposals, not product validation.</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895350">
                <a:tc>
                  <a:txBody>
                    <a:bodyPr wrap="square" lIns="133350" tIns="76200" rIns="133350" bIns="76200">
                      <a:noAutofit/>
                    </a:bodyPr>
                    <a:lstStyle/>
                    <a:p>
                      <a:r>
                        <a:rPr sz="1875" b="0">
                          <a:solidFill>
                            <a:srgbClr val="172D40"/>
                          </a:solidFill>
                          <a:latin typeface="Arial"/>
                          <a:ea typeface="Arial"/>
                          <a:cs typeface="Arial"/>
                        </a:rPr>
                        <a:t>01</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Bounded public-web accounts and hypothesis checks.</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No prevalence ranking. Precise device-loss story unresolved.</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895350">
                <a:tc>
                  <a:txBody>
                    <a:bodyPr wrap="square" lIns="133350" tIns="76200" rIns="133350" bIns="76200">
                      <a:noAutofit/>
                    </a:bodyPr>
                    <a:lstStyle/>
                    <a:p>
                      <a:r>
                        <a:rPr sz="1875" b="0">
                          <a:solidFill>
                            <a:srgbClr val="172D40"/>
                          </a:solidFill>
                          <a:latin typeface="Arial"/>
                          <a:ea typeface="Arial"/>
                          <a:cs typeface="Arial"/>
                        </a:rPr>
                        <a:t>02</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Expanded pain, practice, guidance, caption and internal-process evidence.</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Earlier fictional comparison stays historical. No user testing.</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bl>
          </a:graphicData>
        </a:graphic>
      </p:graphicFrame>
      <p:sp>
        <p:nvSpPr>
          <p:cNvPr id="4" name="evidence-boundary">
            <a:extLst xmlns:a="http://schemas.openxmlformats.org/drawingml/2006/main">
              <a:ext uri="{FF2B5EF4-FFF2-40B4-BE49-F238E27FC236}">
                <a16:creationId xmlns:a16="http://schemas.microsoft.com/office/drawing/2014/main" id="{E9A81734-33B2-4E77-8E19-E005924AA813}"/>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Future rounds remain optional plans. This briefing does not promote a new accepted strategy.</a:t>
            </a:r>
          </a:p>
        </p:txBody>
      </p:sp>
      <p:sp>
        <p:nvSpPr>
          <p:cNvPr id="5" name="slide-number">
            <a:extLst xmlns:a="http://schemas.openxmlformats.org/drawingml/2006/main">
              <a:ext uri="{FF2B5EF4-FFF2-40B4-BE49-F238E27FC236}">
                <a16:creationId xmlns:a16="http://schemas.microsoft.com/office/drawing/2014/main" id="{1B19BF4C-E96E-4149-BDE8-E4D59B500CDC}"/>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26</a:t>
            </a:r>
          </a:p>
        </p:txBody>
      </p:sp>
    </p:spTree>
    <p:extLst>
      <p:ext uri="{BB962C8B-B14F-4D97-AF65-F5344CB8AC3E}">
        <p14:creationId xmlns:p14="http://schemas.microsoft.com/office/powerpoint/2010/main" val="510940564"/>
      </p:ext>
    </p:extLst>
  </p:cSld>
</p:sld>
</file>

<file path=ppt/slides/slide27.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F9E51714-E8DB-4AF4-A059-698A029EDC7D}"/>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Appendix: what the videos contributed</a:t>
            </a:r>
          </a:p>
        </p:txBody>
      </p:sp>
      <p:sp>
        <p:nvSpPr>
          <p:cNvPr id="2" name="lead">
            <a:extLst xmlns:a="http://schemas.openxmlformats.org/drawingml/2006/main">
              <a:ext uri="{FF2B5EF4-FFF2-40B4-BE49-F238E27FC236}">
                <a16:creationId xmlns:a16="http://schemas.microsoft.com/office/drawing/2014/main" id="{1C4109E3-B833-43D5-A23D-A609A84761F2}"/>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Ten caption reviews across eight creator families added examples and questions.</a:t>
            </a:r>
          </a:p>
        </p:txBody>
      </p:sp>
      <p:sp>
        <p:nvSpPr>
          <p:cNvPr id="3" name="column-heading-0">
            <a:extLst xmlns:a="http://schemas.openxmlformats.org/drawingml/2006/main">
              <a:ext uri="{FF2B5EF4-FFF2-40B4-BE49-F238E27FC236}">
                <a16:creationId xmlns:a16="http://schemas.microsoft.com/office/drawing/2014/main" id="{1F085044-D990-4020-A836-350833C3F822}"/>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Useful contributions</a:t>
            </a:r>
          </a:p>
        </p:txBody>
      </p:sp>
      <p:sp>
        <p:nvSpPr>
          <p:cNvPr id="4" name="column-0-detail-0">
            <a:extLst xmlns:a="http://schemas.openxmlformats.org/drawingml/2006/main">
              <a:ext uri="{FF2B5EF4-FFF2-40B4-BE49-F238E27FC236}">
                <a16:creationId xmlns:a16="http://schemas.microsoft.com/office/drawing/2014/main" id="{0ABF1516-0328-4486-80FC-EAD998846F63}"/>
              </a:ext>
            </a:extLst>
          </p:cNvPr>
          <p:cNvSpPr>
            <a:spLocks xmlns:a="http://schemas.openxmlformats.org/drawingml/2006/main" noGrp="1"/>
          </p:cNvSpPr>
          <p:nvPr/>
        </p:nvSpPr>
        <p:spPr>
          <a:xfrm xmlns:a="http://schemas.openxmlformats.org/drawingml/2006/main">
            <a:off x="76200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Red-flag clarification questions and alternative explanations.</a:t>
            </a:r>
          </a:p>
        </p:txBody>
      </p:sp>
      <p:sp>
        <p:nvSpPr>
          <p:cNvPr id="5" name="column-0-detail-1">
            <a:extLst xmlns:a="http://schemas.openxmlformats.org/drawingml/2006/main">
              <a:ext uri="{FF2B5EF4-FFF2-40B4-BE49-F238E27FC236}">
                <a16:creationId xmlns:a16="http://schemas.microsoft.com/office/drawing/2014/main" id="{9CD50558-6453-4FFD-80D7-1EE9D0C31C72}"/>
              </a:ext>
            </a:extLst>
          </p:cNvPr>
          <p:cNvSpPr>
            <a:spLocks xmlns:a="http://schemas.openxmlformats.org/drawingml/2006/main" noGrp="1"/>
          </p:cNvSpPr>
          <p:nvPr/>
        </p:nvSpPr>
        <p:spPr>
          <a:xfrm xmlns:a="http://schemas.openxmlformats.org/drawingml/2006/main">
            <a:off x="76200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Fact-first drafting and narrated title-change checking.</a:t>
            </a:r>
          </a:p>
        </p:txBody>
      </p:sp>
      <p:sp>
        <p:nvSpPr>
          <p:cNvPr id="6" name="column-0-detail-2">
            <a:extLst xmlns:a="http://schemas.openxmlformats.org/drawingml/2006/main">
              <a:ext uri="{FF2B5EF4-FFF2-40B4-BE49-F238E27FC236}">
                <a16:creationId xmlns:a16="http://schemas.microsoft.com/office/drawing/2014/main" id="{4BD2A14C-AEBC-43AB-9D0F-D1D3E73CCA3A}"/>
              </a:ext>
            </a:extLst>
          </p:cNvPr>
          <p:cNvSpPr>
            <a:spLocks xmlns:a="http://schemas.openxmlformats.org/drawingml/2006/main" noGrp="1"/>
          </p:cNvSpPr>
          <p:nvPr/>
        </p:nvSpPr>
        <p:spPr>
          <a:xfrm xmlns:a="http://schemas.openxmlformats.org/drawingml/2006/main">
            <a:off x="76200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Experience notebooks and spoken interview practice.</a:t>
            </a:r>
          </a:p>
        </p:txBody>
      </p:sp>
      <p:sp>
        <p:nvSpPr>
          <p:cNvPr id="7" name="column-heading-1">
            <a:extLst xmlns:a="http://schemas.openxmlformats.org/drawingml/2006/main">
              <a:ext uri="{FF2B5EF4-FFF2-40B4-BE49-F238E27FC236}">
                <a16:creationId xmlns:a16="http://schemas.microsoft.com/office/drawing/2014/main" id="{6E297E1C-96D9-45BE-BF14-4ED499BFB46B}"/>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Important limits</a:t>
            </a:r>
          </a:p>
        </p:txBody>
      </p:sp>
      <p:sp>
        <p:nvSpPr>
          <p:cNvPr id="8" name="column-1-detail-0">
            <a:extLst xmlns:a="http://schemas.openxmlformats.org/drawingml/2006/main">
              <a:ext uri="{FF2B5EF4-FFF2-40B4-BE49-F238E27FC236}">
                <a16:creationId xmlns:a16="http://schemas.microsoft.com/office/drawing/2014/main" id="{61C1EC05-B972-4863-8FB7-91CB53D2AB53}"/>
              </a:ext>
            </a:extLst>
          </p:cNvPr>
          <p:cNvSpPr>
            <a:spLocks xmlns:a="http://schemas.openxmlformats.org/drawingml/2006/main" noGrp="1"/>
          </p:cNvSpPr>
          <p:nvPr/>
        </p:nvSpPr>
        <p:spPr>
          <a:xfrm xmlns:a="http://schemas.openxmlformats.org/drawingml/2006/main">
            <a:off x="638175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Advice and tutorials dominate the sample.</a:t>
            </a:r>
          </a:p>
        </p:txBody>
      </p:sp>
      <p:sp>
        <p:nvSpPr>
          <p:cNvPr id="9" name="column-1-detail-1">
            <a:extLst xmlns:a="http://schemas.openxmlformats.org/drawingml/2006/main">
              <a:ext uri="{FF2B5EF4-FFF2-40B4-BE49-F238E27FC236}">
                <a16:creationId xmlns:a16="http://schemas.microsoft.com/office/drawing/2014/main" id="{8B632804-80E6-4CB5-9DEA-1F4D3A77C99B}"/>
              </a:ext>
            </a:extLst>
          </p:cNvPr>
          <p:cNvSpPr>
            <a:spLocks xmlns:a="http://schemas.openxmlformats.org/drawingml/2006/main" noGrp="1"/>
          </p:cNvSpPr>
          <p:nvPr/>
        </p:nvSpPr>
        <p:spPr>
          <a:xfrm xmlns:a="http://schemas.openxmlformats.org/drawingml/2006/main">
            <a:off x="638175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Caption text received review, not audio or screen verification.</a:t>
            </a:r>
          </a:p>
        </p:txBody>
      </p:sp>
      <p:sp>
        <p:nvSpPr>
          <p:cNvPr id="10" name="column-1-detail-2">
            <a:extLst xmlns:a="http://schemas.openxmlformats.org/drawingml/2006/main">
              <a:ext uri="{FF2B5EF4-FFF2-40B4-BE49-F238E27FC236}">
                <a16:creationId xmlns:a16="http://schemas.microsoft.com/office/drawing/2014/main" id="{9FD794CD-CA81-4F18-838F-AA4336313C42}"/>
              </a:ext>
            </a:extLst>
          </p:cNvPr>
          <p:cNvSpPr>
            <a:spLocks xmlns:a="http://schemas.openxmlformats.org/drawingml/2006/main" noGrp="1"/>
          </p:cNvSpPr>
          <p:nvPr/>
        </p:nvSpPr>
        <p:spPr>
          <a:xfrm xmlns:a="http://schemas.openxmlformats.org/drawingml/2006/main">
            <a:off x="638175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One salary video concerns older international raise advice.</a:t>
            </a:r>
          </a:p>
        </p:txBody>
      </p:sp>
      <p:sp>
        <p:nvSpPr>
          <p:cNvPr id="11" name="takeaway">
            <a:extLst xmlns:a="http://schemas.openxmlformats.org/drawingml/2006/main">
              <a:ext uri="{FF2B5EF4-FFF2-40B4-BE49-F238E27FC236}">
                <a16:creationId xmlns:a16="http://schemas.microsoft.com/office/drawing/2014/main" id="{84AE182A-E04B-4A54-94A1-AFC872624D48}"/>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Popularity and repeated statistics do not establish credibility or outcomes.</a:t>
            </a:r>
          </a:p>
        </p:txBody>
      </p:sp>
      <p:sp>
        <p:nvSpPr>
          <p:cNvPr id="12" name="evidence-boundary">
            <a:extLst xmlns:a="http://schemas.openxmlformats.org/drawingml/2006/main">
              <a:ext uri="{FF2B5EF4-FFF2-40B4-BE49-F238E27FC236}">
                <a16:creationId xmlns:a16="http://schemas.microsoft.com/office/drawing/2014/main" id="{E6E2F257-A498-4006-8904-E928147CC114}"/>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V01–V10. Broad video statistics stayed excluded from substantive conclusions.</a:t>
            </a:r>
          </a:p>
        </p:txBody>
      </p:sp>
      <p:sp>
        <p:nvSpPr>
          <p:cNvPr id="13" name="slide-number">
            <a:extLst xmlns:a="http://schemas.openxmlformats.org/drawingml/2006/main">
              <a:ext uri="{FF2B5EF4-FFF2-40B4-BE49-F238E27FC236}">
                <a16:creationId xmlns:a16="http://schemas.microsoft.com/office/drawing/2014/main" id="{8D56B1DB-53FD-4EAD-B5D1-5848C7D5B5F2}"/>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27</a:t>
            </a:r>
          </a:p>
        </p:txBody>
      </p:sp>
    </p:spTree>
    <p:extLst>
      <p:ext uri="{BB962C8B-B14F-4D97-AF65-F5344CB8AC3E}">
        <p14:creationId xmlns:p14="http://schemas.microsoft.com/office/powerpoint/2010/main" val="1846821513"/>
      </p:ext>
    </p:extLst>
  </p:cSld>
</p:sld>
</file>

<file path=ppt/slides/slide28.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138DF676-BDF3-4B9F-8B5E-C9C6D8D15782}"/>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Appendix: small, explainable development steps</a:t>
            </a:r>
          </a:p>
        </p:txBody>
      </p:sp>
      <p:sp>
        <p:nvSpPr>
          <p:cNvPr id="2" name="lead">
            <a:extLst xmlns:a="http://schemas.openxmlformats.org/drawingml/2006/main">
              <a:ext uri="{FF2B5EF4-FFF2-40B4-BE49-F238E27FC236}">
                <a16:creationId xmlns:a16="http://schemas.microsoft.com/office/drawing/2014/main" id="{6E0B7BAE-2170-4537-A03E-581FDBE4508B}"/>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Earlier research proposes a lighter process while retaining technical ownership.</a:t>
            </a:r>
          </a:p>
        </p:txBody>
      </p:sp>
      <p:sp>
        <p:nvSpPr>
          <p:cNvPr id="3" name="diagram-index-0">
            <a:extLst xmlns:a="http://schemas.openxmlformats.org/drawingml/2006/main">
              <a:ext uri="{FF2B5EF4-FFF2-40B4-BE49-F238E27FC236}">
                <a16:creationId xmlns:a16="http://schemas.microsoft.com/office/drawing/2014/main" id="{5C04F1C5-4000-42CD-ADB8-CFC7F83478C3}"/>
              </a:ext>
            </a:extLst>
          </p:cNvPr>
          <p:cNvSpPr>
            <a:spLocks xmlns:a="http://schemas.openxmlformats.org/drawingml/2006/main" noGrp="1"/>
          </p:cNvSpPr>
          <p:nvPr/>
        </p:nvSpPr>
        <p:spPr>
          <a:xfrm xmlns:a="http://schemas.openxmlformats.org/drawingml/2006/main">
            <a:off x="762000"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01</a:t>
            </a:r>
          </a:p>
        </p:txBody>
      </p:sp>
      <p:sp>
        <p:nvSpPr>
          <p:cNvPr id="4" name="diagram-heading-0">
            <a:extLst xmlns:a="http://schemas.openxmlformats.org/drawingml/2006/main">
              <a:ext uri="{FF2B5EF4-FFF2-40B4-BE49-F238E27FC236}">
                <a16:creationId xmlns:a16="http://schemas.microsoft.com/office/drawing/2014/main" id="{20E9D92E-8905-4A47-86FC-9012AA645AFC}"/>
              </a:ext>
            </a:extLst>
          </p:cNvPr>
          <p:cNvSpPr>
            <a:spLocks xmlns:a="http://schemas.openxmlformats.org/drawingml/2006/main" noGrp="1"/>
          </p:cNvSpPr>
          <p:nvPr/>
        </p:nvSpPr>
        <p:spPr>
          <a:xfrm xmlns:a="http://schemas.openxmlformats.org/drawingml/2006/main">
            <a:off x="762000"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Brief</a:t>
            </a:r>
          </a:p>
        </p:txBody>
      </p:sp>
      <p:sp>
        <p:nvSpPr>
          <p:cNvPr id="5" name="diagram-detail-0">
            <a:extLst xmlns:a="http://schemas.openxmlformats.org/drawingml/2006/main">
              <a:ext uri="{FF2B5EF4-FFF2-40B4-BE49-F238E27FC236}">
                <a16:creationId xmlns:a16="http://schemas.microsoft.com/office/drawing/2014/main" id="{108CA920-84CA-4011-A532-77B9E1634608}"/>
              </a:ext>
            </a:extLst>
          </p:cNvPr>
          <p:cNvSpPr>
            <a:spLocks xmlns:a="http://schemas.openxmlformats.org/drawingml/2006/main" noGrp="1"/>
          </p:cNvSpPr>
          <p:nvPr/>
        </p:nvSpPr>
        <p:spPr>
          <a:xfrm xmlns:a="http://schemas.openxmlformats.org/drawingml/2006/main">
            <a:off x="762000"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One behaviour and clear boundaries.</a:t>
            </a:r>
          </a:p>
        </p:txBody>
      </p:sp>
      <p:sp>
        <p:nvSpPr>
          <p:cNvPr id="6" name="diagram-sequence-0">
            <a:extLst xmlns:a="http://schemas.openxmlformats.org/drawingml/2006/main">
              <a:ext uri="{FF2B5EF4-FFF2-40B4-BE49-F238E27FC236}">
                <a16:creationId xmlns:a16="http://schemas.microsoft.com/office/drawing/2014/main" id="{672DC078-EB7F-4904-987F-CC952B46296F}"/>
              </a:ext>
            </a:extLst>
          </p:cNvPr>
          <p:cNvSpPr>
            <a:spLocks xmlns:a="http://schemas.openxmlformats.org/drawingml/2006/main" noGrp="1"/>
          </p:cNvSpPr>
          <p:nvPr/>
        </p:nvSpPr>
        <p:spPr>
          <a:xfrm xmlns:a="http://schemas.openxmlformats.org/drawingml/2006/main">
            <a:off x="1524000" y="3009900"/>
            <a:ext cx="2024063"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7" name="diagram-index-1">
            <a:extLst xmlns:a="http://schemas.openxmlformats.org/drawingml/2006/main">
              <a:ext uri="{FF2B5EF4-FFF2-40B4-BE49-F238E27FC236}">
                <a16:creationId xmlns:a16="http://schemas.microsoft.com/office/drawing/2014/main" id="{B7A497E1-096A-4D97-80FF-92EB22446B5C}"/>
              </a:ext>
            </a:extLst>
          </p:cNvPr>
          <p:cNvSpPr>
            <a:spLocks xmlns:a="http://schemas.openxmlformats.org/drawingml/2006/main" noGrp="1"/>
          </p:cNvSpPr>
          <p:nvPr/>
        </p:nvSpPr>
        <p:spPr>
          <a:xfrm xmlns:a="http://schemas.openxmlformats.org/drawingml/2006/main">
            <a:off x="3548063"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02</a:t>
            </a:r>
          </a:p>
        </p:txBody>
      </p:sp>
      <p:sp>
        <p:nvSpPr>
          <p:cNvPr id="8" name="diagram-heading-1">
            <a:extLst xmlns:a="http://schemas.openxmlformats.org/drawingml/2006/main">
              <a:ext uri="{FF2B5EF4-FFF2-40B4-BE49-F238E27FC236}">
                <a16:creationId xmlns:a16="http://schemas.microsoft.com/office/drawing/2014/main" id="{ED3EB5A9-BF8D-439D-9B7C-3FE98AD12AB3}"/>
              </a:ext>
            </a:extLst>
          </p:cNvPr>
          <p:cNvSpPr>
            <a:spLocks xmlns:a="http://schemas.openxmlformats.org/drawingml/2006/main" noGrp="1"/>
          </p:cNvSpPr>
          <p:nvPr/>
        </p:nvSpPr>
        <p:spPr>
          <a:xfrm xmlns:a="http://schemas.openxmlformats.org/drawingml/2006/main">
            <a:off x="3548063"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Build</a:t>
            </a:r>
          </a:p>
        </p:txBody>
      </p:sp>
      <p:sp>
        <p:nvSpPr>
          <p:cNvPr id="9" name="diagram-detail-1">
            <a:extLst xmlns:a="http://schemas.openxmlformats.org/drawingml/2006/main">
              <a:ext uri="{FF2B5EF4-FFF2-40B4-BE49-F238E27FC236}">
                <a16:creationId xmlns:a16="http://schemas.microsoft.com/office/drawing/2014/main" id="{8D234AAB-7A18-4046-8CEF-6249B03DE0A6}"/>
              </a:ext>
            </a:extLst>
          </p:cNvPr>
          <p:cNvSpPr>
            <a:spLocks xmlns:a="http://schemas.openxmlformats.org/drawingml/2006/main" noGrp="1"/>
          </p:cNvSpPr>
          <p:nvPr/>
        </p:nvSpPr>
        <p:spPr>
          <a:xfrm xmlns:a="http://schemas.openxmlformats.org/drawingml/2006/main">
            <a:off x="3548063"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 small implementation slice.</a:t>
            </a:r>
          </a:p>
        </p:txBody>
      </p:sp>
      <p:sp>
        <p:nvSpPr>
          <p:cNvPr id="10" name="diagram-sequence-1">
            <a:extLst xmlns:a="http://schemas.openxmlformats.org/drawingml/2006/main">
              <a:ext uri="{FF2B5EF4-FFF2-40B4-BE49-F238E27FC236}">
                <a16:creationId xmlns:a16="http://schemas.microsoft.com/office/drawing/2014/main" id="{81600A79-C25C-4FD1-BCD7-2D6C4690F105}"/>
              </a:ext>
            </a:extLst>
          </p:cNvPr>
          <p:cNvSpPr>
            <a:spLocks xmlns:a="http://schemas.openxmlformats.org/drawingml/2006/main" noGrp="1"/>
          </p:cNvSpPr>
          <p:nvPr/>
        </p:nvSpPr>
        <p:spPr>
          <a:xfrm xmlns:a="http://schemas.openxmlformats.org/drawingml/2006/main">
            <a:off x="4310063" y="3009900"/>
            <a:ext cx="2024063"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11" name="diagram-index-2">
            <a:extLst xmlns:a="http://schemas.openxmlformats.org/drawingml/2006/main">
              <a:ext uri="{FF2B5EF4-FFF2-40B4-BE49-F238E27FC236}">
                <a16:creationId xmlns:a16="http://schemas.microsoft.com/office/drawing/2014/main" id="{D980DE95-980C-49FD-96E0-E4E0E42AF10A}"/>
              </a:ext>
            </a:extLst>
          </p:cNvPr>
          <p:cNvSpPr>
            <a:spLocks xmlns:a="http://schemas.openxmlformats.org/drawingml/2006/main" noGrp="1"/>
          </p:cNvSpPr>
          <p:nvPr/>
        </p:nvSpPr>
        <p:spPr>
          <a:xfrm xmlns:a="http://schemas.openxmlformats.org/drawingml/2006/main">
            <a:off x="6334125"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03</a:t>
            </a:r>
          </a:p>
        </p:txBody>
      </p:sp>
      <p:sp>
        <p:nvSpPr>
          <p:cNvPr id="12" name="diagram-heading-2">
            <a:extLst xmlns:a="http://schemas.openxmlformats.org/drawingml/2006/main">
              <a:ext uri="{FF2B5EF4-FFF2-40B4-BE49-F238E27FC236}">
                <a16:creationId xmlns:a16="http://schemas.microsoft.com/office/drawing/2014/main" id="{EC1519FC-0A0B-432B-81C1-3E5D353D4AE3}"/>
              </a:ext>
            </a:extLst>
          </p:cNvPr>
          <p:cNvSpPr>
            <a:spLocks xmlns:a="http://schemas.openxmlformats.org/drawingml/2006/main" noGrp="1"/>
          </p:cNvSpPr>
          <p:nvPr/>
        </p:nvSpPr>
        <p:spPr>
          <a:xfrm xmlns:a="http://schemas.openxmlformats.org/drawingml/2006/main">
            <a:off x="6334125"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Verify</a:t>
            </a:r>
          </a:p>
        </p:txBody>
      </p:sp>
      <p:sp>
        <p:nvSpPr>
          <p:cNvPr id="13" name="diagram-detail-2">
            <a:extLst xmlns:a="http://schemas.openxmlformats.org/drawingml/2006/main">
              <a:ext uri="{FF2B5EF4-FFF2-40B4-BE49-F238E27FC236}">
                <a16:creationId xmlns:a16="http://schemas.microsoft.com/office/drawing/2014/main" id="{A347729F-6053-498A-9CD3-B034AC4E09DA}"/>
              </a:ext>
            </a:extLst>
          </p:cNvPr>
          <p:cNvSpPr>
            <a:spLocks xmlns:a="http://schemas.openxmlformats.org/drawingml/2006/main" noGrp="1"/>
          </p:cNvSpPr>
          <p:nvPr/>
        </p:nvSpPr>
        <p:spPr>
          <a:xfrm xmlns:a="http://schemas.openxmlformats.org/drawingml/2006/main">
            <a:off x="6334125"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Tests and independent review.</a:t>
            </a:r>
          </a:p>
        </p:txBody>
      </p:sp>
      <p:sp>
        <p:nvSpPr>
          <p:cNvPr id="14" name="diagram-sequence-2">
            <a:extLst xmlns:a="http://schemas.openxmlformats.org/drawingml/2006/main">
              <a:ext uri="{FF2B5EF4-FFF2-40B4-BE49-F238E27FC236}">
                <a16:creationId xmlns:a16="http://schemas.microsoft.com/office/drawing/2014/main" id="{B6DB2C45-0886-4D9C-B543-ECDC40EAB82F}"/>
              </a:ext>
            </a:extLst>
          </p:cNvPr>
          <p:cNvSpPr>
            <a:spLocks xmlns:a="http://schemas.openxmlformats.org/drawingml/2006/main" noGrp="1"/>
          </p:cNvSpPr>
          <p:nvPr/>
        </p:nvSpPr>
        <p:spPr>
          <a:xfrm xmlns:a="http://schemas.openxmlformats.org/drawingml/2006/main">
            <a:off x="7096125" y="3009900"/>
            <a:ext cx="2024063"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15" name="diagram-index-3">
            <a:extLst xmlns:a="http://schemas.openxmlformats.org/drawingml/2006/main">
              <a:ext uri="{FF2B5EF4-FFF2-40B4-BE49-F238E27FC236}">
                <a16:creationId xmlns:a16="http://schemas.microsoft.com/office/drawing/2014/main" id="{C18C61F6-A1A4-42A6-8FDD-10D02076DA7B}"/>
              </a:ext>
            </a:extLst>
          </p:cNvPr>
          <p:cNvSpPr>
            <a:spLocks xmlns:a="http://schemas.openxmlformats.org/drawingml/2006/main" noGrp="1"/>
          </p:cNvSpPr>
          <p:nvPr/>
        </p:nvSpPr>
        <p:spPr>
          <a:xfrm xmlns:a="http://schemas.openxmlformats.org/drawingml/2006/main">
            <a:off x="9120188"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04</a:t>
            </a:r>
          </a:p>
        </p:txBody>
      </p:sp>
      <p:sp>
        <p:nvSpPr>
          <p:cNvPr id="16" name="diagram-heading-3">
            <a:extLst xmlns:a="http://schemas.openxmlformats.org/drawingml/2006/main">
              <a:ext uri="{FF2B5EF4-FFF2-40B4-BE49-F238E27FC236}">
                <a16:creationId xmlns:a16="http://schemas.microsoft.com/office/drawing/2014/main" id="{8F7DE7DC-539F-4911-B3FF-4DDD8A27AF90}"/>
              </a:ext>
            </a:extLst>
          </p:cNvPr>
          <p:cNvSpPr>
            <a:spLocks xmlns:a="http://schemas.openxmlformats.org/drawingml/2006/main" noGrp="1"/>
          </p:cNvSpPr>
          <p:nvPr/>
        </p:nvSpPr>
        <p:spPr>
          <a:xfrm xmlns:a="http://schemas.openxmlformats.org/drawingml/2006/main">
            <a:off x="9120188"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Explain</a:t>
            </a:r>
          </a:p>
        </p:txBody>
      </p:sp>
      <p:sp>
        <p:nvSpPr>
          <p:cNvPr id="17" name="diagram-detail-3">
            <a:extLst xmlns:a="http://schemas.openxmlformats.org/drawingml/2006/main">
              <a:ext uri="{FF2B5EF4-FFF2-40B4-BE49-F238E27FC236}">
                <a16:creationId xmlns:a16="http://schemas.microsoft.com/office/drawing/2014/main" id="{A0CFC844-EA7B-47D2-B625-B465C66CFDAB}"/>
              </a:ext>
            </a:extLst>
          </p:cNvPr>
          <p:cNvSpPr>
            <a:spLocks xmlns:a="http://schemas.openxmlformats.org/drawingml/2006/main" noGrp="1"/>
          </p:cNvSpPr>
          <p:nvPr/>
        </p:nvSpPr>
        <p:spPr>
          <a:xfrm xmlns:a="http://schemas.openxmlformats.org/drawingml/2006/main">
            <a:off x="9120188"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Record decisions and revise the brief.</a:t>
            </a:r>
          </a:p>
        </p:txBody>
      </p:sp>
      <p:sp>
        <p:nvSpPr>
          <p:cNvPr id="18" name="takeaway">
            <a:extLst xmlns:a="http://schemas.openxmlformats.org/drawingml/2006/main">
              <a:ext uri="{FF2B5EF4-FFF2-40B4-BE49-F238E27FC236}">
                <a16:creationId xmlns:a16="http://schemas.microsoft.com/office/drawing/2014/main" id="{14E481A7-E1D4-41EA-A076-649144D46C73}"/>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Given / When / Then clarifies examples. Turning them into tests stays optional.</a:t>
            </a:r>
          </a:p>
        </p:txBody>
      </p:sp>
      <p:sp>
        <p:nvSpPr>
          <p:cNvPr id="19" name="evidence-boundary">
            <a:extLst xmlns:a="http://schemas.openxmlformats.org/drawingml/2006/main">
              <a:ext uri="{FF2B5EF4-FFF2-40B4-BE49-F238E27FC236}">
                <a16:creationId xmlns:a16="http://schemas.microsoft.com/office/drawing/2014/main" id="{9AB719FC-9EFE-4C3B-9E3D-A98841E87D23}"/>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Round 00 development recommendation. No local productivity benchmark or stack choice.</a:t>
            </a:r>
          </a:p>
        </p:txBody>
      </p:sp>
      <p:sp>
        <p:nvSpPr>
          <p:cNvPr id="20" name="slide-number">
            <a:extLst xmlns:a="http://schemas.openxmlformats.org/drawingml/2006/main">
              <a:ext uri="{FF2B5EF4-FFF2-40B4-BE49-F238E27FC236}">
                <a16:creationId xmlns:a16="http://schemas.microsoft.com/office/drawing/2014/main" id="{123C56F9-3D0C-44ED-A9C2-B1849947F3FD}"/>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28</a:t>
            </a:r>
          </a:p>
        </p:txBody>
      </p:sp>
    </p:spTree>
    <p:extLst>
      <p:ext uri="{BB962C8B-B14F-4D97-AF65-F5344CB8AC3E}">
        <p14:creationId xmlns:p14="http://schemas.microsoft.com/office/powerpoint/2010/main" val="1810150454"/>
      </p:ext>
    </p:extLst>
  </p:cSld>
</p:sld>
</file>

<file path=ppt/slides/slide29.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76D308CE-E9BD-4953-88DF-CB3FA1DA2902}"/>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Appendix: platform and provider choices stay open</a:t>
            </a:r>
          </a:p>
        </p:txBody>
      </p:sp>
      <p:sp>
        <p:nvSpPr>
          <p:cNvPr id="2" name="lead">
            <a:extLst xmlns:a="http://schemas.openxmlformats.org/drawingml/2006/main">
              <a:ext uri="{FF2B5EF4-FFF2-40B4-BE49-F238E27FC236}">
                <a16:creationId xmlns:a16="http://schemas.microsoft.com/office/drawing/2014/main" id="{40C31A68-AD2C-44E3-9438-52964FC028EC}"/>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The research does not select a mobile app, web stack or winning AI provider.</a:t>
            </a:r>
          </a:p>
        </p:txBody>
      </p:sp>
      <p:sp>
        <p:nvSpPr>
          <p:cNvPr id="3" name="column-heading-0">
            <a:extLst xmlns:a="http://schemas.openxmlformats.org/drawingml/2006/main">
              <a:ext uri="{FF2B5EF4-FFF2-40B4-BE49-F238E27FC236}">
                <a16:creationId xmlns:a16="http://schemas.microsoft.com/office/drawing/2014/main" id="{F0234C06-3003-4583-B791-F48137C4D3BE}"/>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Comparisons still needed</a:t>
            </a:r>
          </a:p>
        </p:txBody>
      </p:sp>
      <p:sp>
        <p:nvSpPr>
          <p:cNvPr id="4" name="column-0-detail-0">
            <a:extLst xmlns:a="http://schemas.openxmlformats.org/drawingml/2006/main">
              <a:ext uri="{FF2B5EF4-FFF2-40B4-BE49-F238E27FC236}">
                <a16:creationId xmlns:a16="http://schemas.microsoft.com/office/drawing/2014/main" id="{3F3B3987-C0ED-4AE9-B8C1-29EF22CCE47E}"/>
              </a:ext>
            </a:extLst>
          </p:cNvPr>
          <p:cNvSpPr>
            <a:spLocks xmlns:a="http://schemas.openxmlformats.org/drawingml/2006/main" noGrp="1"/>
          </p:cNvSpPr>
          <p:nvPr/>
        </p:nvSpPr>
        <p:spPr>
          <a:xfrm xmlns:a="http://schemas.openxmlformats.org/drawingml/2006/main">
            <a:off x="76200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Manual baseline versus a bounded assisted task.</a:t>
            </a:r>
          </a:p>
        </p:txBody>
      </p:sp>
      <p:sp>
        <p:nvSpPr>
          <p:cNvPr id="5" name="column-0-detail-1">
            <a:extLst xmlns:a="http://schemas.openxmlformats.org/drawingml/2006/main">
              <a:ext uri="{FF2B5EF4-FFF2-40B4-BE49-F238E27FC236}">
                <a16:creationId xmlns:a16="http://schemas.microsoft.com/office/drawing/2014/main" id="{5A4635A5-CE2E-48A1-972D-394FF82F5B4B}"/>
              </a:ext>
            </a:extLst>
          </p:cNvPr>
          <p:cNvSpPr>
            <a:spLocks xmlns:a="http://schemas.openxmlformats.org/drawingml/2006/main" noGrp="1"/>
          </p:cNvSpPr>
          <p:nvPr/>
        </p:nvSpPr>
        <p:spPr>
          <a:xfrm xmlns:a="http://schemas.openxmlformats.org/drawingml/2006/main">
            <a:off x="76200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Web, mobile and cross-device recovery under realistic constraints.</a:t>
            </a:r>
          </a:p>
        </p:txBody>
      </p:sp>
      <p:sp>
        <p:nvSpPr>
          <p:cNvPr id="6" name="column-0-detail-2">
            <a:extLst xmlns:a="http://schemas.openxmlformats.org/drawingml/2006/main">
              <a:ext uri="{FF2B5EF4-FFF2-40B4-BE49-F238E27FC236}">
                <a16:creationId xmlns:a16="http://schemas.microsoft.com/office/drawing/2014/main" id="{F7B175DB-257D-47D3-9C00-199EC894B0E9}"/>
              </a:ext>
            </a:extLst>
          </p:cNvPr>
          <p:cNvSpPr>
            <a:spLocks xmlns:a="http://schemas.openxmlformats.org/drawingml/2006/main" noGrp="1"/>
          </p:cNvSpPr>
          <p:nvPr/>
        </p:nvSpPr>
        <p:spPr>
          <a:xfrm xmlns:a="http://schemas.openxmlformats.org/drawingml/2006/main">
            <a:off x="76200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ChatGPT, Claude and other relevant tools on identical inputs.</a:t>
            </a:r>
          </a:p>
        </p:txBody>
      </p:sp>
      <p:sp>
        <p:nvSpPr>
          <p:cNvPr id="7" name="column-heading-1">
            <a:extLst xmlns:a="http://schemas.openxmlformats.org/drawingml/2006/main">
              <a:ext uri="{FF2B5EF4-FFF2-40B4-BE49-F238E27FC236}">
                <a16:creationId xmlns:a16="http://schemas.microsoft.com/office/drawing/2014/main" id="{407D6A10-18FA-4D12-B700-D1B75E824C4B}"/>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Decisions before real data</a:t>
            </a:r>
          </a:p>
        </p:txBody>
      </p:sp>
      <p:sp>
        <p:nvSpPr>
          <p:cNvPr id="8" name="column-1-detail-0">
            <a:extLst xmlns:a="http://schemas.openxmlformats.org/drawingml/2006/main">
              <a:ext uri="{FF2B5EF4-FFF2-40B4-BE49-F238E27FC236}">
                <a16:creationId xmlns:a16="http://schemas.microsoft.com/office/drawing/2014/main" id="{8E44595E-8D04-4044-B686-1C8419280F5C}"/>
              </a:ext>
            </a:extLst>
          </p:cNvPr>
          <p:cNvSpPr>
            <a:spLocks xmlns:a="http://schemas.openxmlformats.org/drawingml/2006/main" noGrp="1"/>
          </p:cNvSpPr>
          <p:nvPr/>
        </p:nvSpPr>
        <p:spPr>
          <a:xfrm xmlns:a="http://schemas.openxmlformats.org/drawingml/2006/main">
            <a:off x="638175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What information to share, with whom and for how long.</a:t>
            </a:r>
          </a:p>
        </p:txBody>
      </p:sp>
      <p:sp>
        <p:nvSpPr>
          <p:cNvPr id="9" name="column-1-detail-1">
            <a:extLst xmlns:a="http://schemas.openxmlformats.org/drawingml/2006/main">
              <a:ext uri="{FF2B5EF4-FFF2-40B4-BE49-F238E27FC236}">
                <a16:creationId xmlns:a16="http://schemas.microsoft.com/office/drawing/2014/main" id="{5509FA1A-9D8C-48F8-A1AE-3C8948063909}"/>
              </a:ext>
            </a:extLst>
          </p:cNvPr>
          <p:cNvSpPr>
            <a:spLocks xmlns:a="http://schemas.openxmlformats.org/drawingml/2006/main" noGrp="1"/>
          </p:cNvSpPr>
          <p:nvPr/>
        </p:nvSpPr>
        <p:spPr>
          <a:xfrm xmlns:a="http://schemas.openxmlformats.org/drawingml/2006/main">
            <a:off x="638175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Approval, access, deletion and error-recovery requirements.</a:t>
            </a:r>
          </a:p>
        </p:txBody>
      </p:sp>
      <p:sp>
        <p:nvSpPr>
          <p:cNvPr id="10" name="column-1-detail-2">
            <a:extLst xmlns:a="http://schemas.openxmlformats.org/drawingml/2006/main">
              <a:ext uri="{FF2B5EF4-FFF2-40B4-BE49-F238E27FC236}">
                <a16:creationId xmlns:a16="http://schemas.microsoft.com/office/drawing/2014/main" id="{08DC977A-00E6-4FA2-9D24-755F67B0DC14}"/>
              </a:ext>
            </a:extLst>
          </p:cNvPr>
          <p:cNvSpPr>
            <a:spLocks xmlns:a="http://schemas.openxmlformats.org/drawingml/2006/main" noGrp="1"/>
          </p:cNvSpPr>
          <p:nvPr/>
        </p:nvSpPr>
        <p:spPr>
          <a:xfrm xmlns:a="http://schemas.openxmlformats.org/drawingml/2006/main">
            <a:off x="638175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Accuracy and total effort, including checking and correction.</a:t>
            </a:r>
          </a:p>
        </p:txBody>
      </p:sp>
      <p:sp>
        <p:nvSpPr>
          <p:cNvPr id="11" name="takeaway">
            <a:extLst xmlns:a="http://schemas.openxmlformats.org/drawingml/2006/main">
              <a:ext uri="{FF2B5EF4-FFF2-40B4-BE49-F238E27FC236}">
                <a16:creationId xmlns:a16="http://schemas.microsoft.com/office/drawing/2014/main" id="{3887078D-F147-4AFF-92A6-48B0C3CF779F}"/>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Feature documentation and named-tool stories do not establish comparative performance.</a:t>
            </a:r>
          </a:p>
        </p:txBody>
      </p:sp>
      <p:sp>
        <p:nvSpPr>
          <p:cNvPr id="12" name="evidence-boundary">
            <a:extLst xmlns:a="http://schemas.openxmlformats.org/drawingml/2006/main">
              <a:ext uri="{FF2B5EF4-FFF2-40B4-BE49-F238E27FC236}">
                <a16:creationId xmlns:a16="http://schemas.microsoft.com/office/drawing/2014/main" id="{DC8167DC-0634-4487-AF4B-55381720CE16}"/>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Earlier limited policy inspection. No current matched tool test or implemented privacy design.</a:t>
            </a:r>
          </a:p>
        </p:txBody>
      </p:sp>
      <p:sp>
        <p:nvSpPr>
          <p:cNvPr id="13" name="slide-number">
            <a:extLst xmlns:a="http://schemas.openxmlformats.org/drawingml/2006/main">
              <a:ext uri="{FF2B5EF4-FFF2-40B4-BE49-F238E27FC236}">
                <a16:creationId xmlns:a16="http://schemas.microsoft.com/office/drawing/2014/main" id="{B11FD132-D26A-42E5-B17F-EB01353DC865}"/>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29</a:t>
            </a:r>
          </a:p>
        </p:txBody>
      </p:sp>
    </p:spTree>
    <p:extLst>
      <p:ext uri="{BB962C8B-B14F-4D97-AF65-F5344CB8AC3E}">
        <p14:creationId xmlns:p14="http://schemas.microsoft.com/office/powerpoint/2010/main" val="1883275754"/>
      </p:ext>
    </p:extLst>
  </p:cSld>
</p:sld>
</file>

<file path=ppt/slides/slide30.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F1645B56-75EF-417E-9FEC-77EB3D3AD978}"/>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Appendix: evidence guide</a:t>
            </a:r>
          </a:p>
        </p:txBody>
      </p:sp>
      <p:sp>
        <p:nvSpPr>
          <p:cNvPr id="2" name="lead">
            <a:extLst xmlns:a="http://schemas.openxmlformats.org/drawingml/2006/main">
              <a:ext uri="{FF2B5EF4-FFF2-40B4-BE49-F238E27FC236}">
                <a16:creationId xmlns:a16="http://schemas.microsoft.com/office/drawing/2014/main" id="{E0FE22F1-0B94-4F81-8F46-7F8A36F3D630}"/>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Each slide's reading notes link to the relevant records and selected original sources.</a:t>
            </a:r>
          </a:p>
        </p:txBody>
      </p:sp>
      <p:sp>
        <p:nvSpPr>
          <p:cNvPr id="3" name="column-heading-0">
            <a:extLst xmlns:a="http://schemas.openxmlformats.org/drawingml/2006/main">
              <a:ext uri="{FF2B5EF4-FFF2-40B4-BE49-F238E27FC236}">
                <a16:creationId xmlns:a16="http://schemas.microsoft.com/office/drawing/2014/main" id="{D388F134-8C65-4A86-81DF-426F10BD1547}"/>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Experiences and domain</a:t>
            </a:r>
          </a:p>
        </p:txBody>
      </p:sp>
      <p:sp>
        <p:nvSpPr>
          <p:cNvPr id="4" name="column-0-detail-0">
            <a:extLst xmlns:a="http://schemas.openxmlformats.org/drawingml/2006/main">
              <a:ext uri="{FF2B5EF4-FFF2-40B4-BE49-F238E27FC236}">
                <a16:creationId xmlns:a16="http://schemas.microsoft.com/office/drawing/2014/main" id="{9BFF16FA-D42D-4C81-82CE-9A9DA30BFD3D}"/>
              </a:ext>
            </a:extLst>
          </p:cNvPr>
          <p:cNvSpPr>
            <a:spLocks xmlns:a="http://schemas.openxmlformats.org/drawingml/2006/main" noGrp="1"/>
          </p:cNvSpPr>
          <p:nvPr/>
        </p:nvSpPr>
        <p:spPr>
          <a:xfrm xmlns:a="http://schemas.openxmlformats.org/drawingml/2006/main">
            <a:off x="76200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P01–P12: reported practices, studies and career guidance.</a:t>
            </a:r>
          </a:p>
        </p:txBody>
      </p:sp>
      <p:sp>
        <p:nvSpPr>
          <p:cNvPr id="5" name="column-0-detail-1">
            <a:extLst xmlns:a="http://schemas.openxmlformats.org/drawingml/2006/main">
              <a:ext uri="{FF2B5EF4-FFF2-40B4-BE49-F238E27FC236}">
                <a16:creationId xmlns:a16="http://schemas.microsoft.com/office/drawing/2014/main" id="{E7A2CE75-12A6-472C-8160-8E2A48EA9A29}"/>
              </a:ext>
            </a:extLst>
          </p:cNvPr>
          <p:cNvSpPr>
            <a:spLocks xmlns:a="http://schemas.openxmlformats.org/drawingml/2006/main" noGrp="1"/>
          </p:cNvSpPr>
          <p:nvPr/>
        </p:nvSpPr>
        <p:spPr>
          <a:xfrm xmlns:a="http://schemas.openxmlformats.org/drawingml/2006/main">
            <a:off x="76200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D01–D12: authenticity, fit, compensation and negotiation.</a:t>
            </a:r>
          </a:p>
        </p:txBody>
      </p:sp>
      <p:sp>
        <p:nvSpPr>
          <p:cNvPr id="6" name="column-0-detail-2">
            <a:extLst xmlns:a="http://schemas.openxmlformats.org/drawingml/2006/main">
              <a:ext uri="{FF2B5EF4-FFF2-40B4-BE49-F238E27FC236}">
                <a16:creationId xmlns:a16="http://schemas.microsoft.com/office/drawing/2014/main" id="{123592ED-7D51-4674-963C-CF56132BFF56}"/>
              </a:ext>
            </a:extLst>
          </p:cNvPr>
          <p:cNvSpPr>
            <a:spLocks xmlns:a="http://schemas.openxmlformats.org/drawingml/2006/main" noGrp="1"/>
          </p:cNvSpPr>
          <p:nvPr/>
        </p:nvSpPr>
        <p:spPr>
          <a:xfrm xmlns:a="http://schemas.openxmlformats.org/drawingml/2006/main">
            <a:off x="76200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C01–C02: distinct writing-assistance experiments.</a:t>
            </a:r>
          </a:p>
        </p:txBody>
      </p:sp>
      <p:sp>
        <p:nvSpPr>
          <p:cNvPr id="7" name="column-heading-1">
            <a:extLst xmlns:a="http://schemas.openxmlformats.org/drawingml/2006/main">
              <a:ext uri="{FF2B5EF4-FFF2-40B4-BE49-F238E27FC236}">
                <a16:creationId xmlns:a16="http://schemas.microsoft.com/office/drawing/2014/main" id="{F205C36C-2E12-42FA-A64B-18497FE461C1}"/>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Context and limitations</a:t>
            </a:r>
          </a:p>
        </p:txBody>
      </p:sp>
      <p:sp>
        <p:nvSpPr>
          <p:cNvPr id="8" name="column-1-detail-0">
            <a:extLst xmlns:a="http://schemas.openxmlformats.org/drawingml/2006/main">
              <a:ext uri="{FF2B5EF4-FFF2-40B4-BE49-F238E27FC236}">
                <a16:creationId xmlns:a16="http://schemas.microsoft.com/office/drawing/2014/main" id="{1792FB70-24FF-4FDB-8C76-5D503901FF0A}"/>
              </a:ext>
            </a:extLst>
          </p:cNvPr>
          <p:cNvSpPr>
            <a:spLocks xmlns:a="http://schemas.openxmlformats.org/drawingml/2006/main" noGrp="1"/>
          </p:cNvSpPr>
          <p:nvPr/>
        </p:nvSpPr>
        <p:spPr>
          <a:xfrm xmlns:a="http://schemas.openxmlformats.org/drawingml/2006/main">
            <a:off x="638175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I01–I16: sanitised internal process observations.</a:t>
            </a:r>
          </a:p>
        </p:txBody>
      </p:sp>
      <p:sp>
        <p:nvSpPr>
          <p:cNvPr id="9" name="column-1-detail-1">
            <a:extLst xmlns:a="http://schemas.openxmlformats.org/drawingml/2006/main">
              <a:ext uri="{FF2B5EF4-FFF2-40B4-BE49-F238E27FC236}">
                <a16:creationId xmlns:a16="http://schemas.microsoft.com/office/drawing/2014/main" id="{B93280CD-E6D2-44AF-A0FC-B054BD7188CB}"/>
              </a:ext>
            </a:extLst>
          </p:cNvPr>
          <p:cNvSpPr>
            <a:spLocks xmlns:a="http://schemas.openxmlformats.org/drawingml/2006/main" noGrp="1"/>
          </p:cNvSpPr>
          <p:nvPr/>
        </p:nvSpPr>
        <p:spPr>
          <a:xfrm xmlns:a="http://schemas.openxmlformats.org/drawingml/2006/main">
            <a:off x="638175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V01–V10: caption-based video appraisal.</a:t>
            </a:r>
          </a:p>
        </p:txBody>
      </p:sp>
      <p:sp>
        <p:nvSpPr>
          <p:cNvPr id="10" name="column-1-detail-2">
            <a:extLst xmlns:a="http://schemas.openxmlformats.org/drawingml/2006/main">
              <a:ext uri="{FF2B5EF4-FFF2-40B4-BE49-F238E27FC236}">
                <a16:creationId xmlns:a16="http://schemas.microsoft.com/office/drawing/2014/main" id="{BC77F9FB-7A54-4772-8051-F033993C6160}"/>
              </a:ext>
            </a:extLst>
          </p:cNvPr>
          <p:cNvSpPr>
            <a:spLocks xmlns:a="http://schemas.openxmlformats.org/drawingml/2006/main" noGrp="1"/>
          </p:cNvSpPr>
          <p:nvPr/>
        </p:nvSpPr>
        <p:spPr>
          <a:xfrm xmlns:a="http://schemas.openxmlformats.org/drawingml/2006/main">
            <a:off x="638175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Round syntheses, objective coverage and limitations.</a:t>
            </a:r>
          </a:p>
        </p:txBody>
      </p:sp>
      <p:sp>
        <p:nvSpPr>
          <p:cNvPr id="11" name="takeaway">
            <a:extLst xmlns:a="http://schemas.openxmlformats.org/drawingml/2006/main">
              <a:ext uri="{FF2B5EF4-FFF2-40B4-BE49-F238E27FC236}">
                <a16:creationId xmlns:a16="http://schemas.microsoft.com/office/drawing/2014/main" id="{C685E71F-C75F-41D2-B758-18B99E0BB36E}"/>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Multiple records can repeat one source. Each source needs its own appraisal.</a:t>
            </a:r>
          </a:p>
        </p:txBody>
      </p:sp>
      <p:sp>
        <p:nvSpPr>
          <p:cNvPr id="12" name="evidence-boundary">
            <a:extLst xmlns:a="http://schemas.openxmlformats.org/drawingml/2006/main">
              <a:ext uri="{FF2B5EF4-FFF2-40B4-BE49-F238E27FC236}">
                <a16:creationId xmlns:a16="http://schemas.microsoft.com/office/drawing/2014/main" id="{9D7DE3CD-A6DA-4A27-9D1E-02AB10B7B9CD}"/>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P/D/C/I/V IDs refer to expanded Round 02 unless qualified. Research cutoff: 18 October 2026.</a:t>
            </a:r>
          </a:p>
        </p:txBody>
      </p:sp>
      <p:sp>
        <p:nvSpPr>
          <p:cNvPr id="13" name="slide-number">
            <a:extLst xmlns:a="http://schemas.openxmlformats.org/drawingml/2006/main">
              <a:ext uri="{FF2B5EF4-FFF2-40B4-BE49-F238E27FC236}">
                <a16:creationId xmlns:a16="http://schemas.microsoft.com/office/drawing/2014/main" id="{A5036BFB-4E68-41D3-9878-8387F51CA5D9}"/>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30</a:t>
            </a:r>
          </a:p>
        </p:txBody>
      </p:sp>
    </p:spTree>
    <p:extLst>
      <p:ext uri="{BB962C8B-B14F-4D97-AF65-F5344CB8AC3E}">
        <p14:creationId xmlns:p14="http://schemas.microsoft.com/office/powerpoint/2010/main" val="4560983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2026-10-18T14:50:11.8320000Z</dcterms:created>
  <dcterms:modified xsi:type="dcterms:W3CDTF">2026-10-18T14:50:11.8320000Z</dcterms:modified>
</coreProperties>
</file>