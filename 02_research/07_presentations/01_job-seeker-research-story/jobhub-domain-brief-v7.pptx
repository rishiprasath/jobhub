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e27dee6d1994cf8" /><Relationship Type="http://schemas.openxmlformats.org/officeDocument/2006/relationships/extended-properties" Target="/docProps/app.xml" Id="R35edde81ccfa446d" /><Relationship Type="http://schemas.openxmlformats.org/officeDocument/2006/relationships/officeDocument" Target="/ppt/presentation.xml" Id="Rc9f978b6d9354731" /></Relationships>
</file>

<file path=ppt/presentation.xml><?xml version="1.0" encoding="utf-8"?>
<p:presentation xmlns:p="http://schemas.openxmlformats.org/presentationml/2006/main">
  <p:sldMasterIdLst>
    <p:sldMasterId xmlns:r="http://schemas.openxmlformats.org/officeDocument/2006/relationships" id="2147483648" r:id="Rbd7eeef0e1074d19"/>
  </p:sldMasterIdLst>
  <p:notesMasterIdLst>
    <p:notesMasterId xmlns:r="http://schemas.openxmlformats.org/officeDocument/2006/relationships" r:id="R8131bc02c6bc4ea9"/>
  </p:notesMasterIdLst>
  <p:sldIdLst>
    <p:sldId xmlns:r="http://schemas.openxmlformats.org/officeDocument/2006/relationships" id="256" r:id="Raea618e2a9404911"/>
    <p:sldId xmlns:r="http://schemas.openxmlformats.org/officeDocument/2006/relationships" id="257" r:id="R39d99e99e04043b8"/>
    <p:sldId xmlns:r="http://schemas.openxmlformats.org/officeDocument/2006/relationships" id="258" r:id="Rd9dfceca567743c2"/>
    <p:sldId xmlns:r="http://schemas.openxmlformats.org/officeDocument/2006/relationships" id="259" r:id="R0c8122ceb8fe4a08"/>
    <p:sldId xmlns:r="http://schemas.openxmlformats.org/officeDocument/2006/relationships" id="260" r:id="R946b89d88be24709"/>
    <p:sldId xmlns:r="http://schemas.openxmlformats.org/officeDocument/2006/relationships" id="261" r:id="R2069f62070974404"/>
    <p:sldId xmlns:r="http://schemas.openxmlformats.org/officeDocument/2006/relationships" id="262" r:id="R80c8f71c88fb4383"/>
    <p:sldId xmlns:r="http://schemas.openxmlformats.org/officeDocument/2006/relationships" id="263" r:id="R026cd435e3364ce6"/>
    <p:sldId xmlns:r="http://schemas.openxmlformats.org/officeDocument/2006/relationships" id="264" r:id="R7cba7a2417fe4041"/>
    <p:sldId xmlns:r="http://schemas.openxmlformats.org/officeDocument/2006/relationships" id="265" r:id="R345df0941c4642ba"/>
    <p:sldId xmlns:r="http://schemas.openxmlformats.org/officeDocument/2006/relationships" id="266" r:id="R90c08bd66d6f48c4"/>
    <p:sldId xmlns:r="http://schemas.openxmlformats.org/officeDocument/2006/relationships" id="267" r:id="R0967a5587ffe48e7"/>
    <p:sldId xmlns:r="http://schemas.openxmlformats.org/officeDocument/2006/relationships" id="268" r:id="R9481d7fb177b4893"/>
    <p:sldId xmlns:r="http://schemas.openxmlformats.org/officeDocument/2006/relationships" id="269" r:id="Rd8e3e4701e0341ed"/>
    <p:sldId xmlns:r="http://schemas.openxmlformats.org/officeDocument/2006/relationships" id="270" r:id="R824b000a6d044732"/>
    <p:sldId xmlns:r="http://schemas.openxmlformats.org/officeDocument/2006/relationships" id="271" r:id="R63fa67045c3d4215"/>
    <p:sldId xmlns:r="http://schemas.openxmlformats.org/officeDocument/2006/relationships" id="272" r:id="R6a45f116c8f94abe"/>
    <p:sldId xmlns:r="http://schemas.openxmlformats.org/officeDocument/2006/relationships" id="273" r:id="Rebbf009560cc42a3"/>
    <p:sldId xmlns:r="http://schemas.openxmlformats.org/officeDocument/2006/relationships" id="274" r:id="Rc0b5619e76294a88"/>
    <p:sldId xmlns:r="http://schemas.openxmlformats.org/officeDocument/2006/relationships" id="275" r:id="R781406f8bc8544ce"/>
    <p:sldId xmlns:r="http://schemas.openxmlformats.org/officeDocument/2006/relationships" id="276" r:id="R0f9d41c33f264396"/>
    <p:sldId xmlns:r="http://schemas.openxmlformats.org/officeDocument/2006/relationships" id="277" r:id="R2fed540bbb264cf2"/>
    <p:sldId xmlns:r="http://schemas.openxmlformats.org/officeDocument/2006/relationships" id="278" r:id="Rcc81f20877f74407"/>
    <p:sldId xmlns:r="http://schemas.openxmlformats.org/officeDocument/2006/relationships" id="279" r:id="R9100078dcd78432d"/>
    <p:sldId xmlns:r="http://schemas.openxmlformats.org/officeDocument/2006/relationships" id="280" r:id="R15068000ec8841e9"/>
    <p:sldId xmlns:r="http://schemas.openxmlformats.org/officeDocument/2006/relationships" id="281" r:id="R904d14afaf1c4fca"/>
    <p:sldId xmlns:r="http://schemas.openxmlformats.org/officeDocument/2006/relationships" id="282" r:id="R9be3f2dd6eb545d2"/>
    <p:sldId xmlns:r="http://schemas.openxmlformats.org/officeDocument/2006/relationships" id="283" r:id="Rf04532eab4b44981"/>
    <p:sldId xmlns:r="http://schemas.openxmlformats.org/officeDocument/2006/relationships" id="284" r:id="R22ddf85c19e14e57"/>
    <p:sldId xmlns:r="http://schemas.openxmlformats.org/officeDocument/2006/relationships" id="285" r:id="R3fa4664a3b154acd"/>
    <p:sldId xmlns:r="http://schemas.openxmlformats.org/officeDocument/2006/relationships" id="286" r:id="R740b9283185a48dc"/>
    <p:sldId xmlns:r="http://schemas.openxmlformats.org/officeDocument/2006/relationships" id="287" r:id="R820a03e327ad4c65"/>
    <p:sldId xmlns:r="http://schemas.openxmlformats.org/officeDocument/2006/relationships" id="288" r:id="R6a0366f248854cf6"/>
    <p:sldId xmlns:r="http://schemas.openxmlformats.org/officeDocument/2006/relationships" id="289" r:id="R7d272be2ea43444b"/>
    <p:sldId xmlns:r="http://schemas.openxmlformats.org/officeDocument/2006/relationships" id="290" r:id="Rb7a274538bd94878"/>
    <p:sldId xmlns:r="http://schemas.openxmlformats.org/officeDocument/2006/relationships" id="291" r:id="R52e69bf8e9f242ed"/>
    <p:sldId xmlns:r="http://schemas.openxmlformats.org/officeDocument/2006/relationships" id="292" r:id="R025b4f451d31466d"/>
    <p:sldId xmlns:r="http://schemas.openxmlformats.org/officeDocument/2006/relationships" id="293" r:id="R7ed09fcdab34494e"/>
    <p:sldId xmlns:r="http://schemas.openxmlformats.org/officeDocument/2006/relationships" id="294" r:id="R507db0871d7641cb"/>
    <p:sldId xmlns:r="http://schemas.openxmlformats.org/officeDocument/2006/relationships" id="295" r:id="R1e2d7d1d33624260"/>
    <p:sldId xmlns:r="http://schemas.openxmlformats.org/officeDocument/2006/relationships" id="296" r:id="R72412f4be7be4c02"/>
    <p:sldId xmlns:r="http://schemas.openxmlformats.org/officeDocument/2006/relationships" id="297" r:id="Ref598fdf2abf4541"/>
    <p:sldId xmlns:r="http://schemas.openxmlformats.org/officeDocument/2006/relationships" id="298" r:id="Rad9bdffe8e9c478d"/>
    <p:sldId xmlns:r="http://schemas.openxmlformats.org/officeDocument/2006/relationships" id="299" r:id="Ref9c5c61d17b42b5"/>
    <p:sldId xmlns:r="http://schemas.openxmlformats.org/officeDocument/2006/relationships" id="300" r:id="Rda1f526ba5d144bd"/>
    <p:sldId xmlns:r="http://schemas.openxmlformats.org/officeDocument/2006/relationships" id="301" r:id="R1b8c566372fc467f"/>
    <p:sldId xmlns:r="http://schemas.openxmlformats.org/officeDocument/2006/relationships" id="302" r:id="R344a7154a2914bca"/>
    <p:sldId xmlns:r="http://schemas.openxmlformats.org/officeDocument/2006/relationships" id="303" r:id="R6ce442c058e64c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9deba1e89fd4393" /><Relationship Type="http://schemas.openxmlformats.org/officeDocument/2006/relationships/slideMaster" Target="/ppt/slideMasters/slideMaster1.xml" Id="Rbd7eeef0e1074d19" /><Relationship Type="http://schemas.openxmlformats.org/officeDocument/2006/relationships/notesMaster" Target="/ppt/notesMasters/notesMaster1.xml" Id="R8131bc02c6bc4ea9" /><Relationship Type="http://schemas.openxmlformats.org/officeDocument/2006/relationships/presProps" Target="/ppt/presProps.xml" Id="Rf7b41abb9b0344e3" /><Relationship Type="http://schemas.openxmlformats.org/officeDocument/2006/relationships/tableStyles" Target="/ppt/tableStyles.xml" Id="R446b99f6491c42a2" /><Relationship Type="http://schemas.openxmlformats.org/officeDocument/2006/relationships/slide" Target="/ppt/slides/slide1.xml" Id="Raea618e2a9404911" /><Relationship Type="http://schemas.openxmlformats.org/officeDocument/2006/relationships/slide" Target="/ppt/slides/slide2.xml" Id="R39d99e99e04043b8" /><Relationship Type="http://schemas.openxmlformats.org/officeDocument/2006/relationships/slide" Target="/ppt/slides/slide3.xml" Id="Rd9dfceca567743c2" /><Relationship Type="http://schemas.openxmlformats.org/officeDocument/2006/relationships/slide" Target="/ppt/slides/slide4.xml" Id="R0c8122ceb8fe4a08" /><Relationship Type="http://schemas.openxmlformats.org/officeDocument/2006/relationships/slide" Target="/ppt/slides/slide5.xml" Id="R946b89d88be24709" /><Relationship Type="http://schemas.openxmlformats.org/officeDocument/2006/relationships/slide" Target="/ppt/slides/slide6.xml" Id="R2069f62070974404" /><Relationship Type="http://schemas.openxmlformats.org/officeDocument/2006/relationships/slide" Target="/ppt/slides/slide7.xml" Id="R80c8f71c88fb4383" /><Relationship Type="http://schemas.openxmlformats.org/officeDocument/2006/relationships/slide" Target="/ppt/slides/slide8.xml" Id="R026cd435e3364ce6" /><Relationship Type="http://schemas.openxmlformats.org/officeDocument/2006/relationships/slide" Target="/ppt/slides/slide9.xml" Id="R7cba7a2417fe4041" /><Relationship Type="http://schemas.openxmlformats.org/officeDocument/2006/relationships/slide" Target="/ppt/slides/slide10.xml" Id="R345df0941c4642ba" /><Relationship Type="http://schemas.openxmlformats.org/officeDocument/2006/relationships/slide" Target="/ppt/slides/slide11.xml" Id="R90c08bd66d6f48c4" /><Relationship Type="http://schemas.openxmlformats.org/officeDocument/2006/relationships/slide" Target="/ppt/slides/slide12.xml" Id="R0967a5587ffe48e7" /><Relationship Type="http://schemas.openxmlformats.org/officeDocument/2006/relationships/slide" Target="/ppt/slides/slide13.xml" Id="R9481d7fb177b4893" /><Relationship Type="http://schemas.openxmlformats.org/officeDocument/2006/relationships/slide" Target="/ppt/slides/slide14.xml" Id="Rd8e3e4701e0341ed" /><Relationship Type="http://schemas.openxmlformats.org/officeDocument/2006/relationships/slide" Target="/ppt/slides/slide15.xml" Id="R824b000a6d044732" /><Relationship Type="http://schemas.openxmlformats.org/officeDocument/2006/relationships/slide" Target="/ppt/slides/slide16.xml" Id="R63fa67045c3d4215" /><Relationship Type="http://schemas.openxmlformats.org/officeDocument/2006/relationships/slide" Target="/ppt/slides/slide17.xml" Id="R6a45f116c8f94abe" /><Relationship Type="http://schemas.openxmlformats.org/officeDocument/2006/relationships/slide" Target="/ppt/slides/slide18.xml" Id="Rebbf009560cc42a3" /><Relationship Type="http://schemas.openxmlformats.org/officeDocument/2006/relationships/slide" Target="/ppt/slides/slide19.xml" Id="Rc0b5619e76294a88" /><Relationship Type="http://schemas.openxmlformats.org/officeDocument/2006/relationships/slide" Target="/ppt/slides/slide20.xml" Id="R781406f8bc8544ce" /><Relationship Type="http://schemas.openxmlformats.org/officeDocument/2006/relationships/slide" Target="/ppt/slides/slide21.xml" Id="R0f9d41c33f264396" /><Relationship Type="http://schemas.openxmlformats.org/officeDocument/2006/relationships/slide" Target="/ppt/slides/slide22.xml" Id="R2fed540bbb264cf2" /><Relationship Type="http://schemas.openxmlformats.org/officeDocument/2006/relationships/slide" Target="/ppt/slides/slide23.xml" Id="Rcc81f20877f74407" /><Relationship Type="http://schemas.openxmlformats.org/officeDocument/2006/relationships/slide" Target="/ppt/slides/slide24.xml" Id="R9100078dcd78432d" /><Relationship Type="http://schemas.openxmlformats.org/officeDocument/2006/relationships/slide" Target="/ppt/slides/slide25.xml" Id="R15068000ec8841e9" /><Relationship Type="http://schemas.openxmlformats.org/officeDocument/2006/relationships/slide" Target="/ppt/slides/slide26.xml" Id="R904d14afaf1c4fca" /><Relationship Type="http://schemas.openxmlformats.org/officeDocument/2006/relationships/slide" Target="/ppt/slides/slide27.xml" Id="R9be3f2dd6eb545d2" /><Relationship Type="http://schemas.openxmlformats.org/officeDocument/2006/relationships/slide" Target="/ppt/slides/slide28.xml" Id="Rf04532eab4b44981" /><Relationship Type="http://schemas.openxmlformats.org/officeDocument/2006/relationships/slide" Target="/ppt/slides/slide29.xml" Id="R22ddf85c19e14e57" /><Relationship Type="http://schemas.openxmlformats.org/officeDocument/2006/relationships/slide" Target="/ppt/slides/slide30.xml" Id="R3fa4664a3b154acd" /><Relationship Type="http://schemas.openxmlformats.org/officeDocument/2006/relationships/slide" Target="/ppt/slides/slide31.xml" Id="R740b9283185a48dc" /><Relationship Type="http://schemas.openxmlformats.org/officeDocument/2006/relationships/slide" Target="/ppt/slides/slide32.xml" Id="R820a03e327ad4c65" /><Relationship Type="http://schemas.openxmlformats.org/officeDocument/2006/relationships/slide" Target="/ppt/slides/slide33.xml" Id="R6a0366f248854cf6" /><Relationship Type="http://schemas.openxmlformats.org/officeDocument/2006/relationships/slide" Target="/ppt/slides/slide34.xml" Id="R7d272be2ea43444b" /><Relationship Type="http://schemas.openxmlformats.org/officeDocument/2006/relationships/slide" Target="/ppt/slides/slide35.xml" Id="Rb7a274538bd94878" /><Relationship Type="http://schemas.openxmlformats.org/officeDocument/2006/relationships/slide" Target="/ppt/slides/slide36.xml" Id="R52e69bf8e9f242ed" /><Relationship Type="http://schemas.openxmlformats.org/officeDocument/2006/relationships/slide" Target="/ppt/slides/slide37.xml" Id="R025b4f451d31466d" /><Relationship Type="http://schemas.openxmlformats.org/officeDocument/2006/relationships/slide" Target="/ppt/slides/slide38.xml" Id="R7ed09fcdab34494e" /><Relationship Type="http://schemas.openxmlformats.org/officeDocument/2006/relationships/slide" Target="/ppt/slides/slide39.xml" Id="R507db0871d7641cb" /><Relationship Type="http://schemas.openxmlformats.org/officeDocument/2006/relationships/slide" Target="/ppt/slides/slide40.xml" Id="R1e2d7d1d33624260" /><Relationship Type="http://schemas.openxmlformats.org/officeDocument/2006/relationships/slide" Target="/ppt/slides/slide41.xml" Id="R72412f4be7be4c02" /><Relationship Type="http://schemas.openxmlformats.org/officeDocument/2006/relationships/slide" Target="/ppt/slides/slide42.xml" Id="Ref598fdf2abf4541" /><Relationship Type="http://schemas.openxmlformats.org/officeDocument/2006/relationships/slide" Target="/ppt/slides/slide43.xml" Id="Rad9bdffe8e9c478d" /><Relationship Type="http://schemas.openxmlformats.org/officeDocument/2006/relationships/slide" Target="/ppt/slides/slide44.xml" Id="Ref9c5c61d17b42b5" /><Relationship Type="http://schemas.openxmlformats.org/officeDocument/2006/relationships/slide" Target="/ppt/slides/slide45.xml" Id="Rda1f526ba5d144bd" /><Relationship Type="http://schemas.openxmlformats.org/officeDocument/2006/relationships/slide" Target="/ppt/slides/slide46.xml" Id="R1b8c566372fc467f" /><Relationship Type="http://schemas.openxmlformats.org/officeDocument/2006/relationships/slide" Target="/ppt/slides/slide47.xml" Id="R344a7154a2914bca" /><Relationship Type="http://schemas.openxmlformats.org/officeDocument/2006/relationships/slide" Target="/ppt/slides/slide48.xml" Id="R6ce442c058e64c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bf92aab49c48b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3f381025804190" /><Relationship Type="http://schemas.openxmlformats.org/officeDocument/2006/relationships/notesMaster" Target="/ppt/notesMasters/notesMaster1.xml" Id="Re4a666ee0a5142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22ae238e494158" /><Relationship Type="http://schemas.openxmlformats.org/officeDocument/2006/relationships/notesMaster" Target="/ppt/notesMasters/notesMaster1.xml" Id="Ra5fc1b2abf3741c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4efdbb32164746" /><Relationship Type="http://schemas.openxmlformats.org/officeDocument/2006/relationships/notesMaster" Target="/ppt/notesMasters/notesMaster1.xml" Id="Rfb62b9ea16cd4b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554170d99a4bd8" /><Relationship Type="http://schemas.openxmlformats.org/officeDocument/2006/relationships/notesMaster" Target="/ppt/notesMasters/notesMaster1.xml" Id="Rcde3b2ca58654a52"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1bb559e44e4490" /><Relationship Type="http://schemas.openxmlformats.org/officeDocument/2006/relationships/notesMaster" Target="/ppt/notesMasters/notesMaster1.xml" Id="R27105f658f324c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1bea364d304401" /><Relationship Type="http://schemas.openxmlformats.org/officeDocument/2006/relationships/notesMaster" Target="/ppt/notesMasters/notesMaster1.xml" Id="R04559a9312e24d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b58da7c9eefe4d3a" /><Relationship Type="http://schemas.openxmlformats.org/officeDocument/2006/relationships/notesMaster" Target="/ppt/notesMasters/notesMaster1.xml" Id="R54be9d40e86a4c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b0c2c183c2f34f30" /><Relationship Type="http://schemas.openxmlformats.org/officeDocument/2006/relationships/notesMaster" Target="/ppt/notesMasters/notesMaster1.xml" Id="R7c646a3cf8e9474f"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bf80e0372f49df" /><Relationship Type="http://schemas.openxmlformats.org/officeDocument/2006/relationships/notesMaster" Target="/ppt/notesMasters/notesMaster1.xml" Id="R5c5eb180917544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11bcf89da24846" /><Relationship Type="http://schemas.openxmlformats.org/officeDocument/2006/relationships/notesMaster" Target="/ppt/notesMasters/notesMaster1.xml" Id="R793f95754354428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ab2b884bb984b3a" /><Relationship Type="http://schemas.openxmlformats.org/officeDocument/2006/relationships/notesMaster" Target="/ppt/notesMasters/notesMaster1.xml" Id="Rbe815eea34c942f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f144ddb592d4e7b" /><Relationship Type="http://schemas.openxmlformats.org/officeDocument/2006/relationships/notesMaster" Target="/ppt/notesMasters/notesMaster1.xml" Id="R42e0c7ab054f4e4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b5f850b36f04366" /><Relationship Type="http://schemas.openxmlformats.org/officeDocument/2006/relationships/notesMaster" Target="/ppt/notesMasters/notesMaster1.xml" Id="R1c4e564f06734ef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1fc0e1cd6fc4c7c" /><Relationship Type="http://schemas.openxmlformats.org/officeDocument/2006/relationships/notesMaster" Target="/ppt/notesMasters/notesMaster1.xml" Id="R40eb5d29fe7b48e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093146253974ab5" /><Relationship Type="http://schemas.openxmlformats.org/officeDocument/2006/relationships/notesMaster" Target="/ppt/notesMasters/notesMaster1.xml" Id="R880fde11179b4bc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31ab4cc1ba34324" /><Relationship Type="http://schemas.openxmlformats.org/officeDocument/2006/relationships/notesMaster" Target="/ppt/notesMasters/notesMaster1.xml" Id="Rd9d5e9954cc5425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51364f4abad4513" /><Relationship Type="http://schemas.openxmlformats.org/officeDocument/2006/relationships/notesMaster" Target="/ppt/notesMasters/notesMaster1.xml" Id="Rf7fcb00894fe4e3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9a4b139bd8c4ca0" /><Relationship Type="http://schemas.openxmlformats.org/officeDocument/2006/relationships/notesMaster" Target="/ppt/notesMasters/notesMaster1.xml" Id="Re8087f19e93d437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e8575fd98b84927" /><Relationship Type="http://schemas.openxmlformats.org/officeDocument/2006/relationships/notesMaster" Target="/ppt/notesMasters/notesMaster1.xml" Id="R262971477d954b6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d4a05223d964f90" /><Relationship Type="http://schemas.openxmlformats.org/officeDocument/2006/relationships/notesMaster" Target="/ppt/notesMasters/notesMaster1.xml" Id="Rdbeaf38f57084e6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ad840e1e037438c" /><Relationship Type="http://schemas.openxmlformats.org/officeDocument/2006/relationships/notesMaster" Target="/ppt/notesMasters/notesMaster1.xml" Id="R9129f82fe3c04c5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8a72a072ff34947" /><Relationship Type="http://schemas.openxmlformats.org/officeDocument/2006/relationships/notesMaster" Target="/ppt/notesMasters/notesMaster1.xml" Id="R5cad1016642644f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738dae6d0b841b6" /><Relationship Type="http://schemas.openxmlformats.org/officeDocument/2006/relationships/notesMaster" Target="/ppt/notesMasters/notesMaster1.xml" Id="R4fa94dbb6fe04be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cd7914b43d84799" /><Relationship Type="http://schemas.openxmlformats.org/officeDocument/2006/relationships/notesMaster" Target="/ppt/notesMasters/notesMaster1.xml" Id="R573525152583408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08480ecd3604b35" /><Relationship Type="http://schemas.openxmlformats.org/officeDocument/2006/relationships/notesMaster" Target="/ppt/notesMasters/notesMaster1.xml" Id="R4ccf0f4e4099492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9db43384ce144b2" /><Relationship Type="http://schemas.openxmlformats.org/officeDocument/2006/relationships/notesMaster" Target="/ppt/notesMasters/notesMaster1.xml" Id="R4f56054ec8ad461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8ec3e64ddff48f9" /><Relationship Type="http://schemas.openxmlformats.org/officeDocument/2006/relationships/notesMaster" Target="/ppt/notesMasters/notesMaster1.xml" Id="R5084fae475814b0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a2acf5bbda24eb5" /><Relationship Type="http://schemas.openxmlformats.org/officeDocument/2006/relationships/notesMaster" Target="/ppt/notesMasters/notesMaster1.xml" Id="Rb5511b14222f4eb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b519e871d584497" /><Relationship Type="http://schemas.openxmlformats.org/officeDocument/2006/relationships/notesMaster" Target="/ppt/notesMasters/notesMaster1.xml" Id="Rd47da6093ad547c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f691db7d200466c" /><Relationship Type="http://schemas.openxmlformats.org/officeDocument/2006/relationships/notesMaster" Target="/ppt/notesMasters/notesMaster1.xml" Id="R5f406126555a4e5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3d7e6e0b8b748b2" /><Relationship Type="http://schemas.openxmlformats.org/officeDocument/2006/relationships/notesMaster" Target="/ppt/notesMasters/notesMaster1.xml" Id="R191d148447d8444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e3fa3cbf8e243a2" /><Relationship Type="http://schemas.openxmlformats.org/officeDocument/2006/relationships/notesMaster" Target="/ppt/notesMasters/notesMaster1.xml" Id="Rd2bbc96ed7034e0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0b7f589e3ad43c7" /><Relationship Type="http://schemas.openxmlformats.org/officeDocument/2006/relationships/notesMaster" Target="/ppt/notesMasters/notesMaster1.xml" Id="R31c7607d9de9465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cae50fe96584ae9" /><Relationship Type="http://schemas.openxmlformats.org/officeDocument/2006/relationships/notesMaster" Target="/ppt/notesMasters/notesMaster1.xml" Id="R5d18c9f4b9d442c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d0e207286a54532" /><Relationship Type="http://schemas.openxmlformats.org/officeDocument/2006/relationships/notesMaster" Target="/ppt/notesMasters/notesMaster1.xml" Id="R5f0ba1476421461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ef162af774b4d74" /><Relationship Type="http://schemas.openxmlformats.org/officeDocument/2006/relationships/notesMaster" Target="/ppt/notesMasters/notesMaster1.xml" Id="Raa917720be6f466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895f4822a0e48d8" /><Relationship Type="http://schemas.openxmlformats.org/officeDocument/2006/relationships/notesMaster" Target="/ppt/notesMasters/notesMaster1.xml" Id="R21377e10c4f1446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210383a0c7243e4" /><Relationship Type="http://schemas.openxmlformats.org/officeDocument/2006/relationships/notesMaster" Target="/ppt/notesMasters/notesMaster1.xml" Id="Rbbdfddcdd34a4ea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e2b1fceef9c4ecb" /><Relationship Type="http://schemas.openxmlformats.org/officeDocument/2006/relationships/notesMaster" Target="/ppt/notesMasters/notesMaster1.xml" Id="R9a66155d6bf145a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7fdebfb66554297" /><Relationship Type="http://schemas.openxmlformats.org/officeDocument/2006/relationships/notesMaster" Target="/ppt/notesMasters/notesMaster1.xml" Id="R94fcf40d6ca947b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7ec6321ef3b4515" /><Relationship Type="http://schemas.openxmlformats.org/officeDocument/2006/relationships/notesMaster" Target="/ppt/notesMasters/notesMaster1.xml" Id="R9005f27bbb874d2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ec7ee5590b343d9" /><Relationship Type="http://schemas.openxmlformats.org/officeDocument/2006/relationships/notesMaster" Target="/ppt/notesMasters/notesMaster1.xml" Id="R73e9957a33544a59"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277093507e5459f" /><Relationship Type="http://schemas.openxmlformats.org/officeDocument/2006/relationships/notesMaster" Target="/ppt/notesMasters/notesMaster1.xml" Id="R536d125218334df2"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d8928b0d1a04f77" /><Relationship Type="http://schemas.openxmlformats.org/officeDocument/2006/relationships/notesMaster" Target="/ppt/notesMasters/notesMaster1.xml" Id="R6852ff9888ea4ab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05dcad6d2134e00" /><Relationship Type="http://schemas.openxmlformats.org/officeDocument/2006/relationships/notesMaster" Target="/ppt/notesMasters/notesMaster1.xml" Id="R6bfe78a527954179"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f4be24a700bb4e5b" /><Relationship Type="http://schemas.openxmlformats.org/officeDocument/2006/relationships/notesMaster" Target="/ppt/notesMasters/notesMaster1.xml" Id="Ra1621114e17b4de6"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25c33185c9b4cfb" /><Relationship Type="http://schemas.openxmlformats.org/officeDocument/2006/relationships/notesMaster" Target="/ppt/notesMasters/notesMaster1.xml" Id="R36707c25f8ad4e35"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b5884f248b94479" /><Relationship Type="http://schemas.openxmlformats.org/officeDocument/2006/relationships/notesMaster" Target="/ppt/notesMasters/notesMaster1.xml" Id="R0b92ba0d9bea45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briefing explains the domain before asking which product to build. It follows the decisions a job seeker encounters, draws on the repository's completed research, and keeps reported experiences separate from guidance and experiments. The opening illustration is AI-generated and depicts no research participant. Singapore is the intended starting context, but some deeper studies are international. Product scope, technology and platform remain undecided.</a:t>
            </a:r>
          </a:p>
          <a:p xmlns:a="http://schemas.openxmlformats.org/drawingml/2006/main">
            <a:r>
              <a:t/>
            </a:r>
          </a:p>
          <a:p xmlns:a="http://schemas.openxmlformats.org/drawingml/2006/main">
            <a:r>
              <a:t>REPOSITORY EVIDENCE</a:t>
            </a:r>
          </a:p>
          <a:p xmlns:a="http://schemas.openxmlformats.org/drawingml/2006/main">
            <a:r>
              <a:t>Round 01 public-web synthesis: 02_research/03_research-rounds/01_public-web-user-insights/round-synthesis.md</a:t>
            </a:r>
          </a:p>
          <a:p xmlns:a="http://schemas.openxmlformats.org/drawingml/2006/main">
            <a:r>
              <a:t>Round 02 synthesis: 02_research/03_research-rounds/02_synthetic-workflow-selection/round-synthesis.md</a:t>
            </a:r>
          </a:p>
          <a:p xmlns:a="http://schemas.openxmlformats.org/drawingml/2006/main">
            <a:r>
              <a:t>Round 03 findings: 02_research/03_research-rounds/03_cross-industry-job-search/runs/2026-10-19-cross-industry-and-vacancy-credibility/findings.md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encountering an opening while already balancing other commitments. This is a teaching scenario, not an observed event. The questions organise findings F01–F09: authenticity, suitability, truthful preparation and returning to unfinished work. The exact phone-discovery to laptop-return to lost-opportunity story remains unsupported by the collected Singapore evidence. The illustration and scenario cannot fill that gap.</a:t>
            </a:r>
          </a:p>
          <a:p xmlns:a="http://schemas.openxmlformats.org/drawingml/2006/main">
            <a:r>
              <a:t/>
            </a:r>
          </a:p>
          <a:p xmlns:a="http://schemas.openxmlformats.org/drawingml/2006/main">
            <a:r>
              <a:t>REPOSITORY EVIDENCE</a:t>
            </a:r>
          </a:p>
          <a:p xmlns:a="http://schemas.openxmlformats.org/drawingml/2006/main">
            <a:r>
              <a:t>Expanded Round 02 findings: 02_research/03_research-rounds/02_synthetic-workflow-selection/runs/2026-10-18-pain-practices-and-guidance/findings.md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editable journey diagram groups the research into a learning sequence. It is not a claim that every person follows six linear stages. Re-entry, rejection, changed requirements and new information can lead back to earlier work. Preparation includes reusable evidence and later interview practice, not just writing a resume. Discovering jobs, assessing legitimacy, reviewing conditions, submitting documents and evaluating an offer involve different types of information.</a:t>
            </a:r>
          </a:p>
          <a:p xmlns:a="http://schemas.openxmlformats.org/drawingml/2006/main">
            <a:r>
              <a:t/>
            </a:r>
          </a:p>
          <a:p xmlns:a="http://schemas.openxmlformats.org/drawingml/2006/main">
            <a:r>
              <a:t>REPOSITORY EVIDENCE</a:t>
            </a:r>
          </a:p>
          <a:p xmlns:a="http://schemas.openxmlformats.org/drawingml/2006/main">
            <a:r>
              <a:t>Expanded Round 02 findings: 02_research/03_research-rounds/02_synthetic-workflow-selection/runs/2026-10-18-pain-practices-and-guidance/findings.md</a:t>
            </a:r>
          </a:p>
          <a:p xmlns:a="http://schemas.openxmlformats.org/drawingml/2006/main">
            <a:r>
              <a:t>Round 01 public-web synthesis: 02_research/03_research-rounds/01_public-web-user-insights/round-synthesis.md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corpus mixes firsthand accounts, qualitative studies, official guidance, experiments, videos and internal process observations. These are not interchangeable votes. Multiple Reddit threads share platform and selection bias. The source population leans toward English-language, graduate, office and technology perspectives. Round 02 addressed each objective with findings or explicit gaps; that does not mean every question is resolved. The owner currently has no direct participant access. The opening sections explain Round 01/02 evidence. A later Round 03 extension adds a purposive cross-industry pass; broader context does not make the corpus representative.</a:t>
            </a:r>
          </a:p>
          <a:p xmlns:a="http://schemas.openxmlformats.org/drawingml/2006/main">
            <a:r>
              <a:t/>
            </a:r>
          </a:p>
          <a:p xmlns:a="http://schemas.openxmlformats.org/drawingml/2006/main">
            <a:r>
              <a:t>REPOSITORY EVIDENCE</a:t>
            </a:r>
          </a:p>
          <a:p xmlns:a="http://schemas.openxmlformats.org/drawingml/2006/main">
            <a:r>
              <a:t>Round 01 public-web synthesis: 02_research/03_research-rounds/01_public-web-user-insights/round-synthesis.md</a:t>
            </a:r>
          </a:p>
          <a:p xmlns:a="http://schemas.openxmlformats.org/drawingml/2006/main">
            <a:r>
              <a:t>Expanded research limitations: 02_research/03_research-rounds/02_synthetic-workflow-selection/runs/2026-10-18-pain-practices-and-guidance/limitations.md</a:t>
            </a:r>
          </a:p>
          <a:p xmlns:a="http://schemas.openxmlformats.org/drawingml/2006/main">
            <a:r>
              <a:t>Round 02 objective coverage: 02_research/03_research-rounds/02_synthetic-workflow-selection/runs/2026-10-18-pain-practices-and-guidance/coverage.md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P01 is a named, selected first-person retrospective, involving retail and a later healthcare-operations role. It describes recruitment agencies, online search, training, WSG support, networking and interviews. The eventual offer followed a LinkedIn contact, while an earlier employer chose an internal candidate. We cannot attribute success to resume edits, AI, a course or coaching in isolation. P02 and P12 separately add scheduling, take-home work and caring commitments. These are separate people's accounts, not one combined participant journey.</a:t>
            </a:r>
          </a:p>
          <a:p xmlns:a="http://schemas.openxmlformats.org/drawingml/2006/main">
            <a:r>
              <a:t/>
            </a:r>
          </a:p>
          <a:p xmlns:a="http://schemas.openxmlformats.org/drawingml/2006/main">
            <a:r>
              <a:t>REPOSITORY EVIDENCE</a:t>
            </a:r>
          </a:p>
          <a:p xmlns:a="http://schemas.openxmlformats.org/drawingml/2006/main">
            <a:r>
              <a:t>Practices evidence P01–P12: 02_research/03_research-rounds/02_synthetic-workflow-selection/runs/2026-10-18-pain-practices-and-guidance/practices-research.md</a:t>
            </a:r>
          </a:p>
          <a:p xmlns:a="http://schemas.openxmlformats.org/drawingml/2006/main">
            <a:r>
              <a:t/>
            </a:r>
          </a:p>
          <a:p xmlns:a="http://schemas.openxmlformats.org/drawingml/2006/main">
            <a:r>
              <a:t>SELECTED ORIGINAL SOURCES</a:t>
            </a:r>
          </a:p>
          <a:p xmlns:a="http://schemas.openxmlformats.org/drawingml/2006/main">
            <a:r>
              <a:t>Low Chee Wee's job-search account: https://www.channelnewsasia.com/today/voices/jobseekers-diaries-i-couldnt-get-job-4-months-then-i-worked-my-resume-and-interview-skills-4645931</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Round 00 includes programme and community research on caring and workable conditions, alongside employer-reported occupation-specific recruitment difficulties. These populations and methods differ. Round 01 includes an expert US desktop screen-reader study of sampled application sites, not JobHub or Singapore-wide conformance. Public accounts add perceived silence and scheduling problems. None establishes their relative frequency or that software can remedy them. Population counts of people outside the labour force are not counts of active seekers or prospective customers.</a:t>
            </a:r>
          </a:p>
          <a:p xmlns:a="http://schemas.openxmlformats.org/drawingml/2006/main">
            <a:r>
              <a:t/>
            </a:r>
          </a:p>
          <a:p xmlns:a="http://schemas.openxmlformats.org/drawingml/2006/main">
            <a:r>
              <a:t>REPOSITORY EVIDENCE</a:t>
            </a:r>
          </a:p>
          <a:p xmlns:a="http://schemas.openxmlformats.org/drawingml/2006/main">
            <a:r>
              <a:t>Baseline cross-industry friction evidence: 02_research/04_results/product-and-users/2026-10-18-job-search-friction.md</a:t>
            </a:r>
          </a:p>
          <a:p xmlns:a="http://schemas.openxmlformats.org/drawingml/2006/main">
            <a:r>
              <a:t>Round 01 public-web synthesis: 02_research/03_research-rounds/01_public-web-user-insights/round-synthesis.md</a:t>
            </a:r>
          </a:p>
          <a:p xmlns:a="http://schemas.openxmlformats.org/drawingml/2006/main">
            <a:r>
              <a:t>Detailed baseline claim and source map: 02_research/07_presentations/01_job-seeker-research-story/audit-baseline.md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Domain findings distinguish advertised requirements, verified essentials, transferable skills, personal constraints and unknowns. An apparently suitable title can conceal incompatible schedules or duties. Conversely, a different title or a low keyword score can hide relevant experience. This framework is guidance derived from the sources, not a validated JobHub fit model or automatic eligibility determination.</a:t>
            </a:r>
          </a:p>
          <a:p xmlns:a="http://schemas.openxmlformats.org/drawingml/2006/main">
            <a:r>
              <a:t/>
            </a:r>
          </a:p>
          <a:p xmlns:a="http://schemas.openxmlformats.org/drawingml/2006/main">
            <a:r>
              <a:t>REPOSITORY EVIDENCE</a:t>
            </a:r>
          </a:p>
          <a:p xmlns:a="http://schemas.openxmlformats.org/drawingml/2006/main">
            <a:r>
              <a:t>Domain evidence D01–D12: 02_research/03_research-rounds/02_synthetic-workflow-selection/runs/2026-10-18-pain-practices-and-guidance/domain-research.md</a:t>
            </a:r>
          </a:p>
          <a:p xmlns:a="http://schemas.openxmlformats.org/drawingml/2006/main">
            <a:r>
              <a:t>Expanded Round 02 findings: 02_research/03_research-rounds/02_synthetic-workflow-selection/runs/2026-10-18-pain-practices-and-guidance/findings.md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Authenticity, working conditions, fairness and personal suitability are distinct questions. ScamShield recommends independent checks, but a registered company or polished site does not authenticate every contact. Hiring delays and specialised requirements can have legitimate explanations. The video material adds examples and questions, not detector accuracy or proof of misconduct. This is practical guidance, not legal advice or an assessment of a particular employer.</a:t>
            </a:r>
          </a:p>
          <a:p xmlns:a="http://schemas.openxmlformats.org/drawingml/2006/main">
            <a:r>
              <a:t/>
            </a:r>
          </a:p>
          <a:p xmlns:a="http://schemas.openxmlformats.org/drawingml/2006/main">
            <a:r>
              <a:t>REPOSITORY EVIDENCE</a:t>
            </a:r>
          </a:p>
          <a:p xmlns:a="http://schemas.openxmlformats.org/drawingml/2006/main">
            <a:r>
              <a:t>Domain evidence D01–D12: 02_research/03_research-rounds/02_synthetic-workflow-selection/runs/2026-10-18-pain-practices-and-guidance/domain-research.md</a:t>
            </a:r>
          </a:p>
          <a:p xmlns:a="http://schemas.openxmlformats.org/drawingml/2006/main">
            <a:r>
              <a:t>Video evidence V01–V10: 02_research/03_research-rounds/02_synthetic-workflow-selection/runs/2026-10-18-pain-practices-and-guidance/video-research.md</a:t>
            </a:r>
          </a:p>
          <a:p xmlns:a="http://schemas.openxmlformats.org/drawingml/2006/main">
            <a:r>
              <a:t/>
            </a:r>
          </a:p>
          <a:p xmlns:a="http://schemas.openxmlformats.org/drawingml/2006/main">
            <a:r>
              <a:t>SELECTED ORIGINAL SOURCES</a:t>
            </a:r>
          </a:p>
          <a:p xmlns:a="http://schemas.openxmlformats.org/drawingml/2006/main">
            <a:r>
              <a:t>ScamShield: checking a job opportunity: https://ask.gov.sg/scamshield/questions/cmdcv46bt017g36wpmgi0mc2t</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WSG says an applicant may apply regardless of a low MyCareersFuture skills-match score. That does not waive a verified licence, regulated credential or employer's essential requirement. The three distinctions shown here are an explanatory framework, not a sequence in which all evidence automatically progresses toward a positive score. The diagram deliberately leaves the final judgment open.</a:t>
            </a:r>
          </a:p>
          <a:p xmlns:a="http://schemas.openxmlformats.org/drawingml/2006/main">
            <a:r>
              <a:t/>
            </a:r>
          </a:p>
          <a:p xmlns:a="http://schemas.openxmlformats.org/drawingml/2006/main">
            <a:r>
              <a:t>REPOSITORY EVIDENCE</a:t>
            </a:r>
          </a:p>
          <a:p xmlns:a="http://schemas.openxmlformats.org/drawingml/2006/main">
            <a:r>
              <a:t>Domain evidence D01–D12: 02_research/03_research-rounds/02_synthetic-workflow-selection/runs/2026-10-18-pain-practices-and-guidance/domain-research.md</a:t>
            </a:r>
          </a:p>
          <a:p xmlns:a="http://schemas.openxmlformats.org/drawingml/2006/main">
            <a:r>
              <a:t>Sanitised internal-process evidence: 02_research/03_research-rounds/02_synthetic-workflow-selection/runs/2026-10-18-pain-practices-and-guidance/internal-process-review.md</a:t>
            </a:r>
          </a:p>
          <a:p xmlns:a="http://schemas.openxmlformats.org/drawingml/2006/main">
            <a:r>
              <a:t/>
            </a:r>
          </a:p>
          <a:p xmlns:a="http://schemas.openxmlformats.org/drawingml/2006/main">
            <a:r>
              <a:t>SELECTED ORIGINAL SOURCES</a:t>
            </a:r>
          </a:p>
          <a:p xmlns:a="http://schemas.openxmlformats.org/drawingml/2006/main">
            <a:r>
              <a:t>WSG: low skills-match scores and applications: https://ask.gov.sg/wsg/questions/clp9j4c1p0031azywcqpjen8w</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fictional teaching examples, not extracted personal resume records or participant quotations. P07 and internal I04/I05 support selecting and explaining genuine experience and reviewing changes. A good rewrite can improve relevance without adding a tool, responsibility, qualification or numerical result that was never established. The candidate must approve the final wording and be able to explain it. A missing qualification stays visible rather than becoming a persuasive invented sentence.</a:t>
            </a:r>
          </a:p>
          <a:p xmlns:a="http://schemas.openxmlformats.org/drawingml/2006/main">
            <a:r>
              <a:t/>
            </a:r>
          </a:p>
          <a:p xmlns:a="http://schemas.openxmlformats.org/drawingml/2006/main">
            <a:r>
              <a:t>REPOSITORY EVIDENCE</a:t>
            </a:r>
          </a:p>
          <a:p xmlns:a="http://schemas.openxmlformats.org/drawingml/2006/main">
            <a:r>
              <a:t>Practices evidence P01–P12: 02_research/03_research-rounds/02_synthetic-workflow-selection/runs/2026-10-18-pain-practices-and-guidance/practices-research.md</a:t>
            </a:r>
          </a:p>
          <a:p xmlns:a="http://schemas.openxmlformats.org/drawingml/2006/main">
            <a:r>
              <a:t>Sanitised internal-process evidence: 02_research/03_research-rounds/02_synthetic-workflow-selection/runs/2026-10-18-pain-practices-and-guidance/internal-process-review.md</a:t>
            </a:r>
          </a:p>
          <a:p xmlns:a="http://schemas.openxmlformats.org/drawingml/2006/main">
            <a:r>
              <a:t>Video evidence V01–V10: 02_research/03_research-rounds/02_synthetic-workflow-selection/runs/2026-10-18-pain-practices-and-guidance/video-research.md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P10 contains competing accounts: an opening author describes distress from intensive tailoring and reports interviews only with that approach; replies describe a few reusable versions, selecting achievements from a master resume, or a stable resume with more interview requests. These are different people in different circumstances. Neither causation nor superiority follows. This contrary evidence prevents a product narrative that assumes maximal rewriting is always necessary.</a:t>
            </a:r>
          </a:p>
          <a:p xmlns:a="http://schemas.openxmlformats.org/drawingml/2006/main">
            <a:r>
              <a:t/>
            </a:r>
          </a:p>
          <a:p xmlns:a="http://schemas.openxmlformats.org/drawingml/2006/main">
            <a:r>
              <a:t>REPOSITORY EVIDENCE</a:t>
            </a:r>
          </a:p>
          <a:p xmlns:a="http://schemas.openxmlformats.org/drawingml/2006/main">
            <a:r>
              <a:t>Practices evidence P01–P12: 02_research/03_research-rounds/02_synthetic-workflow-selection/runs/2026-10-18-pain-practices-and-guidance/practices-research.md</a:t>
            </a:r>
          </a:p>
          <a:p xmlns:a="http://schemas.openxmlformats.org/drawingml/2006/main">
            <a:r>
              <a:t>Round 01 public-web synthesis: 02_research/03_research-rounds/01_public-web-user-insights/round-synthesis.md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generated illustration represents careful preparation, not an observed research session. Public accounts and P03 describe varied use, including non-use. The next slides separate how people say they use assistants from what experimental evidence actually tested. No comparison of current ChatGPT, Claude or other provider performance was conducted in this research.</a:t>
            </a:r>
          </a:p>
          <a:p xmlns:a="http://schemas.openxmlformats.org/drawingml/2006/main">
            <a:r>
              <a:t/>
            </a:r>
          </a:p>
          <a:p xmlns:a="http://schemas.openxmlformats.org/drawingml/2006/main">
            <a:r>
              <a:t>REPOSITORY EVIDENCE</a:t>
            </a:r>
          </a:p>
          <a:p xmlns:a="http://schemas.openxmlformats.org/drawingml/2006/main">
            <a:r>
              <a:t>Practices evidence P01–P12: 02_research/03_research-rounds/02_synthetic-workflow-selection/runs/2026-10-18-pain-practices-and-guidance/practices-research.md</a:t>
            </a:r>
          </a:p>
          <a:p xmlns:a="http://schemas.openxmlformats.org/drawingml/2006/main">
            <a:r>
              <a:t>Primary experiments C01–C02: 02_research/03_research-rounds/02_synthetic-workflow-selection/runs/2026-10-18-pain-practices-and-guidance/coordinator-research.md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P03's primary cohort comprised 13 disadvantaged non-university young people in Western Sydney, studied through interviews/focus groups. Its reference cohort comprised 50 Sydney university students studied through interviews/survey. Participants were aged 18–30. The cohorts differ and are not representative or directly comparable adoption samples. Participants described limited use, templates, authenticity concerns, or review/rewording of their own information. P05 and P09 add selected Singapore accounts. Cover-letter-specific verification evidence remains thin. Named-tool stories cannot establish provider quality or technical diagnoses.</a:t>
            </a:r>
          </a:p>
          <a:p xmlns:a="http://schemas.openxmlformats.org/drawingml/2006/main">
            <a:r>
              <a:t/>
            </a:r>
          </a:p>
          <a:p xmlns:a="http://schemas.openxmlformats.org/drawingml/2006/main">
            <a:r>
              <a:t>REPOSITORY EVIDENCE</a:t>
            </a:r>
          </a:p>
          <a:p xmlns:a="http://schemas.openxmlformats.org/drawingml/2006/main">
            <a:r>
              <a:t>Practices evidence P01–P12: 02_research/03_research-rounds/02_synthetic-workflow-selection/runs/2026-10-18-pain-practices-and-guidance/practices-research.md</a:t>
            </a:r>
          </a:p>
          <a:p xmlns:a="http://schemas.openxmlformats.org/drawingml/2006/main">
            <a:r>
              <a:t/>
            </a:r>
          </a:p>
          <a:p xmlns:a="http://schemas.openxmlformats.org/drawingml/2006/main">
            <a:r>
              <a:t>SELECTED ORIGINAL SOURCES</a:t>
            </a:r>
          </a:p>
          <a:p xmlns:a="http://schemas.openxmlformats.org/drawingml/2006/main">
            <a:r>
              <a:t>Voices on Work: AI use in Western Sydney: https://www.socialventures.org.au/wp-content/uploads/2026/01/Voices-on-Work_-AI-in-Job-Application-.pdf</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author abstract reports an 8% increase in hiring probability and no evidence of lower employer satisfaction. The result concerns the experimental intervention and online labour-market setting. Our research inspected the abstract, not a full-paper replication or Singapore study. Relative and absolute percentage-point gains are different. This does not show that adding fictional qualifications helps, or that all generative rewriting produces the same outcome.</a:t>
            </a:r>
          </a:p>
          <a:p xmlns:a="http://schemas.openxmlformats.org/drawingml/2006/main">
            <a:r>
              <a:t/>
            </a:r>
          </a:p>
          <a:p xmlns:a="http://schemas.openxmlformats.org/drawingml/2006/main">
            <a:r>
              <a:t>REPOSITORY EVIDENCE</a:t>
            </a:r>
          </a:p>
          <a:p xmlns:a="http://schemas.openxmlformats.org/drawingml/2006/main">
            <a:r>
              <a:t>Primary experiments C01–C02: 02_research/03_research-rounds/02_synthetic-workflow-selection/runs/2026-10-18-pain-practices-and-guidance/coordinator-research.md</a:t>
            </a:r>
          </a:p>
          <a:p xmlns:a="http://schemas.openxmlformats.org/drawingml/2006/main">
            <a:r>
              <a:t/>
            </a:r>
          </a:p>
          <a:p xmlns:a="http://schemas.openxmlformats.org/drawingml/2006/main">
            <a:r>
              <a:t>SELECTED ORIGINAL SOURCES</a:t>
            </a:r>
          </a:p>
          <a:p xmlns:a="http://schemas.openxmlformats.org/drawingml/2006/main">
            <a:r>
              <a:t>Algorithmic Writing Assistance on Jobseekers' Resumes Increases Hires: https://arxiv.org/abs/2301.08083</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working paper reports those treatment effects against control in an online labour market and describes more generic, less informative posts. The writing-time measure is conditional on employers posting; the posting-probability change is relative, not 19 percentage points. These measures have different denominators. Its application-time accounting is model-based. This is an employer-side drafting experiment, not an applicant-assistant or current-provider comparison. The two experiments have overlapping authorship and different interventions. No discernible matching increase does not prove exact equality or universal AI harm. The reported effects are not evidence that a particular employer is insincere.</a:t>
            </a:r>
          </a:p>
          <a:p xmlns:a="http://schemas.openxmlformats.org/drawingml/2006/main">
            <a:r>
              <a:t/>
            </a:r>
          </a:p>
          <a:p xmlns:a="http://schemas.openxmlformats.org/drawingml/2006/main">
            <a:r>
              <a:t>REPOSITORY EVIDENCE</a:t>
            </a:r>
          </a:p>
          <a:p xmlns:a="http://schemas.openxmlformats.org/drawingml/2006/main">
            <a:r>
              <a:t>Primary experiments C01–C02: 02_research/03_research-rounds/02_synthetic-workflow-selection/runs/2026-10-18-pain-practices-and-guidance/coordinator-research.md</a:t>
            </a:r>
          </a:p>
          <a:p xmlns:a="http://schemas.openxmlformats.org/drawingml/2006/main">
            <a:r>
              <a:t/>
            </a:r>
          </a:p>
          <a:p xmlns:a="http://schemas.openxmlformats.org/drawingml/2006/main">
            <a:r>
              <a:t>SELECTED ORIGINAL SOURCES</a:t>
            </a:r>
          </a:p>
          <a:p xmlns:a="http://schemas.openxmlformats.org/drawingml/2006/main">
            <a:r>
              <a:t>More, but Worse: The Marketplace Effects of AI-Generated Job Posts: https://www.emmawiles.com/storage/jobot.pdf</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NUS recommends researching the role and employer, confirming format, using real examples and practising. Public accounts include company research, spoken practice and combinations of family and AI support. V08 adds a manual experience notebook and rehearsal. These are options, not proof of increased hiring probability or a validated readiness score. Practice assistance cannot remove excessive interview stages or employer scheduling burdens.</a:t>
            </a:r>
          </a:p>
          <a:p xmlns:a="http://schemas.openxmlformats.org/drawingml/2006/main">
            <a:r>
              <a:t/>
            </a:r>
          </a:p>
          <a:p xmlns:a="http://schemas.openxmlformats.org/drawingml/2006/main">
            <a:r>
              <a:t>REPOSITORY EVIDENCE</a:t>
            </a:r>
          </a:p>
          <a:p xmlns:a="http://schemas.openxmlformats.org/drawingml/2006/main">
            <a:r>
              <a:t>Practices evidence P01–P12: 02_research/03_research-rounds/02_synthetic-workflow-selection/runs/2026-10-18-pain-practices-and-guidance/practices-research.md</a:t>
            </a:r>
          </a:p>
          <a:p xmlns:a="http://schemas.openxmlformats.org/drawingml/2006/main">
            <a:r>
              <a:t>Sanitised internal-process evidence: 02_research/03_research-rounds/02_synthetic-workflow-selection/runs/2026-10-18-pain-practices-and-guidance/internal-process-review.md</a:t>
            </a:r>
          </a:p>
          <a:p xmlns:a="http://schemas.openxmlformats.org/drawingml/2006/main">
            <a:r>
              <a:t>Video evidence V01–V10: 02_research/03_research-rounds/02_synthetic-workflow-selection/runs/2026-10-18-pain-practices-and-guidance/video-research.md</a:t>
            </a:r>
          </a:p>
          <a:p xmlns:a="http://schemas.openxmlformats.org/drawingml/2006/main">
            <a:r>
              <a:t/>
            </a:r>
          </a:p>
          <a:p xmlns:a="http://schemas.openxmlformats.org/drawingml/2006/main">
            <a:r>
              <a:t>SELECTED ORIGINAL SOURCES</a:t>
            </a:r>
          </a:p>
          <a:p xmlns:a="http://schemas.openxmlformats.org/drawingml/2006/main">
            <a:r>
              <a:t>NUS: interview preparation guidance: https://www.nus.edu.sg/cfg/students/career-resources/ace-your-job-interview</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MOM's occupational wage survey reference is June 2025, released June 2026. Its coverage includes full-time resident employees in sampled private establishments with at least 25 employees, excluding part-time and temporary workers. Basic and gross wages use specific definitions; gross excludes bonuses, employer CPF, equity and benefits in kind. No occupation-specific wage values were extracted in this research. Key employment terms apply conditionally. Market data, a person's minimum acceptable package and an offer's full value are different questions.</a:t>
            </a:r>
          </a:p>
          <a:p xmlns:a="http://schemas.openxmlformats.org/drawingml/2006/main">
            <a:r>
              <a:t/>
            </a:r>
          </a:p>
          <a:p xmlns:a="http://schemas.openxmlformats.org/drawingml/2006/main">
            <a:r>
              <a:t>REPOSITORY EVIDENCE</a:t>
            </a:r>
          </a:p>
          <a:p xmlns:a="http://schemas.openxmlformats.org/drawingml/2006/main">
            <a:r>
              <a:t>Domain evidence D01–D12: 02_research/03_research-rounds/02_synthetic-workflow-selection/runs/2026-10-18-pain-practices-and-guidance/domain-research.md</a:t>
            </a:r>
          </a:p>
          <a:p xmlns:a="http://schemas.openxmlformats.org/drawingml/2006/main">
            <a:r>
              <a:t/>
            </a:r>
          </a:p>
          <a:p xmlns:a="http://schemas.openxmlformats.org/drawingml/2006/main">
            <a:r>
              <a:t>SELECTED ORIGINAL SOURCES</a:t>
            </a:r>
          </a:p>
          <a:p xmlns:a="http://schemas.openxmlformats.org/drawingml/2006/main">
            <a:r>
              <a:t>MOM: 2025 wage coverage and methodology: https://stats.mom.gov.sg/iMAS_Tables1/Wages/Wages_2025/Coverage-and-Methodology-of-OWS-2025.pdf</a:t>
            </a:r>
          </a:p>
          <a:p xmlns:a="http://schemas.openxmlformats.org/drawingml/2006/main">
            <a:r>
              <a:t>MOM: key employment terms: https://www.mom.gov.sg/employment-practices/contract-of-service/key-employment-terms</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domain review combines NUS guidance, compensation definitions, an international negotiation experiment and selected accounts. The experiment's population and setting limit transfer, particularly to frontline work and fixed-pay roles. The research does not estimate offer-withdrawal risk or prescribe a universal percentage increase. Clarify uncertain terms and record confirmed changes. This is general research guidance, not a personalised financial or legal assessment.</a:t>
            </a:r>
          </a:p>
          <a:p xmlns:a="http://schemas.openxmlformats.org/drawingml/2006/main">
            <a:r>
              <a:t/>
            </a:r>
          </a:p>
          <a:p xmlns:a="http://schemas.openxmlformats.org/drawingml/2006/main">
            <a:r>
              <a:t>REPOSITORY EVIDENCE</a:t>
            </a:r>
          </a:p>
          <a:p xmlns:a="http://schemas.openxmlformats.org/drawingml/2006/main">
            <a:r>
              <a:t>Domain evidence D01–D12: 02_research/03_research-rounds/02_synthetic-workflow-selection/runs/2026-10-18-pain-practices-and-guidance/domain-research.md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evidence describes shared access, draft recovery, save failures and mixed mobile experiences. Other accounts describe workable email, PDF or spreadsheet routines and immediate phone applications. These support examining continuity, not assuming a universal deferred-device workflow. The diagram is a proposed information checkpoint. No native-mobile, web or desktop decision follows, and no recovery benefit has been measured for JobHub.</a:t>
            </a:r>
          </a:p>
          <a:p xmlns:a="http://schemas.openxmlformats.org/drawingml/2006/main">
            <a:r>
              <a:t/>
            </a:r>
          </a:p>
          <a:p xmlns:a="http://schemas.openxmlformats.org/drawingml/2006/main">
            <a:r>
              <a:t>REPOSITORY EVIDENCE</a:t>
            </a:r>
          </a:p>
          <a:p xmlns:a="http://schemas.openxmlformats.org/drawingml/2006/main">
            <a:r>
              <a:t>Round 01 public-web synthesis: 02_research/03_research-rounds/01_public-web-user-insights/round-synthesis.md</a:t>
            </a:r>
          </a:p>
          <a:p xmlns:a="http://schemas.openxmlformats.org/drawingml/2006/main">
            <a:r>
              <a:t>Practices evidence P01–P12: 02_research/03_research-rounds/02_synthetic-workflow-selection/runs/2026-10-18-pain-practices-and-guidance/practices-research.md</a:t>
            </a:r>
          </a:p>
          <a:p xmlns:a="http://schemas.openxmlformats.org/drawingml/2006/main">
            <a:r>
              <a:t>Sanitised internal-process evidence: 02_research/03_research-rounds/02_synthetic-workflow-selection/runs/2026-10-18-pain-practices-and-guidance/internal-process-review.md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authorised review inspected 25 internal documents and five historical July artifacts. Findings concern inspected content and artifact properties, not all linked AgentHub folders or current execution. A positive historical status paired with loading/error content shows an extraction problem in that artifact, not universal failure today. Coordination burden is a hypothesis. Raw personal resumes, contact details and internal application records do not appear in this briefing.</a:t>
            </a:r>
          </a:p>
          <a:p xmlns:a="http://schemas.openxmlformats.org/drawingml/2006/main">
            <a:r>
              <a:t/>
            </a:r>
          </a:p>
          <a:p xmlns:a="http://schemas.openxmlformats.org/drawingml/2006/main">
            <a:r>
              <a:t>REPOSITORY EVIDENCE</a:t>
            </a:r>
          </a:p>
          <a:p xmlns:a="http://schemas.openxmlformats.org/drawingml/2006/main">
            <a:r>
              <a:t>Sanitised internal-process evidence: 02_research/03_research-rounds/02_synthetic-workflow-selection/runs/2026-10-18-pain-practices-and-guidance/internal-process-review.md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earlier competitive landscape found overlap rather than an established empty market. Current research also retains successful or workable manual and human-supported approaches. This is a capability map, not a fresh audit of platform features, prices or policies. ChatGPT, Claude and specialised products remain comparison candidates. Any future differentiation needs task-level evidence against a simple baseline, not merely more generated content.</a:t>
            </a:r>
          </a:p>
          <a:p xmlns:a="http://schemas.openxmlformats.org/drawingml/2006/main">
            <a:r>
              <a:t/>
            </a:r>
          </a:p>
          <a:p xmlns:a="http://schemas.openxmlformats.org/drawingml/2006/main">
            <a:r>
              <a:t>REPOSITORY EVIDENCE</a:t>
            </a:r>
          </a:p>
          <a:p xmlns:a="http://schemas.openxmlformats.org/drawingml/2006/main">
            <a:r>
              <a:t>Earlier alternatives and positioning: 02_research/04_results/market-and-competition/2026-10-18-positioning.md</a:t>
            </a:r>
          </a:p>
          <a:p xmlns:a="http://schemas.openxmlformats.org/drawingml/2006/main">
            <a:r>
              <a:t>Practices evidence P01–P12: 02_research/03_research-rounds/02_synthetic-workflow-selection/runs/2026-10-18-pain-practices-and-guidance/practices-research.md</a:t>
            </a:r>
          </a:p>
          <a:p xmlns:a="http://schemas.openxmlformats.org/drawingml/2006/main">
            <a:r>
              <a:t>Round 01 public-web synthesis: 02_research/03_research-rounds/01_public-web-user-insights/round-synthesis.md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P06 records an unverified concern about a generated file; its parser diagnosis is not confirmed. Keep export problems separate from false claims and generic writing. P07 advises caution and human checking; the internal review documents retention-related omissions, not proven disclosure. A reusable evidence record creates questions about access, minimisation, retention and deletion. Those choices remain human-owned and unresolved before real personal-data testing.</a:t>
            </a:r>
          </a:p>
          <a:p xmlns:a="http://schemas.openxmlformats.org/drawingml/2006/main">
            <a:r>
              <a:t/>
            </a:r>
          </a:p>
          <a:p xmlns:a="http://schemas.openxmlformats.org/drawingml/2006/main">
            <a:r>
              <a:t>REPOSITORY EVIDENCE</a:t>
            </a:r>
          </a:p>
          <a:p xmlns:a="http://schemas.openxmlformats.org/drawingml/2006/main">
            <a:r>
              <a:t>Expanded Round 02 findings: 02_research/03_research-rounds/02_synthetic-workflow-selection/runs/2026-10-18-pain-practices-and-guidance/findings.md</a:t>
            </a:r>
          </a:p>
          <a:p xmlns:a="http://schemas.openxmlformats.org/drawingml/2006/main">
            <a:r>
              <a:t>Practices evidence P01–P12: 02_research/03_research-rounds/02_synthetic-workflow-selection/runs/2026-10-18-pain-practices-and-guidance/practices-research.md</a:t>
            </a:r>
          </a:p>
          <a:p xmlns:a="http://schemas.openxmlformats.org/drawingml/2006/main">
            <a:r>
              <a:t>Sanitised internal-process evidence: 02_research/03_research-rounds/02_synthetic-workflow-selection/runs/2026-10-18-pain-practices-and-guidance/internal-process-review.md</a:t>
            </a:r>
          </a:p>
          <a:p xmlns:a="http://schemas.openxmlformats.org/drawingml/2006/main">
            <a:r>
              <a:t>Detailed baseline claim and source map: 02_research/07_presentations/01_job-seeker-research-story/audit-baseline.md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Round 03 F01–F03 extends the Round 01/02 story rather than replacing its studies. The 13 baskets are purposive coverage organisers, not official classification categories or equal-size markets. Six selected deeper inquiries are S02/S03/S05/S07/S08/S10; the other seven retain breadth-only profiles. The health requirements refer to inspected local-graduate guidance and particular employer roles. Agency/client attribution is a checking question, not an allegation or a legal determination. Public/nonprofit ownership and an occupation such as IT do not by themselves determine employer industry.</a:t>
            </a:r>
          </a:p>
          <a:p xmlns:a="http://schemas.openxmlformats.org/drawingml/2006/main">
            <a:r>
              <a:t/>
            </a:r>
          </a:p>
          <a:p xmlns:a="http://schemas.openxmlformats.org/drawingml/2006/main">
            <a:r>
              <a:t>CLAIM-LEVEL EVIDENCE</a:t>
            </a:r>
          </a:p>
          <a:p xmlns:a="http://schemas.openxmlformats.org/drawingml/2006/main">
            <a:r>
              <a:t>source-reported: Nursing and patient-care support have different stated requirements.</a:t>
            </a:r>
          </a:p>
          <a:p xmlns:a="http://schemas.openxmlformats.org/drawingml/2006/main">
            <a:r>
              <a:t>R3-B01: 02_research/03_research-rounds/03_cross-industry-job-search/runs/2026-10-19-cross-industry-and-vacancy-credibility/contributions/worker-b.json</a:t>
            </a:r>
          </a:p>
          <a:p xmlns:a="http://schemas.openxmlformats.org/drawingml/2006/main">
            <a:r>
              <a:t>Original: https://www.snb.gov.sg/for-professionals/becoming-a-nurse-or-midwife/apply-for-registration-enrolment/local-graduates/</a:t>
            </a:r>
          </a:p>
          <a:p xmlns:a="http://schemas.openxmlformats.org/drawingml/2006/main">
            <a:r>
              <a:t>Locator: Eligibility; Application; Documents required; Outcome, lines 43-157: accredited training, documentary evidence and PC are distinguished; conditional competency routes exist.</a:t>
            </a:r>
          </a:p>
          <a:p xmlns:a="http://schemas.openxmlformats.org/drawingml/2006/main">
            <a:r>
              <a:t>Published: unknown. Underlying period: Guidance visible on 2026-10-19; historical implementation dates not established.</a:t>
            </a:r>
          </a:p>
          <a:p xmlns:a="http://schemas.openxmlformats.org/drawingml/2006/main">
            <a:r>
              <a:t>Boundary: Not foreign-trained eligibility, universal assessment timing, employer hiring probability or individual advice; current page is not evidence of actual processing times.</a:t>
            </a:r>
          </a:p>
          <a:p xmlns:a="http://schemas.openxmlformats.org/drawingml/2006/main">
            <a:r>
              <a:t>R3-B02: 02_research/03_research-rounds/03_cross-industry-job-search/runs/2026-10-19-cross-industry-and-vacancy-credibility/contributions/worker-b.json</a:t>
            </a:r>
          </a:p>
          <a:p xmlns:a="http://schemas.openxmlformats.org/drawingml/2006/main">
            <a:r>
              <a:t>Original: https://careers.singhealth.com.sg/NHCS/job/Singapore-Patient-Care-Assistant-(Inpatient)-(Full-Time)-Sing/12406944/</a:t>
            </a:r>
          </a:p>
          <a:p xmlns:a="http://schemas.openxmlformats.org/drawingml/2006/main">
            <a:r>
              <a:t>Locator: Job Requirements and role description, lines 45-60: O/N levels and work experience; WSQ advantage; shift work; vaccination evidence and completion route.</a:t>
            </a:r>
          </a:p>
          <a:p xmlns:a="http://schemas.openxmlformats.org/drawingml/2006/main">
            <a:r>
              <a:t>Published: 2026-09-24. Underlying period: Posting dated 2026-09-24; visible 2026-10-19.</a:t>
            </a:r>
          </a:p>
          <a:p xmlns:a="http://schemas.openxmlformats.org/drawingml/2006/main">
            <a:r>
              <a:t>Boundary: One employer/role; live vacancy, actual selection and statutory generalisation not established. No pay or exact assessment disclosed.</a:t>
            </a:r>
          </a:p>
          <a:p xmlns:a="http://schemas.openxmlformats.org/drawingml/2006/main">
            <a:r>
              <a:t>R3-B15: 02_research/03_research-rounds/03_cross-industry-job-search/runs/2026-10-19-cross-industry-and-vacancy-credibility/contributions/worker-b.json</a:t>
            </a:r>
          </a:p>
          <a:p xmlns:a="http://schemas.openxmlformats.org/drawingml/2006/main">
            <a:r>
              <a:t>Original: https://careers.singhealth.com.sg/SCH/job/Singapore-Staff-Nurse-Sing/56443244/</a:t>
            </a:r>
          </a:p>
          <a:p xmlns:a="http://schemas.openxmlformats.org/drawingml/2006/main">
            <a:r>
              <a:t>Locator: Lines 53-61: nursing qualification, valid SNB PC and BCLS, ILTC advantage, rotating shifts and two sites.</a:t>
            </a:r>
          </a:p>
          <a:p xmlns:a="http://schemas.openxmlformats.org/drawingml/2006/main">
            <a:r>
              <a:t>Published: 2026-09-22. Underlying period: Posting dated 2026-09-22; visible 2026-10-19.</a:t>
            </a:r>
          </a:p>
          <a:p xmlns:a="http://schemas.openxmlformats.org/drawingml/2006/main">
            <a:r>
              <a:t>Boundary: Same publisher group as B02, not independent institutional corroboration; full hiring status and offer terms unknown; pay undisclosed.</a:t>
            </a:r>
          </a:p>
          <a:p xmlns:a="http://schemas.openxmlformats.org/drawingml/2006/main">
            <a:r>
              <a:t/>
            </a:r>
          </a:p>
          <a:p xmlns:a="http://schemas.openxmlformats.org/drawingml/2006/main">
            <a:r>
              <a:t>interpretation: Agency/client roles and operations/sales contexts need separate interpretation.</a:t>
            </a:r>
          </a:p>
          <a:p xmlns:a="http://schemas.openxmlformats.org/drawingml/2006/main">
            <a:r>
              <a:t>R3-A08: 02_research/03_research-rounds/03_cross-industry-job-search/runs/2026-10-19-cross-industry-and-vacancy-credibility/contributions/worker-a.json</a:t>
            </a:r>
          </a:p>
          <a:p xmlns:a="http://schemas.openxmlformats.org/drawingml/2006/main">
            <a:r>
              <a:t>Original: https://psacareers.singaporepsa.com/jobs/container-handling-specialist-prime-mover-driver-joining-bonus-of-2000-for-singaporeans-and-prs-singapore</a:t>
            </a:r>
          </a:p>
          <a:p xmlns:a="http://schemas.openxmlformats.org/drawingml/2006/main">
            <a:r>
              <a:t>Locator: Lines 29-47: permanent, terminal duties, training, licence preference, shifts and shortlist notification.</a:t>
            </a:r>
          </a:p>
          <a:p xmlns:a="http://schemas.openxmlformats.org/drawingml/2006/main">
            <a:r>
              <a:t>Published: unknown; original advertised date not visible after redirect. Underlying period: Page closing date: 2026-12-31; actual recruitment/hire period unknown.</a:t>
            </a:r>
          </a:p>
          <a:p xmlns:a="http://schemas.openxmlformats.org/drawingml/2006/main">
            <a:r>
              <a:t>Boundary: Not public-road licensing guidance; no inspected wage, bonus conditions, exact site or current screening confirmation.</a:t>
            </a:r>
          </a:p>
          <a:p xmlns:a="http://schemas.openxmlformats.org/drawingml/2006/main">
            <a:r>
              <a:t>R3-A09: 02_research/03_research-rounds/03_cross-industry-job-search/runs/2026-10-19-cross-industry-and-vacancy-credibility/contributions/worker-a.json</a:t>
            </a:r>
          </a:p>
          <a:p xmlns:a="http://schemas.openxmlformats.org/drawingml/2006/main">
            <a:r>
              <a:t>Original: https://www.reddit.com/r/singaporejobs/comments/1ulkj9i/i_need_advice_on_logistics_job_singaporean/</a:t>
            </a:r>
          </a:p>
          <a:p xmlns:a="http://schemas.openxmlformats.org/drawingml/2006/main">
            <a:r>
              <a:t>Locator: Opening, lines 19-65: boards, commute exclusions, guidance, titles and company-site difficulty.</a:t>
            </a:r>
          </a:p>
          <a:p xmlns:a="http://schemas.openxmlformats.org/drawingml/2006/main">
            <a:r>
              <a:t>Published: unknown; rendered page shows relative 2mo. Underlying period: Reported ongoing search; exact period unknown.</a:t>
            </a:r>
          </a:p>
          <a:p xmlns:a="http://schemas.openxmlformats.org/drawingml/2006/main">
            <a:r>
              <a:t>Boundary: No interview/offer; personal pay aspiration is not benchmark; replies do not verify transport provision.</a:t>
            </a:r>
          </a:p>
          <a:p xmlns:a="http://schemas.openxmlformats.org/drawingml/2006/main">
            <a:r>
              <a:t>R3-C05: 02_research/03_research-rounds/03_cross-industry-job-search/runs/2026-10-19-cross-industry-and-vacancy-credibility/contributions/worker-c.json</a:t>
            </a:r>
          </a:p>
          <a:p xmlns:a="http://schemas.openxmlformats.org/drawingml/2006/main">
            <a:r>
              <a:t>Original: https://www.income.com.sg/careers/be-a-financial-planner/client-advisor</a:t>
            </a:r>
          </a:p>
          <a:p xmlns:a="http://schemas.openxmlformats.org/drawingml/2006/main">
            <a:r>
              <a:t>Locator: Duties and Benefits, lines98-115.</a:t>
            </a:r>
          </a:p>
          <a:p xmlns:a="http://schemas.openxmlformats.org/drawingml/2006/main">
            <a:r>
              <a:t>Published: unknown. Underlying period: Undated recruitment snapshot.</a:t>
            </a:r>
          </a:p>
          <a:p xmlns:a="http://schemas.openxmlformats.org/drawingml/2006/main">
            <a:r>
              <a:t>Boundary: Same Income employer family as C01/M14; salary amount, achievable incentives, targets, hours and actual offers unknown.</a:t>
            </a:r>
          </a:p>
          <a:p xmlns:a="http://schemas.openxmlformats.org/drawingml/2006/main">
            <a:r>
              <a:t>R3-C11: 02_research/03_research-rounds/03_cross-industry-job-search/runs/2026-10-19-cross-industry-and-vacancy-credibility/contributions/worker-c.json</a:t>
            </a:r>
          </a:p>
          <a:p xmlns:a="http://schemas.openxmlformats.org/drawingml/2006/main">
            <a:r>
              <a:t>Original: https://www.dbs.com/iwov-resources/images/careers/management-associate-programme/Available%202025%20MA%20Opportunities%20in%20Singapore.pdf</a:t>
            </a:r>
          </a:p>
          <a:p xmlns:a="http://schemas.openxmlformats.org/drawingml/2006/main">
            <a:r>
              <a:t>Locator: PDF pages13-14 (zero-based12-13), Operations, lines318-350.</a:t>
            </a:r>
          </a:p>
          <a:p xmlns:a="http://schemas.openxmlformats.org/drawingml/2006/main">
            <a:r>
              <a:t>Published: unknown (2025 programme edition; discovery dated &gt;24 months, unconfirmed). Underlying period: 2025 programme; historical by 2026-10-19.</a:t>
            </a:r>
          </a:p>
          <a:p xmlns:a="http://schemas.openxmlformats.org/drawingml/2006/main">
            <a:r>
              <a:t>Boundary: Historical programme cannot establish live 2026 opening, operations pay, all entry requirements or any individual's outcome.</a:t>
            </a:r>
          </a:p>
          <a:p xmlns:a="http://schemas.openxmlformats.org/drawingml/2006/main">
            <a:r>
              <a:t/>
            </a:r>
          </a:p>
          <a:p xmlns:a="http://schemas.openxmlformats.org/drawingml/2006/main">
            <a:r>
              <a:t>REPOSITORY EVIDENCE</a:t>
            </a:r>
          </a:p>
          <a:p xmlns:a="http://schemas.openxmlformats.org/drawingml/2006/main">
            <a:r>
              <a:t>Round 03 findings: 02_research/03_research-rounds/03_cross-industry-job-search/runs/2026-10-19-cross-industry-and-vacancy-credibility/findings.md</a:t>
            </a:r>
          </a:p>
          <a:p xmlns:a="http://schemas.openxmlformats.org/drawingml/2006/main">
            <a:r>
              <a:t>Round 03 coverage: 02_research/03_research-rounds/03_cross-industry-job-search/runs/2026-10-19-cross-industry-and-vacancy-credibility/coverage.md</a:t>
            </a:r>
          </a:p>
          <a:p xmlns:a="http://schemas.openxmlformats.org/drawingml/2006/main">
            <a:r>
              <a:t>Round 03 deeper report S03: 02_research/03_research-rounds/03_cross-industry-job-search/runs/2026-10-19-cross-industry-and-vacancy-credibility/sectors/S03.md</a:t>
            </a:r>
          </a:p>
          <a:p xmlns:a="http://schemas.openxmlformats.org/drawingml/2006/main">
            <a:r>
              <a:t>Round 03 deeper report S05: 02_research/03_research-rounds/03_cross-industry-job-search/runs/2026-10-19-cross-industry-and-vacancy-credibility/sectors/S05.md</a:t>
            </a:r>
          </a:p>
          <a:p xmlns:a="http://schemas.openxmlformats.org/drawingml/2006/main">
            <a:r>
              <a:t>Round 03 deeper report S08: 02_research/03_research-rounds/03_cross-industry-job-search/runs/2026-10-19-cross-industry-and-vacancy-credibility/sectors/S08.md</a:t>
            </a:r>
          </a:p>
          <a:p xmlns:a="http://schemas.openxmlformats.org/drawingml/2006/main">
            <a:r>
              <a:t>Round 03 source records: worker-a: 02_research/03_research-rounds/03_cross-industry-job-search/runs/2026-10-19-cross-industry-and-vacancy-credibility/contributions/worker-a.json</a:t>
            </a:r>
          </a:p>
          <a:p xmlns:a="http://schemas.openxmlformats.org/drawingml/2006/main">
            <a:r>
              <a:t>Round 03 source records: worker-b: 02_research/03_research-rounds/03_cross-industry-job-search/runs/2026-10-19-cross-industry-and-vacancy-credibility/contributions/worker-b.json</a:t>
            </a:r>
          </a:p>
          <a:p xmlns:a="http://schemas.openxmlformats.org/drawingml/2006/main">
            <a:r>
              <a:t>Round 03 source records: worker-c: 02_research/03_research-rounds/03_cross-industry-job-search/runs/2026-10-19-cross-industry-and-vacancy-credibility/contributions/worker-c.json</a:t>
            </a:r>
          </a:p>
          <a:p xmlns:a="http://schemas.openxmlformats.org/drawingml/2006/main">
            <a:r>
              <a:t/>
            </a:r>
          </a:p>
          <a:p xmlns:a="http://schemas.openxmlformats.org/drawingml/2006/main">
            <a:r>
              <a:t>SELECTED ORIGINAL SOURCES</a:t>
            </a:r>
          </a:p>
          <a:p xmlns:a="http://schemas.openxmlformats.org/drawingml/2006/main">
            <a:r>
              <a:t>R3-B01: Local Graduates: https://www.snb.gov.sg/for-professionals/becoming-a-nurse-or-midwife/apply-for-registration-enrolment/local-graduates/</a:t>
            </a:r>
          </a:p>
          <a:p xmlns:a="http://schemas.openxmlformats.org/drawingml/2006/main">
            <a:r>
              <a:t>R3-B02: Patient Care Assistant (Inpatient) (Full-Time): https://careers.singhealth.com.sg/NHCS/job/Singapore-Patient-Care-Assistant-(Inpatient)-(Full-Time)-Sing/12406944/</a:t>
            </a:r>
          </a:p>
          <a:p xmlns:a="http://schemas.openxmlformats.org/drawingml/2006/main">
            <a:r>
              <a:t>R3-B15: Staff Nurse (Req ID 4895): https://careers.singhealth.com.sg/SCH/job/Singapore-Staff-Nurse-Sing/56443244/</a:t>
            </a:r>
          </a:p>
          <a:p xmlns:a="http://schemas.openxmlformats.org/drawingml/2006/main">
            <a:r>
              <a:t>R3-A08: Container Handling Specialist (Prime Mover Driver) [Joining bonus of $2000 for Singaporeans and PRs]: https://psacareers.singaporepsa.com/jobs/container-handling-specialist-prime-mover-driver-joining-bonus-of-2000-for-singaporeans-and-prs-singapore</a:t>
            </a:r>
          </a:p>
          <a:p xmlns:a="http://schemas.openxmlformats.org/drawingml/2006/main">
            <a:r>
              <a:t>R3-A09: I need advice on logistics Job (Singaporean): https://www.reddit.com/r/singaporejobs/comments/1ulkj9i/i_need_advice_on_logistics_job_singaporean/</a:t>
            </a:r>
          </a:p>
          <a:p xmlns:a="http://schemas.openxmlformats.org/drawingml/2006/main">
            <a:r>
              <a:t>R3-C05: Be a Client Advisor: https://www.income.com.sg/careers/be-a-financial-planner/client-advisor</a:t>
            </a:r>
          </a:p>
          <a:p xmlns:a="http://schemas.openxmlformats.org/drawingml/2006/main">
            <a:r>
              <a:t>R3-C11: DBS Management Associate Programme 2025 - opportunities in Singapore: https://www.dbs.com/iwov-resources/images/careers/management-associate-programme/Available%202025%20MA%20Opportunities%20in%20Singapore.pdf</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communication summary of comparison.md and six bounded deeper reports. Public accounts, employer statements and regulator guidance are different evidence types. Hotel event/booklet pages are one family, as are the two SingHealth posts. Semiconductor interview advice does not establish an operator/machinist practical-test standard. Historical programme descriptions do not establish current openings. Creative arts and project outcomes remain undercovered even after the later audition supplement. No row estimates prevalence, effort, salaries or hiring probability. All 13 profiles appear in the appendix with their depth visible.</a:t>
            </a:r>
          </a:p>
          <a:p xmlns:a="http://schemas.openxmlformats.org/drawingml/2006/main">
            <a:r>
              <a:t/>
            </a:r>
          </a:p>
          <a:p xmlns:a="http://schemas.openxmlformats.org/drawingml/2006/main">
            <a:r>
              <a:t>CLAIM-LEVEL EVIDENCE</a:t>
            </a:r>
          </a:p>
          <a:p xmlns:a="http://schemas.openxmlformats.org/drawingml/2006/main">
            <a:r>
              <a:t>source-reported: Food and hotel roles raise different service/availability questions.</a:t>
            </a:r>
          </a:p>
          <a:p xmlns:a="http://schemas.openxmlformats.org/drawingml/2006/main">
            <a:r>
              <a:t>R3-A02: 02_research/03_research-rounds/03_cross-industry-job-search/runs/2026-10-19-cross-industry-and-vacancy-credibility/contributions/worker-a.json</a:t>
            </a:r>
          </a:p>
          <a:p xmlns:a="http://schemas.openxmlformats.org/drawingml/2006/main">
            <a:r>
              <a:t>Original: https://event.e2i.com.sg/storage/event_media/VasGZisqOcTAwJ2q72p51zsuSXZdTo9ZO2udrwsL.pdf</a:t>
            </a:r>
          </a:p>
          <a:p xmlns:a="http://schemas.openxmlformats.org/drawingml/2006/main">
            <a:r>
              <a:t>Locator: Pages 1-3, 5 and 8: guest systems, F&amp;B flexible hours, culinary and analytical criteria.</a:t>
            </a:r>
          </a:p>
          <a:p xmlns:a="http://schemas.openxmlformats.org/drawingml/2006/main">
            <a:r>
              <a:t>Published: unknown. Underlying period: Linked to 2025-08-25 event; standalone issue date unknown.</a:t>
            </a:r>
          </a:p>
          <a:p xmlns:a="http://schemas.openxmlformats.org/drawingml/2006/main">
            <a:r>
              <a:t>Boundary: One employer; template inconsistencies; no recruitment outcomes or actual roster.</a:t>
            </a:r>
          </a:p>
          <a:p xmlns:a="http://schemas.openxmlformats.org/drawingml/2006/main">
            <a:r>
              <a:t>R3-A04: 02_research/03_research-rounds/03_cross-industry-job-search/runs/2026-10-19-cross-industry-and-vacancy-credibility/contributions/worker-a.json</a:t>
            </a:r>
          </a:p>
          <a:p xmlns:a="http://schemas.openxmlformats.org/drawingml/2006/main">
            <a:r>
              <a:t>Original: https://www.reddit.com/r/SGExams/comments/1khn8pa/what_to_expect_for_fb_part_time_interview/</a:t>
            </a:r>
          </a:p>
          <a:p xmlns:a="http://schemas.openxmlformats.org/drawingml/2006/main">
            <a:r>
              <a:t>Locator: Opening, lines 20-21; replies 49-78: application, online invitation and availability advice.</a:t>
            </a:r>
          </a:p>
          <a:p xmlns:a="http://schemas.openxmlformats.org/drawingml/2006/main">
            <a:r>
              <a:t>Published: 2025-05-08 (page date context). Underlying period: Application before post; interview scheduled next week; result unknown.</a:t>
            </a:r>
          </a:p>
          <a:p xmlns:a="http://schemas.openxmlformats.org/drawingml/2006/main">
            <a:r>
              <a:t>Boundary: Advice is not actual interview behaviour; no offer outcome; no AI disclosure.</a:t>
            </a:r>
          </a:p>
          <a:p xmlns:a="http://schemas.openxmlformats.org/drawingml/2006/main">
            <a:r>
              <a:t>R3-A06: 02_research/03_research-rounds/03_cross-industry-job-search/runs/2026-10-19-cross-industry-and-vacancy-credibility/contributions/worker-a.json</a:t>
            </a:r>
          </a:p>
          <a:p xmlns:a="http://schemas.openxmlformats.org/drawingml/2006/main">
            <a:r>
              <a:t>Original: https://www.glassdoor.com/Interview/iTEA-Premium-Bubble-Tea-Singapore-Interview-Questions-E5618881.htm</a:t>
            </a:r>
          </a:p>
          <a:p xmlns:a="http://schemas.openxmlformats.org/drawingml/2006/main">
            <a:r>
              <a:t>Locator: Lines 148-237: staffing-message report and accepted-offer walk-in with practical questions.</a:t>
            </a:r>
          </a:p>
          <a:p xmlns:a="http://schemas.openxmlformats.org/drawingml/2006/main">
            <a:r>
              <a:t>Published: Page publication unknown; individual review publication dates displayed: 2025-07-01, 2025-08-14, 2025-09-09. Underlying period: Interview dates unknown; reviews describe prior experiences.</a:t>
            </a:r>
          </a:p>
          <a:p xmlns:a="http://schemas.openxmlformats.org/drawingml/2006/main">
            <a:r>
              <a:t>Boundary: One employer/platform family; no verified trial, contract or intent; accepted-offer claim unverified.</a:t>
            </a:r>
          </a:p>
          <a:p xmlns:a="http://schemas.openxmlformats.org/drawingml/2006/main">
            <a:r>
              <a:t/>
            </a:r>
          </a:p>
          <a:p xmlns:a="http://schemas.openxmlformats.org/drawingml/2006/main">
            <a:r>
              <a:t>source-reported: Care roles separate registration, support criteria and shift conditions.</a:t>
            </a:r>
          </a:p>
          <a:p xmlns:a="http://schemas.openxmlformats.org/drawingml/2006/main">
            <a:r>
              <a:t>R3-B01: 02_research/03_research-rounds/03_cross-industry-job-search/runs/2026-10-19-cross-industry-and-vacancy-credibility/contributions/worker-b.json</a:t>
            </a:r>
          </a:p>
          <a:p xmlns:a="http://schemas.openxmlformats.org/drawingml/2006/main">
            <a:r>
              <a:t>Original: https://www.snb.gov.sg/for-professionals/becoming-a-nurse-or-midwife/apply-for-registration-enrolment/local-graduates/</a:t>
            </a:r>
          </a:p>
          <a:p xmlns:a="http://schemas.openxmlformats.org/drawingml/2006/main">
            <a:r>
              <a:t>Locator: Eligibility; Application; Documents required; Outcome, lines 43-157: accredited training, documentary evidence and PC are distinguished; conditional competency routes exist.</a:t>
            </a:r>
          </a:p>
          <a:p xmlns:a="http://schemas.openxmlformats.org/drawingml/2006/main">
            <a:r>
              <a:t>Published: unknown. Underlying period: Guidance visible on 2026-10-19; historical implementation dates not established.</a:t>
            </a:r>
          </a:p>
          <a:p xmlns:a="http://schemas.openxmlformats.org/drawingml/2006/main">
            <a:r>
              <a:t>Boundary: Not foreign-trained eligibility, universal assessment timing, employer hiring probability or individual advice; current page is not evidence of actual processing times.</a:t>
            </a:r>
          </a:p>
          <a:p xmlns:a="http://schemas.openxmlformats.org/drawingml/2006/main">
            <a:r>
              <a:t>R3-B02: 02_research/03_research-rounds/03_cross-industry-job-search/runs/2026-10-19-cross-industry-and-vacancy-credibility/contributions/worker-b.json</a:t>
            </a:r>
          </a:p>
          <a:p xmlns:a="http://schemas.openxmlformats.org/drawingml/2006/main">
            <a:r>
              <a:t>Original: https://careers.singhealth.com.sg/NHCS/job/Singapore-Patient-Care-Assistant-(Inpatient)-(Full-Time)-Sing/12406944/</a:t>
            </a:r>
          </a:p>
          <a:p xmlns:a="http://schemas.openxmlformats.org/drawingml/2006/main">
            <a:r>
              <a:t>Locator: Job Requirements and role description, lines 45-60: O/N levels and work experience; WSQ advantage; shift work; vaccination evidence and completion route.</a:t>
            </a:r>
          </a:p>
          <a:p xmlns:a="http://schemas.openxmlformats.org/drawingml/2006/main">
            <a:r>
              <a:t>Published: 2026-09-24. Underlying period: Posting dated 2026-09-24; visible 2026-10-19.</a:t>
            </a:r>
          </a:p>
          <a:p xmlns:a="http://schemas.openxmlformats.org/drawingml/2006/main">
            <a:r>
              <a:t>Boundary: One employer/role; live vacancy, actual selection and statutory generalisation not established. No pay or exact assessment disclosed.</a:t>
            </a:r>
          </a:p>
          <a:p xmlns:a="http://schemas.openxmlformats.org/drawingml/2006/main">
            <a:r>
              <a:t>R3-B15: 02_research/03_research-rounds/03_cross-industry-job-search/runs/2026-10-19-cross-industry-and-vacancy-credibility/contributions/worker-b.json</a:t>
            </a:r>
          </a:p>
          <a:p xmlns:a="http://schemas.openxmlformats.org/drawingml/2006/main">
            <a:r>
              <a:t>Original: https://careers.singhealth.com.sg/SCH/job/Singapore-Staff-Nurse-Sing/56443244/</a:t>
            </a:r>
          </a:p>
          <a:p xmlns:a="http://schemas.openxmlformats.org/drawingml/2006/main">
            <a:r>
              <a:t>Locator: Lines 53-61: nursing qualification, valid SNB PC and BCLS, ILTC advantage, rotating shifts and two sites.</a:t>
            </a:r>
          </a:p>
          <a:p xmlns:a="http://schemas.openxmlformats.org/drawingml/2006/main">
            <a:r>
              <a:t>Published: 2026-09-22. Underlying period: Posting dated 2026-09-22; visible 2026-10-19.</a:t>
            </a:r>
          </a:p>
          <a:p xmlns:a="http://schemas.openxmlformats.org/drawingml/2006/main">
            <a:r>
              <a:t>Boundary: Same publisher group as B02, not independent institutional corroboration; full hiring status and offer terms unknown; pay undisclosed.</a:t>
            </a:r>
          </a:p>
          <a:p xmlns:a="http://schemas.openxmlformats.org/drawingml/2006/main">
            <a:r>
              <a:t/>
            </a:r>
          </a:p>
          <a:p xmlns:a="http://schemas.openxmlformats.org/drawingml/2006/main">
            <a:r>
              <a:t>interpretation: Logistics preparation depends on duties, shifts and employment context.</a:t>
            </a:r>
          </a:p>
          <a:p xmlns:a="http://schemas.openxmlformats.org/drawingml/2006/main">
            <a:r>
              <a:t>R3-A08: 02_research/03_research-rounds/03_cross-industry-job-search/runs/2026-10-19-cross-industry-and-vacancy-credibility/contributions/worker-a.json</a:t>
            </a:r>
          </a:p>
          <a:p xmlns:a="http://schemas.openxmlformats.org/drawingml/2006/main">
            <a:r>
              <a:t>Original: https://psacareers.singaporepsa.com/jobs/container-handling-specialist-prime-mover-driver-joining-bonus-of-2000-for-singaporeans-and-prs-singapore</a:t>
            </a:r>
          </a:p>
          <a:p xmlns:a="http://schemas.openxmlformats.org/drawingml/2006/main">
            <a:r>
              <a:t>Locator: Lines 29-47: permanent, terminal duties, training, licence preference, shifts and shortlist notification.</a:t>
            </a:r>
          </a:p>
          <a:p xmlns:a="http://schemas.openxmlformats.org/drawingml/2006/main">
            <a:r>
              <a:t>Published: unknown; original advertised date not visible after redirect. Underlying period: Page closing date: 2026-12-31; actual recruitment/hire period unknown.</a:t>
            </a:r>
          </a:p>
          <a:p xmlns:a="http://schemas.openxmlformats.org/drawingml/2006/main">
            <a:r>
              <a:t>Boundary: Not public-road licensing guidance; no inspected wage, bonus conditions, exact site or current screening confirmation.</a:t>
            </a:r>
          </a:p>
          <a:p xmlns:a="http://schemas.openxmlformats.org/drawingml/2006/main">
            <a:r>
              <a:t>R3-A09: 02_research/03_research-rounds/03_cross-industry-job-search/runs/2026-10-19-cross-industry-and-vacancy-credibility/contributions/worker-a.json</a:t>
            </a:r>
          </a:p>
          <a:p xmlns:a="http://schemas.openxmlformats.org/drawingml/2006/main">
            <a:r>
              <a:t>Original: https://www.reddit.com/r/singaporejobs/comments/1ulkj9i/i_need_advice_on_logistics_job_singaporean/</a:t>
            </a:r>
          </a:p>
          <a:p xmlns:a="http://schemas.openxmlformats.org/drawingml/2006/main">
            <a:r>
              <a:t>Locator: Opening, lines 19-65: boards, commute exclusions, guidance, titles and company-site difficulty.</a:t>
            </a:r>
          </a:p>
          <a:p xmlns:a="http://schemas.openxmlformats.org/drawingml/2006/main">
            <a:r>
              <a:t>Published: unknown; rendered page shows relative 2mo. Underlying period: Reported ongoing search; exact period unknown.</a:t>
            </a:r>
          </a:p>
          <a:p xmlns:a="http://schemas.openxmlformats.org/drawingml/2006/main">
            <a:r>
              <a:t>Boundary: No interview/offer; personal pay aspiration is not benchmark; replies do not verify transport provision.</a:t>
            </a:r>
          </a:p>
          <a:p xmlns:a="http://schemas.openxmlformats.org/drawingml/2006/main">
            <a:r>
              <a:t>R3-A13: 02_research/03_research-rounds/03_cross-industry-job-search/runs/2026-10-19-cross-industry-and-vacancy-credibility/contributions/worker-a.json</a:t>
            </a:r>
          </a:p>
          <a:p xmlns:a="http://schemas.openxmlformats.org/drawingml/2006/main">
            <a:r>
              <a:t>Original: https://www.mom.gov.sg/employment-practices/contract-of-service/key-employment-terms</a:t>
            </a:r>
          </a:p>
          <a:p xmlns:a="http://schemas.openxmlformats.org/drawingml/2006/main">
            <a:r>
              <a:t>Locator: Table, lines 34-73: employer, duties, term, hours, pay components and optional location.</a:t>
            </a:r>
          </a:p>
          <a:p xmlns:a="http://schemas.openxmlformats.org/drawingml/2006/main">
            <a:r>
              <a:t>Published: unknown. Underlying period: Current visible guidance as accessed; effective date not shown.</a:t>
            </a:r>
          </a:p>
          <a:p xmlns:a="http://schemas.openxmlformats.org/drawingml/2006/main">
            <a:r>
              <a:t>Boundary: No determination of individual entitlement, agency liability or a reported dispute; no legal advice.</a:t>
            </a:r>
          </a:p>
          <a:p xmlns:a="http://schemas.openxmlformats.org/drawingml/2006/main">
            <a:r>
              <a:t/>
            </a:r>
          </a:p>
          <a:p xmlns:a="http://schemas.openxmlformats.org/drawingml/2006/main">
            <a:r>
              <a:t>source-reported: Engineering accounts report technical reasoning and a separate mini-exam.</a:t>
            </a:r>
          </a:p>
          <a:p xmlns:a="http://schemas.openxmlformats.org/drawingml/2006/main">
            <a:r>
              <a:t>R3-B08: 02_research/03_research-rounds/03_cross-industry-job-search/runs/2026-10-19-cross-industry-and-vacancy-credibility/contributions/worker-b.json</a:t>
            </a:r>
          </a:p>
          <a:p xmlns:a="http://schemas.openxmlformats.org/drawingml/2006/main">
            <a:r>
              <a:t>Original: https://www.reddit.com/r/singaporejobs/comments/1wocwqv/fresh_grad_job_interview/</a:t>
            </a:r>
          </a:p>
          <a:p xmlns:a="http://schemas.openxmlformats.org/drawingml/2006/main">
            <a:r>
              <a:t>Locator: Lines 19-23 and 68-104: shortlist, knowledge gap, technical/quality scenarios, quiz, work-life questions and suggestion to use AI.</a:t>
            </a:r>
          </a:p>
          <a:p xmlns:a="http://schemas.openxmlformats.org/drawingml/2006/main">
            <a:r>
              <a:t>Published: unknown exact date; rendered 25d ago on access. Underlying period: Recent interview-preparation discussion; actual interviews in replies undated.</a:t>
            </a:r>
          </a:p>
          <a:p xmlns:a="http://schemas.openxmlformats.org/drawingml/2006/main">
            <a:r>
              <a:t>Boundary: Employer procedures not independently verified; no observed practical machine test, exact test content, paid status, preparation success or AI verification.</a:t>
            </a:r>
          </a:p>
          <a:p xmlns:a="http://schemas.openxmlformats.org/drawingml/2006/main">
            <a:r>
              <a:t>R3-B09: 02_research/03_research-rounds/03_cross-industry-job-search/runs/2026-10-19-cross-industry-and-vacancy-credibility/contributions/worker-b.json</a:t>
            </a:r>
          </a:p>
          <a:p xmlns:a="http://schemas.openxmlformats.org/drawingml/2006/main">
            <a:r>
              <a:t>Original: https://www.reddit.com/r/singaporejobs/comments/1pmvabb/interviews_till_offer/</a:t>
            </a:r>
          </a:p>
          <a:p xmlns:a="http://schemas.openxmlformats.org/drawingml/2006/main">
            <a:r>
              <a:t>Locator: Replies lines 143-152: one manufacturing worker reports two onsite interviews and offer; another science/manufacturing worker reports online then onsite mini-exam.</a:t>
            </a:r>
          </a:p>
          <a:p xmlns:a="http://schemas.openxmlformats.org/drawingml/2006/main">
            <a:r>
              <a:t>Published: unknown exact date; search and page relative-age displays differ. Underlying period: One reply says offer late January 'this year'; year not securely anchored; other interview dates unknown.</a:t>
            </a:r>
          </a:p>
          <a:p xmlns:a="http://schemas.openxmlformats.org/drawingml/2006/main">
            <a:r>
              <a:t>Boundary: Employer, duties, arrangement and exact chronology unknown; different commenters not one sequence. Science/manufacturing description is ambiguous; no assessment prevalence.</a:t>
            </a:r>
          </a:p>
          <a:p xmlns:a="http://schemas.openxmlformats.org/drawingml/2006/main">
            <a:r>
              <a:t/>
            </a:r>
          </a:p>
          <a:p xmlns:a="http://schemas.openxmlformats.org/drawingml/2006/main">
            <a:r>
              <a:t>source-reported: Finance functions and package components differ in the employer material.</a:t>
            </a:r>
          </a:p>
          <a:p xmlns:a="http://schemas.openxmlformats.org/drawingml/2006/main">
            <a:r>
              <a:t>R3-C05: 02_research/03_research-rounds/03_cross-industry-job-search/runs/2026-10-19-cross-industry-and-vacancy-credibility/contributions/worker-c.json</a:t>
            </a:r>
          </a:p>
          <a:p xmlns:a="http://schemas.openxmlformats.org/drawingml/2006/main">
            <a:r>
              <a:t>Original: https://www.income.com.sg/careers/be-a-financial-planner/client-advisor</a:t>
            </a:r>
          </a:p>
          <a:p xmlns:a="http://schemas.openxmlformats.org/drawingml/2006/main">
            <a:r>
              <a:t>Locator: Duties and Benefits, lines98-115.</a:t>
            </a:r>
          </a:p>
          <a:p xmlns:a="http://schemas.openxmlformats.org/drawingml/2006/main">
            <a:r>
              <a:t>Published: unknown. Underlying period: Undated recruitment snapshot.</a:t>
            </a:r>
          </a:p>
          <a:p xmlns:a="http://schemas.openxmlformats.org/drawingml/2006/main">
            <a:r>
              <a:t>Boundary: Same Income employer family as C01/M14; salary amount, achievable incentives, targets, hours and actual offers unknown.</a:t>
            </a:r>
          </a:p>
          <a:p xmlns:a="http://schemas.openxmlformats.org/drawingml/2006/main">
            <a:r>
              <a:t>R3-C09: 02_research/03_research-rounds/03_cross-industry-job-search/runs/2026-10-19-cross-industry-and-vacancy-credibility/contributions/worker-c.json</a:t>
            </a:r>
          </a:p>
          <a:p xmlns:a="http://schemas.openxmlformats.org/drawingml/2006/main">
            <a:r>
              <a:t>Original: https://www.careers-page.com/people-profilers/job/QXV9RX9R</a:t>
            </a:r>
          </a:p>
          <a:p xmlns:a="http://schemas.openxmlformats.org/drawingml/2006/main">
            <a:r>
              <a:t>Locator: Description/Responsibilities/Requirements, lines11-30; notification policy38.</a:t>
            </a:r>
          </a:p>
          <a:p xmlns:a="http://schemas.openxmlformats.org/drawingml/2006/main">
            <a:r>
              <a:t>Published: unknown. Underlying period: Undated listing; current external recruitment unresolved.</a:t>
            </a:r>
          </a:p>
          <a:p xmlns:a="http://schemas.openxmlformats.org/drawingml/2006/main">
            <a:r>
              <a:t>Boundary: Agency description not bank-confirmed terms or universal licensing rule; no pay amount, actual offer, closure date or employer intention.</a:t>
            </a:r>
          </a:p>
          <a:p xmlns:a="http://schemas.openxmlformats.org/drawingml/2006/main">
            <a:r>
              <a:t>R3-C11: 02_research/03_research-rounds/03_cross-industry-job-search/runs/2026-10-19-cross-industry-and-vacancy-credibility/contributions/worker-c.json</a:t>
            </a:r>
          </a:p>
          <a:p xmlns:a="http://schemas.openxmlformats.org/drawingml/2006/main">
            <a:r>
              <a:t>Original: https://www.dbs.com/iwov-resources/images/careers/management-associate-programme/Available%202025%20MA%20Opportunities%20in%20Singapore.pdf</a:t>
            </a:r>
          </a:p>
          <a:p xmlns:a="http://schemas.openxmlformats.org/drawingml/2006/main">
            <a:r>
              <a:t>Locator: PDF pages13-14 (zero-based12-13), Operations, lines318-350.</a:t>
            </a:r>
          </a:p>
          <a:p xmlns:a="http://schemas.openxmlformats.org/drawingml/2006/main">
            <a:r>
              <a:t>Published: unknown (2025 programme edition; discovery dated &gt;24 months, unconfirmed). Underlying period: 2025 programme; historical by 2026-10-19.</a:t>
            </a:r>
          </a:p>
          <a:p xmlns:a="http://schemas.openxmlformats.org/drawingml/2006/main">
            <a:r>
              <a:t>Boundary: Historical programme cannot establish live 2026 opening, operations pay, all entry requirements or any individual's outcome.</a:t>
            </a:r>
          </a:p>
          <a:p xmlns:a="http://schemas.openxmlformats.org/drawingml/2006/main">
            <a:r>
              <a:t/>
            </a:r>
          </a:p>
          <a:p xmlns:a="http://schemas.openxmlformats.org/drawingml/2006/main">
            <a:r>
              <a:t>source-reported: Creative employers describe portfolios and role-dependent tests.</a:t>
            </a:r>
          </a:p>
          <a:p xmlns:a="http://schemas.openxmlformats.org/drawingml/2006/main">
            <a:r>
              <a:t>R3-M18: 02_research/03_research-rounds/03_cross-industry-job-search/runs/2026-10-19-cross-industry-and-vacancy-credibility/contributions/worker-c.json</a:t>
            </a:r>
          </a:p>
          <a:p xmlns:a="http://schemas.openxmlformats.org/drawingml/2006/main">
            <a:r>
              <a:t>Original: https://www.superminted.com/careers</a:t>
            </a:r>
          </a:p>
          <a:p xmlns:a="http://schemas.openxmlformats.org/drawingml/2006/main">
            <a:r>
              <a:t>Locator: How We Hire123-152; FAQ161-198.</a:t>
            </a:r>
          </a:p>
          <a:p xmlns:a="http://schemas.openxmlformats.org/drawingml/2006/main">
            <a:r>
              <a:t>Published: unknown. Underlying period: Undated current page snapshot; hiring outcomes unknown.</a:t>
            </a:r>
          </a:p>
          <a:p xmlns:a="http://schemas.openxmlformats.org/drawingml/2006/main">
            <a:r>
              <a:t>Boundary: Task payment/duration/rights and actual response compliance unknown. Named roles and open applications are distinct; neither proves current headcount or eventual hire.</a:t>
            </a:r>
          </a:p>
          <a:p xmlns:a="http://schemas.openxmlformats.org/drawingml/2006/main">
            <a:r>
              <a:t>R3-C04: 02_research/03_research-rounds/03_cross-industry-job-search/runs/2026-10-19-cross-industry-and-vacancy-credibility/contributions/worker-c.json</a:t>
            </a:r>
          </a:p>
          <a:p xmlns:a="http://schemas.openxmlformats.org/drawingml/2006/main">
            <a:r>
              <a:t>Original: https://www.behindnetworksg.com/careers.html</a:t>
            </a:r>
          </a:p>
          <a:p xmlns:a="http://schemas.openxmlformats.org/drawingml/2006/main">
            <a:r>
              <a:t>Locator: Application lines47-55; roles100-152; test FAQ199-231.</a:t>
            </a:r>
          </a:p>
          <a:p xmlns:a="http://schemas.openxmlformats.org/drawingml/2006/main">
            <a:r>
              <a:t>Published: unknown. Underlying period: Undated employer snapshot accessed 2026-10-19.</a:t>
            </a:r>
          </a:p>
          <a:p xmlns:a="http://schemas.openxmlformats.org/drawingml/2006/main">
            <a:r>
              <a:t>Boundary: No verified hires or applicant satisfaction; salary deferred to conversation. Work-sample non-use promise not independently checked. Mutable page; initial/repeat line counts differed.</a:t>
            </a:r>
          </a:p>
          <a:p xmlns:a="http://schemas.openxmlformats.org/drawingml/2006/main">
            <a:r>
              <a:t/>
            </a:r>
          </a:p>
          <a:p xmlns:a="http://schemas.openxmlformats.org/drawingml/2006/main">
            <a:r>
              <a:t>REPOSITORY EVIDENCE</a:t>
            </a:r>
          </a:p>
          <a:p xmlns:a="http://schemas.openxmlformats.org/drawingml/2006/main">
            <a:r>
              <a:t>Round 03 comparison: 02_research/03_research-rounds/03_cross-industry-job-search/runs/2026-10-19-cross-industry-and-vacancy-credibility/comparison.md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deeper report S02: 02_research/03_research-rounds/03_cross-industry-job-search/runs/2026-10-19-cross-industry-and-vacancy-credibility/sectors/S02.md</a:t>
            </a:r>
          </a:p>
          <a:p xmlns:a="http://schemas.openxmlformats.org/drawingml/2006/main">
            <a:r>
              <a:t>Round 03 deeper report S03: 02_research/03_research-rounds/03_cross-industry-job-search/runs/2026-10-19-cross-industry-and-vacancy-credibility/sectors/S03.md</a:t>
            </a:r>
          </a:p>
          <a:p xmlns:a="http://schemas.openxmlformats.org/drawingml/2006/main">
            <a:r>
              <a:t>Round 03 deeper report S05: 02_research/03_research-rounds/03_cross-industry-job-search/runs/2026-10-19-cross-industry-and-vacancy-credibility/sectors/S05.md</a:t>
            </a:r>
          </a:p>
          <a:p xmlns:a="http://schemas.openxmlformats.org/drawingml/2006/main">
            <a:r>
              <a:t>Round 03 deeper report S07: 02_research/03_research-rounds/03_cross-industry-job-search/runs/2026-10-19-cross-industry-and-vacancy-credibility/sectors/S07.md</a:t>
            </a:r>
          </a:p>
          <a:p xmlns:a="http://schemas.openxmlformats.org/drawingml/2006/main">
            <a:r>
              <a:t>Round 03 deeper report S08: 02_research/03_research-rounds/03_cross-industry-job-search/runs/2026-10-19-cross-industry-and-vacancy-credibility/sectors/S08.md</a:t>
            </a:r>
          </a:p>
          <a:p xmlns:a="http://schemas.openxmlformats.org/drawingml/2006/main">
            <a:r>
              <a:t>Round 03 deeper report S10: 02_research/03_research-rounds/03_cross-industry-job-search/runs/2026-10-19-cross-industry-and-vacancy-credibility/sectors/S10.md</a:t>
            </a:r>
          </a:p>
          <a:p xmlns:a="http://schemas.openxmlformats.org/drawingml/2006/main">
            <a:r>
              <a:t>Round 03 source records: worker-a: 02_research/03_research-rounds/03_cross-industry-job-search/runs/2026-10-19-cross-industry-and-vacancy-credibility/contributions/worker-a.json</a:t>
            </a:r>
          </a:p>
          <a:p xmlns:a="http://schemas.openxmlformats.org/drawingml/2006/main">
            <a:r>
              <a:t>Round 03 source records: worker-b: 02_research/03_research-rounds/03_cross-industry-job-search/runs/2026-10-19-cross-industry-and-vacancy-credibility/contributions/worker-b.json</a:t>
            </a:r>
          </a:p>
          <a:p xmlns:a="http://schemas.openxmlformats.org/drawingml/2006/main">
            <a:r>
              <a:t>Round 03 source records: worker-c: 02_research/03_research-rounds/03_cross-industry-job-search/runs/2026-10-19-cross-industry-and-vacancy-credibility/contributions/worker-c.json</a:t>
            </a:r>
          </a:p>
          <a:p xmlns:a="http://schemas.openxmlformats.org/drawingml/2006/main">
            <a:r>
              <a:t/>
            </a:r>
          </a:p>
          <a:p xmlns:a="http://schemas.openxmlformats.org/drawingml/2006/main">
            <a:r>
              <a:t>SELECTED ORIGINAL SOURCES</a:t>
            </a:r>
          </a:p>
          <a:p xmlns:a="http://schemas.openxmlformats.org/drawingml/2006/main">
            <a:r>
              <a:t>R3-A02: EDITION vacancy booklet linked from 25 Aug walk-in: https://event.e2i.com.sg/storage/event_media/VasGZisqOcTAwJ2q72p51zsuSXZdTo9ZO2udrwsL.pdf</a:t>
            </a:r>
          </a:p>
          <a:p xmlns:a="http://schemas.openxmlformats.org/drawingml/2006/main">
            <a:r>
              <a:t>R3-A04: What to expect for F&amp;B part time interview?: https://www.reddit.com/r/SGExams/comments/1khn8pa/what_to_expect_for_fb_part_time_interview/</a:t>
            </a:r>
          </a:p>
          <a:p xmlns:a="http://schemas.openxmlformats.org/drawingml/2006/main">
            <a:r>
              <a:t>R3-A06: iTEA Premium Bubble Tea Singapore interview questions: https://www.glassdoor.com/Interview/iTEA-Premium-Bubble-Tea-Singapore-Interview-Questions-E5618881.htm</a:t>
            </a:r>
          </a:p>
          <a:p xmlns:a="http://schemas.openxmlformats.org/drawingml/2006/main">
            <a:r>
              <a:t>R3-B01: Local Graduates: https://www.snb.gov.sg/for-professionals/becoming-a-nurse-or-midwife/apply-for-registration-enrolment/local-graduates/</a:t>
            </a:r>
          </a:p>
          <a:p xmlns:a="http://schemas.openxmlformats.org/drawingml/2006/main">
            <a:r>
              <a:t>R3-B02: Patient Care Assistant (Inpatient) (Full-Time): https://careers.singhealth.com.sg/NHCS/job/Singapore-Patient-Care-Assistant-(Inpatient)-(Full-Time)-Sing/12406944/</a:t>
            </a:r>
          </a:p>
          <a:p xmlns:a="http://schemas.openxmlformats.org/drawingml/2006/main">
            <a:r>
              <a:t>R3-B15: Staff Nurse (Req ID 4895): https://careers.singhealth.com.sg/SCH/job/Singapore-Staff-Nurse-Sing/56443244/</a:t>
            </a:r>
          </a:p>
          <a:p xmlns:a="http://schemas.openxmlformats.org/drawingml/2006/main">
            <a:r>
              <a:t>R3-A08: Container Handling Specialist (Prime Mover Driver) [Joining bonus of $2000 for Singaporeans and PRs]: https://psacareers.singaporepsa.com/jobs/container-handling-specialist-prime-mover-driver-joining-bonus-of-2000-for-singaporeans-and-prs-singapore</a:t>
            </a:r>
          </a:p>
          <a:p xmlns:a="http://schemas.openxmlformats.org/drawingml/2006/main">
            <a:r>
              <a:t>R3-A09: I need advice on logistics Job (Singaporean): https://www.reddit.com/r/singaporejobs/comments/1ulkj9i/i_need_advice_on_logistics_job_singaporean/</a:t>
            </a:r>
          </a:p>
          <a:p xmlns:a="http://schemas.openxmlformats.org/drawingml/2006/main">
            <a:r>
              <a:t>R3-A13: Key employment terms (KETs): https://www.mom.gov.sg/employment-practices/contract-of-service/key-employment-terms</a:t>
            </a:r>
          </a:p>
          <a:p xmlns:a="http://schemas.openxmlformats.org/drawingml/2006/main">
            <a:r>
              <a:t>R3-B08: Fresh grad job interview: https://www.reddit.com/r/singaporejobs/comments/1wocwqv/fresh_grad_job_interview/</a:t>
            </a:r>
          </a:p>
          <a:p xmlns:a="http://schemas.openxmlformats.org/drawingml/2006/main">
            <a:r>
              <a:t>R3-B09: Interviews till Offer: https://www.reddit.com/r/singaporejobs/comments/1pmvabb/interviews_till_offer/</a:t>
            </a:r>
          </a:p>
          <a:p xmlns:a="http://schemas.openxmlformats.org/drawingml/2006/main">
            <a:r>
              <a:t>R3-C05: Be a Client Advisor: https://www.income.com.sg/careers/be-a-financial-planner/client-advisor</a:t>
            </a:r>
          </a:p>
          <a:p xmlns:a="http://schemas.openxmlformats.org/drawingml/2006/main">
            <a:r>
              <a:t>R3-C09: Wealth Planning Manager - QXV9RX9R: https://www.careers-page.com/people-profilers/job/QXV9RX9R</a:t>
            </a:r>
          </a:p>
          <a:p xmlns:a="http://schemas.openxmlformats.org/drawingml/2006/main">
            <a:r>
              <a:t>R3-C11: DBS Management Associate Programme 2025 - opportunities in Singapore: https://www.dbs.com/iwov-resources/images/careers/management-associate-programme/Available%202025%20MA%20Opportunities%20in%20Singapore.pdf</a:t>
            </a:r>
          </a:p>
          <a:p xmlns:a="http://schemas.openxmlformats.org/drawingml/2006/main">
            <a:r>
              <a:t>R3-M18: Careers at a Leading Branding &amp; Creative Agency | Singapore | Superminted: https://www.superminted.com/careers</a:t>
            </a:r>
          </a:p>
          <a:p xmlns:a="http://schemas.openxmlformats.org/drawingml/2006/main">
            <a:r>
              <a:t>R3-C04: Careers - behind Network / Talent: https://www.behindnetworksg.com/careers.html</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Round 03 F05/F06. MOM's alert was published 2018-07-04 and describes an earlier, undated case involving an unnamed employment agency. This briefing repeats the regulator's narrow attribution; it did not inspect the case file and makes no present employer accusation. The 2017 companion alert belongs to the same family. A disclosed future pool describes a different representation and does not itself establish deception. Expiry, copying, freezes, cancellations and internal fill are distinct possible explanations, not authenticated current Singapore episodes in this corpus. The 2025 MOM parliamentary response provides validation context, not a current posting-level ghost-job rate. Commercial surveys and review classifiers measure different populations and definitions; their percentages are not combined or promoted.</a:t>
            </a:r>
          </a:p>
          <a:p xmlns:a="http://schemas.openxmlformats.org/drawingml/2006/main">
            <a:r>
              <a:t/>
            </a:r>
          </a:p>
          <a:p xmlns:a="http://schemas.openxmlformats.org/drawingml/2006/main">
            <a:r>
              <a:t>CLAIM-LEVEL EVIDENCE</a:t>
            </a:r>
          </a:p>
          <a:p xmlns:a="http://schemas.openxmlformats.org/drawingml/2006/main">
            <a:r>
              <a:t>interpretation: The taxonomy separates impersonation, repeat/expired listings and future pools.</a:t>
            </a:r>
          </a:p>
          <a:p xmlns:a="http://schemas.openxmlformats.org/drawingml/2006/main">
            <a:r>
              <a:t>R3-G01: 02_research/03_research-rounds/03_cross-industry-job-search/runs/2026-10-19-cross-industry-and-vacancy-credibility/contributions/credibility.json</a:t>
            </a:r>
          </a:p>
          <a:p xmlns:a="http://schemas.openxmlformats.org/drawingml/2006/main">
            <a:r>
              <a:t>Original: https://www.police.gov.sg/media-hub/news/2024/20240220_police_advisory_on_job_scams</a:t>
            </a:r>
          </a:p>
          <a:p xmlns:a="http://schemas.openxmlformats.org/drawingml/2006/main">
            <a:r>
              <a:t>Locator: Body lines 901-920: approaches 1-3 and precautions; faithful paraphrase.</a:t>
            </a:r>
          </a:p>
          <a:p xmlns:a="http://schemas.openxmlformats.org/drawingml/2006/main">
            <a:r>
              <a:t>Published: 2024-02-20. Underlying period: 2023-10-01 to 2024-01-31.</a:t>
            </a:r>
          </a:p>
          <a:p xmlns:a="http://schemas.openxmlformats.org/drawingml/2006/main">
            <a:r>
              <a:t>Boundary: Older than 24 months; scam identity/action evidence does not establish genuine employers' intent. Historical contact details not reproduced.</a:t>
            </a:r>
          </a:p>
          <a:p xmlns:a="http://schemas.openxmlformats.org/drawingml/2006/main">
            <a:r>
              <a:t>R3-G02: 02_research/03_research-rounds/03_cross-industry-job-search/runs/2026-10-19-cross-industry-and-vacancy-credibility/contributions/credibility.json</a:t>
            </a:r>
          </a:p>
          <a:p xmlns:a="http://schemas.openxmlformats.org/drawingml/2006/main">
            <a:r>
              <a:t>Original: https://support.fastjobs.sg/how-to-repost-an-expired-job-ad-on-fastjobs</a:t>
            </a:r>
          </a:p>
          <a:p xmlns:a="http://schemas.openxmlformats.org/drawingml/2006/main">
            <a:r>
              <a:t>Locator: Steps 1-5 and dashboard-storage note, lines 19-32; paraphrase.</a:t>
            </a:r>
          </a:p>
          <a:p xmlns:a="http://schemas.openxmlformats.org/drawingml/2006/main">
            <a:r>
              <a:t>Published: unknown. Underlying period: Undated help page retrieved 2026-10-19.</a:t>
            </a:r>
          </a:p>
          <a:p xmlns:a="http://schemas.openxmlformats.org/drawingml/2006/main">
            <a:r>
              <a:t>Boundary: Shows an available action, not its frequency, automation or intent in any particular repost.</a:t>
            </a:r>
          </a:p>
          <a:p xmlns:a="http://schemas.openxmlformats.org/drawingml/2006/main">
            <a:r>
              <a:t>R3-G03: 02_research/03_research-rounds/03_cross-industry-job-search/runs/2026-10-19-cross-industry-and-vacancy-credibility/contributions/credibility.json</a:t>
            </a:r>
          </a:p>
          <a:p xmlns:a="http://schemas.openxmlformats.org/drawingml/2006/main">
            <a:r>
              <a:t>Original: https://sg.employer.seek.com/support/termsconditions</a:t>
            </a:r>
          </a:p>
          <a:p xmlns:a="http://schemas.openxmlformats.org/drawingml/2006/main">
            <a:r>
              <a:t>Locator: Clauses 47, 52; body lines 220-235; paraphrase.</a:t>
            </a:r>
          </a:p>
          <a:p xmlns:a="http://schemas.openxmlformats.org/drawingml/2006/main">
            <a:r>
              <a:t>Published: unknown; current page inspected. Underlying period: Terms snapshot 2026-10-19.</a:t>
            </a:r>
          </a:p>
          <a:p xmlns:a="http://schemas.openxmlformats.org/drawingml/2006/main">
            <a:r>
              <a:t>Boundary: A policy is not proof of compliance. Effective date not established; do not treat platform presence as certification.</a:t>
            </a:r>
          </a:p>
          <a:p xmlns:a="http://schemas.openxmlformats.org/drawingml/2006/main">
            <a:r>
              <a:t>R3-G07: 02_research/03_research-rounds/03_cross-industry-job-search/runs/2026-10-19-cross-industry-and-vacancy-credibility/contributions/credibility.json</a:t>
            </a:r>
          </a:p>
          <a:p xmlns:a="http://schemas.openxmlformats.org/drawingml/2006/main">
            <a:r>
              <a:t>Original: https://ibsmanpower.com.sg/staff/jobseekers</a:t>
            </a:r>
          </a:p>
          <a:p xmlns:a="http://schemas.openxmlformats.org/drawingml/2006/main">
            <a:r>
              <a:t>Locator: Introduction and FAQs, lines 32-36, 100-113, 134-156; paraphrase.</a:t>
            </a:r>
          </a:p>
          <a:p xmlns:a="http://schemas.openxmlformats.org/drawingml/2006/main">
            <a:r>
              <a:t>Published: unknown. Underlying period: Disclosure visible 2026-10-19; no opening date.</a:t>
            </a:r>
          </a:p>
          <a:p xmlns:a="http://schemas.openxmlformats.org/drawingml/2006/main">
            <a:r>
              <a:t>Boundary: Agency, not direct employer example; no evidence of actual matching effectiveness, vacancy count or current approved headcount.</a:t>
            </a:r>
          </a:p>
          <a:p xmlns:a="http://schemas.openxmlformats.org/drawingml/2006/main">
            <a:r>
              <a:t/>
            </a:r>
          </a:p>
          <a:p xmlns:a="http://schemas.openxmlformats.org/drawingml/2006/main">
            <a:r>
              <a:t>source-reported: MOM's 2018 alert attributes a nonexistent translator vacancy to resume collection for marketing.</a:t>
            </a:r>
          </a:p>
          <a:p xmlns:a="http://schemas.openxmlformats.org/drawingml/2006/main">
            <a:r>
              <a:t>R3-G16: 02_research/03_research-rounds/03_cross-industry-job-search/runs/2026-10-19-cross-industry-and-vacancy-credibility/contributions/credibility.json</a:t>
            </a:r>
          </a:p>
          <a:p xmlns:a="http://schemas.openxmlformats.org/drawingml/2006/main">
            <a:r>
              <a:t>Original: https://www.mom.gov.sg/-/media/mom/documents/employment-agencies/ea-alerts/2018/0704-fake-job-postings-reminder.pdf</a:t>
            </a:r>
          </a:p>
          <a:p xmlns:a="http://schemas.openxmlformats.org/drawingml/2006/main">
            <a:r>
              <a:t>Locator: PDF p. 1 paragraph 2; paraphrase.</a:t>
            </a:r>
          </a:p>
          <a:p xmlns:a="http://schemas.openxmlformats.org/drawingml/2006/main">
            <a:r>
              <a:t>Published: 2018-07-04. Underlying period: Undated recent case before 2018-07-04.</a:t>
            </a:r>
          </a:p>
          <a:p xmlns:a="http://schemas.openxmlformats.org/drawingml/2006/main">
            <a:r>
              <a:t>Boundary: One historical intermediary case, not direct-employer prevalence. Sanction attribution spans more than fake listing; no present company identified or accused.</a:t>
            </a:r>
          </a:p>
          <a:p xmlns:a="http://schemas.openxmlformats.org/drawingml/2006/main">
            <a:r>
              <a:t/>
            </a:r>
          </a:p>
          <a:p xmlns:a="http://schemas.openxmlformats.org/drawingml/2006/main">
            <a:r>
              <a:t>source-reported: An intermediary explicitly describes future-opportunity registration rather than a specific vacancy.</a:t>
            </a:r>
          </a:p>
          <a:p xmlns:a="http://schemas.openxmlformats.org/drawingml/2006/main">
            <a:r>
              <a:t>R3-G07: 02_research/03_research-rounds/03_cross-industry-job-search/runs/2026-10-19-cross-industry-and-vacancy-credibility/contributions/credibility.json</a:t>
            </a:r>
          </a:p>
          <a:p xmlns:a="http://schemas.openxmlformats.org/drawingml/2006/main">
            <a:r>
              <a:t>Original: https://ibsmanpower.com.sg/staff/jobseekers</a:t>
            </a:r>
          </a:p>
          <a:p xmlns:a="http://schemas.openxmlformats.org/drawingml/2006/main">
            <a:r>
              <a:t>Locator: Introduction and FAQs, lines 32-36, 100-113, 134-156; paraphrase.</a:t>
            </a:r>
          </a:p>
          <a:p xmlns:a="http://schemas.openxmlformats.org/drawingml/2006/main">
            <a:r>
              <a:t>Published: unknown. Underlying period: Disclosure visible 2026-10-19; no opening date.</a:t>
            </a:r>
          </a:p>
          <a:p xmlns:a="http://schemas.openxmlformats.org/drawingml/2006/main">
            <a:r>
              <a:t>Boundary: Agency, not direct employer example; no evidence of actual matching effectiveness, vacancy count or current approved headcount.</a:t>
            </a:r>
          </a:p>
          <a:p xmlns:a="http://schemas.openxmlformats.org/drawingml/2006/main">
            <a:r>
              <a:t/>
            </a:r>
          </a:p>
          <a:p xmlns:a="http://schemas.openxmlformats.org/drawingml/2006/main">
            <a:r>
              <a:t>REPOSITORY EVIDENCE</a:t>
            </a:r>
          </a:p>
          <a:p xmlns:a="http://schemas.openxmlformats.org/drawingml/2006/main">
            <a:r>
              <a:t>Round 03 vacancy credibility: 02_research/03_research-rounds/03_cross-industry-job-search/runs/2026-10-19-cross-industry-and-vacancy-credibility/vacancy-credibility.md</a:t>
            </a:r>
          </a:p>
          <a:p xmlns:a="http://schemas.openxmlformats.org/drawingml/2006/main">
            <a:r>
              <a:t>Round 03 findings: 02_research/03_research-rounds/03_cross-industry-job-search/runs/2026-10-19-cross-industry-and-vacancy-credibility/findings.md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credibility: 02_research/03_research-rounds/03_cross-industry-job-search/runs/2026-10-19-cross-industry-and-vacancy-credibility/contributions/credibility.json</a:t>
            </a:r>
          </a:p>
          <a:p xmlns:a="http://schemas.openxmlformats.org/drawingml/2006/main">
            <a:r>
              <a:t/>
            </a:r>
          </a:p>
          <a:p xmlns:a="http://schemas.openxmlformats.org/drawingml/2006/main">
            <a:r>
              <a:t>SELECTED ORIGINAL SOURCES</a:t>
            </a:r>
          </a:p>
          <a:p xmlns:a="http://schemas.openxmlformats.org/drawingml/2006/main">
            <a:r>
              <a:t>R3-G01: Police Advisory On Job Scams: https://www.police.gov.sg/media-hub/news/2024/20240220_police_advisory_on_job_scams</a:t>
            </a:r>
          </a:p>
          <a:p xmlns:a="http://schemas.openxmlformats.org/drawingml/2006/main">
            <a:r>
              <a:t>R3-G02: How to Repost an Expired Job Ad on FastJobs: https://support.fastjobs.sg/how-to-repost-an-expired-job-ad-on-fastjobs</a:t>
            </a:r>
          </a:p>
          <a:p xmlns:a="http://schemas.openxmlformats.org/drawingml/2006/main">
            <a:r>
              <a:t>R3-G03: Advertising Terms of Use: https://sg.employer.seek.com/support/termsconditions</a:t>
            </a:r>
          </a:p>
          <a:p xmlns:a="http://schemas.openxmlformats.org/drawingml/2006/main">
            <a:r>
              <a:t>R3-G07: For local jobseekers (SC/PR): join the IBS talent pool: https://ibsmanpower.com.sg/staff/jobseekers</a:t>
            </a:r>
          </a:p>
          <a:p xmlns:a="http://schemas.openxmlformats.org/drawingml/2006/main">
            <a:r>
              <a:t>R3-G16: EA Alert (11/2018): [Reminder] Fake Job Postings: https://www.mom.gov.sg/-/media/mom/documents/employment-agencies/ea-alerts/2018/0704-fake-job-postings-reminder.pdf</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five-question framework comes from vacancy-credibility.md. Preserve what the actor represented and what the available dated evidence supports, with unknown as a valid result. MOM's 2025-10-14 response acknowledges ordinary cross-portal posting and describes vacancy-statistics validation; it does not certify individual advertisements. A genuine employer page and an interview do not independently establish ongoing external recruitment or contemporaneous intent. PSA's terminal-driving page states shortlist-only notification; separate forum contributors report delayed offers, but those claims do not verify any particular requisition or explain another applicant's silence. This framework is an interpretation for evidence organisation, not tested detection accuracy, individual advice or an implemented product.</a:t>
            </a:r>
          </a:p>
          <a:p xmlns:a="http://schemas.openxmlformats.org/drawingml/2006/main">
            <a:r>
              <a:t/>
            </a:r>
          </a:p>
          <a:p xmlns:a="http://schemas.openxmlformats.org/drawingml/2006/main">
            <a:r>
              <a:t>CLAIM-LEVEL EVIDENCE</a:t>
            </a:r>
          </a:p>
          <a:p xmlns:a="http://schemas.openxmlformats.org/drawingml/2006/main">
            <a:r>
              <a:t>interpretation: Visible postings and publication mechanisms do not establish every vacancy's current recruitment or intent.</a:t>
            </a:r>
          </a:p>
          <a:p xmlns:a="http://schemas.openxmlformats.org/drawingml/2006/main">
            <a:r>
              <a:t>R3-G02: 02_research/03_research-rounds/03_cross-industry-job-search/runs/2026-10-19-cross-industry-and-vacancy-credibility/contributions/credibility.json</a:t>
            </a:r>
          </a:p>
          <a:p xmlns:a="http://schemas.openxmlformats.org/drawingml/2006/main">
            <a:r>
              <a:t>Original: https://support.fastjobs.sg/how-to-repost-an-expired-job-ad-on-fastjobs</a:t>
            </a:r>
          </a:p>
          <a:p xmlns:a="http://schemas.openxmlformats.org/drawingml/2006/main">
            <a:r>
              <a:t>Locator: Steps 1-5 and dashboard-storage note, lines 19-32; paraphrase.</a:t>
            </a:r>
          </a:p>
          <a:p xmlns:a="http://schemas.openxmlformats.org/drawingml/2006/main">
            <a:r>
              <a:t>Published: unknown. Underlying period: Undated help page retrieved 2026-10-19.</a:t>
            </a:r>
          </a:p>
          <a:p xmlns:a="http://schemas.openxmlformats.org/drawingml/2006/main">
            <a:r>
              <a:t>Boundary: Shows an available action, not its frequency, automation or intent in any particular repost.</a:t>
            </a:r>
          </a:p>
          <a:p xmlns:a="http://schemas.openxmlformats.org/drawingml/2006/main">
            <a:r>
              <a:t>R3-G03: 02_research/03_research-rounds/03_cross-industry-job-search/runs/2026-10-19-cross-industry-and-vacancy-credibility/contributions/credibility.json</a:t>
            </a:r>
          </a:p>
          <a:p xmlns:a="http://schemas.openxmlformats.org/drawingml/2006/main">
            <a:r>
              <a:t>Original: https://sg.employer.seek.com/support/termsconditions</a:t>
            </a:r>
          </a:p>
          <a:p xmlns:a="http://schemas.openxmlformats.org/drawingml/2006/main">
            <a:r>
              <a:t>Locator: Clauses 47, 52; body lines 220-235; paraphrase.</a:t>
            </a:r>
          </a:p>
          <a:p xmlns:a="http://schemas.openxmlformats.org/drawingml/2006/main">
            <a:r>
              <a:t>Published: unknown; current page inspected. Underlying period: Terms snapshot 2026-10-19.</a:t>
            </a:r>
          </a:p>
          <a:p xmlns:a="http://schemas.openxmlformats.org/drawingml/2006/main">
            <a:r>
              <a:t>Boundary: A policy is not proof of compliance. Effective date not established; do not treat platform presence as certification.</a:t>
            </a:r>
          </a:p>
          <a:p xmlns:a="http://schemas.openxmlformats.org/drawingml/2006/main">
            <a:r>
              <a:t>R3-G04: 02_research/03_research-rounds/03_cross-industry-job-search/runs/2026-10-19-cross-industry-and-vacancy-credibility/contributions/credibility.json</a:t>
            </a:r>
          </a:p>
          <a:p xmlns:a="http://schemas.openxmlformats.org/drawingml/2006/main">
            <a:r>
              <a:t>Original: https://www.mom.gov.sg/newsroom/parliament-questions-and-replies/2025/1014-written-answer-to-pq-on-ghost-jobs</a:t>
            </a:r>
          </a:p>
          <a:p xmlns:a="http://schemas.openxmlformats.org/drawingml/2006/main">
            <a:r>
              <a:t>Locator: Answer paragraphs 1-3, lines 43-46; paraphrase.</a:t>
            </a:r>
          </a:p>
          <a:p xmlns:a="http://schemas.openxmlformats.org/drawingml/2006/main">
            <a:r>
              <a:t>Published: 2025-10-14. Underlying period: Practices described as at 2025-10-14.</a:t>
            </a:r>
          </a:p>
          <a:p xmlns:a="http://schemas.openxmlformats.org/drawingml/2006/main">
            <a:r>
              <a:t>Boundary: Does not quantify Singapore ghost adverts, guarantee every MCF listing, or reveal public intent ground truth.</a:t>
            </a:r>
          </a:p>
          <a:p xmlns:a="http://schemas.openxmlformats.org/drawingml/2006/main">
            <a:r>
              <a:t/>
            </a:r>
          </a:p>
          <a:p xmlns:a="http://schemas.openxmlformats.org/drawingml/2006/main">
            <a:r>
              <a:t>source-reported: A future pool can disclose non-immediate purpose.</a:t>
            </a:r>
          </a:p>
          <a:p xmlns:a="http://schemas.openxmlformats.org/drawingml/2006/main">
            <a:r>
              <a:t>R3-G07: 02_research/03_research-rounds/03_cross-industry-job-search/runs/2026-10-19-cross-industry-and-vacancy-credibility/contributions/credibility.json</a:t>
            </a:r>
          </a:p>
          <a:p xmlns:a="http://schemas.openxmlformats.org/drawingml/2006/main">
            <a:r>
              <a:t>Original: https://ibsmanpower.com.sg/staff/jobseekers</a:t>
            </a:r>
          </a:p>
          <a:p xmlns:a="http://schemas.openxmlformats.org/drawingml/2006/main">
            <a:r>
              <a:t>Locator: Introduction and FAQs, lines 32-36, 100-113, 134-156; paraphrase.</a:t>
            </a:r>
          </a:p>
          <a:p xmlns:a="http://schemas.openxmlformats.org/drawingml/2006/main">
            <a:r>
              <a:t>Published: unknown. Underlying period: Disclosure visible 2026-10-19; no opening date.</a:t>
            </a:r>
          </a:p>
          <a:p xmlns:a="http://schemas.openxmlformats.org/drawingml/2006/main">
            <a:r>
              <a:t>Boundary: Agency, not direct employer example; no evidence of actual matching effectiveness, vacancy count or current approved headcount.</a:t>
            </a:r>
          </a:p>
          <a:p xmlns:a="http://schemas.openxmlformats.org/drawingml/2006/main">
            <a:r>
              <a:t/>
            </a:r>
          </a:p>
          <a:p xmlns:a="http://schemas.openxmlformats.org/drawingml/2006/main">
            <a:r>
              <a:t>source-reported: A listed role can disclose shortlist-only notification; other accounts report eventual offers after waits.</a:t>
            </a:r>
          </a:p>
          <a:p xmlns:a="http://schemas.openxmlformats.org/drawingml/2006/main">
            <a:r>
              <a:t>R3-A08: 02_research/03_research-rounds/03_cross-industry-job-search/runs/2026-10-19-cross-industry-and-vacancy-credibility/contributions/worker-a.json</a:t>
            </a:r>
          </a:p>
          <a:p xmlns:a="http://schemas.openxmlformats.org/drawingml/2006/main">
            <a:r>
              <a:t>Original: https://psacareers.singaporepsa.com/jobs/container-handling-specialist-prime-mover-driver-joining-bonus-of-2000-for-singaporeans-and-prs-singapore</a:t>
            </a:r>
          </a:p>
          <a:p xmlns:a="http://schemas.openxmlformats.org/drawingml/2006/main">
            <a:r>
              <a:t>Locator: Lines 29-47: permanent, terminal duties, training, licence preference, shifts and shortlist notification.</a:t>
            </a:r>
          </a:p>
          <a:p xmlns:a="http://schemas.openxmlformats.org/drawingml/2006/main">
            <a:r>
              <a:t>Published: unknown; original advertised date not visible after redirect. Underlying period: Page closing date: 2026-12-31; actual recruitment/hire period unknown.</a:t>
            </a:r>
          </a:p>
          <a:p xmlns:a="http://schemas.openxmlformats.org/drawingml/2006/main">
            <a:r>
              <a:t>Boundary: Not public-road licensing guidance; no inspected wage, bonus conditions, exact site or current screening confirmation.</a:t>
            </a:r>
          </a:p>
          <a:p xmlns:a="http://schemas.openxmlformats.org/drawingml/2006/main">
            <a:r>
              <a:t>R3-M21: 02_research/03_research-rounds/03_cross-industry-job-search/runs/2026-10-19-cross-industry-and-vacancy-credibility/contributions/coordinator-map.json</a:t>
            </a:r>
          </a:p>
          <a:p xmlns:a="http://schemas.openxmlformats.org/drawingml/2006/main">
            <a:r>
              <a:t>Original: https://www.reddit.com/r/singaporejobs/comments/1va8kmo/timeline_of_applying_to_ministrystat_board_jobs/</a:t>
            </a:r>
          </a:p>
          <a:p xmlns:a="http://schemas.openxmlformats.org/drawingml/2006/main">
            <a:r>
              <a:t>Locator: Opening / disclaimer / follow-up</a:t>
            </a:r>
          </a:p>
          <a:p xmlns:a="http://schemas.openxmlformats.org/drawingml/2006/main">
            <a:r>
              <a:t>Published: unknown. Underlying period: relative two-month date.</a:t>
            </a:r>
          </a:p>
          <a:p xmlns:a="http://schemas.openxmlformats.org/drawingml/2006/main">
            <a:r>
              <a:t>Boundary: Convenience retrieval; no prevalence inference. Dates, outcomes and applicability require case-specific verification.</a:t>
            </a:r>
          </a:p>
          <a:p xmlns:a="http://schemas.openxmlformats.org/drawingml/2006/main">
            <a:r>
              <a:t>R3-G08: 02_research/03_research-rounds/03_cross-industry-job-search/runs/2026-10-19-cross-industry-and-vacancy-credibility/contributions/credibility.json</a:t>
            </a:r>
          </a:p>
          <a:p xmlns:a="http://schemas.openxmlformats.org/drawingml/2006/main">
            <a:r>
              <a:t>Original: https://www.reddit.com/r/askSingapore/comments/1onv8j6/got_ghosted_after_4_rounds_of_interview_3_weeks/</a:t>
            </a:r>
          </a:p>
          <a:p xmlns:a="http://schemas.openxmlformats.org/drawingml/2006/main">
            <a:r>
              <a:t>Locator: Comments lines 204, 294, 359, 429-451, 597-623; paraphrase, no usernames retained.</a:t>
            </a:r>
          </a:p>
          <a:p xmlns:a="http://schemas.openxmlformats.org/drawingml/2006/main">
            <a:r>
              <a:t>Published: unknown; retrieved relative ages about 1 year. Underlying period: Retrospective experiences; exact years mostly unknown.</a:t>
            </a:r>
          </a:p>
          <a:p xmlns:a="http://schemas.openxmlformats.org/drawingml/2006/main">
            <a:r>
              <a:t>Boundary: One thread is one family; commenters' explanations and advice are not confirmed causes or proven workarounds. Office/tech skew, uncertain dates; no employer accusation retained.</a:t>
            </a:r>
          </a:p>
          <a:p xmlns:a="http://schemas.openxmlformats.org/drawingml/2006/main">
            <a:r>
              <a:t/>
            </a:r>
          </a:p>
          <a:p xmlns:a="http://schemas.openxmlformats.org/drawingml/2006/main">
            <a:r>
              <a:t>REPOSITORY EVIDENCE</a:t>
            </a:r>
          </a:p>
          <a:p xmlns:a="http://schemas.openxmlformats.org/drawingml/2006/main">
            <a:r>
              <a:t>Round 03 vacancy credibility: 02_research/03_research-rounds/03_cross-industry-job-search/runs/2026-10-19-cross-industry-and-vacancy-credibility/vacancy-credibility.md</a:t>
            </a:r>
          </a:p>
          <a:p xmlns:a="http://schemas.openxmlformats.org/drawingml/2006/main">
            <a:r>
              <a:t>Round 03 deeper report S05: 02_research/03_research-rounds/03_cross-industry-job-search/runs/2026-10-19-cross-industry-and-vacancy-credibility/sectors/S05.md</a:t>
            </a:r>
          </a:p>
          <a:p xmlns:a="http://schemas.openxmlformats.org/drawingml/2006/main">
            <a:r>
              <a:t>Round 03 profile S11: 02_research/03_research-rounds/03_cross-industry-job-search/runs/2026-10-19-cross-industry-and-vacancy-credibility/industry-profiles/S11.md</a:t>
            </a:r>
          </a:p>
          <a:p xmlns:a="http://schemas.openxmlformats.org/drawingml/2006/main">
            <a:r>
              <a:t>Round 03 source records: worker-a: 02_research/03_research-rounds/03_cross-industry-job-search/runs/2026-10-19-cross-industry-and-vacancy-credibility/contributions/worker-a.json</a:t>
            </a:r>
          </a:p>
          <a:p xmlns:a="http://schemas.openxmlformats.org/drawingml/2006/main">
            <a:r>
              <a:t>Round 03 source records: credibility: 02_research/03_research-rounds/03_cross-industry-job-search/runs/2026-10-19-cross-industry-and-vacancy-credibility/contributions/credibility.json</a:t>
            </a:r>
          </a:p>
          <a:p xmlns:a="http://schemas.openxmlformats.org/drawingml/2006/main">
            <a:r>
              <a:t>Round 03 source records: coordinator-map: 02_research/03_research-rounds/03_cross-industry-job-search/runs/2026-10-19-cross-industry-and-vacancy-credibility/contributions/coordinator-map.json</a:t>
            </a:r>
          </a:p>
          <a:p xmlns:a="http://schemas.openxmlformats.org/drawingml/2006/main">
            <a:r>
              <a:t/>
            </a:r>
          </a:p>
          <a:p xmlns:a="http://schemas.openxmlformats.org/drawingml/2006/main">
            <a:r>
              <a:t>SELECTED ORIGINAL SOURCES</a:t>
            </a:r>
          </a:p>
          <a:p xmlns:a="http://schemas.openxmlformats.org/drawingml/2006/main">
            <a:r>
              <a:t>R3-G02: How to Repost an Expired Job Ad on FastJobs: https://support.fastjobs.sg/how-to-repost-an-expired-job-ad-on-fastjobs</a:t>
            </a:r>
          </a:p>
          <a:p xmlns:a="http://schemas.openxmlformats.org/drawingml/2006/main">
            <a:r>
              <a:t>R3-G03: Advertising Terms of Use: https://sg.employer.seek.com/support/termsconditions</a:t>
            </a:r>
          </a:p>
          <a:p xmlns:a="http://schemas.openxmlformats.org/drawingml/2006/main">
            <a:r>
              <a:t>R3-G04: Written Answer to PQ on Ghost Jobs: https://www.mom.gov.sg/newsroom/parliament-questions-and-replies/2025/1014-written-answer-to-pq-on-ghost-jobs</a:t>
            </a:r>
          </a:p>
          <a:p xmlns:a="http://schemas.openxmlformats.org/drawingml/2006/main">
            <a:r>
              <a:t>R3-G07: For local jobseekers (SC/PR): join the IBS talent pool: https://ibsmanpower.com.sg/staff/jobseekers</a:t>
            </a:r>
          </a:p>
          <a:p xmlns:a="http://schemas.openxmlformats.org/drawingml/2006/main">
            <a:r>
              <a:t>R3-A08: Container Handling Specialist (Prime Mover Driver) [Joining bonus of $2000 for Singaporeans and PRs]: https://psacareers.singaporepsa.com/jobs/container-handling-specialist-prime-mover-driver-joining-bonus-of-2000-for-singaporeans-and-prs-singapore</a:t>
            </a:r>
          </a:p>
          <a:p xmlns:a="http://schemas.openxmlformats.org/drawingml/2006/main">
            <a:r>
              <a:t>R3-M21: Timeline of applying to ministry/stat board jobs in Singapore: my experience from 50+ applications and 6 interviews : r/singaporejobs: https://www.reddit.com/r/singaporejobs/comments/1va8kmo/timeline_of_applying_to_ministrystat_board_jobs/</a:t>
            </a:r>
          </a:p>
          <a:p xmlns:a="http://schemas.openxmlformats.org/drawingml/2006/main">
            <a:r>
              <a:t>R3-G08: Got ghosted after 4 rounds of interview… What's the longest you've waited and still got an offer?: https://www.reddit.com/r/askSingapore/comments/1onv8j6/got_ghosted_after_4_rounds_of_interview_3_weeks/</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Round 03 F07/F08 and the final arts/trades supplement. The prototype author and commenters in P02 are separate people; reported callbacks and time savings have not been verified or attributed causally to AI. Targeted collection did not establish occupation-specific nurse or warehouse application AI sequences. The manufacturing thread contains advice to try AI, not evidence the applicant did so. M14 is an employer-curated operations switch published 2020-12-31; exact transition dates are unknown. P01's promotional numerical comparisons were excluded. No AI mention does not establish non-use. The later Wild Rice notice is a historical disclosed casting route and the machinist account is international/unspecified. Neither resolves local outcomes or pay. These are discussion and validation questions; no owner acceptance is implied.</a:t>
            </a:r>
          </a:p>
          <a:p xmlns:a="http://schemas.openxmlformats.org/drawingml/2006/main">
            <a:r>
              <a:t/>
            </a:r>
          </a:p>
          <a:p xmlns:a="http://schemas.openxmlformats.org/drawingml/2006/main">
            <a:r>
              <a:t>CLAIM-LEVEL EVIDENCE</a:t>
            </a:r>
          </a:p>
          <a:p xmlns:a="http://schemas.openxmlformats.org/drawingml/2006/main">
            <a:r>
              <a:t>source-reported: AI automation claims are unverified and occupations are not established.</a:t>
            </a:r>
          </a:p>
          <a:p xmlns:a="http://schemas.openxmlformats.org/drawingml/2006/main">
            <a:r>
              <a:t>R3-P02: 02_research/03_research-rounds/03_cross-industry-job-search/runs/2026-10-19-cross-industry-and-vacancy-credibility/contributions/coordinator-gaps.json</a:t>
            </a:r>
          </a:p>
          <a:p xmlns:a="http://schemas.openxmlformats.org/drawingml/2006/main">
            <a:r>
              <a:t>Original: https://www.reddit.com/r/asksg/comments/1w9rfbb/have_anyone_every_seen_or_heard_anyone_apply_for/</a:t>
            </a:r>
          </a:p>
          <a:p xmlns:a="http://schemas.openxmlformats.org/drawingml/2006/main">
            <a:r>
              <a:t>Locator: Opening post distinguishes unfinished prototype; replies describe claimed personal use. Other replies give advice.</a:t>
            </a:r>
          </a:p>
          <a:p xmlns:a="http://schemas.openxmlformats.org/drawingml/2006/main">
            <a:r>
              <a:t>Published: unknown; relative date only. Underlying period: retrospective; exact period unknown.</a:t>
            </a:r>
          </a:p>
          <a:p xmlns:a="http://schemas.openxmlformats.org/drawingml/2006/main">
            <a:r>
              <a:t>Boundary: No prevalence, sector-specific adoption, comparative effectiveness, permission to scrape/contact, or validated hiring benefit.</a:t>
            </a:r>
          </a:p>
          <a:p xmlns:a="http://schemas.openxmlformats.org/drawingml/2006/main">
            <a:r>
              <a:t/>
            </a:r>
          </a:p>
          <a:p xmlns:a="http://schemas.openxmlformats.org/drawingml/2006/main">
            <a:r>
              <a:t>source-reported: Advice to use AI is distinct from applicant adoption.</a:t>
            </a:r>
          </a:p>
          <a:p xmlns:a="http://schemas.openxmlformats.org/drawingml/2006/main">
            <a:r>
              <a:t>R3-B08: 02_research/03_research-rounds/03_cross-industry-job-search/runs/2026-10-19-cross-industry-and-vacancy-credibility/contributions/worker-b.json</a:t>
            </a:r>
          </a:p>
          <a:p xmlns:a="http://schemas.openxmlformats.org/drawingml/2006/main">
            <a:r>
              <a:t>Original: https://www.reddit.com/r/singaporejobs/comments/1wocwqv/fresh_grad_job_interview/</a:t>
            </a:r>
          </a:p>
          <a:p xmlns:a="http://schemas.openxmlformats.org/drawingml/2006/main">
            <a:r>
              <a:t>Locator: Lines 19-23 and 68-104: shortlist, knowledge gap, technical/quality scenarios, quiz, work-life questions and suggestion to use AI.</a:t>
            </a:r>
          </a:p>
          <a:p xmlns:a="http://schemas.openxmlformats.org/drawingml/2006/main">
            <a:r>
              <a:t>Published: unknown exact date; rendered 25d ago on access. Underlying period: Recent interview-preparation discussion; actual interviews in replies undated.</a:t>
            </a:r>
          </a:p>
          <a:p xmlns:a="http://schemas.openxmlformats.org/drawingml/2006/main">
            <a:r>
              <a:t>Boundary: Employer procedures not independently verified; no observed practical machine test, exact test content, paid status, preparation success or AI verification.</a:t>
            </a:r>
          </a:p>
          <a:p xmlns:a="http://schemas.openxmlformats.org/drawingml/2006/main">
            <a:r>
              <a:t/>
            </a:r>
          </a:p>
          <a:p xmlns:a="http://schemas.openxmlformats.org/drawingml/2006/main">
            <a:r>
              <a:t>interpretation: Manual, human and learning routes remain bounded alternatives.</a:t>
            </a:r>
          </a:p>
          <a:p xmlns:a="http://schemas.openxmlformats.org/drawingml/2006/main">
            <a:r>
              <a:t>R3-M14: 02_research/03_research-rounds/03_cross-industry-job-search/runs/2026-10-19-cross-industry-and-vacancy-credibility/contributions/worker-c.json</a:t>
            </a:r>
          </a:p>
          <a:p xmlns:a="http://schemas.openxmlformats.org/drawingml/2006/main">
            <a:r>
              <a:t>Original: https://www.income.com.sg/blog/mid-career-switch</a:t>
            </a:r>
          </a:p>
          <a:p xmlns:a="http://schemas.openxmlformats.org/drawingml/2006/main">
            <a:r>
              <a:t>Locator: Date line112; Experience120-122; Right Opportunity125-126; transition129-132.</a:t>
            </a:r>
          </a:p>
          <a:p xmlns:a="http://schemas.openxmlformats.org/drawingml/2006/main">
            <a:r>
              <a:t>Published: 2020-12-31. Underlying period: Transition occurred by publication; precise event dates unknown; older.</a:t>
            </a:r>
          </a:p>
          <a:p xmlns:a="http://schemas.openxmlformats.org/drawingml/2006/main">
            <a:r>
              <a:t>Boundary: Older than 24 months, curated success; discovery channel/rounds/pay unknown. Potential pay cut is a general barrier, not an observed personal reduction. Same Income employer group as C01/C05.</a:t>
            </a:r>
          </a:p>
          <a:p xmlns:a="http://schemas.openxmlformats.org/drawingml/2006/main">
            <a:r>
              <a:t>R3-P01: 02_research/03_research-rounds/03_cross-industry-job-search/runs/2026-10-19-cross-industry-and-vacancy-credibility/contributions/coordinator-gaps.json</a:t>
            </a:r>
          </a:p>
          <a:p xmlns:a="http://schemas.openxmlformats.org/drawingml/2006/main">
            <a:r>
              <a:t>Original: https://www.linkedin.com/posts/josephlouistan_how-i-landed-senior-roles-without-applying-activity-7364280286420881408-ty5t</a:t>
            </a:r>
          </a:p>
          <a:p xmlns:a="http://schemas.openxmlformats.org/drawingml/2006/main">
            <a:r>
              <a:t>Locator: Original post opening; numerical claims excluded because no method shown.</a:t>
            </a:r>
          </a:p>
          <a:p xmlns:a="http://schemas.openxmlformats.org/drawingml/2006/main">
            <a:r>
              <a:t>Published: unknown; relative date only. Underlying period: retrospective; exact period unknown.</a:t>
            </a:r>
          </a:p>
          <a:p xmlns:a="http://schemas.openxmlformats.org/drawingml/2006/main">
            <a:r>
              <a:t>Boundary: No prevalence, sector-specific adoption, comparative effectiveness, permission to scrape/contact, or validated hiring benefit.</a:t>
            </a:r>
          </a:p>
          <a:p xmlns:a="http://schemas.openxmlformats.org/drawingml/2006/main">
            <a:r>
              <a:t/>
            </a:r>
          </a:p>
          <a:p xmlns:a="http://schemas.openxmlformats.org/drawingml/2006/main">
            <a:r>
              <a:t>REPOSITORY EVIDENCE</a:t>
            </a:r>
          </a:p>
          <a:p xmlns:a="http://schemas.openxmlformats.org/drawingml/2006/main">
            <a:r>
              <a:t>Round 03 findings: 02_research/03_research-rounds/03_cross-industry-job-search/runs/2026-10-19-cross-industry-and-vacancy-credibility/findings.md</a:t>
            </a:r>
          </a:p>
          <a:p xmlns:a="http://schemas.openxmlformats.org/drawingml/2006/main">
            <a:r>
              <a:t>Round 03 practices and alternatives: 02_research/03_research-rounds/03_cross-industry-job-search/runs/2026-10-19-cross-industry-and-vacancy-credibility/cross-industry-practices.md</a:t>
            </a:r>
          </a:p>
          <a:p xmlns:a="http://schemas.openxmlformats.org/drawingml/2006/main">
            <a:r>
              <a:t>Round 03 comparison: 02_research/03_research-rounds/03_cross-industry-job-search/runs/2026-10-19-cross-industry-and-vacancy-credibility/comparison.md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arts and trades supplement: 02_research/03_research-rounds/03_cross-industry-job-search/runs/2026-10-19-cross-industry-and-vacancy-credibility/arts-and-trades-supplement.md</a:t>
            </a:r>
          </a:p>
          <a:p xmlns:a="http://schemas.openxmlformats.org/drawingml/2006/main">
            <a:r>
              <a:t>Round 03 source records: coordinator-gaps: 02_research/03_research-rounds/03_cross-industry-job-search/runs/2026-10-19-cross-industry-and-vacancy-credibility/contributions/coordinator-gaps.json</a:t>
            </a:r>
          </a:p>
          <a:p xmlns:a="http://schemas.openxmlformats.org/drawingml/2006/main">
            <a:r>
              <a:t>Round 03 source records: worker-b: 02_research/03_research-rounds/03_cross-industry-job-search/runs/2026-10-19-cross-industry-and-vacancy-credibility/contributions/worker-b.json</a:t>
            </a:r>
          </a:p>
          <a:p xmlns:a="http://schemas.openxmlformats.org/drawingml/2006/main">
            <a:r>
              <a:t>Round 03 source records: worker-c: 02_research/03_research-rounds/03_cross-industry-job-search/runs/2026-10-19-cross-industry-and-vacancy-credibility/contributions/worker-c.json</a:t>
            </a:r>
          </a:p>
          <a:p xmlns:a="http://schemas.openxmlformats.org/drawingml/2006/main">
            <a:r>
              <a:t/>
            </a:r>
          </a:p>
          <a:p xmlns:a="http://schemas.openxmlformats.org/drawingml/2006/main">
            <a:r>
              <a:t>SELECTED ORIGINAL SOURCES</a:t>
            </a:r>
          </a:p>
          <a:p xmlns:a="http://schemas.openxmlformats.org/drawingml/2006/main">
            <a:r>
              <a:t>R3-P02: Reported local automation and application workflow: https://www.reddit.com/r/asksg/comments/1w9rfbb/have_anyone_every_seen_or_heard_anyone_apply_for/</a:t>
            </a:r>
          </a:p>
          <a:p xmlns:a="http://schemas.openxmlformats.org/drawingml/2006/main">
            <a:r>
              <a:t>R3-B08: Fresh grad job interview: https://www.reddit.com/r/singaporejobs/comments/1wocwqv/fresh_grad_job_interview/</a:t>
            </a:r>
          </a:p>
          <a:p xmlns:a="http://schemas.openxmlformats.org/drawingml/2006/main">
            <a:r>
              <a:t>R3-M14: Making a Mid-career Switch with Income Insurance: https://www.income.com.sg/blog/mid-career-switch</a:t>
            </a:r>
          </a:p>
          <a:p xmlns:a="http://schemas.openxmlformats.org/drawingml/2006/main">
            <a:r>
              <a:t>R3-P01: Design leader's self-reported referral routes: https://www.linkedin.com/posts/josephlouistan_how-i-landed-senior-roles-without-applying-activity-7364280286420881408-ty5t</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earlier Round 01/02 corpus leaned toward graduate, office and technology perspectives. Round 03 adds 13 profiles and six deeper non-IT inquiries, but remains English-first purposive desk research. Frontline, multilingual, offline, low-digital-confidence, access-needs and older-worker contexts remain undercovered. Local operational-trades journeys and performing-arts outcomes are still partial. International studies and reported successes do not establish Singapore demand or JobHub benefit. Round 03 is a bounded investigation; later Rounds 04–06 remain optional plans, and no user or intervention test has occurred.</a:t>
            </a:r>
          </a:p>
          <a:p xmlns:a="http://schemas.openxmlformats.org/drawingml/2006/main">
            <a:r>
              <a:t/>
            </a:r>
          </a:p>
          <a:p xmlns:a="http://schemas.openxmlformats.org/drawingml/2006/main">
            <a:r>
              <a:t>REPOSITORY EVIDENCE</a:t>
            </a:r>
          </a:p>
          <a:p xmlns:a="http://schemas.openxmlformats.org/drawingml/2006/main">
            <a:r>
              <a:t>Expanded research limitations: 02_research/03_research-rounds/02_synthetic-workflow-selection/runs/2026-10-18-pain-practices-and-guidance/limitations.md</a:t>
            </a:r>
          </a:p>
          <a:p xmlns:a="http://schemas.openxmlformats.org/drawingml/2006/main">
            <a:r>
              <a:t>Round 01 public-web synthesis: 02_research/03_research-rounds/01_public-web-user-insights/round-synthesis.md</a:t>
            </a:r>
          </a:p>
          <a:p xmlns:a="http://schemas.openxmlformats.org/drawingml/2006/main">
            <a:r>
              <a:t>Round 02 objective coverage: 02_research/03_research-rounds/02_synthetic-workflow-selection/runs/2026-10-18-pain-practices-and-guidance/coverage.md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coverage: 02_research/03_research-rounds/03_cross-industry-job-search/runs/2026-10-19-cross-industry-and-vacancy-credibility/coverage.md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a narrow preparation task rather than a broad application. Use identical fictional inputs to compare a simple manual baseline with reviewable assistance. Record unsupported claims, visible gaps, correction effort, recovery after interruption and ability to explain the output. Interview practice and compensation are separate possible later tasks. Owner-only testing can assess logic and effort, not representative usefulness. Real-data testing would require prior privacy and provider decisions. Round 03 does not accept this older candidate experiment or establish one priority sector. Any test would need role-appropriate tasks and comparison with manual/human alternatives.</a:t>
            </a:r>
          </a:p>
          <a:p xmlns:a="http://schemas.openxmlformats.org/drawingml/2006/main">
            <a:r>
              <a:t/>
            </a:r>
          </a:p>
          <a:p xmlns:a="http://schemas.openxmlformats.org/drawingml/2006/main">
            <a:r>
              <a:t>REPOSITORY EVIDENCE</a:t>
            </a:r>
          </a:p>
          <a:p xmlns:a="http://schemas.openxmlformats.org/drawingml/2006/main">
            <a:r>
              <a:t>Candidate next task, not accepted scope: 02_research/03_research-rounds/02_synthetic-workflow-selection/decision-gate.md</a:t>
            </a:r>
          </a:p>
          <a:p xmlns:a="http://schemas.openxmlformats.org/drawingml/2006/main">
            <a:r>
              <a:t>Expanded Round 02 findings: 02_research/03_research-rounds/02_synthetic-workflow-selection/runs/2026-10-18-pain-practices-and-guidance/findings.md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end of the main briefing. The proposed organising principle is preserving factual evidence and helping a person make and resume an informed decision. It is a synthesis for discussion, not a validated value proposition. The appendix explains round history, video limits, development approach and remaining provider choices. The owner retains final acceptance of research conclusions and any product direction. The appendix now also includes all 13 Round 03 profiles: six deeper inquiries and seven breadth-only summaries.</a:t>
            </a:r>
          </a:p>
          <a:p xmlns:a="http://schemas.openxmlformats.org/drawingml/2006/main">
            <a:r>
              <a:t/>
            </a:r>
          </a:p>
          <a:p xmlns:a="http://schemas.openxmlformats.org/drawingml/2006/main">
            <a:r>
              <a:t>REPOSITORY EVIDENCE</a:t>
            </a:r>
          </a:p>
          <a:p xmlns:a="http://schemas.openxmlformats.org/drawingml/2006/main">
            <a:r>
              <a:t>Expanded Round 02 findings: 02_research/03_research-rounds/02_synthetic-workflow-selection/runs/2026-10-18-pain-practices-and-guidance/findings.md</a:t>
            </a:r>
          </a:p>
          <a:p xmlns:a="http://schemas.openxmlformats.org/drawingml/2006/main">
            <a:r>
              <a:t>Candidate next task, not accepted scope: 02_research/03_research-rounds/02_synthetic-workflow-selection/decision-gate.md</a:t>
            </a:r>
          </a:p>
          <a:p xmlns:a="http://schemas.openxmlformats.org/drawingml/2006/main">
            <a:r>
              <a:t>Round 03 findings: 02_research/03_research-rounds/03_cross-industry-job-search/runs/2026-10-19-cross-industry-and-vacancy-credibility/findings.md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folder name 02_synthetic-workflow-selection reflects an earlier plan. The latest expanded evidence run was explicitly authorised for pains, practices, guidance, video captions and a bounded internal review. Its evidence should not be confused with the retained fictional workflow comparison. The historical comparison cannot rank workflows as user-validated. Syntheses, source ledgers and decision gates preserve these distinctions. Round 03 collection is dated 19 October 2026 and adds conditional cross-industry comparisons, bounded ghost-posting evidence and an arts/trades supplement. It does not imply complete objective resolution, market validation or acceptance.</a:t>
            </a:r>
          </a:p>
          <a:p xmlns:a="http://schemas.openxmlformats.org/drawingml/2006/main">
            <a:r>
              <a:t/>
            </a:r>
          </a:p>
          <a:p xmlns:a="http://schemas.openxmlformats.org/drawingml/2006/main">
            <a:r>
              <a:t>REPOSITORY EVIDENCE</a:t>
            </a:r>
          </a:p>
          <a:p xmlns:a="http://schemas.openxmlformats.org/drawingml/2006/main">
            <a:r>
              <a:t>Round 00 baseline synthesis: 02_research/04_results/00_cross-research-synthesis.md</a:t>
            </a:r>
          </a:p>
          <a:p xmlns:a="http://schemas.openxmlformats.org/drawingml/2006/main">
            <a:r>
              <a:t>Round 01 public-web synthesis: 02_research/03_research-rounds/01_public-web-user-insights/round-synthesis.md</a:t>
            </a:r>
          </a:p>
          <a:p xmlns:a="http://schemas.openxmlformats.org/drawingml/2006/main">
            <a:r>
              <a:t>Round 02 synthesis: 02_research/03_research-rounds/02_synthetic-workflow-selection/round-synthesis.md</a:t>
            </a:r>
          </a:p>
          <a:p xmlns:a="http://schemas.openxmlformats.org/drawingml/2006/main">
            <a:r>
              <a:t>Expanded research limitations: 02_research/03_research-rounds/02_synthetic-workflow-selection/runs/2026-10-18-pain-practices-and-guidance/limitations.md</a:t>
            </a:r>
          </a:p>
          <a:p xmlns:a="http://schemas.openxmlformats.org/drawingml/2006/main">
            <a:r>
              <a:t>Round 03 findings: 02_research/03_research-rounds/03_cross-industry-job-search/runs/2026-10-19-cross-industry-and-vacancy-credibility/findings.md</a:t>
            </a:r>
          </a:p>
          <a:p xmlns:a="http://schemas.openxmlformats.org/drawingml/2006/main">
            <a:r>
              <a:t>Round 03 coverage: 02_research/03_research-rounds/03_cross-industry-job-search/runs/2026-10-19-cross-industry-and-vacancy-credibility/coverage.md</a:t>
            </a:r>
          </a:p>
          <a:p xmlns:a="http://schemas.openxmlformats.org/drawingml/2006/main">
            <a:r>
              <a:t>Round 03 limitations: 02_research/03_research-rounds/03_cross-industry-job-search/runs/2026-10-19-cross-industry-and-vacancy-credibility/limitations.md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supplied captures and five additional canonical captures were reviewed. Same-creator videos and repeated claims are grouped rather than counted as independent support. The captions include manual and automatic tracks. Title changes described by a creator were not independently checked on screen. V10 is 2020 international current-job raise advice, not a Singapore job-offer source. Domain guidance carries the compensation discussion. Full timestamp locators and discovery outcomes remain in the reports.</a:t>
            </a:r>
          </a:p>
          <a:p xmlns:a="http://schemas.openxmlformats.org/drawingml/2006/main">
            <a:r>
              <a:t/>
            </a:r>
          </a:p>
          <a:p xmlns:a="http://schemas.openxmlformats.org/drawingml/2006/main">
            <a:r>
              <a:t>REPOSITORY EVIDENCE</a:t>
            </a:r>
          </a:p>
          <a:p xmlns:a="http://schemas.openxmlformats.org/drawingml/2006/main">
            <a:r>
              <a:t>Video evidence V01–V10: 02_research/03_research-rounds/02_synthetic-workflow-selection/runs/2026-10-18-pain-practices-and-guidance/video-research.md</a:t>
            </a:r>
          </a:p>
          <a:p xmlns:a="http://schemas.openxmlformats.org/drawingml/2006/main">
            <a:r>
              <a:t>Caption discovery and provenance: 02_research/03_research-rounds/02_synthetic-workflow-selection/runs/2026-10-18-pain-practices-and-guidance/youtube-discovery-log.md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baseline development research responded to the owner's concern that exhaustive specification slows progress while they still want technical responsibility. The recommendation is a short behaviour brief, narrow implementation, independent verification and concise decision records. Given/When/Then is a way to express examples, not a requirement to introduce Cucumber or a large test framework. AI-generated code still needs review, security consideration and owner understanding of data flow, failures and recovery. This process has not been benchmarked locally.</a:t>
            </a:r>
          </a:p>
          <a:p xmlns:a="http://schemas.openxmlformats.org/drawingml/2006/main">
            <a:r>
              <a:t/>
            </a:r>
          </a:p>
          <a:p xmlns:a="http://schemas.openxmlformats.org/drawingml/2006/main">
            <a:r>
              <a:t>REPOSITORY EVIDENCE</a:t>
            </a:r>
          </a:p>
          <a:p xmlns:a="http://schemas.openxmlformats.org/drawingml/2006/main">
            <a:r>
              <a:t>Earlier AI-era development findings: 02_research/04_results/development-and-technology/2026-10-18-development-approach.md</a:t>
            </a:r>
          </a:p>
          <a:p xmlns:a="http://schemas.openxmlformats.org/drawingml/2006/main">
            <a:r>
              <a:t>Round 00 baseline synthesis: 02_research/04_results/00_cross-research-synthesis.md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owner requested broad competition and tool research. The repository contains earlier landscape work and later named-tool accounts, but not a controlled current comparison of ChatGPT, Claude or other assistants. No current feature, price or privacy-policy ranking is asserted. A separate baseline source, Cui, Dias and Ye's generative cover-letter study, reports a small, temporary callback effect with inconclusive hiring results in a freelance-platform setting. Its version header and manuscript date differ; the baseline audit records that limit. This is another bounded intervention, not a provider ranking. The product surface should follow tested workflow needs, not the illustrative phone/laptop scene. Provider and personal-data choices remain explicit owner decisions.</a:t>
            </a:r>
          </a:p>
          <a:p xmlns:a="http://schemas.openxmlformats.org/drawingml/2006/main">
            <a:r>
              <a:t/>
            </a:r>
          </a:p>
          <a:p xmlns:a="http://schemas.openxmlformats.org/drawingml/2006/main">
            <a:r>
              <a:t>REPOSITORY EVIDENCE</a:t>
            </a:r>
          </a:p>
          <a:p xmlns:a="http://schemas.openxmlformats.org/drawingml/2006/main">
            <a:r>
              <a:t>Earlier alternatives and positioning: 02_research/04_results/market-and-competition/2026-10-18-positioning.md</a:t>
            </a:r>
          </a:p>
          <a:p xmlns:a="http://schemas.openxmlformats.org/drawingml/2006/main">
            <a:r>
              <a:t>Expanded Round 02 findings: 02_research/03_research-rounds/02_synthetic-workflow-selection/runs/2026-10-18-pain-practices-and-guidance/findings.md</a:t>
            </a:r>
          </a:p>
          <a:p xmlns:a="http://schemas.openxmlformats.org/drawingml/2006/main">
            <a:r>
              <a:t>Expanded research limitations: 02_research/03_research-rounds/02_synthetic-workflow-selection/runs/2026-10-18-pain-practices-and-guidance/limitations.md</a:t>
            </a:r>
          </a:p>
          <a:p xmlns:a="http://schemas.openxmlformats.org/drawingml/2006/main">
            <a:r>
              <a:t>Earlier AI-era development findings: 02_research/04_results/development-and-technology/2026-10-18-development-approach.md</a:t>
            </a:r>
          </a:p>
          <a:p xmlns:a="http://schemas.openxmlformats.org/drawingml/2006/main">
            <a:r>
              <a:t>Detailed baseline claim and source map: 02_research/07_presentations/01_job-seeker-research-story/audit-baseline.md</a:t>
            </a:r>
          </a:p>
          <a:p xmlns:a="http://schemas.openxmlformats.org/drawingml/2006/main">
            <a:r>
              <a:t/>
            </a:r>
          </a:p>
          <a:p xmlns:a="http://schemas.openxmlformats.org/drawingml/2006/main">
            <a:r>
              <a:t>SELECTED ORIGINAL SOURCES</a:t>
            </a:r>
          </a:p>
          <a:p xmlns:a="http://schemas.openxmlformats.org/drawingml/2006/main">
            <a:r>
              <a:t>Baseline generative cover-letter study, version 2: https://arxiv.org/html/2509.25054v2</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M02 separates the opening poster's concern from a commenter's report. January 2025 availability is mentioned; exact post dates are unknown. M01 describes a discretionary programme, not a guaranteed offer. A QR link is a reported application channel, never proof of identity or vacancy legitimacy.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Retail sales, stock support and wholesale professional work are different contexts. A retail account includes walk-ins and an outlet QR application. Wholesale has a conversion route.</a:t>
            </a:r>
          </a:p>
          <a:p xmlns:a="http://schemas.openxmlformats.org/drawingml/2006/main">
            <a:r>
              <a:t>R3-M01: 02_research/03_research-rounds/03_cross-industry-job-search/runs/2026-10-19-cross-industry-and-vacancy-credibility/contributions/coordinator-map.json</a:t>
            </a:r>
          </a:p>
          <a:p xmlns:a="http://schemas.openxmlformats.org/drawingml/2006/main">
            <a:r>
              <a:t>Original: https://www.enterprisesg.gov.sg/grow-your-business/boost-capabilities/talent-attraction-and-development/career-conversion-programme---wholesale-trade-professionals</a:t>
            </a:r>
          </a:p>
          <a:p xmlns:a="http://schemas.openxmlformats.org/drawingml/2006/main">
            <a:r>
              <a:t>Locator: About this programme / Eligibility</a:t>
            </a:r>
          </a:p>
          <a:p xmlns:a="http://schemas.openxmlformats.org/drawingml/2006/main">
            <a:r>
              <a:t>Published: unknown. Underlying period: undated current page.</a:t>
            </a:r>
          </a:p>
          <a:p xmlns:a="http://schemas.openxmlformats.org/drawingml/2006/main">
            <a:r>
              <a:t>Boundary: Convenience retrieval; no prevalence inference. Dates, outcomes and applicability require case-specific verification.</a:t>
            </a:r>
          </a:p>
          <a:p xmlns:a="http://schemas.openxmlformats.org/drawingml/2006/main">
            <a:r>
              <a:t>R3-M02: 02_research/03_research-rounds/03_cross-industry-job-search/runs/2026-10-19-cross-industry-and-vacancy-credibility/contributions/coordinator-map.json</a:t>
            </a:r>
          </a:p>
          <a:p xmlns:a="http://schemas.openxmlformats.org/drawingml/2006/main">
            <a:r>
              <a:t>Original: https://www.reddit.com/r/SGExams/comments/1h4qdy1/working_at_a_retail_store_questions/</a:t>
            </a:r>
          </a:p>
          <a:p xmlns:a="http://schemas.openxmlformats.org/drawingml/2006/main">
            <a:r>
              <a:t>Locator: Opening post / early comments</a:t>
            </a:r>
          </a:p>
          <a:p xmlns:a="http://schemas.openxmlformats.org/drawingml/2006/main">
            <a:r>
              <a:t>Published: unknown. Underlying period: January 2025 availability mentioned.</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interpretation: Clarify availability, commitment length, outlet and actual duties. Keep service or stock examples truthful. Ask how basic and variable pay are defined.</a:t>
            </a:r>
          </a:p>
          <a:p xmlns:a="http://schemas.openxmlformats.org/drawingml/2006/main">
            <a:r>
              <a:t>R3-M01: 02_research/03_research-rounds/03_cross-industry-job-search/runs/2026-10-19-cross-industry-and-vacancy-credibility/contributions/coordinator-map.json</a:t>
            </a:r>
          </a:p>
          <a:p xmlns:a="http://schemas.openxmlformats.org/drawingml/2006/main">
            <a:r>
              <a:t>Original: https://www.enterprisesg.gov.sg/grow-your-business/boost-capabilities/talent-attraction-and-development/career-conversion-programme---wholesale-trade-professionals</a:t>
            </a:r>
          </a:p>
          <a:p xmlns:a="http://schemas.openxmlformats.org/drawingml/2006/main">
            <a:r>
              <a:t>Locator: About this programme / Eligibility</a:t>
            </a:r>
          </a:p>
          <a:p xmlns:a="http://schemas.openxmlformats.org/drawingml/2006/main">
            <a:r>
              <a:t>Published: unknown. Underlying period: undated current page.</a:t>
            </a:r>
          </a:p>
          <a:p xmlns:a="http://schemas.openxmlformats.org/drawingml/2006/main">
            <a:r>
              <a:t>Boundary: Convenience retrieval; no prevalence inference. Dates, outcomes and applicability require case-specific verification.</a:t>
            </a:r>
          </a:p>
          <a:p xmlns:a="http://schemas.openxmlformats.org/drawingml/2006/main">
            <a:r>
              <a:t>R3-M02: 02_research/03_research-rounds/03_cross-industry-job-search/runs/2026-10-19-cross-industry-and-vacancy-credibility/contributions/coordinator-map.json</a:t>
            </a:r>
          </a:p>
          <a:p xmlns:a="http://schemas.openxmlformats.org/drawingml/2006/main">
            <a:r>
              <a:t>Original: https://www.reddit.com/r/SGExams/comments/1h4qdy1/working_at_a_retail_store_questions/</a:t>
            </a:r>
          </a:p>
          <a:p xmlns:a="http://schemas.openxmlformats.org/drawingml/2006/main">
            <a:r>
              <a:t>Locator: Opening post / early comments</a:t>
            </a:r>
          </a:p>
          <a:p xmlns:a="http://schemas.openxmlformats.org/drawingml/2006/main">
            <a:r>
              <a:t>Published: unknown. Underlying period: January 2025 availability mentioned.</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REPOSITORY EVIDENCE</a:t>
            </a:r>
          </a:p>
          <a:p xmlns:a="http://schemas.openxmlformats.org/drawingml/2006/main">
            <a:r>
              <a:t>Round 03 profile S01: 02_research/03_research-rounds/03_cross-industry-job-search/runs/2026-10-19-cross-industry-and-vacancy-credibility/industry-profiles/S01.md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coordinator-map: 02_research/03_research-rounds/03_cross-industry-job-search/runs/2026-10-19-cross-industry-and-vacancy-credibility/contributions/coordinator-map.json</a:t>
            </a:r>
          </a:p>
          <a:p xmlns:a="http://schemas.openxmlformats.org/drawingml/2006/main">
            <a:r>
              <a:t/>
            </a:r>
          </a:p>
          <a:p xmlns:a="http://schemas.openxmlformats.org/drawingml/2006/main">
            <a:r>
              <a:t>SELECTED ORIGINAL SOURCES</a:t>
            </a:r>
          </a:p>
          <a:p xmlns:a="http://schemas.openxmlformats.org/drawingml/2006/main">
            <a:r>
              <a:t>R3-M01: Career Conversion Programme – Wholesale Trade Professionals: https://www.enterprisesg.gov.sg/grow-your-business/boost-capabilities/talent-attraction-and-development/career-conversion-programme---wholesale-trade-professionals</a:t>
            </a:r>
          </a:p>
          <a:p xmlns:a="http://schemas.openxmlformats.org/drawingml/2006/main">
            <a:r>
              <a:t>R3-M02: working at a retail store questions : r/SGExams: https://www.reddit.com/r/SGExams/comments/1h4qdy1/working_at_a_retail_store_questions/</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A01 is a dated 2025 event, not an invitation to apply today. A02 has template inconsistencies and does not establish actual tests. A04 stops at an online-interview invitation. A06 contains separate 2025 reviews of an accepted offer and a staffing-change message; proposed trial completion is unknown. No general hotel wage, certification entitlement or prevalence is inferred.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Restaurant crew and hotel guest-service or culinary work involve different tasks. A 25 August 2025 hotel walk-in and separate restaurant application accounts document routes.</a:t>
            </a:r>
          </a:p>
          <a:p xmlns:a="http://schemas.openxmlformats.org/drawingml/2006/main">
            <a:r>
              <a:t>R3-A01: 02_research/03_research-rounds/03_cross-industry-job-search/runs/2026-10-19-cross-industry-and-vacancy-credibility/contributions/worker-a.json</a:t>
            </a:r>
          </a:p>
          <a:p xmlns:a="http://schemas.openxmlformats.org/drawingml/2006/main">
            <a:r>
              <a:t>Original: https://event.e2i.com.sg/view-event/tse2508</a:t>
            </a:r>
          </a:p>
          <a:p xmlns:a="http://schemas.openxmlformats.org/drawingml/2006/main">
            <a:r>
              <a:t>Locator: About Event and Job Opportunities, lines 2-19 and 50-67: dated walk-in and mixed role table.</a:t>
            </a:r>
          </a:p>
          <a:p xmlns:a="http://schemas.openxmlformats.org/drawingml/2006/main">
            <a:r>
              <a:t>Published: unknown. Underlying period: Event: 2025-08-25; historical snapshot.</a:t>
            </a:r>
          </a:p>
          <a:p xmlns:a="http://schemas.openxmlformats.org/drawingml/2006/main">
            <a:r>
              <a:t>Boundary: Not current vacancy or actual offered pay; event, booklet and role detail are one family.</a:t>
            </a:r>
          </a:p>
          <a:p xmlns:a="http://schemas.openxmlformats.org/drawingml/2006/main">
            <a:r>
              <a:t>R3-A02: 02_research/03_research-rounds/03_cross-industry-job-search/runs/2026-10-19-cross-industry-and-vacancy-credibility/contributions/worker-a.json</a:t>
            </a:r>
          </a:p>
          <a:p xmlns:a="http://schemas.openxmlformats.org/drawingml/2006/main">
            <a:r>
              <a:t>Original: https://event.e2i.com.sg/storage/event_media/VasGZisqOcTAwJ2q72p51zsuSXZdTo9ZO2udrwsL.pdf</a:t>
            </a:r>
          </a:p>
          <a:p xmlns:a="http://schemas.openxmlformats.org/drawingml/2006/main">
            <a:r>
              <a:t>Locator: Pages 1-3, 5 and 8: guest systems, F&amp;B flexible hours, culinary and analytical criteria.</a:t>
            </a:r>
          </a:p>
          <a:p xmlns:a="http://schemas.openxmlformats.org/drawingml/2006/main">
            <a:r>
              <a:t>Published: unknown. Underlying period: Linked to 2025-08-25 event; standalone issue date unknown.</a:t>
            </a:r>
          </a:p>
          <a:p xmlns:a="http://schemas.openxmlformats.org/drawingml/2006/main">
            <a:r>
              <a:t>Boundary: One employer; template inconsistencies; no recruitment outcomes or actual roster.</a:t>
            </a:r>
          </a:p>
          <a:p xmlns:a="http://schemas.openxmlformats.org/drawingml/2006/main">
            <a:r>
              <a:t>R3-A04: 02_research/03_research-rounds/03_cross-industry-job-search/runs/2026-10-19-cross-industry-and-vacancy-credibility/contributions/worker-a.json</a:t>
            </a:r>
          </a:p>
          <a:p xmlns:a="http://schemas.openxmlformats.org/drawingml/2006/main">
            <a:r>
              <a:t>Original: https://www.reddit.com/r/SGExams/comments/1khn8pa/what_to_expect_for_fb_part_time_interview/</a:t>
            </a:r>
          </a:p>
          <a:p xmlns:a="http://schemas.openxmlformats.org/drawingml/2006/main">
            <a:r>
              <a:t>Locator: Opening, lines 20-21; replies 49-78: application, online invitation and availability advice.</a:t>
            </a:r>
          </a:p>
          <a:p xmlns:a="http://schemas.openxmlformats.org/drawingml/2006/main">
            <a:r>
              <a:t>Published: 2025-05-08 (page date context). Underlying period: Application before post; interview scheduled next week; result unknown.</a:t>
            </a:r>
          </a:p>
          <a:p xmlns:a="http://schemas.openxmlformats.org/drawingml/2006/main">
            <a:r>
              <a:t>Boundary: Advice is not actual interview behaviour; no offer outcome; no AI disclosure.</a:t>
            </a:r>
          </a:p>
          <a:p xmlns:a="http://schemas.openxmlformats.org/drawingml/2006/main">
            <a:r>
              <a:t>R3-A06: 02_research/03_research-rounds/03_cross-industry-job-search/runs/2026-10-19-cross-industry-and-vacancy-credibility/contributions/worker-a.json</a:t>
            </a:r>
          </a:p>
          <a:p xmlns:a="http://schemas.openxmlformats.org/drawingml/2006/main">
            <a:r>
              <a:t>Original: https://www.glassdoor.com/Interview/iTEA-Premium-Bubble-Tea-Singapore-Interview-Questions-E5618881.htm</a:t>
            </a:r>
          </a:p>
          <a:p xmlns:a="http://schemas.openxmlformats.org/drawingml/2006/main">
            <a:r>
              <a:t>Locator: Lines 148-237: staffing-message report and accepted-offer walk-in with practical questions.</a:t>
            </a:r>
          </a:p>
          <a:p xmlns:a="http://schemas.openxmlformats.org/drawingml/2006/main">
            <a:r>
              <a:t>Published: Page publication unknown; individual review publication dates displayed: 2025-07-01, 2025-08-14, 2025-09-09. Underlying period: Interview dates unknown; reviews describe prior experiences.</a:t>
            </a:r>
          </a:p>
          <a:p xmlns:a="http://schemas.openxmlformats.org/drawingml/2006/main">
            <a:r>
              <a:t>Boundary: One employer/platform family; no verified trial, contract or intent; accepted-offer claim unverified.</a:t>
            </a:r>
          </a:p>
          <a:p xmlns:a="http://schemas.openxmlformats.org/drawingml/2006/main">
            <a:r>
              <a:t/>
            </a:r>
          </a:p>
          <a:p xmlns:a="http://schemas.openxmlformats.org/drawingml/2006/main">
            <a:r>
              <a:t>interpretation: Prepare real service examples and clear availability. Ask about nights, travel and actual tasks. Clarify any trial's scope and payment. A proposed trial is not a confirmed shift or offer.</a:t>
            </a:r>
          </a:p>
          <a:p xmlns:a="http://schemas.openxmlformats.org/drawingml/2006/main">
            <a:r>
              <a:t>R3-A01: 02_research/03_research-rounds/03_cross-industry-job-search/runs/2026-10-19-cross-industry-and-vacancy-credibility/contributions/worker-a.json</a:t>
            </a:r>
          </a:p>
          <a:p xmlns:a="http://schemas.openxmlformats.org/drawingml/2006/main">
            <a:r>
              <a:t>Original: https://event.e2i.com.sg/view-event/tse2508</a:t>
            </a:r>
          </a:p>
          <a:p xmlns:a="http://schemas.openxmlformats.org/drawingml/2006/main">
            <a:r>
              <a:t>Locator: About Event and Job Opportunities, lines 2-19 and 50-67: dated walk-in and mixed role table.</a:t>
            </a:r>
          </a:p>
          <a:p xmlns:a="http://schemas.openxmlformats.org/drawingml/2006/main">
            <a:r>
              <a:t>Published: unknown. Underlying period: Event: 2025-08-25; historical snapshot.</a:t>
            </a:r>
          </a:p>
          <a:p xmlns:a="http://schemas.openxmlformats.org/drawingml/2006/main">
            <a:r>
              <a:t>Boundary: Not current vacancy or actual offered pay; event, booklet and role detail are one family.</a:t>
            </a:r>
          </a:p>
          <a:p xmlns:a="http://schemas.openxmlformats.org/drawingml/2006/main">
            <a:r>
              <a:t>R3-A02: 02_research/03_research-rounds/03_cross-industry-job-search/runs/2026-10-19-cross-industry-and-vacancy-credibility/contributions/worker-a.json</a:t>
            </a:r>
          </a:p>
          <a:p xmlns:a="http://schemas.openxmlformats.org/drawingml/2006/main">
            <a:r>
              <a:t>Original: https://event.e2i.com.sg/storage/event_media/VasGZisqOcTAwJ2q72p51zsuSXZdTo9ZO2udrwsL.pdf</a:t>
            </a:r>
          </a:p>
          <a:p xmlns:a="http://schemas.openxmlformats.org/drawingml/2006/main">
            <a:r>
              <a:t>Locator: Pages 1-3, 5 and 8: guest systems, F&amp;B flexible hours, culinary and analytical criteria.</a:t>
            </a:r>
          </a:p>
          <a:p xmlns:a="http://schemas.openxmlformats.org/drawingml/2006/main">
            <a:r>
              <a:t>Published: unknown. Underlying period: Linked to 2025-08-25 event; standalone issue date unknown.</a:t>
            </a:r>
          </a:p>
          <a:p xmlns:a="http://schemas.openxmlformats.org/drawingml/2006/main">
            <a:r>
              <a:t>Boundary: One employer; template inconsistencies; no recruitment outcomes or actual roster.</a:t>
            </a:r>
          </a:p>
          <a:p xmlns:a="http://schemas.openxmlformats.org/drawingml/2006/main">
            <a:r>
              <a:t>R3-A04: 02_research/03_research-rounds/03_cross-industry-job-search/runs/2026-10-19-cross-industry-and-vacancy-credibility/contributions/worker-a.json</a:t>
            </a:r>
          </a:p>
          <a:p xmlns:a="http://schemas.openxmlformats.org/drawingml/2006/main">
            <a:r>
              <a:t>Original: https://www.reddit.com/r/SGExams/comments/1khn8pa/what_to_expect_for_fb_part_time_interview/</a:t>
            </a:r>
          </a:p>
          <a:p xmlns:a="http://schemas.openxmlformats.org/drawingml/2006/main">
            <a:r>
              <a:t>Locator: Opening, lines 20-21; replies 49-78: application, online invitation and availability advice.</a:t>
            </a:r>
          </a:p>
          <a:p xmlns:a="http://schemas.openxmlformats.org/drawingml/2006/main">
            <a:r>
              <a:t>Published: 2025-05-08 (page date context). Underlying period: Application before post; interview scheduled next week; result unknown.</a:t>
            </a:r>
          </a:p>
          <a:p xmlns:a="http://schemas.openxmlformats.org/drawingml/2006/main">
            <a:r>
              <a:t>Boundary: Advice is not actual interview behaviour; no offer outcome; no AI disclosure.</a:t>
            </a:r>
          </a:p>
          <a:p xmlns:a="http://schemas.openxmlformats.org/drawingml/2006/main">
            <a:r>
              <a:t>R3-A06: 02_research/03_research-rounds/03_cross-industry-job-search/runs/2026-10-19-cross-industry-and-vacancy-credibility/contributions/worker-a.json</a:t>
            </a:r>
          </a:p>
          <a:p xmlns:a="http://schemas.openxmlformats.org/drawingml/2006/main">
            <a:r>
              <a:t>Original: https://www.glassdoor.com/Interview/iTEA-Premium-Bubble-Tea-Singapore-Interview-Questions-E5618881.htm</a:t>
            </a:r>
          </a:p>
          <a:p xmlns:a="http://schemas.openxmlformats.org/drawingml/2006/main">
            <a:r>
              <a:t>Locator: Lines 148-237: staffing-message report and accepted-offer walk-in with practical questions.</a:t>
            </a:r>
          </a:p>
          <a:p xmlns:a="http://schemas.openxmlformats.org/drawingml/2006/main">
            <a:r>
              <a:t>Published: Page publication unknown; individual review publication dates displayed: 2025-07-01, 2025-08-14, 2025-09-09. Underlying period: Interview dates unknown; reviews describe prior experiences.</a:t>
            </a:r>
          </a:p>
          <a:p xmlns:a="http://schemas.openxmlformats.org/drawingml/2006/main">
            <a:r>
              <a:t>Boundary: One employer/platform family; no verified trial, contract or intent; accepted-offer claim unverified.</a:t>
            </a:r>
          </a:p>
          <a:p xmlns:a="http://schemas.openxmlformats.org/drawingml/2006/main">
            <a:r>
              <a:t/>
            </a:r>
          </a:p>
          <a:p xmlns:a="http://schemas.openxmlformats.org/drawingml/2006/main">
            <a:r>
              <a:t>REPOSITORY EVIDENCE</a:t>
            </a:r>
          </a:p>
          <a:p xmlns:a="http://schemas.openxmlformats.org/drawingml/2006/main">
            <a:r>
              <a:t>Round 03 profile S02: 02_research/03_research-rounds/03_cross-industry-job-search/runs/2026-10-19-cross-industry-and-vacancy-credibility/industry-profiles/S02.md</a:t>
            </a:r>
          </a:p>
          <a:p xmlns:a="http://schemas.openxmlformats.org/drawingml/2006/main">
            <a:r>
              <a:t>Round 03 deeper report S02: 02_research/03_research-rounds/03_cross-industry-job-search/runs/2026-10-19-cross-industry-and-vacancy-credibility/sectors/S02.md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worker-a: 02_research/03_research-rounds/03_cross-industry-job-search/runs/2026-10-19-cross-industry-and-vacancy-credibility/contributions/worker-a.json</a:t>
            </a:r>
          </a:p>
          <a:p xmlns:a="http://schemas.openxmlformats.org/drawingml/2006/main">
            <a:r>
              <a:t/>
            </a:r>
          </a:p>
          <a:p xmlns:a="http://schemas.openxmlformats.org/drawingml/2006/main">
            <a:r>
              <a:t>SELECTED ORIGINAL SOURCES</a:t>
            </a:r>
          </a:p>
          <a:p xmlns:a="http://schemas.openxmlformats.org/drawingml/2006/main">
            <a:r>
              <a:t>R3-A01: The Singapore EDITION Walk In Interview (25 Aug): https://event.e2i.com.sg/view-event/tse2508</a:t>
            </a:r>
          </a:p>
          <a:p xmlns:a="http://schemas.openxmlformats.org/drawingml/2006/main">
            <a:r>
              <a:t>R3-A02: EDITION vacancy booklet linked from 25 Aug walk-in: https://event.e2i.com.sg/storage/event_media/VasGZisqOcTAwJ2q72p51zsuSXZdTo9ZO2udrwsL.pdf</a:t>
            </a:r>
          </a:p>
          <a:p xmlns:a="http://schemas.openxmlformats.org/drawingml/2006/main">
            <a:r>
              <a:t>R3-A04: What to expect for F&amp;B part time interview?: https://www.reddit.com/r/SGExams/comments/1khn8pa/what_to_expect_for_fb_part_time_interview/</a:t>
            </a:r>
          </a:p>
          <a:p xmlns:a="http://schemas.openxmlformats.org/drawingml/2006/main">
            <a:r>
              <a:t>R3-A06: iTEA Premium Bubble Tea Singapore interview questions: https://www.glassdoor.com/Interview/iTEA-Premium-Bubble-Tea-Singapore-Interview-Questions-E5618881.htm</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B01 concerns local-graduate nursing eligibility; it is not an all-role or foreign-trained rule. B02 lists a support qualification as advantageous; B15 has nursing practice credentials and rotating shifts. B14 describes mixed administration/care duties, not every associate role. B04 is an unresolved career-change account; no rejection cause or AI use was established. No personalised regulatory or clinical advice follows.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Nursing, patient-care support and social-work associate roles have different requirements. Local-graduate registration guidance and particular employer posts describe distinct routes.</a:t>
            </a:r>
          </a:p>
          <a:p xmlns:a="http://schemas.openxmlformats.org/drawingml/2006/main">
            <a:r>
              <a:t>R3-B01: 02_research/03_research-rounds/03_cross-industry-job-search/runs/2026-10-19-cross-industry-and-vacancy-credibility/contributions/worker-b.json</a:t>
            </a:r>
          </a:p>
          <a:p xmlns:a="http://schemas.openxmlformats.org/drawingml/2006/main">
            <a:r>
              <a:t>Original: https://www.snb.gov.sg/for-professionals/becoming-a-nurse-or-midwife/apply-for-registration-enrolment/local-graduates/</a:t>
            </a:r>
          </a:p>
          <a:p xmlns:a="http://schemas.openxmlformats.org/drawingml/2006/main">
            <a:r>
              <a:t>Locator: Eligibility; Application; Documents required; Outcome, lines 43-157: accredited training, documentary evidence and PC are distinguished; conditional competency routes exist.</a:t>
            </a:r>
          </a:p>
          <a:p xmlns:a="http://schemas.openxmlformats.org/drawingml/2006/main">
            <a:r>
              <a:t>Published: unknown. Underlying period: Guidance visible on 2026-10-19; historical implementation dates not established.</a:t>
            </a:r>
          </a:p>
          <a:p xmlns:a="http://schemas.openxmlformats.org/drawingml/2006/main">
            <a:r>
              <a:t>Boundary: Not foreign-trained eligibility, universal assessment timing, employer hiring probability or individual advice; current page is not evidence of actual processing times.</a:t>
            </a:r>
          </a:p>
          <a:p xmlns:a="http://schemas.openxmlformats.org/drawingml/2006/main">
            <a:r>
              <a:t>R3-B02: 02_research/03_research-rounds/03_cross-industry-job-search/runs/2026-10-19-cross-industry-and-vacancy-credibility/contributions/worker-b.json</a:t>
            </a:r>
          </a:p>
          <a:p xmlns:a="http://schemas.openxmlformats.org/drawingml/2006/main">
            <a:r>
              <a:t>Original: https://careers.singhealth.com.sg/NHCS/job/Singapore-Patient-Care-Assistant-(Inpatient)-(Full-Time)-Sing/12406944/</a:t>
            </a:r>
          </a:p>
          <a:p xmlns:a="http://schemas.openxmlformats.org/drawingml/2006/main">
            <a:r>
              <a:t>Locator: Job Requirements and role description, lines 45-60: O/N levels and work experience; WSQ advantage; shift work; vaccination evidence and completion route.</a:t>
            </a:r>
          </a:p>
          <a:p xmlns:a="http://schemas.openxmlformats.org/drawingml/2006/main">
            <a:r>
              <a:t>Published: 2026-09-24. Underlying period: Posting dated 2026-09-24; visible 2026-10-19.</a:t>
            </a:r>
          </a:p>
          <a:p xmlns:a="http://schemas.openxmlformats.org/drawingml/2006/main">
            <a:r>
              <a:t>Boundary: One employer/role; live vacancy, actual selection and statutory generalisation not established. No pay or exact assessment disclosed.</a:t>
            </a:r>
          </a:p>
          <a:p xmlns:a="http://schemas.openxmlformats.org/drawingml/2006/main">
            <a:r>
              <a:t>R3-B04: 02_research/03_research-rounds/03_cross-industry-job-search/runs/2026-10-19-cross-industry-and-vacancy-credibility/contributions/worker-b.json</a:t>
            </a:r>
          </a:p>
          <a:p xmlns:a="http://schemas.openxmlformats.org/drawingml/2006/main">
            <a:r>
              <a:t>Original: https://www.reddit.com/r/askSingapore/comments/1m2vgpf/career_switch_to_social_work_tips_for_breaking_in/</a:t>
            </a:r>
          </a:p>
          <a:p xmlns:a="http://schemas.openxmlformats.org/drawingml/2006/main">
            <a:r>
              <a:t>Locator: Opening lines 21-23 and OP reply 67-68: applications to associate/internship roles, tailored letters, existing volunteering, few interview opportunities. Replies 76-99 suggest referrals and agency routes.</a:t>
            </a:r>
          </a:p>
          <a:p xmlns:a="http://schemas.openxmlformats.org/drawingml/2006/main">
            <a:r>
              <a:t>Published: unknown exact date; source rendered 1y ago. Underlying period: Application attempts before post; exact dates unknown; approximate page age is not a fieldwork date.</a:t>
            </a:r>
          </a:p>
          <a:p xmlns:a="http://schemas.openxmlformats.org/drawingml/2006/main">
            <a:r>
              <a:t>Boundary: No employer response records, complete application denominator or verified reason; replies are advice, not successful-workaround evidence. One thread, not multiple independent sources.</a:t>
            </a:r>
          </a:p>
          <a:p xmlns:a="http://schemas.openxmlformats.org/drawingml/2006/main">
            <a:r>
              <a:t>R3-B14: 02_research/03_research-rounds/03_cross-industry-job-search/runs/2026-10-19-cross-industry-and-vacancy-credibility/contributions/worker-b.json</a:t>
            </a:r>
          </a:p>
          <a:p xmlns:a="http://schemas.openxmlformats.org/drawingml/2006/main">
            <a:r>
              <a:t>Original: https://www.saac.org.sg/wp-content/uploads/2025/03/Social-Worker-Associate_.pdf</a:t>
            </a:r>
          </a:p>
          <a:p xmlns:a="http://schemas.openxmlformats.org/drawingml/2006/main">
            <a:r>
              <a:t>Locator: Page 1, lines 3-39: administration, case co-work/home visits, diploma consideration, occasional evening/weekend events; shortlisted applicants notified.</a:t>
            </a:r>
          </a:p>
          <a:p xmlns:a="http://schemas.openxmlformats.org/drawingml/2006/main">
            <a:r>
              <a:t>Published: unknown; URL directory 2025/03 is not proof of publication. Underlying period: Document visible 2026-10-19; vacancy period unknown.</a:t>
            </a:r>
          </a:p>
          <a:p xmlns:a="http://schemas.openxmlformats.org/drawingml/2006/main">
            <a:r>
              <a:t>Boundary: Unknown live recruitment status/date; not all social-work associates; school overlap retained. No numeric salary or reason for a particular rejection.</a:t>
            </a:r>
          </a:p>
          <a:p xmlns:a="http://schemas.openxmlformats.org/drawingml/2006/main">
            <a:r>
              <a:t>R3-B15: 02_research/03_research-rounds/03_cross-industry-job-search/runs/2026-10-19-cross-industry-and-vacancy-credibility/contributions/worker-b.json</a:t>
            </a:r>
          </a:p>
          <a:p xmlns:a="http://schemas.openxmlformats.org/drawingml/2006/main">
            <a:r>
              <a:t>Original: https://careers.singhealth.com.sg/SCH/job/Singapore-Staff-Nurse-Sing/56443244/</a:t>
            </a:r>
          </a:p>
          <a:p xmlns:a="http://schemas.openxmlformats.org/drawingml/2006/main">
            <a:r>
              <a:t>Locator: Lines 53-61: nursing qualification, valid SNB PC and BCLS, ILTC advantage, rotating shifts and two sites.</a:t>
            </a:r>
          </a:p>
          <a:p xmlns:a="http://schemas.openxmlformats.org/drawingml/2006/main">
            <a:r>
              <a:t>Published: 2026-09-22. Underlying period: Posting dated 2026-09-22; visible 2026-10-19.</a:t>
            </a:r>
          </a:p>
          <a:p xmlns:a="http://schemas.openxmlformats.org/drawingml/2006/main">
            <a:r>
              <a:t>Boundary: Same publisher group as B02, not independent institutional corroboration; full hiring status and offer terms unknown; pay undisclosed.</a:t>
            </a:r>
          </a:p>
          <a:p xmlns:a="http://schemas.openxmlformats.org/drawingml/2006/main">
            <a:r>
              <a:t/>
            </a:r>
          </a:p>
          <a:p xmlns:a="http://schemas.openxmlformats.org/drawingml/2006/main">
            <a:r>
              <a:t>interpretation: Separate required credentials, preferred experience and transferable skills. Check shifts, site and induction. Volunteering alone does not establish professional qualification.</a:t>
            </a:r>
          </a:p>
          <a:p xmlns:a="http://schemas.openxmlformats.org/drawingml/2006/main">
            <a:r>
              <a:t>R3-B01: 02_research/03_research-rounds/03_cross-industry-job-search/runs/2026-10-19-cross-industry-and-vacancy-credibility/contributions/worker-b.json</a:t>
            </a:r>
          </a:p>
          <a:p xmlns:a="http://schemas.openxmlformats.org/drawingml/2006/main">
            <a:r>
              <a:t>Original: https://www.snb.gov.sg/for-professionals/becoming-a-nurse-or-midwife/apply-for-registration-enrolment/local-graduates/</a:t>
            </a:r>
          </a:p>
          <a:p xmlns:a="http://schemas.openxmlformats.org/drawingml/2006/main">
            <a:r>
              <a:t>Locator: Eligibility; Application; Documents required; Outcome, lines 43-157: accredited training, documentary evidence and PC are distinguished; conditional competency routes exist.</a:t>
            </a:r>
          </a:p>
          <a:p xmlns:a="http://schemas.openxmlformats.org/drawingml/2006/main">
            <a:r>
              <a:t>Published: unknown. Underlying period: Guidance visible on 2026-10-19; historical implementation dates not established.</a:t>
            </a:r>
          </a:p>
          <a:p xmlns:a="http://schemas.openxmlformats.org/drawingml/2006/main">
            <a:r>
              <a:t>Boundary: Not foreign-trained eligibility, universal assessment timing, employer hiring probability or individual advice; current page is not evidence of actual processing times.</a:t>
            </a:r>
          </a:p>
          <a:p xmlns:a="http://schemas.openxmlformats.org/drawingml/2006/main">
            <a:r>
              <a:t>R3-B02: 02_research/03_research-rounds/03_cross-industry-job-search/runs/2026-10-19-cross-industry-and-vacancy-credibility/contributions/worker-b.json</a:t>
            </a:r>
          </a:p>
          <a:p xmlns:a="http://schemas.openxmlformats.org/drawingml/2006/main">
            <a:r>
              <a:t>Original: https://careers.singhealth.com.sg/NHCS/job/Singapore-Patient-Care-Assistant-(Inpatient)-(Full-Time)-Sing/12406944/</a:t>
            </a:r>
          </a:p>
          <a:p xmlns:a="http://schemas.openxmlformats.org/drawingml/2006/main">
            <a:r>
              <a:t>Locator: Job Requirements and role description, lines 45-60: O/N levels and work experience; WSQ advantage; shift work; vaccination evidence and completion route.</a:t>
            </a:r>
          </a:p>
          <a:p xmlns:a="http://schemas.openxmlformats.org/drawingml/2006/main">
            <a:r>
              <a:t>Published: 2026-09-24. Underlying period: Posting dated 2026-09-24; visible 2026-10-19.</a:t>
            </a:r>
          </a:p>
          <a:p xmlns:a="http://schemas.openxmlformats.org/drawingml/2006/main">
            <a:r>
              <a:t>Boundary: One employer/role; live vacancy, actual selection and statutory generalisation not established. No pay or exact assessment disclosed.</a:t>
            </a:r>
          </a:p>
          <a:p xmlns:a="http://schemas.openxmlformats.org/drawingml/2006/main">
            <a:r>
              <a:t>R3-B04: 02_research/03_research-rounds/03_cross-industry-job-search/runs/2026-10-19-cross-industry-and-vacancy-credibility/contributions/worker-b.json</a:t>
            </a:r>
          </a:p>
          <a:p xmlns:a="http://schemas.openxmlformats.org/drawingml/2006/main">
            <a:r>
              <a:t>Original: https://www.reddit.com/r/askSingapore/comments/1m2vgpf/career_switch_to_social_work_tips_for_breaking_in/</a:t>
            </a:r>
          </a:p>
          <a:p xmlns:a="http://schemas.openxmlformats.org/drawingml/2006/main">
            <a:r>
              <a:t>Locator: Opening lines 21-23 and OP reply 67-68: applications to associate/internship roles, tailored letters, existing volunteering, few interview opportunities. Replies 76-99 suggest referrals and agency routes.</a:t>
            </a:r>
          </a:p>
          <a:p xmlns:a="http://schemas.openxmlformats.org/drawingml/2006/main">
            <a:r>
              <a:t>Published: unknown exact date; source rendered 1y ago. Underlying period: Application attempts before post; exact dates unknown; approximate page age is not a fieldwork date.</a:t>
            </a:r>
          </a:p>
          <a:p xmlns:a="http://schemas.openxmlformats.org/drawingml/2006/main">
            <a:r>
              <a:t>Boundary: No employer response records, complete application denominator or verified reason; replies are advice, not successful-workaround evidence. One thread, not multiple independent sources.</a:t>
            </a:r>
          </a:p>
          <a:p xmlns:a="http://schemas.openxmlformats.org/drawingml/2006/main">
            <a:r>
              <a:t>R3-B14: 02_research/03_research-rounds/03_cross-industry-job-search/runs/2026-10-19-cross-industry-and-vacancy-credibility/contributions/worker-b.json</a:t>
            </a:r>
          </a:p>
          <a:p xmlns:a="http://schemas.openxmlformats.org/drawingml/2006/main">
            <a:r>
              <a:t>Original: https://www.saac.org.sg/wp-content/uploads/2025/03/Social-Worker-Associate_.pdf</a:t>
            </a:r>
          </a:p>
          <a:p xmlns:a="http://schemas.openxmlformats.org/drawingml/2006/main">
            <a:r>
              <a:t>Locator: Page 1, lines 3-39: administration, case co-work/home visits, diploma consideration, occasional evening/weekend events; shortlisted applicants notified.</a:t>
            </a:r>
          </a:p>
          <a:p xmlns:a="http://schemas.openxmlformats.org/drawingml/2006/main">
            <a:r>
              <a:t>Published: unknown; URL directory 2025/03 is not proof of publication. Underlying period: Document visible 2026-10-19; vacancy period unknown.</a:t>
            </a:r>
          </a:p>
          <a:p xmlns:a="http://schemas.openxmlformats.org/drawingml/2006/main">
            <a:r>
              <a:t>Boundary: Unknown live recruitment status/date; not all social-work associates; school overlap retained. No numeric salary or reason for a particular rejection.</a:t>
            </a:r>
          </a:p>
          <a:p xmlns:a="http://schemas.openxmlformats.org/drawingml/2006/main">
            <a:r>
              <a:t>R3-B15: 02_research/03_research-rounds/03_cross-industry-job-search/runs/2026-10-19-cross-industry-and-vacancy-credibility/contributions/worker-b.json</a:t>
            </a:r>
          </a:p>
          <a:p xmlns:a="http://schemas.openxmlformats.org/drawingml/2006/main">
            <a:r>
              <a:t>Original: https://careers.singhealth.com.sg/SCH/job/Singapore-Staff-Nurse-Sing/56443244/</a:t>
            </a:r>
          </a:p>
          <a:p xmlns:a="http://schemas.openxmlformats.org/drawingml/2006/main">
            <a:r>
              <a:t>Locator: Lines 53-61: nursing qualification, valid SNB PC and BCLS, ILTC advantage, rotating shifts and two sites.</a:t>
            </a:r>
          </a:p>
          <a:p xmlns:a="http://schemas.openxmlformats.org/drawingml/2006/main">
            <a:r>
              <a:t>Published: 2026-09-22. Underlying period: Posting dated 2026-09-22; visible 2026-10-19.</a:t>
            </a:r>
          </a:p>
          <a:p xmlns:a="http://schemas.openxmlformats.org/drawingml/2006/main">
            <a:r>
              <a:t>Boundary: Same publisher group as B02, not independent institutional corroboration; full hiring status and offer terms unknown; pay undisclosed.</a:t>
            </a:r>
          </a:p>
          <a:p xmlns:a="http://schemas.openxmlformats.org/drawingml/2006/main">
            <a:r>
              <a:t/>
            </a:r>
          </a:p>
          <a:p xmlns:a="http://schemas.openxmlformats.org/drawingml/2006/main">
            <a:r>
              <a:t>REPOSITORY EVIDENCE</a:t>
            </a:r>
          </a:p>
          <a:p xmlns:a="http://schemas.openxmlformats.org/drawingml/2006/main">
            <a:r>
              <a:t>Round 03 profile S03: 02_research/03_research-rounds/03_cross-industry-job-search/runs/2026-10-19-cross-industry-and-vacancy-credibility/industry-profiles/S03.md</a:t>
            </a:r>
          </a:p>
          <a:p xmlns:a="http://schemas.openxmlformats.org/drawingml/2006/main">
            <a:r>
              <a:t>Round 03 deeper report S03: 02_research/03_research-rounds/03_cross-industry-job-search/runs/2026-10-19-cross-industry-and-vacancy-credibility/sectors/S03.md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worker-b: 02_research/03_research-rounds/03_cross-industry-job-search/runs/2026-10-19-cross-industry-and-vacancy-credibility/contributions/worker-b.json</a:t>
            </a:r>
          </a:p>
          <a:p xmlns:a="http://schemas.openxmlformats.org/drawingml/2006/main">
            <a:r>
              <a:t/>
            </a:r>
          </a:p>
          <a:p xmlns:a="http://schemas.openxmlformats.org/drawingml/2006/main">
            <a:r>
              <a:t>SELECTED ORIGINAL SOURCES</a:t>
            </a:r>
          </a:p>
          <a:p xmlns:a="http://schemas.openxmlformats.org/drawingml/2006/main">
            <a:r>
              <a:t>R3-B01: Local Graduates: https://www.snb.gov.sg/for-professionals/becoming-a-nurse-or-midwife/apply-for-registration-enrolment/local-graduates/</a:t>
            </a:r>
          </a:p>
          <a:p xmlns:a="http://schemas.openxmlformats.org/drawingml/2006/main">
            <a:r>
              <a:t>R3-B02: Patient Care Assistant (Inpatient) (Full-Time): https://careers.singhealth.com.sg/NHCS/job/Singapore-Patient-Care-Assistant-(Inpatient)-(Full-Time)-Sing/12406944/</a:t>
            </a:r>
          </a:p>
          <a:p xmlns:a="http://schemas.openxmlformats.org/drawingml/2006/main">
            <a:r>
              <a:t>R3-B04: Career switch to Social Work - tips for breaking in: https://www.reddit.com/r/askSingapore/comments/1m2vgpf/career_switch_to_social_work_tips_for_breaking_in/</a:t>
            </a:r>
          </a:p>
          <a:p xmlns:a="http://schemas.openxmlformats.org/drawingml/2006/main">
            <a:r>
              <a:t>R3-B14: Social Worker Associate: job description: https://www.saac.org.sg/wp-content/uploads/2025/03/Social-Worker-Associate_.pdf</a:t>
            </a:r>
          </a:p>
          <a:p xmlns:a="http://schemas.openxmlformats.org/drawingml/2006/main">
            <a:r>
              <a:t>R3-B15: Staff Nurse (Req ID 4895): https://careers.singhealth.com.sg/SCH/job/Singapore-Staff-Nurse-Sing/56443244/</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M25's page says accurate as of 22 July 2026. Conflicting pay sections remain unresolved; this slide does not choose a figure. M08 contains one beginning teacher's concern and a separate positive internship comment. Training, school roles and assessment conventions outside the inspected context remain undercovered.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The inspected examples concern preschool entry and employer comparison. One work-and-study programme combines employer screening with qualification training.</a:t>
            </a:r>
          </a:p>
          <a:p xmlns:a="http://schemas.openxmlformats.org/drawingml/2006/main">
            <a:r>
              <a:t>R3-M08: 02_research/03_research-rounds/03_cross-industry-job-search/runs/2026-10-19-cross-industry-and-vacancy-credibility/contributions/coordinator-map.json</a:t>
            </a:r>
          </a:p>
          <a:p xmlns:a="http://schemas.openxmlformats.org/drawingml/2006/main">
            <a:r>
              <a:t>Original: https://www.reddit.com/r/singaporejobs/comments/1ujgpd6/preschool_teacher_job/</a:t>
            </a:r>
          </a:p>
          <a:p xmlns:a="http://schemas.openxmlformats.org/drawingml/2006/main">
            <a:r>
              <a:t>Locator: Opening / first response</a:t>
            </a:r>
          </a:p>
          <a:p xmlns:a="http://schemas.openxmlformats.org/drawingml/2006/main">
            <a:r>
              <a:t>Published: unknown. Underlying period: relative months.</a:t>
            </a:r>
          </a:p>
          <a:p xmlns:a="http://schemas.openxmlformats.org/drawingml/2006/main">
            <a:r>
              <a:t>Boundary: Convenience retrieval; no prevalence inference. Dates, outcomes and applicability require case-specific verification.</a:t>
            </a:r>
          </a:p>
          <a:p xmlns:a="http://schemas.openxmlformats.org/drawingml/2006/main">
            <a:r>
              <a:t>R3-M25: 02_research/03_research-rounds/03_cross-industry-job-search/runs/2026-10-19-cross-industry-and-vacancy-credibility/contributions/coordinator-map.json</a:t>
            </a:r>
          </a:p>
          <a:p xmlns:a="http://schemas.openxmlformats.org/drawingml/2006/main">
            <a:r>
              <a:t>Original: https://conversion.mycareersfuture.gov.sg/portal/ProgramDetails.aspx?ProgID=P00000436</a:t>
            </a:r>
          </a:p>
          <a:p xmlns:a="http://schemas.openxmlformats.org/drawingml/2006/main">
            <a:r>
              <a:t>Locator: What is it / Who can apply / How</a:t>
            </a:r>
          </a:p>
          <a:p xmlns:a="http://schemas.openxmlformats.org/drawingml/2006/main">
            <a:r>
              <a:t>Published: unknown. Underlying period: event date unknown; see updateDate for page snapshot.</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interpretation: Check the exact role, certification and course or employer obligations. Confirm written pay. The programme page has inconsistent salary sections.</a:t>
            </a:r>
          </a:p>
          <a:p xmlns:a="http://schemas.openxmlformats.org/drawingml/2006/main">
            <a:r>
              <a:t>R3-M08: 02_research/03_research-rounds/03_cross-industry-job-search/runs/2026-10-19-cross-industry-and-vacancy-credibility/contributions/coordinator-map.json</a:t>
            </a:r>
          </a:p>
          <a:p xmlns:a="http://schemas.openxmlformats.org/drawingml/2006/main">
            <a:r>
              <a:t>Original: https://www.reddit.com/r/singaporejobs/comments/1ujgpd6/preschool_teacher_job/</a:t>
            </a:r>
          </a:p>
          <a:p xmlns:a="http://schemas.openxmlformats.org/drawingml/2006/main">
            <a:r>
              <a:t>Locator: Opening / first response</a:t>
            </a:r>
          </a:p>
          <a:p xmlns:a="http://schemas.openxmlformats.org/drawingml/2006/main">
            <a:r>
              <a:t>Published: unknown. Underlying period: relative months.</a:t>
            </a:r>
          </a:p>
          <a:p xmlns:a="http://schemas.openxmlformats.org/drawingml/2006/main">
            <a:r>
              <a:t>Boundary: Convenience retrieval; no prevalence inference. Dates, outcomes and applicability require case-specific verification.</a:t>
            </a:r>
          </a:p>
          <a:p xmlns:a="http://schemas.openxmlformats.org/drawingml/2006/main">
            <a:r>
              <a:t>R3-M25: 02_research/03_research-rounds/03_cross-industry-job-search/runs/2026-10-19-cross-industry-and-vacancy-credibility/contributions/coordinator-map.json</a:t>
            </a:r>
          </a:p>
          <a:p xmlns:a="http://schemas.openxmlformats.org/drawingml/2006/main">
            <a:r>
              <a:t>Original: https://conversion.mycareersfuture.gov.sg/portal/ProgramDetails.aspx?ProgID=P00000436</a:t>
            </a:r>
          </a:p>
          <a:p xmlns:a="http://schemas.openxmlformats.org/drawingml/2006/main">
            <a:r>
              <a:t>Locator: What is it / Who can apply / How</a:t>
            </a:r>
          </a:p>
          <a:p xmlns:a="http://schemas.openxmlformats.org/drawingml/2006/main">
            <a:r>
              <a:t>Published: unknown. Underlying period: event date unknown; see updateDate for page snapshot.</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REPOSITORY EVIDENCE</a:t>
            </a:r>
          </a:p>
          <a:p xmlns:a="http://schemas.openxmlformats.org/drawingml/2006/main">
            <a:r>
              <a:t>Round 03 profile S04: 02_research/03_research-rounds/03_cross-industry-job-search/runs/2026-10-19-cross-industry-and-vacancy-credibility/industry-profiles/S04.md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coordinator-map: 02_research/03_research-rounds/03_cross-industry-job-search/runs/2026-10-19-cross-industry-and-vacancy-credibility/contributions/coordinator-map.json</a:t>
            </a:r>
          </a:p>
          <a:p xmlns:a="http://schemas.openxmlformats.org/drawingml/2006/main">
            <a:r>
              <a:t/>
            </a:r>
          </a:p>
          <a:p xmlns:a="http://schemas.openxmlformats.org/drawingml/2006/main">
            <a:r>
              <a:t>SELECTED ORIGINAL SOURCES</a:t>
            </a:r>
          </a:p>
          <a:p xmlns:a="http://schemas.openxmlformats.org/drawingml/2006/main">
            <a:r>
              <a:t>R3-M08: Preschool teacher job : r/singaporejobs: https://www.reddit.com/r/singaporejobs/comments/1ujgpd6/preschool_teacher_job/</a:t>
            </a:r>
          </a:p>
          <a:p xmlns:a="http://schemas.openxmlformats.org/drawingml/2006/main">
            <a:r>
              <a:t>R3-M25: Career Conversion Programmes (CCP) Details: https://conversion.mycareersfuture.gov.sg/portal/ProgramDetails.aspx?ProgID=P00000436</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A08 describes terminal handling and a preferred licence; this is not a universal public-road rule. M10 reports an agency/site-hours disagreement without verified contracts or resolution; its accusation is not adopted. A09 has no interview/offer outcome. A13 provides term categories, not an individual legal ruling. The older SPD transition ended with an agricultural employer and is not counted as a logistics hire.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Warehouse deployment, terminal driving and a graduate logistics search are different routes. The terminal employer describes training. A graduate reports boards, commute and title uncertainty.</a:t>
            </a:r>
          </a:p>
          <a:p xmlns:a="http://schemas.openxmlformats.org/drawingml/2006/main">
            <a:r>
              <a:t>R3-A08: 02_research/03_research-rounds/03_cross-industry-job-search/runs/2026-10-19-cross-industry-and-vacancy-credibility/contributions/worker-a.json</a:t>
            </a:r>
          </a:p>
          <a:p xmlns:a="http://schemas.openxmlformats.org/drawingml/2006/main">
            <a:r>
              <a:t>Original: https://psacareers.singaporepsa.com/jobs/container-handling-specialist-prime-mover-driver-joining-bonus-of-2000-for-singaporeans-and-prs-singapore</a:t>
            </a:r>
          </a:p>
          <a:p xmlns:a="http://schemas.openxmlformats.org/drawingml/2006/main">
            <a:r>
              <a:t>Locator: Lines 29-47: permanent, terminal duties, training, licence preference, shifts and shortlist notification.</a:t>
            </a:r>
          </a:p>
          <a:p xmlns:a="http://schemas.openxmlformats.org/drawingml/2006/main">
            <a:r>
              <a:t>Published: unknown; original advertised date not visible after redirect. Underlying period: Page closing date: 2026-12-31; actual recruitment/hire period unknown.</a:t>
            </a:r>
          </a:p>
          <a:p xmlns:a="http://schemas.openxmlformats.org/drawingml/2006/main">
            <a:r>
              <a:t>Boundary: Not public-road licensing guidance; no inspected wage, bonus conditions, exact site or current screening confirmation.</a:t>
            </a:r>
          </a:p>
          <a:p xmlns:a="http://schemas.openxmlformats.org/drawingml/2006/main">
            <a:r>
              <a:t>R3-A09: 02_research/03_research-rounds/03_cross-industry-job-search/runs/2026-10-19-cross-industry-and-vacancy-credibility/contributions/worker-a.json</a:t>
            </a:r>
          </a:p>
          <a:p xmlns:a="http://schemas.openxmlformats.org/drawingml/2006/main">
            <a:r>
              <a:t>Original: https://www.reddit.com/r/singaporejobs/comments/1ulkj9i/i_need_advice_on_logistics_job_singaporean/</a:t>
            </a:r>
          </a:p>
          <a:p xmlns:a="http://schemas.openxmlformats.org/drawingml/2006/main">
            <a:r>
              <a:t>Locator: Opening, lines 19-65: boards, commute exclusions, guidance, titles and company-site difficulty.</a:t>
            </a:r>
          </a:p>
          <a:p xmlns:a="http://schemas.openxmlformats.org/drawingml/2006/main">
            <a:r>
              <a:t>Published: unknown; rendered page shows relative 2mo. Underlying period: Reported ongoing search; exact period unknown.</a:t>
            </a:r>
          </a:p>
          <a:p xmlns:a="http://schemas.openxmlformats.org/drawingml/2006/main">
            <a:r>
              <a:t>Boundary: No interview/offer; personal pay aspiration is not benchmark; replies do not verify transport provision.</a:t>
            </a:r>
          </a:p>
          <a:p xmlns:a="http://schemas.openxmlformats.org/drawingml/2006/main">
            <a:r>
              <a:t>R3-A13: 02_research/03_research-rounds/03_cross-industry-job-search/runs/2026-10-19-cross-industry-and-vacancy-credibility/contributions/worker-a.json</a:t>
            </a:r>
          </a:p>
          <a:p xmlns:a="http://schemas.openxmlformats.org/drawingml/2006/main">
            <a:r>
              <a:t>Original: https://www.mom.gov.sg/employment-practices/contract-of-service/key-employment-terms</a:t>
            </a:r>
          </a:p>
          <a:p xmlns:a="http://schemas.openxmlformats.org/drawingml/2006/main">
            <a:r>
              <a:t>Locator: Table, lines 34-73: employer, duties, term, hours, pay components and optional location.</a:t>
            </a:r>
          </a:p>
          <a:p xmlns:a="http://schemas.openxmlformats.org/drawingml/2006/main">
            <a:r>
              <a:t>Published: unknown. Underlying period: Current visible guidance as accessed; effective date not shown.</a:t>
            </a:r>
          </a:p>
          <a:p xmlns:a="http://schemas.openxmlformats.org/drawingml/2006/main">
            <a:r>
              <a:t>Boundary: No determination of individual entitlement, agency liability or a reported dispute; no legal advice.</a:t>
            </a:r>
          </a:p>
          <a:p xmlns:a="http://schemas.openxmlformats.org/drawingml/2006/main">
            <a:r>
              <a:t>R3-M10: 02_research/03_research-rounds/03_cross-industry-job-search/runs/2026-10-19-cross-industry-and-vacancy-credibility/contributions/worker-a.json</a:t>
            </a:r>
          </a:p>
          <a:p xmlns:a="http://schemas.openxmlformats.org/drawingml/2006/main">
            <a:r>
              <a:t>Original: https://www.reddit.com/r/SGExams/comments/1i3xtpv</a:t>
            </a:r>
          </a:p>
          <a:p xmlns:a="http://schemas.openxmlformats.org/drawingml/2006/main">
            <a:r>
              <a:t>Locator: Coordinator locator: Opening / update; agency-agreed Saturday hours versus site expectations.</a:t>
            </a:r>
          </a:p>
          <a:p xmlns:a="http://schemas.openxmlformats.org/drawingml/2006/main">
            <a:r>
              <a:t>Published: unknown exact per coordinator. Underlying period: Historical; exact date unverified.</a:t>
            </a:r>
          </a:p>
          <a:p xmlns:a="http://schemas.openxmlformats.org/drawingml/2006/main">
            <a:r>
              <a:t>Boundary: Breadth summary only; no contract/legal outcome or identity relationships independently inspected; allegation not adopted as fraud.</a:t>
            </a:r>
          </a:p>
          <a:p xmlns:a="http://schemas.openxmlformats.org/drawingml/2006/main">
            <a:r>
              <a:t/>
            </a:r>
          </a:p>
          <a:p xmlns:a="http://schemas.openxmlformats.org/drawingml/2006/main">
            <a:r>
              <a:t>interpretation: Check who employs you, the client site, duties, transport and roster. Separate licence requirements, actual training and pay components. Verify deployment terms.</a:t>
            </a:r>
          </a:p>
          <a:p xmlns:a="http://schemas.openxmlformats.org/drawingml/2006/main">
            <a:r>
              <a:t>R3-A08: 02_research/03_research-rounds/03_cross-industry-job-search/runs/2026-10-19-cross-industry-and-vacancy-credibility/contributions/worker-a.json</a:t>
            </a:r>
          </a:p>
          <a:p xmlns:a="http://schemas.openxmlformats.org/drawingml/2006/main">
            <a:r>
              <a:t>Original: https://psacareers.singaporepsa.com/jobs/container-handling-specialist-prime-mover-driver-joining-bonus-of-2000-for-singaporeans-and-prs-singapore</a:t>
            </a:r>
          </a:p>
          <a:p xmlns:a="http://schemas.openxmlformats.org/drawingml/2006/main">
            <a:r>
              <a:t>Locator: Lines 29-47: permanent, terminal duties, training, licence preference, shifts and shortlist notification.</a:t>
            </a:r>
          </a:p>
          <a:p xmlns:a="http://schemas.openxmlformats.org/drawingml/2006/main">
            <a:r>
              <a:t>Published: unknown; original advertised date not visible after redirect. Underlying period: Page closing date: 2026-12-31; actual recruitment/hire period unknown.</a:t>
            </a:r>
          </a:p>
          <a:p xmlns:a="http://schemas.openxmlformats.org/drawingml/2006/main">
            <a:r>
              <a:t>Boundary: Not public-road licensing guidance; no inspected wage, bonus conditions, exact site or current screening confirmation.</a:t>
            </a:r>
          </a:p>
          <a:p xmlns:a="http://schemas.openxmlformats.org/drawingml/2006/main">
            <a:r>
              <a:t>R3-A09: 02_research/03_research-rounds/03_cross-industry-job-search/runs/2026-10-19-cross-industry-and-vacancy-credibility/contributions/worker-a.json</a:t>
            </a:r>
          </a:p>
          <a:p xmlns:a="http://schemas.openxmlformats.org/drawingml/2006/main">
            <a:r>
              <a:t>Original: https://www.reddit.com/r/singaporejobs/comments/1ulkj9i/i_need_advice_on_logistics_job_singaporean/</a:t>
            </a:r>
          </a:p>
          <a:p xmlns:a="http://schemas.openxmlformats.org/drawingml/2006/main">
            <a:r>
              <a:t>Locator: Opening, lines 19-65: boards, commute exclusions, guidance, titles and company-site difficulty.</a:t>
            </a:r>
          </a:p>
          <a:p xmlns:a="http://schemas.openxmlformats.org/drawingml/2006/main">
            <a:r>
              <a:t>Published: unknown; rendered page shows relative 2mo. Underlying period: Reported ongoing search; exact period unknown.</a:t>
            </a:r>
          </a:p>
          <a:p xmlns:a="http://schemas.openxmlformats.org/drawingml/2006/main">
            <a:r>
              <a:t>Boundary: No interview/offer; personal pay aspiration is not benchmark; replies do not verify transport provision.</a:t>
            </a:r>
          </a:p>
          <a:p xmlns:a="http://schemas.openxmlformats.org/drawingml/2006/main">
            <a:r>
              <a:t>R3-A13: 02_research/03_research-rounds/03_cross-industry-job-search/runs/2026-10-19-cross-industry-and-vacancy-credibility/contributions/worker-a.json</a:t>
            </a:r>
          </a:p>
          <a:p xmlns:a="http://schemas.openxmlformats.org/drawingml/2006/main">
            <a:r>
              <a:t>Original: https://www.mom.gov.sg/employment-practices/contract-of-service/key-employment-terms</a:t>
            </a:r>
          </a:p>
          <a:p xmlns:a="http://schemas.openxmlformats.org/drawingml/2006/main">
            <a:r>
              <a:t>Locator: Table, lines 34-73: employer, duties, term, hours, pay components and optional location.</a:t>
            </a:r>
          </a:p>
          <a:p xmlns:a="http://schemas.openxmlformats.org/drawingml/2006/main">
            <a:r>
              <a:t>Published: unknown. Underlying period: Current visible guidance as accessed; effective date not shown.</a:t>
            </a:r>
          </a:p>
          <a:p xmlns:a="http://schemas.openxmlformats.org/drawingml/2006/main">
            <a:r>
              <a:t>Boundary: No determination of individual entitlement, agency liability or a reported dispute; no legal advice.</a:t>
            </a:r>
          </a:p>
          <a:p xmlns:a="http://schemas.openxmlformats.org/drawingml/2006/main">
            <a:r>
              <a:t>R3-M10: 02_research/03_research-rounds/03_cross-industry-job-search/runs/2026-10-19-cross-industry-and-vacancy-credibility/contributions/worker-a.json</a:t>
            </a:r>
          </a:p>
          <a:p xmlns:a="http://schemas.openxmlformats.org/drawingml/2006/main">
            <a:r>
              <a:t>Original: https://www.reddit.com/r/SGExams/comments/1i3xtpv</a:t>
            </a:r>
          </a:p>
          <a:p xmlns:a="http://schemas.openxmlformats.org/drawingml/2006/main">
            <a:r>
              <a:t>Locator: Coordinator locator: Opening / update; agency-agreed Saturday hours versus site expectations.</a:t>
            </a:r>
          </a:p>
          <a:p xmlns:a="http://schemas.openxmlformats.org/drawingml/2006/main">
            <a:r>
              <a:t>Published: unknown exact per coordinator. Underlying period: Historical; exact date unverified.</a:t>
            </a:r>
          </a:p>
          <a:p xmlns:a="http://schemas.openxmlformats.org/drawingml/2006/main">
            <a:r>
              <a:t>Boundary: Breadth summary only; no contract/legal outcome or identity relationships independently inspected; allegation not adopted as fraud.</a:t>
            </a:r>
          </a:p>
          <a:p xmlns:a="http://schemas.openxmlformats.org/drawingml/2006/main">
            <a:r>
              <a:t/>
            </a:r>
          </a:p>
          <a:p xmlns:a="http://schemas.openxmlformats.org/drawingml/2006/main">
            <a:r>
              <a:t>REPOSITORY EVIDENCE</a:t>
            </a:r>
          </a:p>
          <a:p xmlns:a="http://schemas.openxmlformats.org/drawingml/2006/main">
            <a:r>
              <a:t>Round 03 profile S05: 02_research/03_research-rounds/03_cross-industry-job-search/runs/2026-10-19-cross-industry-and-vacancy-credibility/industry-profiles/S05.md</a:t>
            </a:r>
          </a:p>
          <a:p xmlns:a="http://schemas.openxmlformats.org/drawingml/2006/main">
            <a:r>
              <a:t>Round 03 deeper report S05: 02_research/03_research-rounds/03_cross-industry-job-search/runs/2026-10-19-cross-industry-and-vacancy-credibility/sectors/S05.md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worker-a: 02_research/03_research-rounds/03_cross-industry-job-search/runs/2026-10-19-cross-industry-and-vacancy-credibility/contributions/worker-a.json</a:t>
            </a:r>
          </a:p>
          <a:p xmlns:a="http://schemas.openxmlformats.org/drawingml/2006/main">
            <a:r>
              <a:t/>
            </a:r>
          </a:p>
          <a:p xmlns:a="http://schemas.openxmlformats.org/drawingml/2006/main">
            <a:r>
              <a:t>SELECTED ORIGINAL SOURCES</a:t>
            </a:r>
          </a:p>
          <a:p xmlns:a="http://schemas.openxmlformats.org/drawingml/2006/main">
            <a:r>
              <a:t>R3-A08: Container Handling Specialist (Prime Mover Driver) [Joining bonus of $2000 for Singaporeans and PRs]: https://psacareers.singaporepsa.com/jobs/container-handling-specialist-prime-mover-driver-joining-bonus-of-2000-for-singaporeans-and-prs-singapore</a:t>
            </a:r>
          </a:p>
          <a:p xmlns:a="http://schemas.openxmlformats.org/drawingml/2006/main">
            <a:r>
              <a:t>R3-A09: I need advice on logistics Job (Singaporean): https://www.reddit.com/r/singaporejobs/comments/1ulkj9i/i_need_advice_on_logistics_job_singaporean/</a:t>
            </a:r>
          </a:p>
          <a:p xmlns:a="http://schemas.openxmlformats.org/drawingml/2006/main">
            <a:r>
              <a:t>R3-A13: Key employment terms (KETs): https://www.mom.gov.sg/employment-practices/contract-of-service/key-employment-terms</a:t>
            </a:r>
          </a:p>
          <a:p xmlns:a="http://schemas.openxmlformats.org/drawingml/2006/main">
            <a:r>
              <a:t>R3-M10: did my recruiting agency scam me: https://www.reddit.com/r/SGExams/comments/1i3xtpv</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M26 states a role posting date of 2026-02-20 and an explicitly separate future-opening route. Current external recruitment and outcomes remain unknown. This page cannot establish requirements across all construction occupations or confirm active headcount. A disclosed future-interest route alone does not establish deception.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A consultancy advertises a site technical-officer role and separately invites future interest. Site work, project support and building trades should retain their own scope.</a:t>
            </a:r>
          </a:p>
          <a:p xmlns:a="http://schemas.openxmlformats.org/drawingml/2006/main">
            <a:r>
              <a:t>R3-M26: 02_research/03_research-rounds/03_cross-industry-job-search/runs/2026-10-19-cross-industry-and-vacancy-credibility/contributions/coordinator-map.json</a:t>
            </a:r>
          </a:p>
          <a:p xmlns:a="http://schemas.openxmlformats.org/drawingml/2006/main">
            <a:r>
              <a:t>Original: https://www.conspecs.sg/careers</a:t>
            </a:r>
          </a:p>
          <a:p xmlns:a="http://schemas.openxmlformats.org/drawingml/2006/main">
            <a:r>
              <a:t>Locator: Open Positions / Don't See a Suitable Role</a:t>
            </a:r>
          </a:p>
          <a:p xmlns:a="http://schemas.openxmlformats.org/drawingml/2006/main">
            <a:r>
              <a:t>Published: 2026-02-20 stated posting date. Underlying period: active recruitment and eventual outcome unknown.</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interpretation: Check the site, employing party, project timing and actual duties. Read mandatory and preferred credentials literally. A future pool has a different promise.</a:t>
            </a:r>
          </a:p>
          <a:p xmlns:a="http://schemas.openxmlformats.org/drawingml/2006/main">
            <a:r>
              <a:t>R3-M26: 02_research/03_research-rounds/03_cross-industry-job-search/runs/2026-10-19-cross-industry-and-vacancy-credibility/contributions/coordinator-map.json</a:t>
            </a:r>
          </a:p>
          <a:p xmlns:a="http://schemas.openxmlformats.org/drawingml/2006/main">
            <a:r>
              <a:t>Original: https://www.conspecs.sg/careers</a:t>
            </a:r>
          </a:p>
          <a:p xmlns:a="http://schemas.openxmlformats.org/drawingml/2006/main">
            <a:r>
              <a:t>Locator: Open Positions / Don't See a Suitable Role</a:t>
            </a:r>
          </a:p>
          <a:p xmlns:a="http://schemas.openxmlformats.org/drawingml/2006/main">
            <a:r>
              <a:t>Published: 2026-02-20 stated posting date. Underlying period: active recruitment and eventual outcome unknown.</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REPOSITORY EVIDENCE</a:t>
            </a:r>
          </a:p>
          <a:p xmlns:a="http://schemas.openxmlformats.org/drawingml/2006/main">
            <a:r>
              <a:t>Round 03 profile S06: 02_research/03_research-rounds/03_cross-industry-job-search/runs/2026-10-19-cross-industry-and-vacancy-credibility/industry-profiles/S06.md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coordinator-map: 02_research/03_research-rounds/03_cross-industry-job-search/runs/2026-10-19-cross-industry-and-vacancy-credibility/contributions/coordinator-map.json</a:t>
            </a:r>
          </a:p>
          <a:p xmlns:a="http://schemas.openxmlformats.org/drawingml/2006/main">
            <a:r>
              <a:t/>
            </a:r>
          </a:p>
          <a:p xmlns:a="http://schemas.openxmlformats.org/drawingml/2006/main">
            <a:r>
              <a:t>SELECTED ORIGINAL SOURCES</a:t>
            </a:r>
          </a:p>
          <a:p xmlns:a="http://schemas.openxmlformats.org/drawingml/2006/main">
            <a:r>
              <a:t>R3-M26: Careers | C@nspecs Pte Ltd: https://www.conspecs.sg/careers</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sectors/S07.md rather than the earlier gap-only short profile. B08 is a shortlist/preparation question plus peers' reported interview formats; B09's offer and mini-exam concern different people. No standard CNC/lathe trial or universal registration rule was established. P04 is international/unspecified, with past blueprint/measurement checks separated from recruiter-suggested future tests. It does not resolve Singapore operational-trades gaps.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Semiconductor-engineering accounts discuss knowledge gaps, technical questions and quizzes. A manufacturer describes direct, graduate and internship channels. These are not hiring outcomes.</a:t>
            </a:r>
          </a:p>
          <a:p xmlns:a="http://schemas.openxmlformats.org/drawingml/2006/main">
            <a:r>
              <a:t>R3-B08: 02_research/03_research-rounds/03_cross-industry-job-search/runs/2026-10-19-cross-industry-and-vacancy-credibility/contributions/worker-b.json</a:t>
            </a:r>
          </a:p>
          <a:p xmlns:a="http://schemas.openxmlformats.org/drawingml/2006/main">
            <a:r>
              <a:t>Original: https://www.reddit.com/r/singaporejobs/comments/1wocwqv/fresh_grad_job_interview/</a:t>
            </a:r>
          </a:p>
          <a:p xmlns:a="http://schemas.openxmlformats.org/drawingml/2006/main">
            <a:r>
              <a:t>Locator: Lines 19-23 and 68-104: shortlist, knowledge gap, technical/quality scenarios, quiz, work-life questions and suggestion to use AI.</a:t>
            </a:r>
          </a:p>
          <a:p xmlns:a="http://schemas.openxmlformats.org/drawingml/2006/main">
            <a:r>
              <a:t>Published: unknown exact date; rendered 25d ago on access. Underlying period: Recent interview-preparation discussion; actual interviews in replies undated.</a:t>
            </a:r>
          </a:p>
          <a:p xmlns:a="http://schemas.openxmlformats.org/drawingml/2006/main">
            <a:r>
              <a:t>Boundary: Employer procedures not independently verified; no observed practical machine test, exact test content, paid status, preparation success or AI verification.</a:t>
            </a:r>
          </a:p>
          <a:p xmlns:a="http://schemas.openxmlformats.org/drawingml/2006/main">
            <a:r>
              <a:t>R3-B09: 02_research/03_research-rounds/03_cross-industry-job-search/runs/2026-10-19-cross-industry-and-vacancy-credibility/contributions/worker-b.json</a:t>
            </a:r>
          </a:p>
          <a:p xmlns:a="http://schemas.openxmlformats.org/drawingml/2006/main">
            <a:r>
              <a:t>Original: https://www.reddit.com/r/singaporejobs/comments/1pmvabb/interviews_till_offer/</a:t>
            </a:r>
          </a:p>
          <a:p xmlns:a="http://schemas.openxmlformats.org/drawingml/2006/main">
            <a:r>
              <a:t>Locator: Replies lines 143-152: one manufacturing worker reports two onsite interviews and offer; another science/manufacturing worker reports online then onsite mini-exam.</a:t>
            </a:r>
          </a:p>
          <a:p xmlns:a="http://schemas.openxmlformats.org/drawingml/2006/main">
            <a:r>
              <a:t>Published: unknown exact date; search and page relative-age displays differ. Underlying period: One reply says offer late January 'this year'; year not securely anchored; other interview dates unknown.</a:t>
            </a:r>
          </a:p>
          <a:p xmlns:a="http://schemas.openxmlformats.org/drawingml/2006/main">
            <a:r>
              <a:t>Boundary: Employer, duties, arrangement and exact chronology unknown; different commenters not one sequence. Science/manufacturing description is ambiguous; no assessment prevalence.</a:t>
            </a:r>
          </a:p>
          <a:p xmlns:a="http://schemas.openxmlformats.org/drawingml/2006/main">
            <a:r>
              <a:t>R3-B17: 02_research/03_research-rounds/03_cross-industry-job-search/runs/2026-10-19-cross-industry-and-vacancy-credibility/contributions/worker-b.json</a:t>
            </a:r>
          </a:p>
          <a:p xmlns:a="http://schemas.openxmlformats.org/drawingml/2006/main">
            <a:r>
              <a:t>Original: https://sg.micron.com/about/careers</a:t>
            </a:r>
          </a:p>
          <a:p xmlns:a="http://schemas.openxmlformats.org/drawingml/2006/main">
            <a:r>
              <a:t>Locator: Lines 248-252 and 388-408: employer job search, graduate pathways and local tertiary internship projects.</a:t>
            </a:r>
          </a:p>
          <a:p xmlns:a="http://schemas.openxmlformats.org/drawingml/2006/main">
            <a:r>
              <a:t>Published: unknown; page references Talent Connect 2025 and 2026 awards. Underlying period: Career-page snapshot 2026-10-19; programme cohort dates unknown.</a:t>
            </a:r>
          </a:p>
          <a:p xmlns:a="http://schemas.openxmlformats.org/drawingml/2006/main">
            <a:r>
              <a:t>Boundary: Same publisher family as B11; promotional claims/awards not evaluated or used to rank employer; no operator/trades eligibility or assessment criteria.</a:t>
            </a:r>
          </a:p>
          <a:p xmlns:a="http://schemas.openxmlformats.org/drawingml/2006/main">
            <a:r>
              <a:t>R3-P04: 02_research/03_research-rounds/03_cross-industry-job-search/runs/2026-10-19-cross-industry-and-vacancy-credibility/contributions/coordinator-final-gaps.json</a:t>
            </a:r>
          </a:p>
          <a:p xmlns:a="http://schemas.openxmlformats.org/drawingml/2006/main">
            <a:r>
              <a:t>Original: https://www.reddit.com/r/Machinists/comments/1woppyv/machinist_tests_interviews/</a:t>
            </a:r>
          </a:p>
          <a:p xmlns:a="http://schemas.openxmlformats.org/drawingml/2006/main">
            <a:r>
              <a:t>Locator: Opening post; tests at prior shops versus proposed future assessment</a:t>
            </a:r>
          </a:p>
          <a:p xmlns:a="http://schemas.openxmlformats.org/drawingml/2006/main">
            <a:r>
              <a:t>Published: unknown. Underlying period: recent relative page age, retrospective jobs undated.</a:t>
            </a:r>
          </a:p>
          <a:p xmlns:a="http://schemas.openxmlformats.org/drawingml/2006/main">
            <a:r>
              <a:t>Boundary: No representative rate or current vacancy/intent determination; comparator and historical limits apply.</a:t>
            </a:r>
          </a:p>
          <a:p xmlns:a="http://schemas.openxmlformats.org/drawingml/2006/main">
            <a:r>
              <a:t/>
            </a:r>
          </a:p>
          <a:p xmlns:a="http://schemas.openxmlformats.org/drawingml/2006/main">
            <a:r>
              <a:t>interpretation: Explain work personally performed, tools used and reasoning. Keep training needs visible. Reported mini-exams differ from machine trials. AI study advice does not show actual use.</a:t>
            </a:r>
          </a:p>
          <a:p xmlns:a="http://schemas.openxmlformats.org/drawingml/2006/main">
            <a:r>
              <a:t>R3-B08: 02_research/03_research-rounds/03_cross-industry-job-search/runs/2026-10-19-cross-industry-and-vacancy-credibility/contributions/worker-b.json</a:t>
            </a:r>
          </a:p>
          <a:p xmlns:a="http://schemas.openxmlformats.org/drawingml/2006/main">
            <a:r>
              <a:t>Original: https://www.reddit.com/r/singaporejobs/comments/1wocwqv/fresh_grad_job_interview/</a:t>
            </a:r>
          </a:p>
          <a:p xmlns:a="http://schemas.openxmlformats.org/drawingml/2006/main">
            <a:r>
              <a:t>Locator: Lines 19-23 and 68-104: shortlist, knowledge gap, technical/quality scenarios, quiz, work-life questions and suggestion to use AI.</a:t>
            </a:r>
          </a:p>
          <a:p xmlns:a="http://schemas.openxmlformats.org/drawingml/2006/main">
            <a:r>
              <a:t>Published: unknown exact date; rendered 25d ago on access. Underlying period: Recent interview-preparation discussion; actual interviews in replies undated.</a:t>
            </a:r>
          </a:p>
          <a:p xmlns:a="http://schemas.openxmlformats.org/drawingml/2006/main">
            <a:r>
              <a:t>Boundary: Employer procedures not independently verified; no observed practical machine test, exact test content, paid status, preparation success or AI verification.</a:t>
            </a:r>
          </a:p>
          <a:p xmlns:a="http://schemas.openxmlformats.org/drawingml/2006/main">
            <a:r>
              <a:t>R3-B09: 02_research/03_research-rounds/03_cross-industry-job-search/runs/2026-10-19-cross-industry-and-vacancy-credibility/contributions/worker-b.json</a:t>
            </a:r>
          </a:p>
          <a:p xmlns:a="http://schemas.openxmlformats.org/drawingml/2006/main">
            <a:r>
              <a:t>Original: https://www.reddit.com/r/singaporejobs/comments/1pmvabb/interviews_till_offer/</a:t>
            </a:r>
          </a:p>
          <a:p xmlns:a="http://schemas.openxmlformats.org/drawingml/2006/main">
            <a:r>
              <a:t>Locator: Replies lines 143-152: one manufacturing worker reports two onsite interviews and offer; another science/manufacturing worker reports online then onsite mini-exam.</a:t>
            </a:r>
          </a:p>
          <a:p xmlns:a="http://schemas.openxmlformats.org/drawingml/2006/main">
            <a:r>
              <a:t>Published: unknown exact date; search and page relative-age displays differ. Underlying period: One reply says offer late January 'this year'; year not securely anchored; other interview dates unknown.</a:t>
            </a:r>
          </a:p>
          <a:p xmlns:a="http://schemas.openxmlformats.org/drawingml/2006/main">
            <a:r>
              <a:t>Boundary: Employer, duties, arrangement and exact chronology unknown; different commenters not one sequence. Science/manufacturing description is ambiguous; no assessment prevalence.</a:t>
            </a:r>
          </a:p>
          <a:p xmlns:a="http://schemas.openxmlformats.org/drawingml/2006/main">
            <a:r>
              <a:t>R3-B17: 02_research/03_research-rounds/03_cross-industry-job-search/runs/2026-10-19-cross-industry-and-vacancy-credibility/contributions/worker-b.json</a:t>
            </a:r>
          </a:p>
          <a:p xmlns:a="http://schemas.openxmlformats.org/drawingml/2006/main">
            <a:r>
              <a:t>Original: https://sg.micron.com/about/careers</a:t>
            </a:r>
          </a:p>
          <a:p xmlns:a="http://schemas.openxmlformats.org/drawingml/2006/main">
            <a:r>
              <a:t>Locator: Lines 248-252 and 388-408: employer job search, graduate pathways and local tertiary internship projects.</a:t>
            </a:r>
          </a:p>
          <a:p xmlns:a="http://schemas.openxmlformats.org/drawingml/2006/main">
            <a:r>
              <a:t>Published: unknown; page references Talent Connect 2025 and 2026 awards. Underlying period: Career-page snapshot 2026-10-19; programme cohort dates unknown.</a:t>
            </a:r>
          </a:p>
          <a:p xmlns:a="http://schemas.openxmlformats.org/drawingml/2006/main">
            <a:r>
              <a:t>Boundary: Same publisher family as B11; promotional claims/awards not evaluated or used to rank employer; no operator/trades eligibility or assessment criteria.</a:t>
            </a:r>
          </a:p>
          <a:p xmlns:a="http://schemas.openxmlformats.org/drawingml/2006/main">
            <a:r>
              <a:t>R3-P04: 02_research/03_research-rounds/03_cross-industry-job-search/runs/2026-10-19-cross-industry-and-vacancy-credibility/contributions/coordinator-final-gaps.json</a:t>
            </a:r>
          </a:p>
          <a:p xmlns:a="http://schemas.openxmlformats.org/drawingml/2006/main">
            <a:r>
              <a:t>Original: https://www.reddit.com/r/Machinists/comments/1woppyv/machinist_tests_interviews/</a:t>
            </a:r>
          </a:p>
          <a:p xmlns:a="http://schemas.openxmlformats.org/drawingml/2006/main">
            <a:r>
              <a:t>Locator: Opening post; tests at prior shops versus proposed future assessment</a:t>
            </a:r>
          </a:p>
          <a:p xmlns:a="http://schemas.openxmlformats.org/drawingml/2006/main">
            <a:r>
              <a:t>Published: unknown. Underlying period: recent relative page age, retrospective jobs undated.</a:t>
            </a:r>
          </a:p>
          <a:p xmlns:a="http://schemas.openxmlformats.org/drawingml/2006/main">
            <a:r>
              <a:t>Boundary: No representative rate or current vacancy/intent determination; comparator and historical limits apply.</a:t>
            </a:r>
          </a:p>
          <a:p xmlns:a="http://schemas.openxmlformats.org/drawingml/2006/main">
            <a:r>
              <a:t/>
            </a:r>
          </a:p>
          <a:p xmlns:a="http://schemas.openxmlformats.org/drawingml/2006/main">
            <a:r>
              <a:t>REPOSITORY EVIDENCE</a:t>
            </a:r>
          </a:p>
          <a:p xmlns:a="http://schemas.openxmlformats.org/drawingml/2006/main">
            <a:r>
              <a:t>Round 03 profile S07: 02_research/03_research-rounds/03_cross-industry-job-search/runs/2026-10-19-cross-industry-and-vacancy-credibility/industry-profiles/S07.md</a:t>
            </a:r>
          </a:p>
          <a:p xmlns:a="http://schemas.openxmlformats.org/drawingml/2006/main">
            <a:r>
              <a:t>Round 03 deeper report S07: 02_research/03_research-rounds/03_cross-industry-job-search/runs/2026-10-19-cross-industry-and-vacancy-credibility/sectors/S07.md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arts and trades supplement: 02_research/03_research-rounds/03_cross-industry-job-search/runs/2026-10-19-cross-industry-and-vacancy-credibility/arts-and-trades-supplement.md</a:t>
            </a:r>
          </a:p>
          <a:p xmlns:a="http://schemas.openxmlformats.org/drawingml/2006/main">
            <a:r>
              <a:t>Round 03 source records: worker-b: 02_research/03_research-rounds/03_cross-industry-job-search/runs/2026-10-19-cross-industry-and-vacancy-credibility/contributions/worker-b.json</a:t>
            </a:r>
          </a:p>
          <a:p xmlns:a="http://schemas.openxmlformats.org/drawingml/2006/main">
            <a:r>
              <a:t>Round 03 source records: coordinator-final-gaps: 02_research/03_research-rounds/03_cross-industry-job-search/runs/2026-10-19-cross-industry-and-vacancy-credibility/contributions/coordinator-final-gaps.json</a:t>
            </a:r>
          </a:p>
          <a:p xmlns:a="http://schemas.openxmlformats.org/drawingml/2006/main">
            <a:r>
              <a:t/>
            </a:r>
          </a:p>
          <a:p xmlns:a="http://schemas.openxmlformats.org/drawingml/2006/main">
            <a:r>
              <a:t>SELECTED ORIGINAL SOURCES</a:t>
            </a:r>
          </a:p>
          <a:p xmlns:a="http://schemas.openxmlformats.org/drawingml/2006/main">
            <a:r>
              <a:t>R3-B08: Fresh grad job interview: https://www.reddit.com/r/singaporejobs/comments/1wocwqv/fresh_grad_job_interview/</a:t>
            </a:r>
          </a:p>
          <a:p xmlns:a="http://schemas.openxmlformats.org/drawingml/2006/main">
            <a:r>
              <a:t>R3-B09: Interviews till Offer: https://www.reddit.com/r/singaporejobs/comments/1pmvabb/interviews_till_offer/</a:t>
            </a:r>
          </a:p>
          <a:p xmlns:a="http://schemas.openxmlformats.org/drawingml/2006/main">
            <a:r>
              <a:t>R3-B17: Careers: https://sg.micron.com/about/careers</a:t>
            </a:r>
          </a:p>
          <a:p xmlns:a="http://schemas.openxmlformats.org/drawingml/2006/main">
            <a:r>
              <a:t>R3-P04: Machinist assessment discussion: https://www.reddit.com/r/Machinists/comments/1woppyv/machinist_tests_interviews/</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Worker C reinspection recovered M14's publication date 2020-12-31; exact transition dates, channel, pay and round count are unknown. It does not establish a personal pay cut. C11 is a historical 2025 programme, not a current opening. C05 describes salary plus incentives for a particular employee role; C09 is an agency sales advert with an unnamed bank, not bank-confirmed terms. No universal finance credential or salary claim follows.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Operations, advice/sales and internal specialist transfers involve different duties. An Income account published 31 December 2020 reports an operations career switch.</a:t>
            </a:r>
          </a:p>
          <a:p xmlns:a="http://schemas.openxmlformats.org/drawingml/2006/main">
            <a:r>
              <a:t>R3-M14: 02_research/03_research-rounds/03_cross-industry-job-search/runs/2026-10-19-cross-industry-and-vacancy-credibility/contributions/worker-c.json</a:t>
            </a:r>
          </a:p>
          <a:p xmlns:a="http://schemas.openxmlformats.org/drawingml/2006/main">
            <a:r>
              <a:t>Original: https://www.income.com.sg/blog/mid-career-switch</a:t>
            </a:r>
          </a:p>
          <a:p xmlns:a="http://schemas.openxmlformats.org/drawingml/2006/main">
            <a:r>
              <a:t>Locator: Date line112; Experience120-122; Right Opportunity125-126; transition129-132.</a:t>
            </a:r>
          </a:p>
          <a:p xmlns:a="http://schemas.openxmlformats.org/drawingml/2006/main">
            <a:r>
              <a:t>Published: 2020-12-31. Underlying period: Transition occurred by publication; precise event dates unknown; older.</a:t>
            </a:r>
          </a:p>
          <a:p xmlns:a="http://schemas.openxmlformats.org/drawingml/2006/main">
            <a:r>
              <a:t>Boundary: Older than 24 months, curated success; discovery channel/rounds/pay unknown. Potential pay cut is a general barrier, not an observed personal reduction. Same Income employer group as C01/C05.</a:t>
            </a:r>
          </a:p>
          <a:p xmlns:a="http://schemas.openxmlformats.org/drawingml/2006/main">
            <a:r>
              <a:t>R3-C05: 02_research/03_research-rounds/03_cross-industry-job-search/runs/2026-10-19-cross-industry-and-vacancy-credibility/contributions/worker-c.json</a:t>
            </a:r>
          </a:p>
          <a:p xmlns:a="http://schemas.openxmlformats.org/drawingml/2006/main">
            <a:r>
              <a:t>Original: https://www.income.com.sg/careers/be-a-financial-planner/client-advisor</a:t>
            </a:r>
          </a:p>
          <a:p xmlns:a="http://schemas.openxmlformats.org/drawingml/2006/main">
            <a:r>
              <a:t>Locator: Duties and Benefits, lines98-115.</a:t>
            </a:r>
          </a:p>
          <a:p xmlns:a="http://schemas.openxmlformats.org/drawingml/2006/main">
            <a:r>
              <a:t>Published: unknown. Underlying period: Undated recruitment snapshot.</a:t>
            </a:r>
          </a:p>
          <a:p xmlns:a="http://schemas.openxmlformats.org/drawingml/2006/main">
            <a:r>
              <a:t>Boundary: Same Income employer family as C01/M14; salary amount, achievable incentives, targets, hours and actual offers unknown.</a:t>
            </a:r>
          </a:p>
          <a:p xmlns:a="http://schemas.openxmlformats.org/drawingml/2006/main">
            <a:r>
              <a:t>R3-C09: 02_research/03_research-rounds/03_cross-industry-job-search/runs/2026-10-19-cross-industry-and-vacancy-credibility/contributions/worker-c.json</a:t>
            </a:r>
          </a:p>
          <a:p xmlns:a="http://schemas.openxmlformats.org/drawingml/2006/main">
            <a:r>
              <a:t>Original: https://www.careers-page.com/people-profilers/job/QXV9RX9R</a:t>
            </a:r>
          </a:p>
          <a:p xmlns:a="http://schemas.openxmlformats.org/drawingml/2006/main">
            <a:r>
              <a:t>Locator: Description/Responsibilities/Requirements, lines11-30; notification policy38.</a:t>
            </a:r>
          </a:p>
          <a:p xmlns:a="http://schemas.openxmlformats.org/drawingml/2006/main">
            <a:r>
              <a:t>Published: unknown. Underlying period: Undated listing; current external recruitment unresolved.</a:t>
            </a:r>
          </a:p>
          <a:p xmlns:a="http://schemas.openxmlformats.org/drawingml/2006/main">
            <a:r>
              <a:t>Boundary: Agency description not bank-confirmed terms or universal licensing rule; no pay amount, actual offer, closure date or employer intention.</a:t>
            </a:r>
          </a:p>
          <a:p xmlns:a="http://schemas.openxmlformats.org/drawingml/2006/main">
            <a:r>
              <a:t>R3-C11: 02_research/03_research-rounds/03_cross-industry-job-search/runs/2026-10-19-cross-industry-and-vacancy-credibility/contributions/worker-c.json</a:t>
            </a:r>
          </a:p>
          <a:p xmlns:a="http://schemas.openxmlformats.org/drawingml/2006/main">
            <a:r>
              <a:t>Original: https://www.dbs.com/iwov-resources/images/careers/management-associate-programme/Available%202025%20MA%20Opportunities%20in%20Singapore.pdf</a:t>
            </a:r>
          </a:p>
          <a:p xmlns:a="http://schemas.openxmlformats.org/drawingml/2006/main">
            <a:r>
              <a:t>Locator: PDF pages13-14 (zero-based12-13), Operations, lines318-350.</a:t>
            </a:r>
          </a:p>
          <a:p xmlns:a="http://schemas.openxmlformats.org/drawingml/2006/main">
            <a:r>
              <a:t>Published: unknown (2025 programme edition; discovery dated &gt;24 months, unconfirmed). Underlying period: 2025 programme; historical by 2026-10-19.</a:t>
            </a:r>
          </a:p>
          <a:p xmlns:a="http://schemas.openxmlformats.org/drawingml/2006/main">
            <a:r>
              <a:t>Boundary: Historical programme cannot establish live 2026 opening, operations pay, all entry requirements or any individual's outcome.</a:t>
            </a:r>
          </a:p>
          <a:p xmlns:a="http://schemas.openxmlformats.org/drawingml/2006/main">
            <a:r>
              <a:t>R3-C03: 02_research/03_research-rounds/03_cross-industry-job-search/runs/2026-10-19-cross-industry-and-vacancy-credibility/contributions/worker-c.json</a:t>
            </a:r>
          </a:p>
          <a:p xmlns:a="http://schemas.openxmlformats.org/drawingml/2006/main">
            <a:r>
              <a:t>Original: https://www.sc.com/en/global-careers/our-employee-stories/my-career-growth-iriss-story/</a:t>
            </a:r>
          </a:p>
          <a:p xmlns:a="http://schemas.openxmlformats.org/drawingml/2006/main">
            <a:r>
              <a:t>Locator: Securing my job, lines16-20.</a:t>
            </a:r>
          </a:p>
          <a:p xmlns:a="http://schemas.openxmlformats.org/drawingml/2006/main">
            <a:r>
              <a:t>Published: unknown. Underlying period: Internal transfer and earlier predictive analytics challenge; dates unknown.</a:t>
            </a:r>
          </a:p>
          <a:p xmlns:a="http://schemas.openxmlformats.org/drawingml/2006/main">
            <a:r>
              <a:t>Boundary: Positive selection and unknown dates. Internal specialist route cannot establish graduate or external operations/sales hiring standards; no assessment-pay information.</a:t>
            </a:r>
          </a:p>
          <a:p xmlns:a="http://schemas.openxmlformats.org/drawingml/2006/main">
            <a:r>
              <a:t/>
            </a:r>
          </a:p>
          <a:p xmlns:a="http://schemas.openxmlformats.org/drawingml/2006/main">
            <a:r>
              <a:t>interpretation: Map actual transferable responsibilities to the role. Read the named employer and arrangement. Separate basic salary, conditional allowances and variable incentives. Verify the actual offer.</a:t>
            </a:r>
          </a:p>
          <a:p xmlns:a="http://schemas.openxmlformats.org/drawingml/2006/main">
            <a:r>
              <a:t>R3-M14: 02_research/03_research-rounds/03_cross-industry-job-search/runs/2026-10-19-cross-industry-and-vacancy-credibility/contributions/worker-c.json</a:t>
            </a:r>
          </a:p>
          <a:p xmlns:a="http://schemas.openxmlformats.org/drawingml/2006/main">
            <a:r>
              <a:t>Original: https://www.income.com.sg/blog/mid-career-switch</a:t>
            </a:r>
          </a:p>
          <a:p xmlns:a="http://schemas.openxmlformats.org/drawingml/2006/main">
            <a:r>
              <a:t>Locator: Date line112; Experience120-122; Right Opportunity125-126; transition129-132.</a:t>
            </a:r>
          </a:p>
          <a:p xmlns:a="http://schemas.openxmlformats.org/drawingml/2006/main">
            <a:r>
              <a:t>Published: 2020-12-31. Underlying period: Transition occurred by publication; precise event dates unknown; older.</a:t>
            </a:r>
          </a:p>
          <a:p xmlns:a="http://schemas.openxmlformats.org/drawingml/2006/main">
            <a:r>
              <a:t>Boundary: Older than 24 months, curated success; discovery channel/rounds/pay unknown. Potential pay cut is a general barrier, not an observed personal reduction. Same Income employer group as C01/C05.</a:t>
            </a:r>
          </a:p>
          <a:p xmlns:a="http://schemas.openxmlformats.org/drawingml/2006/main">
            <a:r>
              <a:t>R3-C05: 02_research/03_research-rounds/03_cross-industry-job-search/runs/2026-10-19-cross-industry-and-vacancy-credibility/contributions/worker-c.json</a:t>
            </a:r>
          </a:p>
          <a:p xmlns:a="http://schemas.openxmlformats.org/drawingml/2006/main">
            <a:r>
              <a:t>Original: https://www.income.com.sg/careers/be-a-financial-planner/client-advisor</a:t>
            </a:r>
          </a:p>
          <a:p xmlns:a="http://schemas.openxmlformats.org/drawingml/2006/main">
            <a:r>
              <a:t>Locator: Duties and Benefits, lines98-115.</a:t>
            </a:r>
          </a:p>
          <a:p xmlns:a="http://schemas.openxmlformats.org/drawingml/2006/main">
            <a:r>
              <a:t>Published: unknown. Underlying period: Undated recruitment snapshot.</a:t>
            </a:r>
          </a:p>
          <a:p xmlns:a="http://schemas.openxmlformats.org/drawingml/2006/main">
            <a:r>
              <a:t>Boundary: Same Income employer family as C01/M14; salary amount, achievable incentives, targets, hours and actual offers unknown.</a:t>
            </a:r>
          </a:p>
          <a:p xmlns:a="http://schemas.openxmlformats.org/drawingml/2006/main">
            <a:r>
              <a:t>R3-C09: 02_research/03_research-rounds/03_cross-industry-job-search/runs/2026-10-19-cross-industry-and-vacancy-credibility/contributions/worker-c.json</a:t>
            </a:r>
          </a:p>
          <a:p xmlns:a="http://schemas.openxmlformats.org/drawingml/2006/main">
            <a:r>
              <a:t>Original: https://www.careers-page.com/people-profilers/job/QXV9RX9R</a:t>
            </a:r>
          </a:p>
          <a:p xmlns:a="http://schemas.openxmlformats.org/drawingml/2006/main">
            <a:r>
              <a:t>Locator: Description/Responsibilities/Requirements, lines11-30; notification policy38.</a:t>
            </a:r>
          </a:p>
          <a:p xmlns:a="http://schemas.openxmlformats.org/drawingml/2006/main">
            <a:r>
              <a:t>Published: unknown. Underlying period: Undated listing; current external recruitment unresolved.</a:t>
            </a:r>
          </a:p>
          <a:p xmlns:a="http://schemas.openxmlformats.org/drawingml/2006/main">
            <a:r>
              <a:t>Boundary: Agency description not bank-confirmed terms or universal licensing rule; no pay amount, actual offer, closure date or employer intention.</a:t>
            </a:r>
          </a:p>
          <a:p xmlns:a="http://schemas.openxmlformats.org/drawingml/2006/main">
            <a:r>
              <a:t>R3-C11: 02_research/03_research-rounds/03_cross-industry-job-search/runs/2026-10-19-cross-industry-and-vacancy-credibility/contributions/worker-c.json</a:t>
            </a:r>
          </a:p>
          <a:p xmlns:a="http://schemas.openxmlformats.org/drawingml/2006/main">
            <a:r>
              <a:t>Original: https://www.dbs.com/iwov-resources/images/careers/management-associate-programme/Available%202025%20MA%20Opportunities%20in%20Singapore.pdf</a:t>
            </a:r>
          </a:p>
          <a:p xmlns:a="http://schemas.openxmlformats.org/drawingml/2006/main">
            <a:r>
              <a:t>Locator: PDF pages13-14 (zero-based12-13), Operations, lines318-350.</a:t>
            </a:r>
          </a:p>
          <a:p xmlns:a="http://schemas.openxmlformats.org/drawingml/2006/main">
            <a:r>
              <a:t>Published: unknown (2025 programme edition; discovery dated &gt;24 months, unconfirmed). Underlying period: 2025 programme; historical by 2026-10-19.</a:t>
            </a:r>
          </a:p>
          <a:p xmlns:a="http://schemas.openxmlformats.org/drawingml/2006/main">
            <a:r>
              <a:t>Boundary: Historical programme cannot establish live 2026 opening, operations pay, all entry requirements or any individual's outcome.</a:t>
            </a:r>
          </a:p>
          <a:p xmlns:a="http://schemas.openxmlformats.org/drawingml/2006/main">
            <a:r>
              <a:t/>
            </a:r>
          </a:p>
          <a:p xmlns:a="http://schemas.openxmlformats.org/drawingml/2006/main">
            <a:r>
              <a:t>REPOSITORY EVIDENCE</a:t>
            </a:r>
          </a:p>
          <a:p xmlns:a="http://schemas.openxmlformats.org/drawingml/2006/main">
            <a:r>
              <a:t>Round 03 profile S08: 02_research/03_research-rounds/03_cross-industry-job-search/runs/2026-10-19-cross-industry-and-vacancy-credibility/industry-profiles/S08.md</a:t>
            </a:r>
          </a:p>
          <a:p xmlns:a="http://schemas.openxmlformats.org/drawingml/2006/main">
            <a:r>
              <a:t>Round 03 deeper report S08: 02_research/03_research-rounds/03_cross-industry-job-search/runs/2026-10-19-cross-industry-and-vacancy-credibility/sectors/S08.md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worker-c: 02_research/03_research-rounds/03_cross-industry-job-search/runs/2026-10-19-cross-industry-and-vacancy-credibility/contributions/worker-c.json</a:t>
            </a:r>
          </a:p>
          <a:p xmlns:a="http://schemas.openxmlformats.org/drawingml/2006/main">
            <a:r>
              <a:t/>
            </a:r>
          </a:p>
          <a:p xmlns:a="http://schemas.openxmlformats.org/drawingml/2006/main">
            <a:r>
              <a:t>SELECTED ORIGINAL SOURCES</a:t>
            </a:r>
          </a:p>
          <a:p xmlns:a="http://schemas.openxmlformats.org/drawingml/2006/main">
            <a:r>
              <a:t>R3-M14: Making a Mid-career Switch with Income Insurance: https://www.income.com.sg/blog/mid-career-switch</a:t>
            </a:r>
          </a:p>
          <a:p xmlns:a="http://schemas.openxmlformats.org/drawingml/2006/main">
            <a:r>
              <a:t>R3-C05: Be a Client Advisor: https://www.income.com.sg/careers/be-a-financial-planner/client-advisor</a:t>
            </a:r>
          </a:p>
          <a:p xmlns:a="http://schemas.openxmlformats.org/drawingml/2006/main">
            <a:r>
              <a:t>R3-C09: Wealth Planning Manager - QXV9RX9R: https://www.careers-page.com/people-profilers/job/QXV9RX9R</a:t>
            </a:r>
          </a:p>
          <a:p xmlns:a="http://schemas.openxmlformats.org/drawingml/2006/main">
            <a:r>
              <a:t>R3-C11: DBS Management Associate Programme 2025 - opportunities in Singapore: https://www.dbs.com/iwov-resources/images/careers/management-associate-programme/Available%202025%20MA%20Opportunities%20in%20Singapore.pdf</a:t>
            </a:r>
          </a:p>
          <a:p xmlns:a="http://schemas.openxmlformats.org/drawingml/2006/main">
            <a:r>
              <a:t>R3-C03: My career growth - Iris's story: https://www.sc.com/en/global-careers/our-employee-stories/my-career-growth-iriss-story/</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M16's covered outsourced/in-house cleaning arrangements must not be extended to every service job. M17 is an unverified public career-change account without a completed outcome. Employer industry, occupation and client location remain different fields. No pay entitlement, standard licence route or AI-use claim is established.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This broad basket separates professional services, administration and outsourced support. The inspected material concerns cleaning policy and one security worker's career-change question.</a:t>
            </a:r>
          </a:p>
          <a:p xmlns:a="http://schemas.openxmlformats.org/drawingml/2006/main">
            <a:r>
              <a:t>R3-M16: 02_research/03_research-rounds/03_cross-industry-job-search/runs/2026-10-19-cross-industry-and-vacancy-credibility/contributions/coordinator-map.json</a:t>
            </a:r>
          </a:p>
          <a:p xmlns:a="http://schemas.openxmlformats.org/drawingml/2006/main">
            <a:r>
              <a:t>Original: https://www.mom.gov.sg/employment-practices/progressive-wage-model/cleaning-sector</a:t>
            </a:r>
          </a:p>
          <a:p xmlns:a="http://schemas.openxmlformats.org/drawingml/2006/main">
            <a:r>
              <a:t>Locator: Who it covers / Training</a:t>
            </a:r>
          </a:p>
          <a:p xmlns:a="http://schemas.openxmlformats.org/drawingml/2006/main">
            <a:r>
              <a:t>Published: unknown. Underlying period: current page references 2026 addendum.</a:t>
            </a:r>
          </a:p>
          <a:p xmlns:a="http://schemas.openxmlformats.org/drawingml/2006/main">
            <a:r>
              <a:t>Boundary: Convenience retrieval; no prevalence inference. Dates, outcomes and applicability require case-specific verification.</a:t>
            </a:r>
          </a:p>
          <a:p xmlns:a="http://schemas.openxmlformats.org/drawingml/2006/main">
            <a:r>
              <a:t>R3-M17: 02_research/03_research-rounds/03_cross-industry-job-search/runs/2026-10-19-cross-industry-and-vacancy-credibility/contributions/coordinator-map.json</a:t>
            </a:r>
          </a:p>
          <a:p xmlns:a="http://schemas.openxmlformats.org/drawingml/2006/main">
            <a:r>
              <a:t>Original: https://www.reddit.com/r/singaporejobs/comments/1x2vxiq/31m_10_years_in_private_security_and_feeling/</a:t>
            </a:r>
          </a:p>
          <a:p xmlns:a="http://schemas.openxmlformats.org/drawingml/2006/main">
            <a:r>
              <a:t>Locator: Opening</a:t>
            </a:r>
          </a:p>
          <a:p xmlns:a="http://schemas.openxmlformats.org/drawingml/2006/main">
            <a:r>
              <a:t>Published: unknown. Underlying period: relative days.</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interpretation: Keep the client site distinct from the employer. Ask about deployment, hours and pay components. Check actual qualifications and transferable tasks. Professional-service hiring needs more evidence.</a:t>
            </a:r>
          </a:p>
          <a:p xmlns:a="http://schemas.openxmlformats.org/drawingml/2006/main">
            <a:r>
              <a:t>R3-M16: 02_research/03_research-rounds/03_cross-industry-job-search/runs/2026-10-19-cross-industry-and-vacancy-credibility/contributions/coordinator-map.json</a:t>
            </a:r>
          </a:p>
          <a:p xmlns:a="http://schemas.openxmlformats.org/drawingml/2006/main">
            <a:r>
              <a:t>Original: https://www.mom.gov.sg/employment-practices/progressive-wage-model/cleaning-sector</a:t>
            </a:r>
          </a:p>
          <a:p xmlns:a="http://schemas.openxmlformats.org/drawingml/2006/main">
            <a:r>
              <a:t>Locator: Who it covers / Training</a:t>
            </a:r>
          </a:p>
          <a:p xmlns:a="http://schemas.openxmlformats.org/drawingml/2006/main">
            <a:r>
              <a:t>Published: unknown. Underlying period: current page references 2026 addendum.</a:t>
            </a:r>
          </a:p>
          <a:p xmlns:a="http://schemas.openxmlformats.org/drawingml/2006/main">
            <a:r>
              <a:t>Boundary: Convenience retrieval; no prevalence inference. Dates, outcomes and applicability require case-specific verification.</a:t>
            </a:r>
          </a:p>
          <a:p xmlns:a="http://schemas.openxmlformats.org/drawingml/2006/main">
            <a:r>
              <a:t>R3-M17: 02_research/03_research-rounds/03_cross-industry-job-search/runs/2026-10-19-cross-industry-and-vacancy-credibility/contributions/coordinator-map.json</a:t>
            </a:r>
          </a:p>
          <a:p xmlns:a="http://schemas.openxmlformats.org/drawingml/2006/main">
            <a:r>
              <a:t>Original: https://www.reddit.com/r/singaporejobs/comments/1x2vxiq/31m_10_years_in_private_security_and_feeling/</a:t>
            </a:r>
          </a:p>
          <a:p xmlns:a="http://schemas.openxmlformats.org/drawingml/2006/main">
            <a:r>
              <a:t>Locator: Opening</a:t>
            </a:r>
          </a:p>
          <a:p xmlns:a="http://schemas.openxmlformats.org/drawingml/2006/main">
            <a:r>
              <a:t>Published: unknown. Underlying period: relative days.</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REPOSITORY EVIDENCE</a:t>
            </a:r>
          </a:p>
          <a:p xmlns:a="http://schemas.openxmlformats.org/drawingml/2006/main">
            <a:r>
              <a:t>Round 03 profile S09: 02_research/03_research-rounds/03_cross-industry-job-search/runs/2026-10-19-cross-industry-and-vacancy-credibility/industry-profiles/S09.md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coordinator-map: 02_research/03_research-rounds/03_cross-industry-job-search/runs/2026-10-19-cross-industry-and-vacancy-credibility/contributions/coordinator-map.json</a:t>
            </a:r>
          </a:p>
          <a:p xmlns:a="http://schemas.openxmlformats.org/drawingml/2006/main">
            <a:r>
              <a:t/>
            </a:r>
          </a:p>
          <a:p xmlns:a="http://schemas.openxmlformats.org/drawingml/2006/main">
            <a:r>
              <a:t>SELECTED ORIGINAL SOURCES</a:t>
            </a:r>
          </a:p>
          <a:p xmlns:a="http://schemas.openxmlformats.org/drawingml/2006/main">
            <a:r>
              <a:t>R3-M16: Progressive Wage Model for the cleaning sector: https://www.mom.gov.sg/employment-practices/progressive-wage-model/cleaning-sector</a:t>
            </a:r>
          </a:p>
          <a:p xmlns:a="http://schemas.openxmlformats.org/drawingml/2006/main">
            <a:r>
              <a:t>R3-M17: 31M, 10 Years in Private Security and Feeling Stuck. What Are My Career Options? : r/singaporejobs: https://www.reddit.com/r/singaporejobs/comments/1x2vxiq/31m_10_years_in_private_security_and_feeling/</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M18 allows a role-dependent task or portfolio deep-dive. C04 explicitly describes an unpaid test and promises evaluation-only use; those promises are not independently verified safeguards. C07 reports burden/refusal/rejection but does not prove stolen work or fake vacancies. P03 is a historical producer notice dated 2025-11-21 with December 2025 submission/audition dates and possible 2026/27 seasons. It is not a live opportunity or verified employment. Its public-sharing request is not a recommendation or authority to upload personal material. P05 is a local route concern, not a verified gig; it does not resolve casting outcomes.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Design portfolios, media tasks and performance self-tapes provide different evidence. Wild Rice's 21 November 2025 open call concerned possible 2026/27 casting, not one production.</a:t>
            </a:r>
          </a:p>
          <a:p xmlns:a="http://schemas.openxmlformats.org/drawingml/2006/main">
            <a:r>
              <a:t>R3-M18: 02_research/03_research-rounds/03_cross-industry-job-search/runs/2026-10-19-cross-industry-and-vacancy-credibility/contributions/worker-c.json</a:t>
            </a:r>
          </a:p>
          <a:p xmlns:a="http://schemas.openxmlformats.org/drawingml/2006/main">
            <a:r>
              <a:t>Original: https://www.superminted.com/careers</a:t>
            </a:r>
          </a:p>
          <a:p xmlns:a="http://schemas.openxmlformats.org/drawingml/2006/main">
            <a:r>
              <a:t>Locator: How We Hire123-152; FAQ161-198.</a:t>
            </a:r>
          </a:p>
          <a:p xmlns:a="http://schemas.openxmlformats.org/drawingml/2006/main">
            <a:r>
              <a:t>Published: unknown. Underlying period: Undated current page snapshot; hiring outcomes unknown.</a:t>
            </a:r>
          </a:p>
          <a:p xmlns:a="http://schemas.openxmlformats.org/drawingml/2006/main">
            <a:r>
              <a:t>Boundary: Task payment/duration/rights and actual response compliance unknown. Named roles and open applications are distinct; neither proves current headcount or eventual hire.</a:t>
            </a:r>
          </a:p>
          <a:p xmlns:a="http://schemas.openxmlformats.org/drawingml/2006/main">
            <a:r>
              <a:t>R3-C04: 02_research/03_research-rounds/03_cross-industry-job-search/runs/2026-10-19-cross-industry-and-vacancy-credibility/contributions/worker-c.json</a:t>
            </a:r>
          </a:p>
          <a:p xmlns:a="http://schemas.openxmlformats.org/drawingml/2006/main">
            <a:r>
              <a:t>Original: https://www.behindnetworksg.com/careers.html</a:t>
            </a:r>
          </a:p>
          <a:p xmlns:a="http://schemas.openxmlformats.org/drawingml/2006/main">
            <a:r>
              <a:t>Locator: Application lines47-55; roles100-152; test FAQ199-231.</a:t>
            </a:r>
          </a:p>
          <a:p xmlns:a="http://schemas.openxmlformats.org/drawingml/2006/main">
            <a:r>
              <a:t>Published: unknown. Underlying period: Undated employer snapshot accessed 2026-10-19.</a:t>
            </a:r>
          </a:p>
          <a:p xmlns:a="http://schemas.openxmlformats.org/drawingml/2006/main">
            <a:r>
              <a:t>Boundary: No verified hires or applicant satisfaction; salary deferred to conversation. Work-sample non-use promise not independently checked. Mutable page; initial/repeat line counts differed.</a:t>
            </a:r>
          </a:p>
          <a:p xmlns:a="http://schemas.openxmlformats.org/drawingml/2006/main">
            <a:r>
              <a:t>R3-C07: 02_research/03_research-rounds/03_cross-industry-job-search/runs/2026-10-19-cross-industry-and-vacancy-credibility/contributions/worker-c.json</a:t>
            </a:r>
          </a:p>
          <a:p xmlns:a="http://schemas.openxmlformats.org/drawingml/2006/main">
            <a:r>
              <a:t>Original: https://www.reddit.com/r/singaporejobs/comments/1wcfkyb/job_interview_nightmare/</a:t>
            </a:r>
          </a:p>
          <a:p xmlns:a="http://schemas.openxmlformats.org/drawingml/2006/main">
            <a:r>
              <a:t>Locator: Design comments lines47-63 and240-251.</a:t>
            </a:r>
          </a:p>
          <a:p xmlns:a="http://schemas.openxmlformats.org/drawingml/2006/main">
            <a:r>
              <a:t>Published: unknown (search metadata and opened relative dates conflict). Underlying period: Unknown; one retrospective comment mentions a company failing three years later.</a:t>
            </a:r>
          </a:p>
          <a:p xmlns:a="http://schemas.openxmlformats.org/drawingml/2006/main">
            <a:r>
              <a:t>Boundary: Complaint selection, mixed historical events, unknown employer sector, unverified tasks/outcomes; salaries not market estimates; no proof of work reuse or fabricated vacancy.</a:t>
            </a:r>
          </a:p>
          <a:p xmlns:a="http://schemas.openxmlformats.org/drawingml/2006/main">
            <a:r>
              <a:t>R3-P03: 02_research/03_research-rounds/03_cross-industry-job-search/runs/2026-10-19-cross-industry-and-vacancy-credibility/contributions/coordinator-final-gaps.json</a:t>
            </a:r>
          </a:p>
          <a:p xmlns:a="http://schemas.openxmlformats.org/drawingml/2006/main">
            <a:r>
              <a:t>Original: https://www.wildrice.com.sg/audition-notice-open-auditions/</a:t>
            </a:r>
          </a:p>
          <a:p xmlns:a="http://schemas.openxmlformats.org/drawingml/2006/main">
            <a:r>
              <a:t>Locator: Audition details / opening disclosure</a:t>
            </a:r>
          </a:p>
          <a:p xmlns:a="http://schemas.openxmlformats.org/drawingml/2006/main">
            <a:r>
              <a:t>Published: 2025-11-21. Underlying period: December 2025 auditions; possible 2026/27 seasons.</a:t>
            </a:r>
          </a:p>
          <a:p xmlns:a="http://schemas.openxmlformats.org/drawingml/2006/main">
            <a:r>
              <a:t>Boundary: No representative rate or current vacancy/intent determination; comparator and historical limits apply.</a:t>
            </a:r>
          </a:p>
          <a:p xmlns:a="http://schemas.openxmlformats.org/drawingml/2006/main">
            <a:r>
              <a:t/>
            </a:r>
          </a:p>
          <a:p xmlns:a="http://schemas.openxmlformats.org/drawingml/2006/main">
            <a:r>
              <a:t>interpretation: Explain actual contribution. Clarify test scope, time, payment and permitted use. Keep a disclosed casting pool distinct from a current job. Its December 2025 deadlines have passed.</a:t>
            </a:r>
          </a:p>
          <a:p xmlns:a="http://schemas.openxmlformats.org/drawingml/2006/main">
            <a:r>
              <a:t>R3-M18: 02_research/03_research-rounds/03_cross-industry-job-search/runs/2026-10-19-cross-industry-and-vacancy-credibility/contributions/worker-c.json</a:t>
            </a:r>
          </a:p>
          <a:p xmlns:a="http://schemas.openxmlformats.org/drawingml/2006/main">
            <a:r>
              <a:t>Original: https://www.superminted.com/careers</a:t>
            </a:r>
          </a:p>
          <a:p xmlns:a="http://schemas.openxmlformats.org/drawingml/2006/main">
            <a:r>
              <a:t>Locator: How We Hire123-152; FAQ161-198.</a:t>
            </a:r>
          </a:p>
          <a:p xmlns:a="http://schemas.openxmlformats.org/drawingml/2006/main">
            <a:r>
              <a:t>Published: unknown. Underlying period: Undated current page snapshot; hiring outcomes unknown.</a:t>
            </a:r>
          </a:p>
          <a:p xmlns:a="http://schemas.openxmlformats.org/drawingml/2006/main">
            <a:r>
              <a:t>Boundary: Task payment/duration/rights and actual response compliance unknown. Named roles and open applications are distinct; neither proves current headcount or eventual hire.</a:t>
            </a:r>
          </a:p>
          <a:p xmlns:a="http://schemas.openxmlformats.org/drawingml/2006/main">
            <a:r>
              <a:t>R3-C04: 02_research/03_research-rounds/03_cross-industry-job-search/runs/2026-10-19-cross-industry-and-vacancy-credibility/contributions/worker-c.json</a:t>
            </a:r>
          </a:p>
          <a:p xmlns:a="http://schemas.openxmlformats.org/drawingml/2006/main">
            <a:r>
              <a:t>Original: https://www.behindnetworksg.com/careers.html</a:t>
            </a:r>
          </a:p>
          <a:p xmlns:a="http://schemas.openxmlformats.org/drawingml/2006/main">
            <a:r>
              <a:t>Locator: Application lines47-55; roles100-152; test FAQ199-231.</a:t>
            </a:r>
          </a:p>
          <a:p xmlns:a="http://schemas.openxmlformats.org/drawingml/2006/main">
            <a:r>
              <a:t>Published: unknown. Underlying period: Undated employer snapshot accessed 2026-10-19.</a:t>
            </a:r>
          </a:p>
          <a:p xmlns:a="http://schemas.openxmlformats.org/drawingml/2006/main">
            <a:r>
              <a:t>Boundary: No verified hires or applicant satisfaction; salary deferred to conversation. Work-sample non-use promise not independently checked. Mutable page; initial/repeat line counts differed.</a:t>
            </a:r>
          </a:p>
          <a:p xmlns:a="http://schemas.openxmlformats.org/drawingml/2006/main">
            <a:r>
              <a:t>R3-C07: 02_research/03_research-rounds/03_cross-industry-job-search/runs/2026-10-19-cross-industry-and-vacancy-credibility/contributions/worker-c.json</a:t>
            </a:r>
          </a:p>
          <a:p xmlns:a="http://schemas.openxmlformats.org/drawingml/2006/main">
            <a:r>
              <a:t>Original: https://www.reddit.com/r/singaporejobs/comments/1wcfkyb/job_interview_nightmare/</a:t>
            </a:r>
          </a:p>
          <a:p xmlns:a="http://schemas.openxmlformats.org/drawingml/2006/main">
            <a:r>
              <a:t>Locator: Design comments lines47-63 and240-251.</a:t>
            </a:r>
          </a:p>
          <a:p xmlns:a="http://schemas.openxmlformats.org/drawingml/2006/main">
            <a:r>
              <a:t>Published: unknown (search metadata and opened relative dates conflict). Underlying period: Unknown; one retrospective comment mentions a company failing three years later.</a:t>
            </a:r>
          </a:p>
          <a:p xmlns:a="http://schemas.openxmlformats.org/drawingml/2006/main">
            <a:r>
              <a:t>Boundary: Complaint selection, mixed historical events, unknown employer sector, unverified tasks/outcomes; salaries not market estimates; no proof of work reuse or fabricated vacancy.</a:t>
            </a:r>
          </a:p>
          <a:p xmlns:a="http://schemas.openxmlformats.org/drawingml/2006/main">
            <a:r>
              <a:t>R3-P03: 02_research/03_research-rounds/03_cross-industry-job-search/runs/2026-10-19-cross-industry-and-vacancy-credibility/contributions/coordinator-final-gaps.json</a:t>
            </a:r>
          </a:p>
          <a:p xmlns:a="http://schemas.openxmlformats.org/drawingml/2006/main">
            <a:r>
              <a:t>Original: https://www.wildrice.com.sg/audition-notice-open-auditions/</a:t>
            </a:r>
          </a:p>
          <a:p xmlns:a="http://schemas.openxmlformats.org/drawingml/2006/main">
            <a:r>
              <a:t>Locator: Audition details / opening disclosure</a:t>
            </a:r>
          </a:p>
          <a:p xmlns:a="http://schemas.openxmlformats.org/drawingml/2006/main">
            <a:r>
              <a:t>Published: 2025-11-21. Underlying period: December 2025 auditions; possible 2026/27 seasons.</a:t>
            </a:r>
          </a:p>
          <a:p xmlns:a="http://schemas.openxmlformats.org/drawingml/2006/main">
            <a:r>
              <a:t>Boundary: No representative rate or current vacancy/intent determination; comparator and historical limits apply.</a:t>
            </a:r>
          </a:p>
          <a:p xmlns:a="http://schemas.openxmlformats.org/drawingml/2006/main">
            <a:r>
              <a:t/>
            </a:r>
          </a:p>
          <a:p xmlns:a="http://schemas.openxmlformats.org/drawingml/2006/main">
            <a:r>
              <a:t>source-reported: A separate local acting-route question and peer advice do not establish a verified gig.</a:t>
            </a:r>
          </a:p>
          <a:p xmlns:a="http://schemas.openxmlformats.org/drawingml/2006/main">
            <a:r>
              <a:t>R3-P05: 02_research/03_research-rounds/03_cross-industry-job-search/runs/2026-10-19-cross-industry-and-vacancy-credibility/contributions/coordinator-final-gaps.json</a:t>
            </a:r>
          </a:p>
          <a:p xmlns:a="http://schemas.openxmlformats.org/drawingml/2006/main">
            <a:r>
              <a:t>Original: https://www.reddit.com/r/SGExams/comments/1srn9au/acting_side_quest/</a:t>
            </a:r>
          </a:p>
          <a:p xmlns:a="http://schemas.openxmlformats.org/drawingml/2006/main">
            <a:r>
              <a:t>Locator: Opening concern and replies; no private channels entered</a:t>
            </a:r>
          </a:p>
          <a:p xmlns:a="http://schemas.openxmlformats.org/drawingml/2006/main">
            <a:r>
              <a:t>Published: unknown. Underlying period: search snippet and page relative ages disagree; exact date unresolved.</a:t>
            </a:r>
          </a:p>
          <a:p xmlns:a="http://schemas.openxmlformats.org/drawingml/2006/main">
            <a:r>
              <a:t>Boundary: No representative rate or current vacancy/intent determination; comparator and historical limits apply.</a:t>
            </a:r>
          </a:p>
          <a:p xmlns:a="http://schemas.openxmlformats.org/drawingml/2006/main">
            <a:r>
              <a:t/>
            </a:r>
          </a:p>
          <a:p xmlns:a="http://schemas.openxmlformats.org/drawingml/2006/main">
            <a:r>
              <a:t>REPOSITORY EVIDENCE</a:t>
            </a:r>
          </a:p>
          <a:p xmlns:a="http://schemas.openxmlformats.org/drawingml/2006/main">
            <a:r>
              <a:t>Round 03 profile S10: 02_research/03_research-rounds/03_cross-industry-job-search/runs/2026-10-19-cross-industry-and-vacancy-credibility/industry-profiles/S10.md</a:t>
            </a:r>
          </a:p>
          <a:p xmlns:a="http://schemas.openxmlformats.org/drawingml/2006/main">
            <a:r>
              <a:t>Round 03 deeper report S10: 02_research/03_research-rounds/03_cross-industry-job-search/runs/2026-10-19-cross-industry-and-vacancy-credibility/sectors/S10.md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arts and trades supplement: 02_research/03_research-rounds/03_cross-industry-job-search/runs/2026-10-19-cross-industry-and-vacancy-credibility/arts-and-trades-supplement.md</a:t>
            </a:r>
          </a:p>
          <a:p xmlns:a="http://schemas.openxmlformats.org/drawingml/2006/main">
            <a:r>
              <a:t>Round 03 source records: worker-c: 02_research/03_research-rounds/03_cross-industry-job-search/runs/2026-10-19-cross-industry-and-vacancy-credibility/contributions/worker-c.json</a:t>
            </a:r>
          </a:p>
          <a:p xmlns:a="http://schemas.openxmlformats.org/drawingml/2006/main">
            <a:r>
              <a:t>Round 03 source records: coordinator-final-gaps: 02_research/03_research-rounds/03_cross-industry-job-search/runs/2026-10-19-cross-industry-and-vacancy-credibility/contributions/coordinator-final-gaps.json</a:t>
            </a:r>
          </a:p>
          <a:p xmlns:a="http://schemas.openxmlformats.org/drawingml/2006/main">
            <a:r>
              <a:t/>
            </a:r>
          </a:p>
          <a:p xmlns:a="http://schemas.openxmlformats.org/drawingml/2006/main">
            <a:r>
              <a:t>SELECTED ORIGINAL SOURCES</a:t>
            </a:r>
          </a:p>
          <a:p xmlns:a="http://schemas.openxmlformats.org/drawingml/2006/main">
            <a:r>
              <a:t>R3-M18: Careers at a Leading Branding &amp; Creative Agency | Singapore | Superminted: https://www.superminted.com/careers</a:t>
            </a:r>
          </a:p>
          <a:p xmlns:a="http://schemas.openxmlformats.org/drawingml/2006/main">
            <a:r>
              <a:t>R3-C04: Careers - behind Network / Talent: https://www.behindnetworksg.com/careers.html</a:t>
            </a:r>
          </a:p>
          <a:p xmlns:a="http://schemas.openxmlformats.org/drawingml/2006/main">
            <a:r>
              <a:t>R3-C07: Job Interview Nightmare - design comments: https://www.reddit.com/r/singaporejobs/comments/1wcfkyb/job_interview_nightmare/</a:t>
            </a:r>
          </a:p>
          <a:p xmlns:a="http://schemas.openxmlformats.org/drawingml/2006/main">
            <a:r>
              <a:t>R3-P03: Wild Rice open audition notice: https://www.wildrice.com.sg/audition-notice-open-auditions/</a:t>
            </a:r>
          </a:p>
          <a:p xmlns:a="http://schemas.openxmlformats.org/drawingml/2006/main">
            <a:r>
              <a:t>R3-P05: Public question about acting-gig routes: https://www.reddit.com/r/SGExams/comments/1srn9au/acting_side_quest/</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M20's footer update is not a vacancy publication or hiring date. M21's eventual-offer claim provides a contrary report to silence implying no hiring; it does not confirm any other requisition. Do not reproduce the applicant's counts as sector rates. Community/charitable ownership is an overlay and does not automatically imply public administration.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Careers@Gov is an official channel for ministries and statutory boards. A separate public account reports an eventual offer after waits across two organisations.</a:t>
            </a:r>
          </a:p>
          <a:p xmlns:a="http://schemas.openxmlformats.org/drawingml/2006/main">
            <a:r>
              <a:t>R3-M20: 02_research/03_research-rounds/03_cross-industry-job-search/runs/2026-10-19-cross-industry-and-vacancy-credibility/contributions/coordinator-map.json</a:t>
            </a:r>
          </a:p>
          <a:p xmlns:a="http://schemas.openxmlformats.org/drawingml/2006/main">
            <a:r>
              <a:t>Original: https://www.careers.gov.sg/</a:t>
            </a:r>
          </a:p>
          <a:p xmlns:a="http://schemas.openxmlformats.org/drawingml/2006/main">
            <a:r>
              <a:t>Locator: Apply / Diverse career options</a:t>
            </a:r>
          </a:p>
          <a:p xmlns:a="http://schemas.openxmlformats.org/drawingml/2006/main">
            <a:r>
              <a:t>Published: unknown. Underlying period: event date unknown; see updateDate for page snapshot.</a:t>
            </a:r>
          </a:p>
          <a:p xmlns:a="http://schemas.openxmlformats.org/drawingml/2006/main">
            <a:r>
              <a:t>Boundary: Convenience retrieval; no prevalence inference. Dates, outcomes and applicability require case-specific verification.</a:t>
            </a:r>
          </a:p>
          <a:p xmlns:a="http://schemas.openxmlformats.org/drawingml/2006/main">
            <a:r>
              <a:t>R3-M21: 02_research/03_research-rounds/03_cross-industry-job-search/runs/2026-10-19-cross-industry-and-vacancy-credibility/contributions/coordinator-map.json</a:t>
            </a:r>
          </a:p>
          <a:p xmlns:a="http://schemas.openxmlformats.org/drawingml/2006/main">
            <a:r>
              <a:t>Original: https://www.reddit.com/r/singaporejobs/comments/1va8kmo/timeline_of_applying_to_ministrystat_board_jobs/</a:t>
            </a:r>
          </a:p>
          <a:p xmlns:a="http://schemas.openxmlformats.org/drawingml/2006/main">
            <a:r>
              <a:t>Locator: Opening / disclaimer / follow-up</a:t>
            </a:r>
          </a:p>
          <a:p xmlns:a="http://schemas.openxmlformats.org/drawingml/2006/main">
            <a:r>
              <a:t>Published: unknown. Underlying period: relative two-month date.</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interpretation: Record the application stage, promised update and follow-up date separately. Keep duties and requirements role-specific. Public hospitals and schools retain their actual activity.</a:t>
            </a:r>
          </a:p>
          <a:p xmlns:a="http://schemas.openxmlformats.org/drawingml/2006/main">
            <a:r>
              <a:t>R3-M20: 02_research/03_research-rounds/03_cross-industry-job-search/runs/2026-10-19-cross-industry-and-vacancy-credibility/contributions/coordinator-map.json</a:t>
            </a:r>
          </a:p>
          <a:p xmlns:a="http://schemas.openxmlformats.org/drawingml/2006/main">
            <a:r>
              <a:t>Original: https://www.careers.gov.sg/</a:t>
            </a:r>
          </a:p>
          <a:p xmlns:a="http://schemas.openxmlformats.org/drawingml/2006/main">
            <a:r>
              <a:t>Locator: Apply / Diverse career options</a:t>
            </a:r>
          </a:p>
          <a:p xmlns:a="http://schemas.openxmlformats.org/drawingml/2006/main">
            <a:r>
              <a:t>Published: unknown. Underlying period: event date unknown; see updateDate for page snapshot.</a:t>
            </a:r>
          </a:p>
          <a:p xmlns:a="http://schemas.openxmlformats.org/drawingml/2006/main">
            <a:r>
              <a:t>Boundary: Convenience retrieval; no prevalence inference. Dates, outcomes and applicability require case-specific verification.</a:t>
            </a:r>
          </a:p>
          <a:p xmlns:a="http://schemas.openxmlformats.org/drawingml/2006/main">
            <a:r>
              <a:t>R3-M21: 02_research/03_research-rounds/03_cross-industry-job-search/runs/2026-10-19-cross-industry-and-vacancy-credibility/contributions/coordinator-map.json</a:t>
            </a:r>
          </a:p>
          <a:p xmlns:a="http://schemas.openxmlformats.org/drawingml/2006/main">
            <a:r>
              <a:t>Original: https://www.reddit.com/r/singaporejobs/comments/1va8kmo/timeline_of_applying_to_ministrystat_board_jobs/</a:t>
            </a:r>
          </a:p>
          <a:p xmlns:a="http://schemas.openxmlformats.org/drawingml/2006/main">
            <a:r>
              <a:t>Locator: Opening / disclaimer / follow-up</a:t>
            </a:r>
          </a:p>
          <a:p xmlns:a="http://schemas.openxmlformats.org/drawingml/2006/main">
            <a:r>
              <a:t>Published: unknown. Underlying period: relative two-month date.</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REPOSITORY EVIDENCE</a:t>
            </a:r>
          </a:p>
          <a:p xmlns:a="http://schemas.openxmlformats.org/drawingml/2006/main">
            <a:r>
              <a:t>Round 03 profile S11: 02_research/03_research-rounds/03_cross-industry-job-search/runs/2026-10-19-cross-industry-and-vacancy-credibility/industry-profiles/S11.md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coordinator-map: 02_research/03_research-rounds/03_cross-industry-job-search/runs/2026-10-19-cross-industry-and-vacancy-credibility/contributions/coordinator-map.json</a:t>
            </a:r>
          </a:p>
          <a:p xmlns:a="http://schemas.openxmlformats.org/drawingml/2006/main">
            <a:r>
              <a:t/>
            </a:r>
          </a:p>
          <a:p xmlns:a="http://schemas.openxmlformats.org/drawingml/2006/main">
            <a:r>
              <a:t>SELECTED ORIGINAL SOURCES</a:t>
            </a:r>
          </a:p>
          <a:p xmlns:a="http://schemas.openxmlformats.org/drawingml/2006/main">
            <a:r>
              <a:t>R3-M20: Home | Careers@Gov: https://www.careers.gov.sg/</a:t>
            </a:r>
          </a:p>
          <a:p xmlns:a="http://schemas.openxmlformats.org/drawingml/2006/main">
            <a:r>
              <a:t>R3-M21: Timeline of applying to ministry/stat board jobs in Singapore: my experience from 50+ applications and 6 interviews : r/singaporejobs: https://www.reddit.com/r/singaporejobs/comments/1va8kmo/timeline_of_applying_to_ministrystat_board_jobs/</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M28 documents links on a context page, not the contents of every linked framework, applicant routes, pay or hiring outcomes. The direct IMDA retrieval was inaccessible. Round 01/02 technical examples remain historical comparators and have not been turned into a new complete sector profile. No inference of intentional AI non-use follows from silence.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IT support, development and digital operations can occur across employer industries. EnterpriseSG links ICT/media career frameworks. The linked documents were not thereby inspected.</a:t>
            </a:r>
          </a:p>
          <a:p xmlns:a="http://schemas.openxmlformats.org/drawingml/2006/main">
            <a:r>
              <a:t>R3-M28: 02_research/03_research-rounds/03_cross-industry-job-search/runs/2026-10-19-cross-industry-and-vacancy-credibility/contributions/coordinator-map.json</a:t>
            </a:r>
          </a:p>
          <a:p xmlns:a="http://schemas.openxmlformats.org/drawingml/2006/main">
            <a:r>
              <a:t>Original: https://www.enterprisesg.gov.sg/industries/ict-and-media/guides-and-insights</a:t>
            </a:r>
          </a:p>
          <a:p xmlns:a="http://schemas.openxmlformats.org/drawingml/2006/main">
            <a:r>
              <a:t>Locator: Guides &amp; toolkits</a:t>
            </a:r>
          </a:p>
          <a:p xmlns:a="http://schemas.openxmlformats.org/drawingml/2006/main">
            <a:r>
              <a:t>Published: unknown. Underlying period: undated current page.</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interpretation: Keep earlier-round technical examples separately dated and attributed. Check actual duties and personally evidenced skills. No new typical test or AI-use rate follows.</a:t>
            </a:r>
          </a:p>
          <a:p xmlns:a="http://schemas.openxmlformats.org/drawingml/2006/main">
            <a:r>
              <a:t>R3-M28: 02_research/03_research-rounds/03_cross-industry-job-search/runs/2026-10-19-cross-industry-and-vacancy-credibility/contributions/coordinator-map.json</a:t>
            </a:r>
          </a:p>
          <a:p xmlns:a="http://schemas.openxmlformats.org/drawingml/2006/main">
            <a:r>
              <a:t>Original: https://www.enterprisesg.gov.sg/industries/ict-and-media/guides-and-insights</a:t>
            </a:r>
          </a:p>
          <a:p xmlns:a="http://schemas.openxmlformats.org/drawingml/2006/main">
            <a:r>
              <a:t>Locator: Guides &amp; toolkits</a:t>
            </a:r>
          </a:p>
          <a:p xmlns:a="http://schemas.openxmlformats.org/drawingml/2006/main">
            <a:r>
              <a:t>Published: unknown. Underlying period: undated current page.</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REPOSITORY EVIDENCE</a:t>
            </a:r>
          </a:p>
          <a:p xmlns:a="http://schemas.openxmlformats.org/drawingml/2006/main">
            <a:r>
              <a:t>Round 03 profile S12: 02_research/03_research-rounds/03_cross-industry-job-search/runs/2026-10-19-cross-industry-and-vacancy-credibility/industry-profiles/S12.md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coordinator-map: 02_research/03_research-rounds/03_cross-industry-job-search/runs/2026-10-19-cross-industry-and-vacancy-credibility/contributions/coordinator-map.json</a:t>
            </a:r>
          </a:p>
          <a:p xmlns:a="http://schemas.openxmlformats.org/drawingml/2006/main">
            <a:r>
              <a:t/>
            </a:r>
          </a:p>
          <a:p xmlns:a="http://schemas.openxmlformats.org/drawingml/2006/main">
            <a:r>
              <a:t>SELECTED ORIGINAL SOURCES</a:t>
            </a:r>
          </a:p>
          <a:p xmlns:a="http://schemas.openxmlformats.org/drawingml/2006/main">
            <a:r>
              <a:t>R3-M28: Guides &amp; Insights | ICT &amp; Media: https://www.enterprisesg.gov.sg/industries/ict-and-media/guides-and-insights</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M23 states a Class 4 licence for its recovery/towing role and rotating shifts; do not generalise that requirement to all repair work. M24 advertises hair/beauty work, retail hours, basic-plus-commission pay and training. Neither verifies current recruitment, a successful placement or an individual entitlement. The two sources do not represent all personal or local services. No fictional participant, representative sample or market ranking is implied. This profile summarises source-attributed context; role-specific requirements and outcomes remain bounded by the sources. Applicant AI use and intentional non-use are not established unless expressly documented.</a:t>
            </a:r>
          </a:p>
          <a:p xmlns:a="http://schemas.openxmlformats.org/drawingml/2006/main">
            <a:r>
              <a:t/>
            </a:r>
          </a:p>
          <a:p xmlns:a="http://schemas.openxmlformats.org/drawingml/2006/main">
            <a:r>
              <a:t>CLAIM-LEVEL EVIDENCE</a:t>
            </a:r>
          </a:p>
          <a:p xmlns:a="http://schemas.openxmlformats.org/drawingml/2006/main">
            <a:r>
              <a:t>source-reported: Vehicle recovery/repair and hair/beauty service advertisements describe different work. Two employers mention direct applications or training. Their actual intake status is unknown.</a:t>
            </a:r>
          </a:p>
          <a:p xmlns:a="http://schemas.openxmlformats.org/drawingml/2006/main">
            <a:r>
              <a:t>R3-M23: 02_research/03_research-rounds/03_cross-industry-job-search/runs/2026-10-19-cross-industry-and-vacancy-credibility/contributions/coordinator-map.json</a:t>
            </a:r>
          </a:p>
          <a:p xmlns:a="http://schemas.openxmlformats.org/drawingml/2006/main">
            <a:r>
              <a:t>Original: https://aas.com.sg/job/recovery-crew-vehicle-mechanics/</a:t>
            </a:r>
          </a:p>
          <a:p xmlns:a="http://schemas.openxmlformats.org/drawingml/2006/main">
            <a:r>
              <a:t>Locator: Requirements</a:t>
            </a:r>
          </a:p>
          <a:p xmlns:a="http://schemas.openxmlformats.org/drawingml/2006/main">
            <a:r>
              <a:t>Published: unknown. Underlying period: undated visible ad; active recruitment unknown.</a:t>
            </a:r>
          </a:p>
          <a:p xmlns:a="http://schemas.openxmlformats.org/drawingml/2006/main">
            <a:r>
              <a:t>Boundary: Convenience retrieval; no prevalence inference. Dates, outcomes and applicability require case-specific verification.</a:t>
            </a:r>
          </a:p>
          <a:p xmlns:a="http://schemas.openxmlformats.org/drawingml/2006/main">
            <a:r>
              <a:t>R3-M24: 02_research/03_research-rounds/03_cross-industry-job-search/runs/2026-10-19-cross-industry-and-vacancy-credibility/contributions/coordinator-map.json</a:t>
            </a:r>
          </a:p>
          <a:p xmlns:a="http://schemas.openxmlformats.org/drawingml/2006/main">
            <a:r>
              <a:t>Original: https://jeanyipgroup.com/careers/</a:t>
            </a:r>
          </a:p>
          <a:p xmlns:a="http://schemas.openxmlformats.org/drawingml/2006/main">
            <a:r>
              <a:t>Locator: Careers / Learn as You Earn</a:t>
            </a:r>
          </a:p>
          <a:p xmlns:a="http://schemas.openxmlformats.org/drawingml/2006/main">
            <a:r>
              <a:t>Published: unknown. Underlying period: undated visible page; intake status unknown.</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interpretation: Check the actual role, licence or training route, location and working hours. Read basic pay and commission separately. Ask what the proposed pay formula guarantees.</a:t>
            </a:r>
          </a:p>
          <a:p xmlns:a="http://schemas.openxmlformats.org/drawingml/2006/main">
            <a:r>
              <a:t>R3-M23: 02_research/03_research-rounds/03_cross-industry-job-search/runs/2026-10-19-cross-industry-and-vacancy-credibility/contributions/coordinator-map.json</a:t>
            </a:r>
          </a:p>
          <a:p xmlns:a="http://schemas.openxmlformats.org/drawingml/2006/main">
            <a:r>
              <a:t>Original: https://aas.com.sg/job/recovery-crew-vehicle-mechanics/</a:t>
            </a:r>
          </a:p>
          <a:p xmlns:a="http://schemas.openxmlformats.org/drawingml/2006/main">
            <a:r>
              <a:t>Locator: Requirements</a:t>
            </a:r>
          </a:p>
          <a:p xmlns:a="http://schemas.openxmlformats.org/drawingml/2006/main">
            <a:r>
              <a:t>Published: unknown. Underlying period: undated visible ad; active recruitment unknown.</a:t>
            </a:r>
          </a:p>
          <a:p xmlns:a="http://schemas.openxmlformats.org/drawingml/2006/main">
            <a:r>
              <a:t>Boundary: Convenience retrieval; no prevalence inference. Dates, outcomes and applicability require case-specific verification.</a:t>
            </a:r>
          </a:p>
          <a:p xmlns:a="http://schemas.openxmlformats.org/drawingml/2006/main">
            <a:r>
              <a:t>R3-M24: 02_research/03_research-rounds/03_cross-industry-job-search/runs/2026-10-19-cross-industry-and-vacancy-credibility/contributions/coordinator-map.json</a:t>
            </a:r>
          </a:p>
          <a:p xmlns:a="http://schemas.openxmlformats.org/drawingml/2006/main">
            <a:r>
              <a:t>Original: https://jeanyipgroup.com/careers/</a:t>
            </a:r>
          </a:p>
          <a:p xmlns:a="http://schemas.openxmlformats.org/drawingml/2006/main">
            <a:r>
              <a:t>Locator: Careers / Learn as You Earn</a:t>
            </a:r>
          </a:p>
          <a:p xmlns:a="http://schemas.openxmlformats.org/drawingml/2006/main">
            <a:r>
              <a:t>Published: unknown. Underlying period: undated visible page; intake status unknown.</a:t>
            </a:r>
          </a:p>
          <a:p xmlns:a="http://schemas.openxmlformats.org/drawingml/2006/main">
            <a:r>
              <a:t>Boundary: Convenience retrieval; no prevalence inference. Dates, outcomes and applicability require case-specific verification.</a:t>
            </a:r>
          </a:p>
          <a:p xmlns:a="http://schemas.openxmlformats.org/drawingml/2006/main">
            <a:r>
              <a:t/>
            </a:r>
          </a:p>
          <a:p xmlns:a="http://schemas.openxmlformats.org/drawingml/2006/main">
            <a:r>
              <a:t>REPOSITORY EVIDENCE</a:t>
            </a:r>
          </a:p>
          <a:p xmlns:a="http://schemas.openxmlformats.org/drawingml/2006/main">
            <a:r>
              <a:t>Round 03 profile S13: 02_research/03_research-rounds/03_cross-industry-job-search/runs/2026-10-19-cross-industry-and-vacancy-credibility/industry-profiles/S13.md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source records: coordinator-map: 02_research/03_research-rounds/03_cross-industry-job-search/runs/2026-10-19-cross-industry-and-vacancy-credibility/contributions/coordinator-map.json</a:t>
            </a:r>
          </a:p>
          <a:p xmlns:a="http://schemas.openxmlformats.org/drawingml/2006/main">
            <a:r>
              <a:t/>
            </a:r>
          </a:p>
          <a:p xmlns:a="http://schemas.openxmlformats.org/drawingml/2006/main">
            <a:r>
              <a:t>SELECTED ORIGINAL SOURCES</a:t>
            </a:r>
          </a:p>
          <a:p xmlns:a="http://schemas.openxmlformats.org/drawingml/2006/main">
            <a:r>
              <a:t>R3-M23: aas.com.sg: https://aas.com.sg/job/recovery-crew-vehicle-mechanics/</a:t>
            </a:r>
          </a:p>
          <a:p xmlns:a="http://schemas.openxmlformats.org/drawingml/2006/main">
            <a:r>
              <a:t>R3-M24: Careers - Jean Yip Group: https://jeanyipgroup.com/careers/</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accompanying claim map and audit reports for the path from a presentation message to its supporting research. The main story is an educational synthesis, not a substitute for source methods. Exact quotes, screenshots and raw personal records were deliberately avoided. Full original source URLs and locators remain in the ledgers. Future source refreshes should preserve the version and date used for any revised claim. R3 identifiers are qualified source records, not participant counts. Each new slide maps claims to exact local record files and original URLs. The 18 October 136-file audit inventories are historical snapshots; audit-round3.md separately records the files and record subsets inspected for this update. A current hash establishes byte identity for a snapshot, not truth or independent source corroboration.</a:t>
            </a:r>
          </a:p>
          <a:p xmlns:a="http://schemas.openxmlformats.org/drawingml/2006/main">
            <a:r>
              <a:t/>
            </a:r>
          </a:p>
          <a:p xmlns:a="http://schemas.openxmlformats.org/drawingml/2006/main">
            <a:r>
              <a:t>REPOSITORY EVIDENCE</a:t>
            </a:r>
          </a:p>
          <a:p xmlns:a="http://schemas.openxmlformats.org/drawingml/2006/main">
            <a:r>
              <a:t>Practices evidence P01–P12: 02_research/03_research-rounds/02_synthetic-workflow-selection/runs/2026-10-18-pain-practices-and-guidance/practices-research.md</a:t>
            </a:r>
          </a:p>
          <a:p xmlns:a="http://schemas.openxmlformats.org/drawingml/2006/main">
            <a:r>
              <a:t>Domain evidence D01–D12: 02_research/03_research-rounds/02_synthetic-workflow-selection/runs/2026-10-18-pain-practices-and-guidance/domain-research.md</a:t>
            </a:r>
          </a:p>
          <a:p xmlns:a="http://schemas.openxmlformats.org/drawingml/2006/main">
            <a:r>
              <a:t>Primary experiments C01–C02: 02_research/03_research-rounds/02_synthetic-workflow-selection/runs/2026-10-18-pain-practices-and-guidance/coordinator-research.md</a:t>
            </a:r>
          </a:p>
          <a:p xmlns:a="http://schemas.openxmlformats.org/drawingml/2006/main">
            <a:r>
              <a:t>Sanitised internal-process evidence: 02_research/03_research-rounds/02_synthetic-workflow-selection/runs/2026-10-18-pain-practices-and-guidance/internal-process-review.md</a:t>
            </a:r>
          </a:p>
          <a:p xmlns:a="http://schemas.openxmlformats.org/drawingml/2006/main">
            <a:r>
              <a:t>Video evidence V01–V10: 02_research/03_research-rounds/02_synthetic-workflow-selection/runs/2026-10-18-pain-practices-and-guidance/video-research.md</a:t>
            </a:r>
          </a:p>
          <a:p xmlns:a="http://schemas.openxmlformats.org/drawingml/2006/main">
            <a:r>
              <a:t>Round 02 objective coverage: 02_research/03_research-rounds/02_synthetic-workflow-selection/runs/2026-10-18-pain-practices-and-guidance/coverage.md</a:t>
            </a:r>
          </a:p>
          <a:p xmlns:a="http://schemas.openxmlformats.org/drawingml/2006/main">
            <a:r>
              <a:t>Expanded research limitations: 02_research/03_research-rounds/02_synthetic-workflow-selection/runs/2026-10-18-pain-practices-and-guidance/limitations.md</a:t>
            </a:r>
          </a:p>
          <a:p xmlns:a="http://schemas.openxmlformats.org/drawingml/2006/main">
            <a:r>
              <a:t>Round 03 findings: 02_research/03_research-rounds/03_cross-industry-job-search/runs/2026-10-19-cross-industry-and-vacancy-credibility/findings.md</a:t>
            </a:r>
          </a:p>
          <a:p xmlns:a="http://schemas.openxmlformats.org/drawingml/2006/main">
            <a:r>
              <a:t>Round 03 limitations: 02_research/03_research-rounds/03_cross-industry-job-search/runs/2026-10-19-cross-industry-and-vacancy-credibility/limitations.md</a:t>
            </a:r>
          </a:p>
          <a:p xmlns:a="http://schemas.openxmlformats.org/drawingml/2006/main">
            <a:r>
              <a:t>Round 03 coverage: 02_research/03_research-rounds/03_cross-industry-job-search/runs/2026-10-19-cross-industry-and-vacancy-credibility/coverage.md</a:t>
            </a:r>
          </a:p>
          <a:p xmlns:a="http://schemas.openxmlformats.org/drawingml/2006/main">
            <a:r>
              <a:t/>
            </a:r>
          </a:p>
          <a:p xmlns:a="http://schemas.openxmlformats.org/drawingml/2006/main">
            <a:r>
              <a:t>SELECTED ORIGINAL SOURCES</a:t>
            </a:r>
          </a:p>
          <a:p xmlns:a="http://schemas.openxmlformats.org/drawingml/2006/main">
            <a:r>
              <a:t>Original source URLs and locators are in the linked repository evidence.</a:t>
            </a:r>
          </a:p>
          <a:p xmlns:a="http://schemas.openxmlformats.org/drawingml/2006/main">
            <a:r>
              <a:t/>
            </a:r>
          </a:p>
          <a:p xmlns:a="http://schemas.openxmlformats.org/drawingml/2006/main">
            <a:r>
              <a:t>Unqualified P/D/C/I/V IDs belong to expanded Round 02. R3- IDs belong to the 19 October Round 03 run. Earlier findings retain their original periods. Briefing cutoff: 2026-10-19. Historical proposals are not product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414a8fa135404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b86df072ca64f6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dbde7538987453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231330bf9e64f5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78db88757bc445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f06da2689e648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7E1224-E3C8-4AB4-B2EB-19AE40DF191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DACE1F1-43F3-4DB5-A96F-C0D243AA1E2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6276345-7B9B-4334-B7F9-C87E04255AB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5A1BEA6-F001-4CA0-B15B-8DB3D09CA0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EC34038-EEF7-4905-B0C7-91DC2EF5EC6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62729A5-F103-408A-BDD0-2F487CD0DA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7A18D6A-F7F8-445A-ADC5-AE1647454B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B1513D0-A178-44D6-9969-C3AFDA037E5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10F073-ED2B-424F-8C97-20FEE3A2E0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262CA5B-3D03-463E-8B3B-33696735C17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c159748aaa455e" /><Relationship Type="http://schemas.openxmlformats.org/officeDocument/2006/relationships/slideLayout" Target="/ppt/slideLayouts/slideLayout1.xml" Id="Rb68353475adc4351" /><Relationship Type="http://schemas.openxmlformats.org/officeDocument/2006/relationships/slideLayout" Target="/ppt/slideLayouts/slideLayout2.xml" Id="Rd2832fe1daab4f9e" /><Relationship Type="http://schemas.openxmlformats.org/officeDocument/2006/relationships/slideLayout" Target="/ppt/slideLayouts/slideLayout3.xml" Id="Rb0ec47eafd344929" /><Relationship Type="http://schemas.openxmlformats.org/officeDocument/2006/relationships/slideLayout" Target="/ppt/slideLayouts/slideLayout4.xml" Id="R21545ad8a81845d8" /><Relationship Type="http://schemas.openxmlformats.org/officeDocument/2006/relationships/slideLayout" Target="/ppt/slideLayouts/slideLayout5.xml" Id="R67f667edf8ef4689" /><Relationship Type="http://schemas.openxmlformats.org/officeDocument/2006/relationships/slideLayout" Target="/ppt/slideLayouts/slideLayout6.xml" Id="R232773854f0d4d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8353475adc4351"/>
    <p:sldLayoutId xmlns:r="http://schemas.openxmlformats.org/officeDocument/2006/relationships" id="2147483650" r:id="Rd2832fe1daab4f9e"/>
    <p:sldLayoutId xmlns:r="http://schemas.openxmlformats.org/officeDocument/2006/relationships" id="2147483651" r:id="Rb0ec47eafd344929"/>
    <p:sldLayoutId xmlns:r="http://schemas.openxmlformats.org/officeDocument/2006/relationships" id="2147483652" r:id="R21545ad8a81845d8"/>
    <p:sldLayoutId xmlns:r="http://schemas.openxmlformats.org/officeDocument/2006/relationships" id="2147483653" r:id="R67f667edf8ef4689"/>
    <p:sldLayoutId xmlns:r="http://schemas.openxmlformats.org/officeDocument/2006/relationships" id="2147483654" r:id="R232773854f0d4d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85a70325d794da4" /><Relationship Type="http://schemas.openxmlformats.org/officeDocument/2006/relationships/image" Target="/ppt/media/image.png" Id="R97c4d0b2d88f4fc3" /><Relationship Type="http://schemas.openxmlformats.org/officeDocument/2006/relationships/notesSlide" Target="/ppt/notesSlides/notesSlide1.xml" Id="Rae9bea97454a44f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e06d14ddc09438c" /><Relationship Type="http://schemas.openxmlformats.org/officeDocument/2006/relationships/notesSlide" Target="/ppt/notesSlides/notesSlide2.xml" Id="R758a2584af10469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2069aa51aac40d4" /><Relationship Type="http://schemas.openxmlformats.org/officeDocument/2006/relationships/notesSlide" Target="/ppt/notesSlides/notesSlide3.xml" Id="R69034b442a6345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4e34ffa620e4780" /><Relationship Type="http://schemas.openxmlformats.org/officeDocument/2006/relationships/notesSlide" Target="/ppt/notesSlides/notesSlide4.xml" Id="R56891d9d868c40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e1128b201e8466a" /><Relationship Type="http://schemas.openxmlformats.org/officeDocument/2006/relationships/notesSlide" Target="/ppt/notesSlides/notesSlide5.xml" Id="R5817772a0ca545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1a0334791fd40b2" /><Relationship Type="http://schemas.openxmlformats.org/officeDocument/2006/relationships/notesSlide" Target="/ppt/notesSlides/notesSlide6.xml" Id="R49eae662c8c241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fc93a61616945f7" /><Relationship Type="http://schemas.openxmlformats.org/officeDocument/2006/relationships/notesSlide" Target="/ppt/notesSlides/notesSlide7.xml" Id="Reb4cd80c302f4f8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6d4c1e6da1542cc" /><Relationship Type="http://schemas.openxmlformats.org/officeDocument/2006/relationships/notesSlide" Target="/ppt/notesSlides/notesSlide8.xml" Id="Re737971836e244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0f939eff32646ab" /><Relationship Type="http://schemas.openxmlformats.org/officeDocument/2006/relationships/notesSlide" Target="/ppt/notesSlides/notesSlide9.xml" Id="R6aef5c81534d443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509b9652e314aaa" /><Relationship Type="http://schemas.openxmlformats.org/officeDocument/2006/relationships/notesSlide" Target="/ppt/notesSlides/notesSlide10.xml" Id="Ra5337fa0be164eb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3e92a823c3a47de" /><Relationship Type="http://schemas.openxmlformats.org/officeDocument/2006/relationships/notesSlide" Target="/ppt/notesSlides/notesSlide11.xml" Id="Rafdf36c974da41e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581cec7a2e14e05" /><Relationship Type="http://schemas.openxmlformats.org/officeDocument/2006/relationships/image" Target="/ppt/media/image2.png" Id="R1e1bf83dde9b4f10" /><Relationship Type="http://schemas.openxmlformats.org/officeDocument/2006/relationships/notesSlide" Target="/ppt/notesSlides/notesSlide12.xml" Id="R698776a12e0141e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b292b06306e4d07" /><Relationship Type="http://schemas.openxmlformats.org/officeDocument/2006/relationships/notesSlide" Target="/ppt/notesSlides/notesSlide13.xml" Id="R35bfce19af3d409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41f0d3ae10c414e" /><Relationship Type="http://schemas.openxmlformats.org/officeDocument/2006/relationships/notesSlide" Target="/ppt/notesSlides/notesSlide14.xml" Id="Re30e746000304e2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3801b596ccb4a5c" /><Relationship Type="http://schemas.openxmlformats.org/officeDocument/2006/relationships/notesSlide" Target="/ppt/notesSlides/notesSlide15.xml" Id="R7565f735d1b1492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02c83c25e174917" /><Relationship Type="http://schemas.openxmlformats.org/officeDocument/2006/relationships/notesSlide" Target="/ppt/notesSlides/notesSlide16.xml" Id="R6a5dd822f494463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edd534d273c4807" /><Relationship Type="http://schemas.openxmlformats.org/officeDocument/2006/relationships/notesSlide" Target="/ppt/notesSlides/notesSlide17.xml" Id="Rf324909df35a411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f64d836f5c44d22" /><Relationship Type="http://schemas.openxmlformats.org/officeDocument/2006/relationships/notesSlide" Target="/ppt/notesSlides/notesSlide18.xml" Id="R263a43e896f2458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dcc8d732c864510" /><Relationship Type="http://schemas.openxmlformats.org/officeDocument/2006/relationships/notesSlide" Target="/ppt/notesSlides/notesSlide19.xml" Id="Rd3593053ad53451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e4486b5f51d4a75" /><Relationship Type="http://schemas.openxmlformats.org/officeDocument/2006/relationships/notesSlide" Target="/ppt/notesSlides/notesSlide20.xml" Id="R58ca06ccb51a468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1f6fe5f6e844608" /><Relationship Type="http://schemas.openxmlformats.org/officeDocument/2006/relationships/notesSlide" Target="/ppt/notesSlides/notesSlide21.xml" Id="R80b86205b2d34fe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95ce68155c44750" /><Relationship Type="http://schemas.openxmlformats.org/officeDocument/2006/relationships/notesSlide" Target="/ppt/notesSlides/notesSlide22.xml" Id="R6c1c335d17964f0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7fb9c64a00844e1" /><Relationship Type="http://schemas.openxmlformats.org/officeDocument/2006/relationships/notesSlide" Target="/ppt/notesSlides/notesSlide23.xml" Id="R50a22717250346f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cdafd73d2764065" /><Relationship Type="http://schemas.openxmlformats.org/officeDocument/2006/relationships/notesSlide" Target="/ppt/notesSlides/notesSlide24.xml" Id="R2a6eed7678244c0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67b22670fa8545ca" /><Relationship Type="http://schemas.openxmlformats.org/officeDocument/2006/relationships/notesSlide" Target="/ppt/notesSlides/notesSlide25.xml" Id="Ra12da4eaa4e34ad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62a4fde0d804516" /><Relationship Type="http://schemas.openxmlformats.org/officeDocument/2006/relationships/notesSlide" Target="/ppt/notesSlides/notesSlide26.xml" Id="Rddac243165f346a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f34b3cc033c4baf" /><Relationship Type="http://schemas.openxmlformats.org/officeDocument/2006/relationships/notesSlide" Target="/ppt/notesSlides/notesSlide27.xml" Id="Rad7a518c116344d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f49e4b2933744b20" /><Relationship Type="http://schemas.openxmlformats.org/officeDocument/2006/relationships/notesSlide" Target="/ppt/notesSlides/notesSlide28.xml" Id="R3378dd62523542f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5ab8190d57fb4037" /><Relationship Type="http://schemas.openxmlformats.org/officeDocument/2006/relationships/notesSlide" Target="/ppt/notesSlides/notesSlide29.xml" Id="Ree2260456da6430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805ff3a4ee144133" /><Relationship Type="http://schemas.openxmlformats.org/officeDocument/2006/relationships/notesSlide" Target="/ppt/notesSlides/notesSlide30.xml" Id="R6204c9895b7e436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f5712c8a8094faa" /><Relationship Type="http://schemas.openxmlformats.org/officeDocument/2006/relationships/notesSlide" Target="/ppt/notesSlides/notesSlide31.xml" Id="Re50b9a8143084f7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69e8ae96849c4fc3" /><Relationship Type="http://schemas.openxmlformats.org/officeDocument/2006/relationships/notesSlide" Target="/ppt/notesSlides/notesSlide32.xml" Id="R289f73486551434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a054e64dded74126" /><Relationship Type="http://schemas.openxmlformats.org/officeDocument/2006/relationships/notesSlide" Target="/ppt/notesSlides/notesSlide33.xml" Id="Rdd2c3bb8ee5b4ce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6fee838ef164b6a" /><Relationship Type="http://schemas.openxmlformats.org/officeDocument/2006/relationships/notesSlide" Target="/ppt/notesSlides/notesSlide34.xml" Id="R80ba7e4eb8ba4a7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f396015ac2b44b22" /><Relationship Type="http://schemas.openxmlformats.org/officeDocument/2006/relationships/notesSlide" Target="/ppt/notesSlides/notesSlide35.xml" Id="R32624ab1335c421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4ef2604610764126" /><Relationship Type="http://schemas.openxmlformats.org/officeDocument/2006/relationships/notesSlide" Target="/ppt/notesSlides/notesSlide36.xml" Id="R60bfcf0f3ee94c7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542f07053fce447d" /><Relationship Type="http://schemas.openxmlformats.org/officeDocument/2006/relationships/notesSlide" Target="/ppt/notesSlides/notesSlide37.xml" Id="Rc1889a02995641a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55b234719d2f4af6" /><Relationship Type="http://schemas.openxmlformats.org/officeDocument/2006/relationships/notesSlide" Target="/ppt/notesSlides/notesSlide38.xml" Id="R1ded056a774644d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6658cd5e6e314805" /><Relationship Type="http://schemas.openxmlformats.org/officeDocument/2006/relationships/notesSlide" Target="/ppt/notesSlides/notesSlide39.xml" Id="Rd7251f5e670e44c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06caa3db005041c0" /><Relationship Type="http://schemas.openxmlformats.org/officeDocument/2006/relationships/notesSlide" Target="/ppt/notesSlides/notesSlide40.xml" Id="Ra0565b0d17c44d7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512cb73d75b8415d" /><Relationship Type="http://schemas.openxmlformats.org/officeDocument/2006/relationships/notesSlide" Target="/ppt/notesSlides/notesSlide41.xml" Id="R3a96b0830326413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b18a0ea77cfa4ddc" /><Relationship Type="http://schemas.openxmlformats.org/officeDocument/2006/relationships/notesSlide" Target="/ppt/notesSlides/notesSlide42.xml" Id="Rdd55c77293dc448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2963a28f36de47eb" /><Relationship Type="http://schemas.openxmlformats.org/officeDocument/2006/relationships/notesSlide" Target="/ppt/notesSlides/notesSlide43.xml" Id="Rd463ce9e358b47f0"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e5d8e4f8ee7042e3" /><Relationship Type="http://schemas.openxmlformats.org/officeDocument/2006/relationships/notesSlide" Target="/ppt/notesSlides/notesSlide44.xml" Id="Rdff74535337f4bc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cf22f3ba061643e5" /><Relationship Type="http://schemas.openxmlformats.org/officeDocument/2006/relationships/notesSlide" Target="/ppt/notesSlides/notesSlide45.xml" Id="R188da02eed604c5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f0074cdd6e19464f" /><Relationship Type="http://schemas.openxmlformats.org/officeDocument/2006/relationships/notesSlide" Target="/ppt/notesSlides/notesSlide46.xml" Id="R5c1be577539a4657"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4fa8878c5bf74833" /><Relationship Type="http://schemas.openxmlformats.org/officeDocument/2006/relationships/notesSlide" Target="/ppt/notesSlides/notesSlide47.xml" Id="R6c15dfe39a43404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6d2f92f0f3394fce" /><Relationship Type="http://schemas.openxmlformats.org/officeDocument/2006/relationships/notesSlide" Target="/ppt/notesSlides/notesSlide48.xml" Id="Rb0989cef60a74e05" /></Relationships>
</file>

<file path=ppt/slides/slide1.xml><?xml version="1.0" encoding="utf-8"?>
<p:sld xmlns:p="http://schemas.openxmlformats.org/presentationml/2006/main">
  <p:cSld>
    <p:bg>
      <p:bgPr>
        <a:solidFill xmlns:a="http://schemas.openxmlformats.org/drawingml/2006/main">
          <a:srgbClr val="102235"/>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2921C16-233F-498E-9B83-AEBFE805F908}"/>
              </a:ext>
            </a:extLst>
          </p:cNvPr>
          <p:cNvPicPr>
            <a:picLocks xmlns:a="http://schemas.openxmlformats.org/drawingml/2006/main" noChangeAspect="1"/>
          </p:cNvPicPr>
          <p:nvPr/>
        </p:nvPicPr>
        <p:blipFill>
          <a:blip xmlns:r="http://schemas.openxmlformats.org/officeDocument/2006/relationships" xmlns:a="http://schemas.openxmlformats.org/drawingml/2006/main" r:embed="R97c4d0b2d88f4fc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31939896-4913-48A1-A6B1-57BAA784EE3C}"/>
              </a:ext>
            </a:extLst>
          </p:cNvPr>
          <p:cNvSpPr>
            <a:spLocks xmlns:a="http://schemas.openxmlformats.org/drawingml/2006/main" noGrp="1"/>
          </p:cNvSpPr>
          <p:nvPr/>
        </p:nvSpPr>
        <p:spPr>
          <a:xfrm xmlns:a="http://schemas.openxmlformats.org/drawingml/2006/main">
            <a:off x="723900" y="1638300"/>
            <a:ext cx="6191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700" b="1">
                <a:solidFill>
                  <a:srgbClr val="FFFFFF"/>
                </a:solidFill>
                <a:latin typeface="Arial"/>
                <a:ea typeface="Arial"/>
                <a:cs typeface="Arial"/>
              </a:defRPr>
            </a:defPPr>
            <a:lvl1pPr algn="l">
              <a:defRPr sz="5700" b="1">
                <a:solidFill>
                  <a:srgbClr val="FFFFFF"/>
                </a:solidFill>
                <a:latin typeface="Arial"/>
                <a:ea typeface="Arial"/>
                <a:cs typeface="Arial"/>
              </a:defRPr>
            </a:lvl1pPr>
            <a:lvl2pPr algn="l">
              <a:defRPr sz="5700" b="1">
                <a:solidFill>
                  <a:srgbClr val="FFFFFF"/>
                </a:solidFill>
                <a:latin typeface="Arial"/>
                <a:ea typeface="Arial"/>
                <a:cs typeface="Arial"/>
              </a:defRPr>
            </a:lvl2pPr>
            <a:lvl3pPr algn="l">
              <a:defRPr sz="5700" b="1">
                <a:solidFill>
                  <a:srgbClr val="FFFFFF"/>
                </a:solidFill>
                <a:latin typeface="Arial"/>
                <a:ea typeface="Arial"/>
                <a:cs typeface="Arial"/>
              </a:defRPr>
            </a:lvl3pPr>
            <a:lvl4pPr algn="l">
              <a:defRPr sz="5700" b="1">
                <a:solidFill>
                  <a:srgbClr val="FFFFFF"/>
                </a:solidFill>
                <a:latin typeface="Arial"/>
                <a:ea typeface="Arial"/>
                <a:cs typeface="Arial"/>
              </a:defRPr>
            </a:lvl4pPr>
            <a:lvl5pPr algn="l">
              <a:defRPr sz="5700" b="1">
                <a:solidFill>
                  <a:srgbClr val="FFFFFF"/>
                </a:solidFill>
                <a:latin typeface="Arial"/>
                <a:ea typeface="Arial"/>
                <a:cs typeface="Arial"/>
              </a:defRPr>
            </a:lvl5pPr>
            <a:lvl6pPr algn="l">
              <a:defRPr sz="5700" b="1">
                <a:solidFill>
                  <a:srgbClr val="FFFFFF"/>
                </a:solidFill>
                <a:latin typeface="Arial"/>
                <a:ea typeface="Arial"/>
                <a:cs typeface="Arial"/>
              </a:defRPr>
            </a:lvl6pPr>
            <a:lvl7pPr algn="l">
              <a:defRPr sz="5700" b="1">
                <a:solidFill>
                  <a:srgbClr val="FFFFFF"/>
                </a:solidFill>
                <a:latin typeface="Arial"/>
                <a:ea typeface="Arial"/>
                <a:cs typeface="Arial"/>
              </a:defRPr>
            </a:lvl7pPr>
            <a:lvl8pPr algn="l">
              <a:defRPr sz="5700" b="1">
                <a:solidFill>
                  <a:srgbClr val="FFFFFF"/>
                </a:solidFill>
                <a:latin typeface="Arial"/>
                <a:ea typeface="Arial"/>
                <a:cs typeface="Arial"/>
              </a:defRPr>
            </a:lvl8pPr>
            <a:lvl9pPr algn="l">
              <a:defRPr sz="5700" b="1">
                <a:solidFill>
                  <a:srgbClr val="FFFFFF"/>
                </a:solidFill>
                <a:latin typeface="Arial"/>
                <a:ea typeface="Arial"/>
                <a:cs typeface="Arial"/>
              </a:defRPr>
            </a:lvl9pPr>
          </a:lstStyle>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The work behind</a:t>
            </a:r>
          </a:p>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getting a job</a:t>
            </a:r>
          </a:p>
        </p:txBody>
      </p:sp>
      <p:sp>
        <p:nvSpPr>
          <p:cNvPr id="3" name="subtitle">
            <a:extLst xmlns:a="http://schemas.openxmlformats.org/drawingml/2006/main">
              <a:ext uri="{FF2B5EF4-FFF2-40B4-BE49-F238E27FC236}">
                <a16:creationId xmlns:a16="http://schemas.microsoft.com/office/drawing/2014/main" id="{933A7BE6-A66C-4F5A-BE0C-69D2BE8D6A3A}"/>
              </a:ext>
            </a:extLst>
          </p:cNvPr>
          <p:cNvSpPr>
            <a:spLocks xmlns:a="http://schemas.openxmlformats.org/drawingml/2006/main" noGrp="1"/>
          </p:cNvSpPr>
          <p:nvPr/>
        </p:nvSpPr>
        <p:spPr>
          <a:xfrm xmlns:a="http://schemas.openxmlformats.org/drawingml/2006/main">
            <a:off x="762000" y="4533900"/>
            <a:ext cx="5238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D7E1E3"/>
                </a:solidFill>
                <a:latin typeface="Arial"/>
                <a:ea typeface="Arial"/>
                <a:cs typeface="Arial"/>
              </a:defRPr>
            </a:defPPr>
            <a:lvl1pPr algn="l">
              <a:defRPr sz="2325" b="0">
                <a:solidFill>
                  <a:srgbClr val="D7E1E3"/>
                </a:solidFill>
                <a:latin typeface="Arial"/>
                <a:ea typeface="Arial"/>
                <a:cs typeface="Arial"/>
              </a:defRPr>
            </a:lvl1pPr>
            <a:lvl2pPr algn="l">
              <a:defRPr sz="2325" b="0">
                <a:solidFill>
                  <a:srgbClr val="D7E1E3"/>
                </a:solidFill>
                <a:latin typeface="Arial"/>
                <a:ea typeface="Arial"/>
                <a:cs typeface="Arial"/>
              </a:defRPr>
            </a:lvl2pPr>
            <a:lvl3pPr algn="l">
              <a:defRPr sz="2325" b="0">
                <a:solidFill>
                  <a:srgbClr val="D7E1E3"/>
                </a:solidFill>
                <a:latin typeface="Arial"/>
                <a:ea typeface="Arial"/>
                <a:cs typeface="Arial"/>
              </a:defRPr>
            </a:lvl3pPr>
            <a:lvl4pPr algn="l">
              <a:defRPr sz="2325" b="0">
                <a:solidFill>
                  <a:srgbClr val="D7E1E3"/>
                </a:solidFill>
                <a:latin typeface="Arial"/>
                <a:ea typeface="Arial"/>
                <a:cs typeface="Arial"/>
              </a:defRPr>
            </a:lvl4pPr>
            <a:lvl5pPr algn="l">
              <a:defRPr sz="2325" b="0">
                <a:solidFill>
                  <a:srgbClr val="D7E1E3"/>
                </a:solidFill>
                <a:latin typeface="Arial"/>
                <a:ea typeface="Arial"/>
                <a:cs typeface="Arial"/>
              </a:defRPr>
            </a:lvl5pPr>
            <a:lvl6pPr algn="l">
              <a:defRPr sz="2325" b="0">
                <a:solidFill>
                  <a:srgbClr val="D7E1E3"/>
                </a:solidFill>
                <a:latin typeface="Arial"/>
                <a:ea typeface="Arial"/>
                <a:cs typeface="Arial"/>
              </a:defRPr>
            </a:lvl6pPr>
            <a:lvl7pPr algn="l">
              <a:defRPr sz="2325" b="0">
                <a:solidFill>
                  <a:srgbClr val="D7E1E3"/>
                </a:solidFill>
                <a:latin typeface="Arial"/>
                <a:ea typeface="Arial"/>
                <a:cs typeface="Arial"/>
              </a:defRPr>
            </a:lvl7pPr>
            <a:lvl8pPr algn="l">
              <a:defRPr sz="2325" b="0">
                <a:solidFill>
                  <a:srgbClr val="D7E1E3"/>
                </a:solidFill>
                <a:latin typeface="Arial"/>
                <a:ea typeface="Arial"/>
                <a:cs typeface="Arial"/>
              </a:defRPr>
            </a:lvl8pPr>
            <a:lvl9pPr algn="l">
              <a:defRPr sz="2325" b="0">
                <a:solidFill>
                  <a:srgbClr val="D7E1E3"/>
                </a:solidFill>
                <a:latin typeface="Arial"/>
                <a:ea typeface="Arial"/>
                <a:cs typeface="Arial"/>
              </a:defRPr>
            </a:lvl9pPr>
          </a:lstStyle>
          <a:p xmlns:a="http://schemas.openxmlformats.org/drawingml/2006/main">
            <a:pPr algn="l">
              <a:defRPr sz="2325" b="0">
                <a:solidFill>
                  <a:srgbClr val="D7E1E3"/>
                </a:solidFill>
                <a:latin typeface="Arial"/>
                <a:ea typeface="Arial"/>
                <a:cs typeface="Arial"/>
              </a:defRPr>
            </a:pPr>
            <a:r>
              <a:rPr sz="2325" b="0">
                <a:solidFill>
                  <a:srgbClr val="D7E1E3"/>
                </a:solidFill>
                <a:latin typeface="Arial"/>
                <a:ea typeface="Arial"/>
                <a:cs typeface="Arial"/>
              </a:rPr>
              <a:t>A research briefing for JobHub</a:t>
            </a:r>
          </a:p>
          <a:p xmlns:a="http://schemas.openxmlformats.org/drawingml/2006/main">
            <a:pPr algn="l">
              <a:defRPr sz="2325" b="0">
                <a:solidFill>
                  <a:srgbClr val="D7E1E3"/>
                </a:solidFill>
                <a:latin typeface="Arial"/>
                <a:ea typeface="Arial"/>
                <a:cs typeface="Arial"/>
              </a:defRPr>
            </a:pPr>
            <a:r>
              <a:rPr sz="2325" b="0">
                <a:solidFill>
                  <a:srgbClr val="D7E1E3"/>
                </a:solidFill>
                <a:latin typeface="Arial"/>
                <a:ea typeface="Arial"/>
                <a:cs typeface="Arial"/>
              </a:rPr>
              <a:t>With a Round 03 extension</a:t>
            </a:r>
          </a:p>
        </p:txBody>
      </p:sp>
      <p:sp>
        <p:nvSpPr>
          <p:cNvPr id="4" name="evidence-boundary">
            <a:extLst xmlns:a="http://schemas.openxmlformats.org/drawingml/2006/main">
              <a:ext uri="{FF2B5EF4-FFF2-40B4-BE49-F238E27FC236}">
                <a16:creationId xmlns:a16="http://schemas.microsoft.com/office/drawing/2014/main" id="{8CBA224B-962A-4F93-BED7-8F4AF383FD4A}"/>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D7E1E3"/>
                </a:solidFill>
                <a:latin typeface="Arial"/>
                <a:ea typeface="Arial"/>
                <a:cs typeface="Arial"/>
              </a:defRPr>
            </a:defPPr>
            <a:lvl1pPr algn="l">
              <a:defRPr sz="1350" b="0">
                <a:solidFill>
                  <a:srgbClr val="D7E1E3"/>
                </a:solidFill>
                <a:latin typeface="Arial"/>
                <a:ea typeface="Arial"/>
                <a:cs typeface="Arial"/>
              </a:defRPr>
            </a:lvl1pPr>
            <a:lvl2pPr algn="l">
              <a:defRPr sz="1350" b="0">
                <a:solidFill>
                  <a:srgbClr val="D7E1E3"/>
                </a:solidFill>
                <a:latin typeface="Arial"/>
                <a:ea typeface="Arial"/>
                <a:cs typeface="Arial"/>
              </a:defRPr>
            </a:lvl2pPr>
            <a:lvl3pPr algn="l">
              <a:defRPr sz="1350" b="0">
                <a:solidFill>
                  <a:srgbClr val="D7E1E3"/>
                </a:solidFill>
                <a:latin typeface="Arial"/>
                <a:ea typeface="Arial"/>
                <a:cs typeface="Arial"/>
              </a:defRPr>
            </a:lvl3pPr>
            <a:lvl4pPr algn="l">
              <a:defRPr sz="1350" b="0">
                <a:solidFill>
                  <a:srgbClr val="D7E1E3"/>
                </a:solidFill>
                <a:latin typeface="Arial"/>
                <a:ea typeface="Arial"/>
                <a:cs typeface="Arial"/>
              </a:defRPr>
            </a:lvl4pPr>
            <a:lvl5pPr algn="l">
              <a:defRPr sz="1350" b="0">
                <a:solidFill>
                  <a:srgbClr val="D7E1E3"/>
                </a:solidFill>
                <a:latin typeface="Arial"/>
                <a:ea typeface="Arial"/>
                <a:cs typeface="Arial"/>
              </a:defRPr>
            </a:lvl5pPr>
            <a:lvl6pPr algn="l">
              <a:defRPr sz="1350" b="0">
                <a:solidFill>
                  <a:srgbClr val="D7E1E3"/>
                </a:solidFill>
                <a:latin typeface="Arial"/>
                <a:ea typeface="Arial"/>
                <a:cs typeface="Arial"/>
              </a:defRPr>
            </a:lvl6pPr>
            <a:lvl7pPr algn="l">
              <a:defRPr sz="1350" b="0">
                <a:solidFill>
                  <a:srgbClr val="D7E1E3"/>
                </a:solidFill>
                <a:latin typeface="Arial"/>
                <a:ea typeface="Arial"/>
                <a:cs typeface="Arial"/>
              </a:defRPr>
            </a:lvl7pPr>
            <a:lvl8pPr algn="l">
              <a:defRPr sz="1350" b="0">
                <a:solidFill>
                  <a:srgbClr val="D7E1E3"/>
                </a:solidFill>
                <a:latin typeface="Arial"/>
                <a:ea typeface="Arial"/>
                <a:cs typeface="Arial"/>
              </a:defRPr>
            </a:lvl8pPr>
            <a:lvl9pPr algn="l">
              <a:defRPr sz="1350" b="0">
                <a:solidFill>
                  <a:srgbClr val="D7E1E3"/>
                </a:solidFill>
                <a:latin typeface="Arial"/>
                <a:ea typeface="Arial"/>
                <a:cs typeface="Arial"/>
              </a:defRPr>
            </a:lvl9pPr>
          </a:lstStyle>
          <a:p xmlns:a="http://schemas.openxmlformats.org/drawingml/2006/main">
            <a:pPr algn="l">
              <a:defRPr sz="1350" b="0">
                <a:solidFill>
                  <a:srgbClr val="D7E1E3"/>
                </a:solidFill>
                <a:latin typeface="Arial"/>
                <a:ea typeface="Arial"/>
                <a:cs typeface="Arial"/>
              </a:defRPr>
            </a:pPr>
            <a:r>
              <a:rPr sz="1350" b="0">
                <a:solidFill>
                  <a:srgbClr val="D7E1E3"/>
                </a:solidFill>
                <a:latin typeface="Arial"/>
                <a:ea typeface="Arial"/>
                <a:cs typeface="Arial"/>
              </a:rPr>
              <a:t>Research through 19 October 2026. Fictional illustration.</a:t>
            </a:r>
          </a:p>
        </p:txBody>
      </p:sp>
      <p:sp>
        <p:nvSpPr>
          <p:cNvPr id="5" name="slide-number">
            <a:extLst xmlns:a="http://schemas.openxmlformats.org/drawingml/2006/main">
              <a:ext uri="{FF2B5EF4-FFF2-40B4-BE49-F238E27FC236}">
                <a16:creationId xmlns:a16="http://schemas.microsoft.com/office/drawing/2014/main" id="{9E9AF534-1461-45C3-9B4F-F1BDE6D3F87F}"/>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1C58A"/>
                </a:solidFill>
                <a:latin typeface="Arial"/>
                <a:ea typeface="Arial"/>
                <a:cs typeface="Arial"/>
              </a:defRPr>
            </a:defPPr>
            <a:lvl1pPr algn="l">
              <a:defRPr sz="1575" b="1">
                <a:solidFill>
                  <a:srgbClr val="F1C58A"/>
                </a:solidFill>
                <a:latin typeface="Arial"/>
                <a:ea typeface="Arial"/>
                <a:cs typeface="Arial"/>
              </a:defRPr>
            </a:lvl1pPr>
            <a:lvl2pPr algn="l">
              <a:defRPr sz="1575" b="1">
                <a:solidFill>
                  <a:srgbClr val="F1C58A"/>
                </a:solidFill>
                <a:latin typeface="Arial"/>
                <a:ea typeface="Arial"/>
                <a:cs typeface="Arial"/>
              </a:defRPr>
            </a:lvl2pPr>
            <a:lvl3pPr algn="l">
              <a:defRPr sz="1575" b="1">
                <a:solidFill>
                  <a:srgbClr val="F1C58A"/>
                </a:solidFill>
                <a:latin typeface="Arial"/>
                <a:ea typeface="Arial"/>
                <a:cs typeface="Arial"/>
              </a:defRPr>
            </a:lvl3pPr>
            <a:lvl4pPr algn="l">
              <a:defRPr sz="1575" b="1">
                <a:solidFill>
                  <a:srgbClr val="F1C58A"/>
                </a:solidFill>
                <a:latin typeface="Arial"/>
                <a:ea typeface="Arial"/>
                <a:cs typeface="Arial"/>
              </a:defRPr>
            </a:lvl4pPr>
            <a:lvl5pPr algn="l">
              <a:defRPr sz="1575" b="1">
                <a:solidFill>
                  <a:srgbClr val="F1C58A"/>
                </a:solidFill>
                <a:latin typeface="Arial"/>
                <a:ea typeface="Arial"/>
                <a:cs typeface="Arial"/>
              </a:defRPr>
            </a:lvl5pPr>
            <a:lvl6pPr algn="l">
              <a:defRPr sz="1575" b="1">
                <a:solidFill>
                  <a:srgbClr val="F1C58A"/>
                </a:solidFill>
                <a:latin typeface="Arial"/>
                <a:ea typeface="Arial"/>
                <a:cs typeface="Arial"/>
              </a:defRPr>
            </a:lvl6pPr>
            <a:lvl7pPr algn="l">
              <a:defRPr sz="1575" b="1">
                <a:solidFill>
                  <a:srgbClr val="F1C58A"/>
                </a:solidFill>
                <a:latin typeface="Arial"/>
                <a:ea typeface="Arial"/>
                <a:cs typeface="Arial"/>
              </a:defRPr>
            </a:lvl7pPr>
            <a:lvl8pPr algn="l">
              <a:defRPr sz="1575" b="1">
                <a:solidFill>
                  <a:srgbClr val="F1C58A"/>
                </a:solidFill>
                <a:latin typeface="Arial"/>
                <a:ea typeface="Arial"/>
                <a:cs typeface="Arial"/>
              </a:defRPr>
            </a:lvl8pPr>
            <a:lvl9pPr algn="l">
              <a:defRPr sz="1575" b="1">
                <a:solidFill>
                  <a:srgbClr val="F1C58A"/>
                </a:solidFill>
                <a:latin typeface="Arial"/>
                <a:ea typeface="Arial"/>
                <a:cs typeface="Arial"/>
              </a:defRPr>
            </a:lvl9pPr>
          </a:lstStyle>
          <a:p xmlns:a="http://schemas.openxmlformats.org/drawingml/2006/main">
            <a:pPr algn="l">
              <a:defRPr sz="1575" b="1">
                <a:solidFill>
                  <a:srgbClr val="F1C58A"/>
                </a:solidFill>
                <a:latin typeface="Arial"/>
                <a:ea typeface="Arial"/>
                <a:cs typeface="Arial"/>
              </a:defRPr>
            </a:pPr>
            <a:r>
              <a:rPr sz="1575" b="1">
                <a:solidFill>
                  <a:srgbClr val="F1C58A"/>
                </a:solidFill>
                <a:latin typeface="Arial"/>
                <a:ea typeface="Arial"/>
                <a:cs typeface="Arial"/>
              </a:rPr>
              <a:t>01</a:t>
            </a:r>
          </a:p>
        </p:txBody>
      </p:sp>
    </p:spTree>
    <p:extLst>
      <p:ext uri="{BB962C8B-B14F-4D97-AF65-F5344CB8AC3E}">
        <p14:creationId xmlns:p14="http://schemas.microsoft.com/office/powerpoint/2010/main" val="1508542438"/>
      </p:ext>
    </p:extLst>
  </p:cSld>
</p:sld>
</file>

<file path=ppt/slides/slide2.xml><?xml version="1.0" encoding="utf-8"?>
<p:sld xmlns:p="http://schemas.openxmlformats.org/presentationml/2006/main">
  <p:cSld>
    <p:bg>
      <p:bgPr>
        <a:solidFill xmlns:a="http://schemas.openxmlformats.org/drawingml/2006/main">
          <a:srgbClr val="102235"/>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3F166BC9-C1DE-4EC6-B469-6EE533D6471D}"/>
              </a:ext>
            </a:extLst>
          </p:cNvPr>
          <p:cNvSpPr>
            <a:spLocks xmlns:a="http://schemas.openxmlformats.org/drawingml/2006/main" noGrp="1"/>
          </p:cNvSpPr>
          <p:nvPr/>
        </p:nvSpPr>
        <p:spPr>
          <a:xfrm xmlns:a="http://schemas.openxmlformats.org/drawingml/2006/main">
            <a:off x="723900" y="1809750"/>
            <a:ext cx="60960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000" b="1">
                <a:solidFill>
                  <a:srgbClr val="FFFFFF"/>
                </a:solidFill>
                <a:latin typeface="Arial"/>
                <a:ea typeface="Arial"/>
                <a:cs typeface="Arial"/>
              </a:defRPr>
            </a:defPPr>
            <a:lvl1pPr algn="l">
              <a:defRPr sz="6000" b="1">
                <a:solidFill>
                  <a:srgbClr val="FFFFFF"/>
                </a:solidFill>
                <a:latin typeface="Arial"/>
                <a:ea typeface="Arial"/>
                <a:cs typeface="Arial"/>
              </a:defRPr>
            </a:lvl1pPr>
            <a:lvl2pPr algn="l">
              <a:defRPr sz="6000" b="1">
                <a:solidFill>
                  <a:srgbClr val="FFFFFF"/>
                </a:solidFill>
                <a:latin typeface="Arial"/>
                <a:ea typeface="Arial"/>
                <a:cs typeface="Arial"/>
              </a:defRPr>
            </a:lvl2pPr>
            <a:lvl3pPr algn="l">
              <a:defRPr sz="6000" b="1">
                <a:solidFill>
                  <a:srgbClr val="FFFFFF"/>
                </a:solidFill>
                <a:latin typeface="Arial"/>
                <a:ea typeface="Arial"/>
                <a:cs typeface="Arial"/>
              </a:defRPr>
            </a:lvl3pPr>
            <a:lvl4pPr algn="l">
              <a:defRPr sz="6000" b="1">
                <a:solidFill>
                  <a:srgbClr val="FFFFFF"/>
                </a:solidFill>
                <a:latin typeface="Arial"/>
                <a:ea typeface="Arial"/>
                <a:cs typeface="Arial"/>
              </a:defRPr>
            </a:lvl4pPr>
            <a:lvl5pPr algn="l">
              <a:defRPr sz="6000" b="1">
                <a:solidFill>
                  <a:srgbClr val="FFFFFF"/>
                </a:solidFill>
                <a:latin typeface="Arial"/>
                <a:ea typeface="Arial"/>
                <a:cs typeface="Arial"/>
              </a:defRPr>
            </a:lvl5pPr>
            <a:lvl6pPr algn="l">
              <a:defRPr sz="6000" b="1">
                <a:solidFill>
                  <a:srgbClr val="FFFFFF"/>
                </a:solidFill>
                <a:latin typeface="Arial"/>
                <a:ea typeface="Arial"/>
                <a:cs typeface="Arial"/>
              </a:defRPr>
            </a:lvl6pPr>
            <a:lvl7pPr algn="l">
              <a:defRPr sz="6000" b="1">
                <a:solidFill>
                  <a:srgbClr val="FFFFFF"/>
                </a:solidFill>
                <a:latin typeface="Arial"/>
                <a:ea typeface="Arial"/>
                <a:cs typeface="Arial"/>
              </a:defRPr>
            </a:lvl7pPr>
            <a:lvl8pPr algn="l">
              <a:defRPr sz="6000" b="1">
                <a:solidFill>
                  <a:srgbClr val="FFFFFF"/>
                </a:solidFill>
                <a:latin typeface="Arial"/>
                <a:ea typeface="Arial"/>
                <a:cs typeface="Arial"/>
              </a:defRPr>
            </a:lvl8pPr>
            <a:lvl9pPr algn="l">
              <a:defRPr sz="6000" b="1">
                <a:solidFill>
                  <a:srgbClr val="FFFFFF"/>
                </a:solidFill>
                <a:latin typeface="Arial"/>
                <a:ea typeface="Arial"/>
                <a:cs typeface="Arial"/>
              </a:defRPr>
            </a:lvl9pPr>
          </a:lstStyle>
          <a:p xmlns:a="http://schemas.openxmlformats.org/drawingml/2006/main">
            <a:pPr algn="l">
              <a:defRPr sz="6000" b="1">
                <a:solidFill>
                  <a:srgbClr val="FFFFFF"/>
                </a:solidFill>
                <a:latin typeface="Arial"/>
                <a:ea typeface="Arial"/>
                <a:cs typeface="Arial"/>
              </a:defRPr>
            </a:pPr>
            <a:r>
              <a:rPr sz="6000" b="1">
                <a:solidFill>
                  <a:srgbClr val="FFFFFF"/>
                </a:solidFill>
                <a:latin typeface="Arial"/>
                <a:ea typeface="Arial"/>
                <a:cs typeface="Arial"/>
              </a:rPr>
              <a:t>A job opening.</a:t>
            </a:r>
          </a:p>
          <a:p xmlns:a="http://schemas.openxmlformats.org/drawingml/2006/main">
            <a:pPr algn="l">
              <a:defRPr sz="6000" b="1">
                <a:solidFill>
                  <a:srgbClr val="FFFFFF"/>
                </a:solidFill>
                <a:latin typeface="Arial"/>
                <a:ea typeface="Arial"/>
                <a:cs typeface="Arial"/>
              </a:defRPr>
            </a:pPr>
            <a:r>
              <a:rPr sz="6000" b="1">
                <a:solidFill>
                  <a:srgbClr val="FFFFFF"/>
                </a:solidFill>
                <a:latin typeface="Arial"/>
                <a:ea typeface="Arial"/>
                <a:cs typeface="Arial"/>
              </a:rPr>
              <a:t>Now what?</a:t>
            </a:r>
          </a:p>
        </p:txBody>
      </p:sp>
      <p:sp>
        <p:nvSpPr>
          <p:cNvPr id="2" name="subtitle">
            <a:extLst xmlns:a="http://schemas.openxmlformats.org/drawingml/2006/main">
              <a:ext uri="{FF2B5EF4-FFF2-40B4-BE49-F238E27FC236}">
                <a16:creationId xmlns:a16="http://schemas.microsoft.com/office/drawing/2014/main" id="{D3C7AF4B-B0AD-4922-BD2F-924C852AA042}"/>
              </a:ext>
            </a:extLst>
          </p:cNvPr>
          <p:cNvSpPr>
            <a:spLocks xmlns:a="http://schemas.openxmlformats.org/drawingml/2006/main" noGrp="1"/>
          </p:cNvSpPr>
          <p:nvPr/>
        </p:nvSpPr>
        <p:spPr>
          <a:xfrm xmlns:a="http://schemas.openxmlformats.org/drawingml/2006/main">
            <a:off x="762000" y="4667250"/>
            <a:ext cx="5238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D7E1E3"/>
                </a:solidFill>
                <a:latin typeface="Arial"/>
                <a:ea typeface="Arial"/>
                <a:cs typeface="Arial"/>
              </a:defRPr>
            </a:defPPr>
            <a:lvl1pPr algn="l">
              <a:defRPr sz="2250" b="0">
                <a:solidFill>
                  <a:srgbClr val="D7E1E3"/>
                </a:solidFill>
                <a:latin typeface="Arial"/>
                <a:ea typeface="Arial"/>
                <a:cs typeface="Arial"/>
              </a:defRPr>
            </a:lvl1pPr>
            <a:lvl2pPr algn="l">
              <a:defRPr sz="2250" b="0">
                <a:solidFill>
                  <a:srgbClr val="D7E1E3"/>
                </a:solidFill>
                <a:latin typeface="Arial"/>
                <a:ea typeface="Arial"/>
                <a:cs typeface="Arial"/>
              </a:defRPr>
            </a:lvl2pPr>
            <a:lvl3pPr algn="l">
              <a:defRPr sz="2250" b="0">
                <a:solidFill>
                  <a:srgbClr val="D7E1E3"/>
                </a:solidFill>
                <a:latin typeface="Arial"/>
                <a:ea typeface="Arial"/>
                <a:cs typeface="Arial"/>
              </a:defRPr>
            </a:lvl3pPr>
            <a:lvl4pPr algn="l">
              <a:defRPr sz="2250" b="0">
                <a:solidFill>
                  <a:srgbClr val="D7E1E3"/>
                </a:solidFill>
                <a:latin typeface="Arial"/>
                <a:ea typeface="Arial"/>
                <a:cs typeface="Arial"/>
              </a:defRPr>
            </a:lvl4pPr>
            <a:lvl5pPr algn="l">
              <a:defRPr sz="2250" b="0">
                <a:solidFill>
                  <a:srgbClr val="D7E1E3"/>
                </a:solidFill>
                <a:latin typeface="Arial"/>
                <a:ea typeface="Arial"/>
                <a:cs typeface="Arial"/>
              </a:defRPr>
            </a:lvl5pPr>
            <a:lvl6pPr algn="l">
              <a:defRPr sz="2250" b="0">
                <a:solidFill>
                  <a:srgbClr val="D7E1E3"/>
                </a:solidFill>
                <a:latin typeface="Arial"/>
                <a:ea typeface="Arial"/>
                <a:cs typeface="Arial"/>
              </a:defRPr>
            </a:lvl6pPr>
            <a:lvl7pPr algn="l">
              <a:defRPr sz="2250" b="0">
                <a:solidFill>
                  <a:srgbClr val="D7E1E3"/>
                </a:solidFill>
                <a:latin typeface="Arial"/>
                <a:ea typeface="Arial"/>
                <a:cs typeface="Arial"/>
              </a:defRPr>
            </a:lvl7pPr>
            <a:lvl8pPr algn="l">
              <a:defRPr sz="2250" b="0">
                <a:solidFill>
                  <a:srgbClr val="D7E1E3"/>
                </a:solidFill>
                <a:latin typeface="Arial"/>
                <a:ea typeface="Arial"/>
                <a:cs typeface="Arial"/>
              </a:defRPr>
            </a:lvl8pPr>
            <a:lvl9pPr algn="l">
              <a:defRPr sz="2250" b="0">
                <a:solidFill>
                  <a:srgbClr val="D7E1E3"/>
                </a:solidFill>
                <a:latin typeface="Arial"/>
                <a:ea typeface="Arial"/>
                <a:cs typeface="Arial"/>
              </a:defRPr>
            </a:lvl9pPr>
          </a:lstStyle>
          <a:p xmlns:a="http://schemas.openxmlformats.org/drawingml/2006/main">
            <a:pPr algn="l">
              <a:defRPr sz="2250" b="0">
                <a:solidFill>
                  <a:srgbClr val="D7E1E3"/>
                </a:solidFill>
                <a:latin typeface="Arial"/>
                <a:ea typeface="Arial"/>
                <a:cs typeface="Arial"/>
              </a:defRPr>
            </a:pPr>
            <a:r>
              <a:rPr sz="2250" b="0">
                <a:solidFill>
                  <a:srgbClr val="D7E1E3"/>
                </a:solidFill>
                <a:latin typeface="Arial"/>
                <a:ea typeface="Arial"/>
                <a:cs typeface="Arial"/>
              </a:rPr>
              <a:t>A posting starts a sequence of decisions.</a:t>
            </a:r>
          </a:p>
        </p:txBody>
      </p:sp>
      <p:sp>
        <p:nvSpPr>
          <p:cNvPr id="3" name="question-0">
            <a:extLst xmlns:a="http://schemas.openxmlformats.org/drawingml/2006/main">
              <a:ext uri="{FF2B5EF4-FFF2-40B4-BE49-F238E27FC236}">
                <a16:creationId xmlns:a16="http://schemas.microsoft.com/office/drawing/2014/main" id="{049799CA-2EBA-4ECE-91B4-63E2EB5490F7}"/>
              </a:ext>
            </a:extLst>
          </p:cNvPr>
          <p:cNvSpPr>
            <a:spLocks xmlns:a="http://schemas.openxmlformats.org/drawingml/2006/main" noGrp="1"/>
          </p:cNvSpPr>
          <p:nvPr/>
        </p:nvSpPr>
        <p:spPr>
          <a:xfrm xmlns:a="http://schemas.openxmlformats.org/drawingml/2006/main">
            <a:off x="7239000" y="2133600"/>
            <a:ext cx="419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F1C58A"/>
                </a:solidFill>
                <a:latin typeface="Arial"/>
                <a:ea typeface="Arial"/>
                <a:cs typeface="Arial"/>
              </a:defRPr>
            </a:defPPr>
            <a:lvl1pPr algn="l">
              <a:defRPr sz="2475" b="1">
                <a:solidFill>
                  <a:srgbClr val="F1C58A"/>
                </a:solidFill>
                <a:latin typeface="Arial"/>
                <a:ea typeface="Arial"/>
                <a:cs typeface="Arial"/>
              </a:defRPr>
            </a:lvl1pPr>
            <a:lvl2pPr algn="l">
              <a:defRPr sz="2475" b="1">
                <a:solidFill>
                  <a:srgbClr val="F1C58A"/>
                </a:solidFill>
                <a:latin typeface="Arial"/>
                <a:ea typeface="Arial"/>
                <a:cs typeface="Arial"/>
              </a:defRPr>
            </a:lvl2pPr>
            <a:lvl3pPr algn="l">
              <a:defRPr sz="2475" b="1">
                <a:solidFill>
                  <a:srgbClr val="F1C58A"/>
                </a:solidFill>
                <a:latin typeface="Arial"/>
                <a:ea typeface="Arial"/>
                <a:cs typeface="Arial"/>
              </a:defRPr>
            </a:lvl3pPr>
            <a:lvl4pPr algn="l">
              <a:defRPr sz="2475" b="1">
                <a:solidFill>
                  <a:srgbClr val="F1C58A"/>
                </a:solidFill>
                <a:latin typeface="Arial"/>
                <a:ea typeface="Arial"/>
                <a:cs typeface="Arial"/>
              </a:defRPr>
            </a:lvl4pPr>
            <a:lvl5pPr algn="l">
              <a:defRPr sz="2475" b="1">
                <a:solidFill>
                  <a:srgbClr val="F1C58A"/>
                </a:solidFill>
                <a:latin typeface="Arial"/>
                <a:ea typeface="Arial"/>
                <a:cs typeface="Arial"/>
              </a:defRPr>
            </a:lvl5pPr>
            <a:lvl6pPr algn="l">
              <a:defRPr sz="2475" b="1">
                <a:solidFill>
                  <a:srgbClr val="F1C58A"/>
                </a:solidFill>
                <a:latin typeface="Arial"/>
                <a:ea typeface="Arial"/>
                <a:cs typeface="Arial"/>
              </a:defRPr>
            </a:lvl6pPr>
            <a:lvl7pPr algn="l">
              <a:defRPr sz="2475" b="1">
                <a:solidFill>
                  <a:srgbClr val="F1C58A"/>
                </a:solidFill>
                <a:latin typeface="Arial"/>
                <a:ea typeface="Arial"/>
                <a:cs typeface="Arial"/>
              </a:defRPr>
            </a:lvl7pPr>
            <a:lvl8pPr algn="l">
              <a:defRPr sz="2475" b="1">
                <a:solidFill>
                  <a:srgbClr val="F1C58A"/>
                </a:solidFill>
                <a:latin typeface="Arial"/>
                <a:ea typeface="Arial"/>
                <a:cs typeface="Arial"/>
              </a:defRPr>
            </a:lvl8pPr>
            <a:lvl9pPr algn="l">
              <a:defRPr sz="2475" b="1">
                <a:solidFill>
                  <a:srgbClr val="F1C58A"/>
                </a:solidFill>
                <a:latin typeface="Arial"/>
                <a:ea typeface="Arial"/>
                <a:cs typeface="Arial"/>
              </a:defRPr>
            </a:lvl9pPr>
          </a:lstStyle>
          <a:p xmlns:a="http://schemas.openxmlformats.org/drawingml/2006/main">
            <a:pPr algn="l">
              <a:defRPr sz="2475" b="1">
                <a:solidFill>
                  <a:srgbClr val="F1C58A"/>
                </a:solidFill>
                <a:latin typeface="Arial"/>
                <a:ea typeface="Arial"/>
                <a:cs typeface="Arial"/>
              </a:defRPr>
            </a:pPr>
            <a:r>
              <a:rPr sz="2475" b="1">
                <a:solidFill>
                  <a:srgbClr val="F1C58A"/>
                </a:solidFill>
                <a:latin typeface="Arial"/>
                <a:ea typeface="Arial"/>
                <a:cs typeface="Arial"/>
              </a:rPr>
              <a:t>Is it genuine?</a:t>
            </a:r>
          </a:p>
        </p:txBody>
      </p:sp>
      <p:sp>
        <p:nvSpPr>
          <p:cNvPr id="4" name="question-detail-0">
            <a:extLst xmlns:a="http://schemas.openxmlformats.org/drawingml/2006/main">
              <a:ext uri="{FF2B5EF4-FFF2-40B4-BE49-F238E27FC236}">
                <a16:creationId xmlns:a16="http://schemas.microsoft.com/office/drawing/2014/main" id="{3CFA37F0-8C22-4C20-BD3D-1B48427EAA5B}"/>
              </a:ext>
            </a:extLst>
          </p:cNvPr>
          <p:cNvSpPr>
            <a:spLocks xmlns:a="http://schemas.openxmlformats.org/drawingml/2006/main" noGrp="1"/>
          </p:cNvSpPr>
          <p:nvPr/>
        </p:nvSpPr>
        <p:spPr>
          <a:xfrm xmlns:a="http://schemas.openxmlformats.org/drawingml/2006/main">
            <a:off x="7239000" y="2609850"/>
            <a:ext cx="4095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D7E1E3"/>
                </a:solidFill>
                <a:latin typeface="Arial"/>
                <a:ea typeface="Arial"/>
                <a:cs typeface="Arial"/>
              </a:defRPr>
            </a:defPPr>
            <a:lvl1pPr algn="l">
              <a:defRPr sz="1950" b="0">
                <a:solidFill>
                  <a:srgbClr val="D7E1E3"/>
                </a:solidFill>
                <a:latin typeface="Arial"/>
                <a:ea typeface="Arial"/>
                <a:cs typeface="Arial"/>
              </a:defRPr>
            </a:lvl1pPr>
            <a:lvl2pPr algn="l">
              <a:defRPr sz="1950" b="0">
                <a:solidFill>
                  <a:srgbClr val="D7E1E3"/>
                </a:solidFill>
                <a:latin typeface="Arial"/>
                <a:ea typeface="Arial"/>
                <a:cs typeface="Arial"/>
              </a:defRPr>
            </a:lvl2pPr>
            <a:lvl3pPr algn="l">
              <a:defRPr sz="1950" b="0">
                <a:solidFill>
                  <a:srgbClr val="D7E1E3"/>
                </a:solidFill>
                <a:latin typeface="Arial"/>
                <a:ea typeface="Arial"/>
                <a:cs typeface="Arial"/>
              </a:defRPr>
            </a:lvl3pPr>
            <a:lvl4pPr algn="l">
              <a:defRPr sz="1950" b="0">
                <a:solidFill>
                  <a:srgbClr val="D7E1E3"/>
                </a:solidFill>
                <a:latin typeface="Arial"/>
                <a:ea typeface="Arial"/>
                <a:cs typeface="Arial"/>
              </a:defRPr>
            </a:lvl4pPr>
            <a:lvl5pPr algn="l">
              <a:defRPr sz="1950" b="0">
                <a:solidFill>
                  <a:srgbClr val="D7E1E3"/>
                </a:solidFill>
                <a:latin typeface="Arial"/>
                <a:ea typeface="Arial"/>
                <a:cs typeface="Arial"/>
              </a:defRPr>
            </a:lvl5pPr>
            <a:lvl6pPr algn="l">
              <a:defRPr sz="1950" b="0">
                <a:solidFill>
                  <a:srgbClr val="D7E1E3"/>
                </a:solidFill>
                <a:latin typeface="Arial"/>
                <a:ea typeface="Arial"/>
                <a:cs typeface="Arial"/>
              </a:defRPr>
            </a:lvl6pPr>
            <a:lvl7pPr algn="l">
              <a:defRPr sz="1950" b="0">
                <a:solidFill>
                  <a:srgbClr val="D7E1E3"/>
                </a:solidFill>
                <a:latin typeface="Arial"/>
                <a:ea typeface="Arial"/>
                <a:cs typeface="Arial"/>
              </a:defRPr>
            </a:lvl7pPr>
            <a:lvl8pPr algn="l">
              <a:defRPr sz="1950" b="0">
                <a:solidFill>
                  <a:srgbClr val="D7E1E3"/>
                </a:solidFill>
                <a:latin typeface="Arial"/>
                <a:ea typeface="Arial"/>
                <a:cs typeface="Arial"/>
              </a:defRPr>
            </a:lvl8pPr>
            <a:lvl9pPr algn="l">
              <a:defRPr sz="1950" b="0">
                <a:solidFill>
                  <a:srgbClr val="D7E1E3"/>
                </a:solidFill>
                <a:latin typeface="Arial"/>
                <a:ea typeface="Arial"/>
                <a:cs typeface="Arial"/>
              </a:defRPr>
            </a:lvl9pPr>
          </a:lstStyle>
          <a:p xmlns:a="http://schemas.openxmlformats.org/drawingml/2006/main">
            <a:pPr algn="l">
              <a:defRPr sz="1950" b="0">
                <a:solidFill>
                  <a:srgbClr val="D7E1E3"/>
                </a:solidFill>
                <a:latin typeface="Arial"/>
                <a:ea typeface="Arial"/>
                <a:cs typeface="Arial"/>
              </a:defRPr>
            </a:pPr>
            <a:r>
              <a:rPr sz="1950" b="0">
                <a:solidFill>
                  <a:srgbClr val="D7E1E3"/>
                </a:solidFill>
                <a:latin typeface="Arial"/>
                <a:ea typeface="Arial"/>
                <a:cs typeface="Arial"/>
              </a:rPr>
              <a:t>Who is hiring, and what can I verify?</a:t>
            </a:r>
          </a:p>
        </p:txBody>
      </p:sp>
      <p:sp>
        <p:nvSpPr>
          <p:cNvPr id="5" name="question-1">
            <a:extLst xmlns:a="http://schemas.openxmlformats.org/drawingml/2006/main">
              <a:ext uri="{FF2B5EF4-FFF2-40B4-BE49-F238E27FC236}">
                <a16:creationId xmlns:a16="http://schemas.microsoft.com/office/drawing/2014/main" id="{B3ECD7B4-0342-423B-8D2B-219F065D4A6F}"/>
              </a:ext>
            </a:extLst>
          </p:cNvPr>
          <p:cNvSpPr>
            <a:spLocks xmlns:a="http://schemas.openxmlformats.org/drawingml/2006/main" noGrp="1"/>
          </p:cNvSpPr>
          <p:nvPr/>
        </p:nvSpPr>
        <p:spPr>
          <a:xfrm xmlns:a="http://schemas.openxmlformats.org/drawingml/2006/main">
            <a:off x="7239000" y="3276600"/>
            <a:ext cx="419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F1C58A"/>
                </a:solidFill>
                <a:latin typeface="Arial"/>
                <a:ea typeface="Arial"/>
                <a:cs typeface="Arial"/>
              </a:defRPr>
            </a:defPPr>
            <a:lvl1pPr algn="l">
              <a:defRPr sz="2475" b="1">
                <a:solidFill>
                  <a:srgbClr val="F1C58A"/>
                </a:solidFill>
                <a:latin typeface="Arial"/>
                <a:ea typeface="Arial"/>
                <a:cs typeface="Arial"/>
              </a:defRPr>
            </a:lvl1pPr>
            <a:lvl2pPr algn="l">
              <a:defRPr sz="2475" b="1">
                <a:solidFill>
                  <a:srgbClr val="F1C58A"/>
                </a:solidFill>
                <a:latin typeface="Arial"/>
                <a:ea typeface="Arial"/>
                <a:cs typeface="Arial"/>
              </a:defRPr>
            </a:lvl2pPr>
            <a:lvl3pPr algn="l">
              <a:defRPr sz="2475" b="1">
                <a:solidFill>
                  <a:srgbClr val="F1C58A"/>
                </a:solidFill>
                <a:latin typeface="Arial"/>
                <a:ea typeface="Arial"/>
                <a:cs typeface="Arial"/>
              </a:defRPr>
            </a:lvl3pPr>
            <a:lvl4pPr algn="l">
              <a:defRPr sz="2475" b="1">
                <a:solidFill>
                  <a:srgbClr val="F1C58A"/>
                </a:solidFill>
                <a:latin typeface="Arial"/>
                <a:ea typeface="Arial"/>
                <a:cs typeface="Arial"/>
              </a:defRPr>
            </a:lvl4pPr>
            <a:lvl5pPr algn="l">
              <a:defRPr sz="2475" b="1">
                <a:solidFill>
                  <a:srgbClr val="F1C58A"/>
                </a:solidFill>
                <a:latin typeface="Arial"/>
                <a:ea typeface="Arial"/>
                <a:cs typeface="Arial"/>
              </a:defRPr>
            </a:lvl5pPr>
            <a:lvl6pPr algn="l">
              <a:defRPr sz="2475" b="1">
                <a:solidFill>
                  <a:srgbClr val="F1C58A"/>
                </a:solidFill>
                <a:latin typeface="Arial"/>
                <a:ea typeface="Arial"/>
                <a:cs typeface="Arial"/>
              </a:defRPr>
            </a:lvl6pPr>
            <a:lvl7pPr algn="l">
              <a:defRPr sz="2475" b="1">
                <a:solidFill>
                  <a:srgbClr val="F1C58A"/>
                </a:solidFill>
                <a:latin typeface="Arial"/>
                <a:ea typeface="Arial"/>
                <a:cs typeface="Arial"/>
              </a:defRPr>
            </a:lvl7pPr>
            <a:lvl8pPr algn="l">
              <a:defRPr sz="2475" b="1">
                <a:solidFill>
                  <a:srgbClr val="F1C58A"/>
                </a:solidFill>
                <a:latin typeface="Arial"/>
                <a:ea typeface="Arial"/>
                <a:cs typeface="Arial"/>
              </a:defRPr>
            </a:lvl8pPr>
            <a:lvl9pPr algn="l">
              <a:defRPr sz="2475" b="1">
                <a:solidFill>
                  <a:srgbClr val="F1C58A"/>
                </a:solidFill>
                <a:latin typeface="Arial"/>
                <a:ea typeface="Arial"/>
                <a:cs typeface="Arial"/>
              </a:defRPr>
            </a:lvl9pPr>
          </a:lstStyle>
          <a:p xmlns:a="http://schemas.openxmlformats.org/drawingml/2006/main">
            <a:pPr algn="l">
              <a:defRPr sz="2475" b="1">
                <a:solidFill>
                  <a:srgbClr val="F1C58A"/>
                </a:solidFill>
                <a:latin typeface="Arial"/>
                <a:ea typeface="Arial"/>
                <a:cs typeface="Arial"/>
              </a:defRPr>
            </a:pPr>
            <a:r>
              <a:rPr sz="2475" b="1">
                <a:solidFill>
                  <a:srgbClr val="F1C58A"/>
                </a:solidFill>
                <a:latin typeface="Arial"/>
                <a:ea typeface="Arial"/>
                <a:cs typeface="Arial"/>
              </a:rPr>
              <a:t>Does it fit?</a:t>
            </a:r>
          </a:p>
        </p:txBody>
      </p:sp>
      <p:sp>
        <p:nvSpPr>
          <p:cNvPr id="6" name="question-detail-1">
            <a:extLst xmlns:a="http://schemas.openxmlformats.org/drawingml/2006/main">
              <a:ext uri="{FF2B5EF4-FFF2-40B4-BE49-F238E27FC236}">
                <a16:creationId xmlns:a16="http://schemas.microsoft.com/office/drawing/2014/main" id="{B42028D0-02A8-4941-A555-A91C03D3FEB2}"/>
              </a:ext>
            </a:extLst>
          </p:cNvPr>
          <p:cNvSpPr>
            <a:spLocks xmlns:a="http://schemas.openxmlformats.org/drawingml/2006/main" noGrp="1"/>
          </p:cNvSpPr>
          <p:nvPr/>
        </p:nvSpPr>
        <p:spPr>
          <a:xfrm xmlns:a="http://schemas.openxmlformats.org/drawingml/2006/main">
            <a:off x="7239000" y="3752850"/>
            <a:ext cx="4095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D7E1E3"/>
                </a:solidFill>
                <a:latin typeface="Arial"/>
                <a:ea typeface="Arial"/>
                <a:cs typeface="Arial"/>
              </a:defRPr>
            </a:defPPr>
            <a:lvl1pPr algn="l">
              <a:defRPr sz="1950" b="0">
                <a:solidFill>
                  <a:srgbClr val="D7E1E3"/>
                </a:solidFill>
                <a:latin typeface="Arial"/>
                <a:ea typeface="Arial"/>
                <a:cs typeface="Arial"/>
              </a:defRPr>
            </a:lvl1pPr>
            <a:lvl2pPr algn="l">
              <a:defRPr sz="1950" b="0">
                <a:solidFill>
                  <a:srgbClr val="D7E1E3"/>
                </a:solidFill>
                <a:latin typeface="Arial"/>
                <a:ea typeface="Arial"/>
                <a:cs typeface="Arial"/>
              </a:defRPr>
            </a:lvl2pPr>
            <a:lvl3pPr algn="l">
              <a:defRPr sz="1950" b="0">
                <a:solidFill>
                  <a:srgbClr val="D7E1E3"/>
                </a:solidFill>
                <a:latin typeface="Arial"/>
                <a:ea typeface="Arial"/>
                <a:cs typeface="Arial"/>
              </a:defRPr>
            </a:lvl3pPr>
            <a:lvl4pPr algn="l">
              <a:defRPr sz="1950" b="0">
                <a:solidFill>
                  <a:srgbClr val="D7E1E3"/>
                </a:solidFill>
                <a:latin typeface="Arial"/>
                <a:ea typeface="Arial"/>
                <a:cs typeface="Arial"/>
              </a:defRPr>
            </a:lvl4pPr>
            <a:lvl5pPr algn="l">
              <a:defRPr sz="1950" b="0">
                <a:solidFill>
                  <a:srgbClr val="D7E1E3"/>
                </a:solidFill>
                <a:latin typeface="Arial"/>
                <a:ea typeface="Arial"/>
                <a:cs typeface="Arial"/>
              </a:defRPr>
            </a:lvl5pPr>
            <a:lvl6pPr algn="l">
              <a:defRPr sz="1950" b="0">
                <a:solidFill>
                  <a:srgbClr val="D7E1E3"/>
                </a:solidFill>
                <a:latin typeface="Arial"/>
                <a:ea typeface="Arial"/>
                <a:cs typeface="Arial"/>
              </a:defRPr>
            </a:lvl6pPr>
            <a:lvl7pPr algn="l">
              <a:defRPr sz="1950" b="0">
                <a:solidFill>
                  <a:srgbClr val="D7E1E3"/>
                </a:solidFill>
                <a:latin typeface="Arial"/>
                <a:ea typeface="Arial"/>
                <a:cs typeface="Arial"/>
              </a:defRPr>
            </a:lvl7pPr>
            <a:lvl8pPr algn="l">
              <a:defRPr sz="1950" b="0">
                <a:solidFill>
                  <a:srgbClr val="D7E1E3"/>
                </a:solidFill>
                <a:latin typeface="Arial"/>
                <a:ea typeface="Arial"/>
                <a:cs typeface="Arial"/>
              </a:defRPr>
            </a:lvl8pPr>
            <a:lvl9pPr algn="l">
              <a:defRPr sz="1950" b="0">
                <a:solidFill>
                  <a:srgbClr val="D7E1E3"/>
                </a:solidFill>
                <a:latin typeface="Arial"/>
                <a:ea typeface="Arial"/>
                <a:cs typeface="Arial"/>
              </a:defRPr>
            </a:lvl9pPr>
          </a:lstStyle>
          <a:p xmlns:a="http://schemas.openxmlformats.org/drawingml/2006/main">
            <a:pPr algn="l">
              <a:defRPr sz="1950" b="0">
                <a:solidFill>
                  <a:srgbClr val="D7E1E3"/>
                </a:solidFill>
                <a:latin typeface="Arial"/>
                <a:ea typeface="Arial"/>
                <a:cs typeface="Arial"/>
              </a:defRPr>
            </a:pPr>
            <a:r>
              <a:rPr sz="1950" b="0">
                <a:solidFill>
                  <a:srgbClr val="D7E1E3"/>
                </a:solidFill>
                <a:latin typeface="Arial"/>
                <a:ea typeface="Arial"/>
                <a:cs typeface="Arial"/>
              </a:rPr>
              <a:t>What work, conditions and experience matter?</a:t>
            </a:r>
          </a:p>
        </p:txBody>
      </p:sp>
      <p:sp>
        <p:nvSpPr>
          <p:cNvPr id="7" name="question-2">
            <a:extLst xmlns:a="http://schemas.openxmlformats.org/drawingml/2006/main">
              <a:ext uri="{FF2B5EF4-FFF2-40B4-BE49-F238E27FC236}">
                <a16:creationId xmlns:a16="http://schemas.microsoft.com/office/drawing/2014/main" id="{567895B4-DBCA-4814-869C-63533EBA21CC}"/>
              </a:ext>
            </a:extLst>
          </p:cNvPr>
          <p:cNvSpPr>
            <a:spLocks xmlns:a="http://schemas.openxmlformats.org/drawingml/2006/main" noGrp="1"/>
          </p:cNvSpPr>
          <p:nvPr/>
        </p:nvSpPr>
        <p:spPr>
          <a:xfrm xmlns:a="http://schemas.openxmlformats.org/drawingml/2006/main">
            <a:off x="7239000" y="4419600"/>
            <a:ext cx="419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F1C58A"/>
                </a:solidFill>
                <a:latin typeface="Arial"/>
                <a:ea typeface="Arial"/>
                <a:cs typeface="Arial"/>
              </a:defRPr>
            </a:defPPr>
            <a:lvl1pPr algn="l">
              <a:defRPr sz="2475" b="1">
                <a:solidFill>
                  <a:srgbClr val="F1C58A"/>
                </a:solidFill>
                <a:latin typeface="Arial"/>
                <a:ea typeface="Arial"/>
                <a:cs typeface="Arial"/>
              </a:defRPr>
            </a:lvl1pPr>
            <a:lvl2pPr algn="l">
              <a:defRPr sz="2475" b="1">
                <a:solidFill>
                  <a:srgbClr val="F1C58A"/>
                </a:solidFill>
                <a:latin typeface="Arial"/>
                <a:ea typeface="Arial"/>
                <a:cs typeface="Arial"/>
              </a:defRPr>
            </a:lvl2pPr>
            <a:lvl3pPr algn="l">
              <a:defRPr sz="2475" b="1">
                <a:solidFill>
                  <a:srgbClr val="F1C58A"/>
                </a:solidFill>
                <a:latin typeface="Arial"/>
                <a:ea typeface="Arial"/>
                <a:cs typeface="Arial"/>
              </a:defRPr>
            </a:lvl3pPr>
            <a:lvl4pPr algn="l">
              <a:defRPr sz="2475" b="1">
                <a:solidFill>
                  <a:srgbClr val="F1C58A"/>
                </a:solidFill>
                <a:latin typeface="Arial"/>
                <a:ea typeface="Arial"/>
                <a:cs typeface="Arial"/>
              </a:defRPr>
            </a:lvl4pPr>
            <a:lvl5pPr algn="l">
              <a:defRPr sz="2475" b="1">
                <a:solidFill>
                  <a:srgbClr val="F1C58A"/>
                </a:solidFill>
                <a:latin typeface="Arial"/>
                <a:ea typeface="Arial"/>
                <a:cs typeface="Arial"/>
              </a:defRPr>
            </a:lvl5pPr>
            <a:lvl6pPr algn="l">
              <a:defRPr sz="2475" b="1">
                <a:solidFill>
                  <a:srgbClr val="F1C58A"/>
                </a:solidFill>
                <a:latin typeface="Arial"/>
                <a:ea typeface="Arial"/>
                <a:cs typeface="Arial"/>
              </a:defRPr>
            </a:lvl6pPr>
            <a:lvl7pPr algn="l">
              <a:defRPr sz="2475" b="1">
                <a:solidFill>
                  <a:srgbClr val="F1C58A"/>
                </a:solidFill>
                <a:latin typeface="Arial"/>
                <a:ea typeface="Arial"/>
                <a:cs typeface="Arial"/>
              </a:defRPr>
            </a:lvl7pPr>
            <a:lvl8pPr algn="l">
              <a:defRPr sz="2475" b="1">
                <a:solidFill>
                  <a:srgbClr val="F1C58A"/>
                </a:solidFill>
                <a:latin typeface="Arial"/>
                <a:ea typeface="Arial"/>
                <a:cs typeface="Arial"/>
              </a:defRPr>
            </a:lvl8pPr>
            <a:lvl9pPr algn="l">
              <a:defRPr sz="2475" b="1">
                <a:solidFill>
                  <a:srgbClr val="F1C58A"/>
                </a:solidFill>
                <a:latin typeface="Arial"/>
                <a:ea typeface="Arial"/>
                <a:cs typeface="Arial"/>
              </a:defRPr>
            </a:lvl9pPr>
          </a:lstStyle>
          <a:p xmlns:a="http://schemas.openxmlformats.org/drawingml/2006/main">
            <a:pPr algn="l">
              <a:defRPr sz="2475" b="1">
                <a:solidFill>
                  <a:srgbClr val="F1C58A"/>
                </a:solidFill>
                <a:latin typeface="Arial"/>
                <a:ea typeface="Arial"/>
                <a:cs typeface="Arial"/>
              </a:defRPr>
            </a:pPr>
            <a:r>
              <a:rPr sz="2475" b="1">
                <a:solidFill>
                  <a:srgbClr val="F1C58A"/>
                </a:solidFill>
                <a:latin typeface="Arial"/>
                <a:ea typeface="Arial"/>
                <a:cs typeface="Arial"/>
              </a:rPr>
              <a:t>What do I do next?</a:t>
            </a:r>
          </a:p>
        </p:txBody>
      </p:sp>
      <p:sp>
        <p:nvSpPr>
          <p:cNvPr id="8" name="question-detail-2">
            <a:extLst xmlns:a="http://schemas.openxmlformats.org/drawingml/2006/main">
              <a:ext uri="{FF2B5EF4-FFF2-40B4-BE49-F238E27FC236}">
                <a16:creationId xmlns:a16="http://schemas.microsoft.com/office/drawing/2014/main" id="{740AC9DB-2488-4306-A0CD-7F7C3863D3D2}"/>
              </a:ext>
            </a:extLst>
          </p:cNvPr>
          <p:cNvSpPr>
            <a:spLocks xmlns:a="http://schemas.openxmlformats.org/drawingml/2006/main" noGrp="1"/>
          </p:cNvSpPr>
          <p:nvPr/>
        </p:nvSpPr>
        <p:spPr>
          <a:xfrm xmlns:a="http://schemas.openxmlformats.org/drawingml/2006/main">
            <a:off x="7239000" y="4895850"/>
            <a:ext cx="4095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D7E1E3"/>
                </a:solidFill>
                <a:latin typeface="Arial"/>
                <a:ea typeface="Arial"/>
                <a:cs typeface="Arial"/>
              </a:defRPr>
            </a:defPPr>
            <a:lvl1pPr algn="l">
              <a:defRPr sz="1950" b="0">
                <a:solidFill>
                  <a:srgbClr val="D7E1E3"/>
                </a:solidFill>
                <a:latin typeface="Arial"/>
                <a:ea typeface="Arial"/>
                <a:cs typeface="Arial"/>
              </a:defRPr>
            </a:lvl1pPr>
            <a:lvl2pPr algn="l">
              <a:defRPr sz="1950" b="0">
                <a:solidFill>
                  <a:srgbClr val="D7E1E3"/>
                </a:solidFill>
                <a:latin typeface="Arial"/>
                <a:ea typeface="Arial"/>
                <a:cs typeface="Arial"/>
              </a:defRPr>
            </a:lvl2pPr>
            <a:lvl3pPr algn="l">
              <a:defRPr sz="1950" b="0">
                <a:solidFill>
                  <a:srgbClr val="D7E1E3"/>
                </a:solidFill>
                <a:latin typeface="Arial"/>
                <a:ea typeface="Arial"/>
                <a:cs typeface="Arial"/>
              </a:defRPr>
            </a:lvl3pPr>
            <a:lvl4pPr algn="l">
              <a:defRPr sz="1950" b="0">
                <a:solidFill>
                  <a:srgbClr val="D7E1E3"/>
                </a:solidFill>
                <a:latin typeface="Arial"/>
                <a:ea typeface="Arial"/>
                <a:cs typeface="Arial"/>
              </a:defRPr>
            </a:lvl4pPr>
            <a:lvl5pPr algn="l">
              <a:defRPr sz="1950" b="0">
                <a:solidFill>
                  <a:srgbClr val="D7E1E3"/>
                </a:solidFill>
                <a:latin typeface="Arial"/>
                <a:ea typeface="Arial"/>
                <a:cs typeface="Arial"/>
              </a:defRPr>
            </a:lvl5pPr>
            <a:lvl6pPr algn="l">
              <a:defRPr sz="1950" b="0">
                <a:solidFill>
                  <a:srgbClr val="D7E1E3"/>
                </a:solidFill>
                <a:latin typeface="Arial"/>
                <a:ea typeface="Arial"/>
                <a:cs typeface="Arial"/>
              </a:defRPr>
            </a:lvl6pPr>
            <a:lvl7pPr algn="l">
              <a:defRPr sz="1950" b="0">
                <a:solidFill>
                  <a:srgbClr val="D7E1E3"/>
                </a:solidFill>
                <a:latin typeface="Arial"/>
                <a:ea typeface="Arial"/>
                <a:cs typeface="Arial"/>
              </a:defRPr>
            </a:lvl7pPr>
            <a:lvl8pPr algn="l">
              <a:defRPr sz="1950" b="0">
                <a:solidFill>
                  <a:srgbClr val="D7E1E3"/>
                </a:solidFill>
                <a:latin typeface="Arial"/>
                <a:ea typeface="Arial"/>
                <a:cs typeface="Arial"/>
              </a:defRPr>
            </a:lvl8pPr>
            <a:lvl9pPr algn="l">
              <a:defRPr sz="1950" b="0">
                <a:solidFill>
                  <a:srgbClr val="D7E1E3"/>
                </a:solidFill>
                <a:latin typeface="Arial"/>
                <a:ea typeface="Arial"/>
                <a:cs typeface="Arial"/>
              </a:defRPr>
            </a:lvl9pPr>
          </a:lstStyle>
          <a:p xmlns:a="http://schemas.openxmlformats.org/drawingml/2006/main">
            <a:pPr algn="l">
              <a:defRPr sz="1950" b="0">
                <a:solidFill>
                  <a:srgbClr val="D7E1E3"/>
                </a:solidFill>
                <a:latin typeface="Arial"/>
                <a:ea typeface="Arial"/>
                <a:cs typeface="Arial"/>
              </a:defRPr>
            </a:pPr>
            <a:r>
              <a:rPr sz="1950" b="0">
                <a:solidFill>
                  <a:srgbClr val="D7E1E3"/>
                </a:solidFill>
                <a:latin typeface="Arial"/>
                <a:ea typeface="Arial"/>
                <a:cs typeface="Arial"/>
              </a:rPr>
              <a:t>Prepare, apply, practise or move on?</a:t>
            </a:r>
          </a:p>
        </p:txBody>
      </p:sp>
      <p:sp>
        <p:nvSpPr>
          <p:cNvPr id="9" name="evidence-boundary">
            <a:extLst xmlns:a="http://schemas.openxmlformats.org/drawingml/2006/main">
              <a:ext uri="{FF2B5EF4-FFF2-40B4-BE49-F238E27FC236}">
                <a16:creationId xmlns:a16="http://schemas.microsoft.com/office/drawing/2014/main" id="{E83E97C1-3252-46A8-AB28-66EBD6BEC46F}"/>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D7E1E3"/>
                </a:solidFill>
                <a:latin typeface="Arial"/>
                <a:ea typeface="Arial"/>
                <a:cs typeface="Arial"/>
              </a:defRPr>
            </a:defPPr>
            <a:lvl1pPr algn="l">
              <a:defRPr sz="1350" b="0">
                <a:solidFill>
                  <a:srgbClr val="D7E1E3"/>
                </a:solidFill>
                <a:latin typeface="Arial"/>
                <a:ea typeface="Arial"/>
                <a:cs typeface="Arial"/>
              </a:defRPr>
            </a:lvl1pPr>
            <a:lvl2pPr algn="l">
              <a:defRPr sz="1350" b="0">
                <a:solidFill>
                  <a:srgbClr val="D7E1E3"/>
                </a:solidFill>
                <a:latin typeface="Arial"/>
                <a:ea typeface="Arial"/>
                <a:cs typeface="Arial"/>
              </a:defRPr>
            </a:lvl2pPr>
            <a:lvl3pPr algn="l">
              <a:defRPr sz="1350" b="0">
                <a:solidFill>
                  <a:srgbClr val="D7E1E3"/>
                </a:solidFill>
                <a:latin typeface="Arial"/>
                <a:ea typeface="Arial"/>
                <a:cs typeface="Arial"/>
              </a:defRPr>
            </a:lvl3pPr>
            <a:lvl4pPr algn="l">
              <a:defRPr sz="1350" b="0">
                <a:solidFill>
                  <a:srgbClr val="D7E1E3"/>
                </a:solidFill>
                <a:latin typeface="Arial"/>
                <a:ea typeface="Arial"/>
                <a:cs typeface="Arial"/>
              </a:defRPr>
            </a:lvl4pPr>
            <a:lvl5pPr algn="l">
              <a:defRPr sz="1350" b="0">
                <a:solidFill>
                  <a:srgbClr val="D7E1E3"/>
                </a:solidFill>
                <a:latin typeface="Arial"/>
                <a:ea typeface="Arial"/>
                <a:cs typeface="Arial"/>
              </a:defRPr>
            </a:lvl5pPr>
            <a:lvl6pPr algn="l">
              <a:defRPr sz="1350" b="0">
                <a:solidFill>
                  <a:srgbClr val="D7E1E3"/>
                </a:solidFill>
                <a:latin typeface="Arial"/>
                <a:ea typeface="Arial"/>
                <a:cs typeface="Arial"/>
              </a:defRPr>
            </a:lvl6pPr>
            <a:lvl7pPr algn="l">
              <a:defRPr sz="1350" b="0">
                <a:solidFill>
                  <a:srgbClr val="D7E1E3"/>
                </a:solidFill>
                <a:latin typeface="Arial"/>
                <a:ea typeface="Arial"/>
                <a:cs typeface="Arial"/>
              </a:defRPr>
            </a:lvl7pPr>
            <a:lvl8pPr algn="l">
              <a:defRPr sz="1350" b="0">
                <a:solidFill>
                  <a:srgbClr val="D7E1E3"/>
                </a:solidFill>
                <a:latin typeface="Arial"/>
                <a:ea typeface="Arial"/>
                <a:cs typeface="Arial"/>
              </a:defRPr>
            </a:lvl8pPr>
            <a:lvl9pPr algn="l">
              <a:defRPr sz="1350" b="0">
                <a:solidFill>
                  <a:srgbClr val="D7E1E3"/>
                </a:solidFill>
                <a:latin typeface="Arial"/>
                <a:ea typeface="Arial"/>
                <a:cs typeface="Arial"/>
              </a:defRPr>
            </a:lvl9pPr>
          </a:lstStyle>
          <a:p xmlns:a="http://schemas.openxmlformats.org/drawingml/2006/main">
            <a:pPr algn="l">
              <a:defRPr sz="1350" b="0">
                <a:solidFill>
                  <a:srgbClr val="D7E1E3"/>
                </a:solidFill>
                <a:latin typeface="Arial"/>
                <a:ea typeface="Arial"/>
                <a:cs typeface="Arial"/>
              </a:defRPr>
            </a:pPr>
            <a:r>
              <a:rPr sz="1350" b="0">
                <a:solidFill>
                  <a:srgbClr val="D7E1E3"/>
                </a:solidFill>
                <a:latin typeface="Arial"/>
                <a:ea typeface="Arial"/>
                <a:cs typeface="Arial"/>
              </a:rPr>
              <a:t>Illustrative situation, not a participant account or a measured universal sequence.</a:t>
            </a:r>
          </a:p>
        </p:txBody>
      </p:sp>
      <p:sp>
        <p:nvSpPr>
          <p:cNvPr id="10" name="slide-number">
            <a:extLst xmlns:a="http://schemas.openxmlformats.org/drawingml/2006/main">
              <a:ext uri="{FF2B5EF4-FFF2-40B4-BE49-F238E27FC236}">
                <a16:creationId xmlns:a16="http://schemas.microsoft.com/office/drawing/2014/main" id="{F642E162-2E82-4F6D-A1F2-A0EBDC688CDD}"/>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1C58A"/>
                </a:solidFill>
                <a:latin typeface="Arial"/>
                <a:ea typeface="Arial"/>
                <a:cs typeface="Arial"/>
              </a:defRPr>
            </a:defPPr>
            <a:lvl1pPr algn="l">
              <a:defRPr sz="1575" b="1">
                <a:solidFill>
                  <a:srgbClr val="F1C58A"/>
                </a:solidFill>
                <a:latin typeface="Arial"/>
                <a:ea typeface="Arial"/>
                <a:cs typeface="Arial"/>
              </a:defRPr>
            </a:lvl1pPr>
            <a:lvl2pPr algn="l">
              <a:defRPr sz="1575" b="1">
                <a:solidFill>
                  <a:srgbClr val="F1C58A"/>
                </a:solidFill>
                <a:latin typeface="Arial"/>
                <a:ea typeface="Arial"/>
                <a:cs typeface="Arial"/>
              </a:defRPr>
            </a:lvl2pPr>
            <a:lvl3pPr algn="l">
              <a:defRPr sz="1575" b="1">
                <a:solidFill>
                  <a:srgbClr val="F1C58A"/>
                </a:solidFill>
                <a:latin typeface="Arial"/>
                <a:ea typeface="Arial"/>
                <a:cs typeface="Arial"/>
              </a:defRPr>
            </a:lvl3pPr>
            <a:lvl4pPr algn="l">
              <a:defRPr sz="1575" b="1">
                <a:solidFill>
                  <a:srgbClr val="F1C58A"/>
                </a:solidFill>
                <a:latin typeface="Arial"/>
                <a:ea typeface="Arial"/>
                <a:cs typeface="Arial"/>
              </a:defRPr>
            </a:lvl4pPr>
            <a:lvl5pPr algn="l">
              <a:defRPr sz="1575" b="1">
                <a:solidFill>
                  <a:srgbClr val="F1C58A"/>
                </a:solidFill>
                <a:latin typeface="Arial"/>
                <a:ea typeface="Arial"/>
                <a:cs typeface="Arial"/>
              </a:defRPr>
            </a:lvl5pPr>
            <a:lvl6pPr algn="l">
              <a:defRPr sz="1575" b="1">
                <a:solidFill>
                  <a:srgbClr val="F1C58A"/>
                </a:solidFill>
                <a:latin typeface="Arial"/>
                <a:ea typeface="Arial"/>
                <a:cs typeface="Arial"/>
              </a:defRPr>
            </a:lvl6pPr>
            <a:lvl7pPr algn="l">
              <a:defRPr sz="1575" b="1">
                <a:solidFill>
                  <a:srgbClr val="F1C58A"/>
                </a:solidFill>
                <a:latin typeface="Arial"/>
                <a:ea typeface="Arial"/>
                <a:cs typeface="Arial"/>
              </a:defRPr>
            </a:lvl7pPr>
            <a:lvl8pPr algn="l">
              <a:defRPr sz="1575" b="1">
                <a:solidFill>
                  <a:srgbClr val="F1C58A"/>
                </a:solidFill>
                <a:latin typeface="Arial"/>
                <a:ea typeface="Arial"/>
                <a:cs typeface="Arial"/>
              </a:defRPr>
            </a:lvl8pPr>
            <a:lvl9pPr algn="l">
              <a:defRPr sz="1575" b="1">
                <a:solidFill>
                  <a:srgbClr val="F1C58A"/>
                </a:solidFill>
                <a:latin typeface="Arial"/>
                <a:ea typeface="Arial"/>
                <a:cs typeface="Arial"/>
              </a:defRPr>
            </a:lvl9pPr>
          </a:lstStyle>
          <a:p xmlns:a="http://schemas.openxmlformats.org/drawingml/2006/main">
            <a:pPr algn="l">
              <a:defRPr sz="1575" b="1">
                <a:solidFill>
                  <a:srgbClr val="F1C58A"/>
                </a:solidFill>
                <a:latin typeface="Arial"/>
                <a:ea typeface="Arial"/>
                <a:cs typeface="Arial"/>
              </a:defRPr>
            </a:pPr>
            <a:r>
              <a:rPr sz="1575" b="1">
                <a:solidFill>
                  <a:srgbClr val="F1C58A"/>
                </a:solidFill>
                <a:latin typeface="Arial"/>
                <a:ea typeface="Arial"/>
                <a:cs typeface="Arial"/>
              </a:rPr>
              <a:t>02</a:t>
            </a:r>
          </a:p>
        </p:txBody>
      </p:sp>
    </p:spTree>
    <p:extLst>
      <p:ext uri="{BB962C8B-B14F-4D97-AF65-F5344CB8AC3E}">
        <p14:creationId xmlns:p14="http://schemas.microsoft.com/office/powerpoint/2010/main" val="2026761565"/>
      </p:ext>
    </p:extLst>
  </p:cSld>
</p:sld>
</file>

<file path=ppt/slides/slide3.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25" name="title">
            <a:extLst xmlns:a="http://schemas.openxmlformats.org/drawingml/2006/main">
              <a:ext uri="{FF2B5EF4-FFF2-40B4-BE49-F238E27FC236}">
                <a16:creationId xmlns:a16="http://schemas.microsoft.com/office/drawing/2014/main" id="{F6970513-3052-4950-A905-1855EF7F1C95}"/>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The job seeker's journey</a:t>
            </a:r>
          </a:p>
        </p:txBody>
      </p:sp>
      <p:sp>
        <p:nvSpPr>
          <p:cNvPr id="2" name="lead">
            <a:extLst xmlns:a="http://schemas.openxmlformats.org/drawingml/2006/main">
              <a:ext uri="{FF2B5EF4-FFF2-40B4-BE49-F238E27FC236}">
                <a16:creationId xmlns:a16="http://schemas.microsoft.com/office/drawing/2014/main" id="{958159C7-C31B-4C3A-BDF4-768A0FC47F51}"/>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Each stage asks a different question. People can revisit earlier stages.</a:t>
            </a:r>
          </a:p>
        </p:txBody>
      </p:sp>
      <p:sp>
        <p:nvSpPr>
          <p:cNvPr id="3" name="journey-sequence">
            <a:extLst xmlns:a="http://schemas.openxmlformats.org/drawingml/2006/main">
              <a:ext uri="{FF2B5EF4-FFF2-40B4-BE49-F238E27FC236}">
                <a16:creationId xmlns:a16="http://schemas.microsoft.com/office/drawing/2014/main" id="{55BF1AE8-9C62-4CB5-9103-1731143850F5}"/>
              </a:ext>
            </a:extLst>
          </p:cNvPr>
          <p:cNvSpPr>
            <a:spLocks xmlns:a="http://schemas.openxmlformats.org/drawingml/2006/main" noGrp="1"/>
          </p:cNvSpPr>
          <p:nvPr/>
        </p:nvSpPr>
        <p:spPr>
          <a:xfrm xmlns:a="http://schemas.openxmlformats.org/drawingml/2006/main">
            <a:off x="971550" y="3190875"/>
            <a:ext cx="10134600"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4" name="stage-number-0">
            <a:extLst xmlns:a="http://schemas.openxmlformats.org/drawingml/2006/main">
              <a:ext uri="{FF2B5EF4-FFF2-40B4-BE49-F238E27FC236}">
                <a16:creationId xmlns:a16="http://schemas.microsoft.com/office/drawing/2014/main" id="{265DB719-6D3D-4ACA-A902-4C91723C0A10}"/>
              </a:ext>
            </a:extLst>
          </p:cNvPr>
          <p:cNvSpPr>
            <a:spLocks xmlns:a="http://schemas.openxmlformats.org/drawingml/2006/main" noGrp="1"/>
          </p:cNvSpPr>
          <p:nvPr/>
        </p:nvSpPr>
        <p:spPr>
          <a:xfrm xmlns:a="http://schemas.openxmlformats.org/drawingml/2006/main">
            <a:off x="762000" y="2466975"/>
            <a:ext cx="152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B94B28"/>
                </a:solidFill>
                <a:latin typeface="Arial"/>
                <a:ea typeface="Arial"/>
                <a:cs typeface="Arial"/>
              </a:defRPr>
            </a:defPPr>
            <a:lvl1pPr algn="l">
              <a:defRPr sz="4200" b="1">
                <a:solidFill>
                  <a:srgbClr val="B94B28"/>
                </a:solidFill>
                <a:latin typeface="Arial"/>
                <a:ea typeface="Arial"/>
                <a:cs typeface="Arial"/>
              </a:defRPr>
            </a:lvl1pPr>
            <a:lvl2pPr algn="l">
              <a:defRPr sz="4200" b="1">
                <a:solidFill>
                  <a:srgbClr val="B94B28"/>
                </a:solidFill>
                <a:latin typeface="Arial"/>
                <a:ea typeface="Arial"/>
                <a:cs typeface="Arial"/>
              </a:defRPr>
            </a:lvl2pPr>
            <a:lvl3pPr algn="l">
              <a:defRPr sz="4200" b="1">
                <a:solidFill>
                  <a:srgbClr val="B94B28"/>
                </a:solidFill>
                <a:latin typeface="Arial"/>
                <a:ea typeface="Arial"/>
                <a:cs typeface="Arial"/>
              </a:defRPr>
            </a:lvl3pPr>
            <a:lvl4pPr algn="l">
              <a:defRPr sz="4200" b="1">
                <a:solidFill>
                  <a:srgbClr val="B94B28"/>
                </a:solidFill>
                <a:latin typeface="Arial"/>
                <a:ea typeface="Arial"/>
                <a:cs typeface="Arial"/>
              </a:defRPr>
            </a:lvl4pPr>
            <a:lvl5pPr algn="l">
              <a:defRPr sz="4200" b="1">
                <a:solidFill>
                  <a:srgbClr val="B94B28"/>
                </a:solidFill>
                <a:latin typeface="Arial"/>
                <a:ea typeface="Arial"/>
                <a:cs typeface="Arial"/>
              </a:defRPr>
            </a:lvl5pPr>
            <a:lvl6pPr algn="l">
              <a:defRPr sz="4200" b="1">
                <a:solidFill>
                  <a:srgbClr val="B94B28"/>
                </a:solidFill>
                <a:latin typeface="Arial"/>
                <a:ea typeface="Arial"/>
                <a:cs typeface="Arial"/>
              </a:defRPr>
            </a:lvl6pPr>
            <a:lvl7pPr algn="l">
              <a:defRPr sz="4200" b="1">
                <a:solidFill>
                  <a:srgbClr val="B94B28"/>
                </a:solidFill>
                <a:latin typeface="Arial"/>
                <a:ea typeface="Arial"/>
                <a:cs typeface="Arial"/>
              </a:defRPr>
            </a:lvl7pPr>
            <a:lvl8pPr algn="l">
              <a:defRPr sz="4200" b="1">
                <a:solidFill>
                  <a:srgbClr val="B94B28"/>
                </a:solidFill>
                <a:latin typeface="Arial"/>
                <a:ea typeface="Arial"/>
                <a:cs typeface="Arial"/>
              </a:defRPr>
            </a:lvl8pPr>
            <a:lvl9pPr algn="l">
              <a:defRPr sz="4200" b="1">
                <a:solidFill>
                  <a:srgbClr val="B94B28"/>
                </a:solidFill>
                <a:latin typeface="Arial"/>
                <a:ea typeface="Arial"/>
                <a:cs typeface="Arial"/>
              </a:defRPr>
            </a:lvl9pPr>
          </a:lstStyle>
          <a:p xmlns:a="http://schemas.openxmlformats.org/drawingml/2006/main">
            <a:pPr algn="l">
              <a:defRPr sz="4200" b="1">
                <a:solidFill>
                  <a:srgbClr val="B94B28"/>
                </a:solidFill>
                <a:latin typeface="Arial"/>
                <a:ea typeface="Arial"/>
                <a:cs typeface="Arial"/>
              </a:defRPr>
            </a:pPr>
            <a:r>
              <a:rPr sz="4200" b="1">
                <a:solidFill>
                  <a:srgbClr val="B94B28"/>
                </a:solidFill>
                <a:latin typeface="Arial"/>
                <a:ea typeface="Arial"/>
                <a:cs typeface="Arial"/>
              </a:rPr>
              <a:t>01</a:t>
            </a:r>
          </a:p>
        </p:txBody>
      </p:sp>
      <p:sp>
        <p:nvSpPr>
          <p:cNvPr id="5" name="stage-0">
            <a:extLst xmlns:a="http://schemas.openxmlformats.org/drawingml/2006/main">
              <a:ext uri="{FF2B5EF4-FFF2-40B4-BE49-F238E27FC236}">
                <a16:creationId xmlns:a16="http://schemas.microsoft.com/office/drawing/2014/main" id="{1A7A154B-D558-4477-8BA3-596CC9BE9D9C}"/>
              </a:ext>
            </a:extLst>
          </p:cNvPr>
          <p:cNvSpPr>
            <a:spLocks xmlns:a="http://schemas.openxmlformats.org/drawingml/2006/main" noGrp="1"/>
          </p:cNvSpPr>
          <p:nvPr/>
        </p:nvSpPr>
        <p:spPr>
          <a:xfrm xmlns:a="http://schemas.openxmlformats.org/drawingml/2006/main">
            <a:off x="762000" y="3486150"/>
            <a:ext cx="1571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2D40"/>
                </a:solidFill>
                <a:latin typeface="Arial"/>
                <a:ea typeface="Arial"/>
                <a:cs typeface="Arial"/>
              </a:defRPr>
            </a:defPPr>
            <a:lvl1pPr algn="l">
              <a:defRPr sz="2025" b="1">
                <a:solidFill>
                  <a:srgbClr val="172D40"/>
                </a:solidFill>
                <a:latin typeface="Arial"/>
                <a:ea typeface="Arial"/>
                <a:cs typeface="Arial"/>
              </a:defRPr>
            </a:lvl1pPr>
            <a:lvl2pPr algn="l">
              <a:defRPr sz="2025" b="1">
                <a:solidFill>
                  <a:srgbClr val="172D40"/>
                </a:solidFill>
                <a:latin typeface="Arial"/>
                <a:ea typeface="Arial"/>
                <a:cs typeface="Arial"/>
              </a:defRPr>
            </a:lvl2pPr>
            <a:lvl3pPr algn="l">
              <a:defRPr sz="2025" b="1">
                <a:solidFill>
                  <a:srgbClr val="172D40"/>
                </a:solidFill>
                <a:latin typeface="Arial"/>
                <a:ea typeface="Arial"/>
                <a:cs typeface="Arial"/>
              </a:defRPr>
            </a:lvl3pPr>
            <a:lvl4pPr algn="l">
              <a:defRPr sz="2025" b="1">
                <a:solidFill>
                  <a:srgbClr val="172D40"/>
                </a:solidFill>
                <a:latin typeface="Arial"/>
                <a:ea typeface="Arial"/>
                <a:cs typeface="Arial"/>
              </a:defRPr>
            </a:lvl4pPr>
            <a:lvl5pPr algn="l">
              <a:defRPr sz="2025" b="1">
                <a:solidFill>
                  <a:srgbClr val="172D40"/>
                </a:solidFill>
                <a:latin typeface="Arial"/>
                <a:ea typeface="Arial"/>
                <a:cs typeface="Arial"/>
              </a:defRPr>
            </a:lvl5pPr>
            <a:lvl6pPr algn="l">
              <a:defRPr sz="2025" b="1">
                <a:solidFill>
                  <a:srgbClr val="172D40"/>
                </a:solidFill>
                <a:latin typeface="Arial"/>
                <a:ea typeface="Arial"/>
                <a:cs typeface="Arial"/>
              </a:defRPr>
            </a:lvl6pPr>
            <a:lvl7pPr algn="l">
              <a:defRPr sz="2025" b="1">
                <a:solidFill>
                  <a:srgbClr val="172D40"/>
                </a:solidFill>
                <a:latin typeface="Arial"/>
                <a:ea typeface="Arial"/>
                <a:cs typeface="Arial"/>
              </a:defRPr>
            </a:lvl7pPr>
            <a:lvl8pPr algn="l">
              <a:defRPr sz="2025" b="1">
                <a:solidFill>
                  <a:srgbClr val="172D40"/>
                </a:solidFill>
                <a:latin typeface="Arial"/>
                <a:ea typeface="Arial"/>
                <a:cs typeface="Arial"/>
              </a:defRPr>
            </a:lvl8pPr>
            <a:lvl9pPr algn="l">
              <a:defRPr sz="2025" b="1">
                <a:solidFill>
                  <a:srgbClr val="172D40"/>
                </a:solidFill>
                <a:latin typeface="Arial"/>
                <a:ea typeface="Arial"/>
                <a:cs typeface="Arial"/>
              </a:defRPr>
            </a:lvl9pPr>
          </a:lstStyle>
          <a:p xmlns:a="http://schemas.openxmlformats.org/drawingml/2006/main">
            <a:pPr algn="l">
              <a:defRPr sz="2025" b="1">
                <a:solidFill>
                  <a:srgbClr val="172D40"/>
                </a:solidFill>
                <a:latin typeface="Arial"/>
                <a:ea typeface="Arial"/>
                <a:cs typeface="Arial"/>
              </a:defRPr>
            </a:pPr>
            <a:r>
              <a:rPr sz="2025" b="1">
                <a:solidFill>
                  <a:srgbClr val="172D40"/>
                </a:solidFill>
                <a:latin typeface="Arial"/>
                <a:ea typeface="Arial"/>
                <a:cs typeface="Arial"/>
              </a:rPr>
              <a:t>Discover</a:t>
            </a:r>
          </a:p>
        </p:txBody>
      </p:sp>
      <p:sp>
        <p:nvSpPr>
          <p:cNvPr id="6" name="stage-question-0">
            <a:extLst xmlns:a="http://schemas.openxmlformats.org/drawingml/2006/main">
              <a:ext uri="{FF2B5EF4-FFF2-40B4-BE49-F238E27FC236}">
                <a16:creationId xmlns:a16="http://schemas.microsoft.com/office/drawing/2014/main" id="{EFF4279D-EC85-4594-A6EE-DC4C715E7FED}"/>
              </a:ext>
            </a:extLst>
          </p:cNvPr>
          <p:cNvSpPr>
            <a:spLocks xmlns:a="http://schemas.openxmlformats.org/drawingml/2006/main" noGrp="1"/>
          </p:cNvSpPr>
          <p:nvPr/>
        </p:nvSpPr>
        <p:spPr>
          <a:xfrm xmlns:a="http://schemas.openxmlformats.org/drawingml/2006/main">
            <a:off x="762000" y="4048125"/>
            <a:ext cx="1571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16B"/>
                </a:solidFill>
                <a:latin typeface="Arial"/>
                <a:ea typeface="Arial"/>
                <a:cs typeface="Arial"/>
              </a:defRPr>
            </a:defPPr>
            <a:lvl1pPr algn="l">
              <a:defRPr sz="1875" b="0">
                <a:solidFill>
                  <a:srgbClr val="52616B"/>
                </a:solidFill>
                <a:latin typeface="Arial"/>
                <a:ea typeface="Arial"/>
                <a:cs typeface="Arial"/>
              </a:defRPr>
            </a:lvl1pPr>
            <a:lvl2pPr algn="l">
              <a:defRPr sz="1875" b="0">
                <a:solidFill>
                  <a:srgbClr val="52616B"/>
                </a:solidFill>
                <a:latin typeface="Arial"/>
                <a:ea typeface="Arial"/>
                <a:cs typeface="Arial"/>
              </a:defRPr>
            </a:lvl2pPr>
            <a:lvl3pPr algn="l">
              <a:defRPr sz="1875" b="0">
                <a:solidFill>
                  <a:srgbClr val="52616B"/>
                </a:solidFill>
                <a:latin typeface="Arial"/>
                <a:ea typeface="Arial"/>
                <a:cs typeface="Arial"/>
              </a:defRPr>
            </a:lvl3pPr>
            <a:lvl4pPr algn="l">
              <a:defRPr sz="1875" b="0">
                <a:solidFill>
                  <a:srgbClr val="52616B"/>
                </a:solidFill>
                <a:latin typeface="Arial"/>
                <a:ea typeface="Arial"/>
                <a:cs typeface="Arial"/>
              </a:defRPr>
            </a:lvl4pPr>
            <a:lvl5pPr algn="l">
              <a:defRPr sz="1875" b="0">
                <a:solidFill>
                  <a:srgbClr val="52616B"/>
                </a:solidFill>
                <a:latin typeface="Arial"/>
                <a:ea typeface="Arial"/>
                <a:cs typeface="Arial"/>
              </a:defRPr>
            </a:lvl5pPr>
            <a:lvl6pPr algn="l">
              <a:defRPr sz="1875" b="0">
                <a:solidFill>
                  <a:srgbClr val="52616B"/>
                </a:solidFill>
                <a:latin typeface="Arial"/>
                <a:ea typeface="Arial"/>
                <a:cs typeface="Arial"/>
              </a:defRPr>
            </a:lvl6pPr>
            <a:lvl7pPr algn="l">
              <a:defRPr sz="1875" b="0">
                <a:solidFill>
                  <a:srgbClr val="52616B"/>
                </a:solidFill>
                <a:latin typeface="Arial"/>
                <a:ea typeface="Arial"/>
                <a:cs typeface="Arial"/>
              </a:defRPr>
            </a:lvl7pPr>
            <a:lvl8pPr algn="l">
              <a:defRPr sz="1875" b="0">
                <a:solidFill>
                  <a:srgbClr val="52616B"/>
                </a:solidFill>
                <a:latin typeface="Arial"/>
                <a:ea typeface="Arial"/>
                <a:cs typeface="Arial"/>
              </a:defRPr>
            </a:lvl8pPr>
            <a:lvl9pPr algn="l">
              <a:defRPr sz="1875" b="0">
                <a:solidFill>
                  <a:srgbClr val="52616B"/>
                </a:solidFill>
                <a:latin typeface="Arial"/>
                <a:ea typeface="Arial"/>
                <a:cs typeface="Arial"/>
              </a:defRPr>
            </a:lvl9pPr>
          </a:lstStyle>
          <a:p xmlns:a="http://schemas.openxmlformats.org/drawingml/2006/main">
            <a:pPr algn="l">
              <a:defRPr sz="1875" b="0">
                <a:solidFill>
                  <a:srgbClr val="52616B"/>
                </a:solidFill>
                <a:latin typeface="Arial"/>
                <a:ea typeface="Arial"/>
                <a:cs typeface="Arial"/>
              </a:defRPr>
            </a:pPr>
            <a:r>
              <a:rPr sz="1875" b="0">
                <a:solidFill>
                  <a:srgbClr val="52616B"/>
                </a:solidFill>
                <a:latin typeface="Arial"/>
                <a:ea typeface="Arial"/>
                <a:cs typeface="Arial"/>
              </a:rPr>
              <a:t>Which openings?</a:t>
            </a:r>
          </a:p>
        </p:txBody>
      </p:sp>
      <p:sp>
        <p:nvSpPr>
          <p:cNvPr id="7" name="stage-number-1">
            <a:extLst xmlns:a="http://schemas.openxmlformats.org/drawingml/2006/main">
              <a:ext uri="{FF2B5EF4-FFF2-40B4-BE49-F238E27FC236}">
                <a16:creationId xmlns:a16="http://schemas.microsoft.com/office/drawing/2014/main" id="{83DA578A-5DFA-41CE-BFD1-A61D74E26501}"/>
              </a:ext>
            </a:extLst>
          </p:cNvPr>
          <p:cNvSpPr>
            <a:spLocks xmlns:a="http://schemas.openxmlformats.org/drawingml/2006/main" noGrp="1"/>
          </p:cNvSpPr>
          <p:nvPr/>
        </p:nvSpPr>
        <p:spPr>
          <a:xfrm xmlns:a="http://schemas.openxmlformats.org/drawingml/2006/main">
            <a:off x="2581275" y="2466975"/>
            <a:ext cx="152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B94B28"/>
                </a:solidFill>
                <a:latin typeface="Arial"/>
                <a:ea typeface="Arial"/>
                <a:cs typeface="Arial"/>
              </a:defRPr>
            </a:defPPr>
            <a:lvl1pPr algn="l">
              <a:defRPr sz="4200" b="1">
                <a:solidFill>
                  <a:srgbClr val="B94B28"/>
                </a:solidFill>
                <a:latin typeface="Arial"/>
                <a:ea typeface="Arial"/>
                <a:cs typeface="Arial"/>
              </a:defRPr>
            </a:lvl1pPr>
            <a:lvl2pPr algn="l">
              <a:defRPr sz="4200" b="1">
                <a:solidFill>
                  <a:srgbClr val="B94B28"/>
                </a:solidFill>
                <a:latin typeface="Arial"/>
                <a:ea typeface="Arial"/>
                <a:cs typeface="Arial"/>
              </a:defRPr>
            </a:lvl2pPr>
            <a:lvl3pPr algn="l">
              <a:defRPr sz="4200" b="1">
                <a:solidFill>
                  <a:srgbClr val="B94B28"/>
                </a:solidFill>
                <a:latin typeface="Arial"/>
                <a:ea typeface="Arial"/>
                <a:cs typeface="Arial"/>
              </a:defRPr>
            </a:lvl3pPr>
            <a:lvl4pPr algn="l">
              <a:defRPr sz="4200" b="1">
                <a:solidFill>
                  <a:srgbClr val="B94B28"/>
                </a:solidFill>
                <a:latin typeface="Arial"/>
                <a:ea typeface="Arial"/>
                <a:cs typeface="Arial"/>
              </a:defRPr>
            </a:lvl4pPr>
            <a:lvl5pPr algn="l">
              <a:defRPr sz="4200" b="1">
                <a:solidFill>
                  <a:srgbClr val="B94B28"/>
                </a:solidFill>
                <a:latin typeface="Arial"/>
                <a:ea typeface="Arial"/>
                <a:cs typeface="Arial"/>
              </a:defRPr>
            </a:lvl5pPr>
            <a:lvl6pPr algn="l">
              <a:defRPr sz="4200" b="1">
                <a:solidFill>
                  <a:srgbClr val="B94B28"/>
                </a:solidFill>
                <a:latin typeface="Arial"/>
                <a:ea typeface="Arial"/>
                <a:cs typeface="Arial"/>
              </a:defRPr>
            </a:lvl6pPr>
            <a:lvl7pPr algn="l">
              <a:defRPr sz="4200" b="1">
                <a:solidFill>
                  <a:srgbClr val="B94B28"/>
                </a:solidFill>
                <a:latin typeface="Arial"/>
                <a:ea typeface="Arial"/>
                <a:cs typeface="Arial"/>
              </a:defRPr>
            </a:lvl7pPr>
            <a:lvl8pPr algn="l">
              <a:defRPr sz="4200" b="1">
                <a:solidFill>
                  <a:srgbClr val="B94B28"/>
                </a:solidFill>
                <a:latin typeface="Arial"/>
                <a:ea typeface="Arial"/>
                <a:cs typeface="Arial"/>
              </a:defRPr>
            </a:lvl8pPr>
            <a:lvl9pPr algn="l">
              <a:defRPr sz="4200" b="1">
                <a:solidFill>
                  <a:srgbClr val="B94B28"/>
                </a:solidFill>
                <a:latin typeface="Arial"/>
                <a:ea typeface="Arial"/>
                <a:cs typeface="Arial"/>
              </a:defRPr>
            </a:lvl9pPr>
          </a:lstStyle>
          <a:p xmlns:a="http://schemas.openxmlformats.org/drawingml/2006/main">
            <a:pPr algn="l">
              <a:defRPr sz="4200" b="1">
                <a:solidFill>
                  <a:srgbClr val="B94B28"/>
                </a:solidFill>
                <a:latin typeface="Arial"/>
                <a:ea typeface="Arial"/>
                <a:cs typeface="Arial"/>
              </a:defRPr>
            </a:pPr>
            <a:r>
              <a:rPr sz="4200" b="1">
                <a:solidFill>
                  <a:srgbClr val="B94B28"/>
                </a:solidFill>
                <a:latin typeface="Arial"/>
                <a:ea typeface="Arial"/>
                <a:cs typeface="Arial"/>
              </a:rPr>
              <a:t>02</a:t>
            </a:r>
          </a:p>
        </p:txBody>
      </p:sp>
      <p:sp>
        <p:nvSpPr>
          <p:cNvPr id="8" name="stage-1">
            <a:extLst xmlns:a="http://schemas.openxmlformats.org/drawingml/2006/main">
              <a:ext uri="{FF2B5EF4-FFF2-40B4-BE49-F238E27FC236}">
                <a16:creationId xmlns:a16="http://schemas.microsoft.com/office/drawing/2014/main" id="{6DA77BBB-EF2D-4FE1-A2AE-9E590AC117F8}"/>
              </a:ext>
            </a:extLst>
          </p:cNvPr>
          <p:cNvSpPr>
            <a:spLocks xmlns:a="http://schemas.openxmlformats.org/drawingml/2006/main" noGrp="1"/>
          </p:cNvSpPr>
          <p:nvPr/>
        </p:nvSpPr>
        <p:spPr>
          <a:xfrm xmlns:a="http://schemas.openxmlformats.org/drawingml/2006/main">
            <a:off x="2581275" y="3486150"/>
            <a:ext cx="1571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2D40"/>
                </a:solidFill>
                <a:latin typeface="Arial"/>
                <a:ea typeface="Arial"/>
                <a:cs typeface="Arial"/>
              </a:defRPr>
            </a:defPPr>
            <a:lvl1pPr algn="l">
              <a:defRPr sz="2025" b="1">
                <a:solidFill>
                  <a:srgbClr val="172D40"/>
                </a:solidFill>
                <a:latin typeface="Arial"/>
                <a:ea typeface="Arial"/>
                <a:cs typeface="Arial"/>
              </a:defRPr>
            </a:lvl1pPr>
            <a:lvl2pPr algn="l">
              <a:defRPr sz="2025" b="1">
                <a:solidFill>
                  <a:srgbClr val="172D40"/>
                </a:solidFill>
                <a:latin typeface="Arial"/>
                <a:ea typeface="Arial"/>
                <a:cs typeface="Arial"/>
              </a:defRPr>
            </a:lvl2pPr>
            <a:lvl3pPr algn="l">
              <a:defRPr sz="2025" b="1">
                <a:solidFill>
                  <a:srgbClr val="172D40"/>
                </a:solidFill>
                <a:latin typeface="Arial"/>
                <a:ea typeface="Arial"/>
                <a:cs typeface="Arial"/>
              </a:defRPr>
            </a:lvl3pPr>
            <a:lvl4pPr algn="l">
              <a:defRPr sz="2025" b="1">
                <a:solidFill>
                  <a:srgbClr val="172D40"/>
                </a:solidFill>
                <a:latin typeface="Arial"/>
                <a:ea typeface="Arial"/>
                <a:cs typeface="Arial"/>
              </a:defRPr>
            </a:lvl4pPr>
            <a:lvl5pPr algn="l">
              <a:defRPr sz="2025" b="1">
                <a:solidFill>
                  <a:srgbClr val="172D40"/>
                </a:solidFill>
                <a:latin typeface="Arial"/>
                <a:ea typeface="Arial"/>
                <a:cs typeface="Arial"/>
              </a:defRPr>
            </a:lvl5pPr>
            <a:lvl6pPr algn="l">
              <a:defRPr sz="2025" b="1">
                <a:solidFill>
                  <a:srgbClr val="172D40"/>
                </a:solidFill>
                <a:latin typeface="Arial"/>
                <a:ea typeface="Arial"/>
                <a:cs typeface="Arial"/>
              </a:defRPr>
            </a:lvl6pPr>
            <a:lvl7pPr algn="l">
              <a:defRPr sz="2025" b="1">
                <a:solidFill>
                  <a:srgbClr val="172D40"/>
                </a:solidFill>
                <a:latin typeface="Arial"/>
                <a:ea typeface="Arial"/>
                <a:cs typeface="Arial"/>
              </a:defRPr>
            </a:lvl7pPr>
            <a:lvl8pPr algn="l">
              <a:defRPr sz="2025" b="1">
                <a:solidFill>
                  <a:srgbClr val="172D40"/>
                </a:solidFill>
                <a:latin typeface="Arial"/>
                <a:ea typeface="Arial"/>
                <a:cs typeface="Arial"/>
              </a:defRPr>
            </a:lvl8pPr>
            <a:lvl9pPr algn="l">
              <a:defRPr sz="2025" b="1">
                <a:solidFill>
                  <a:srgbClr val="172D40"/>
                </a:solidFill>
                <a:latin typeface="Arial"/>
                <a:ea typeface="Arial"/>
                <a:cs typeface="Arial"/>
              </a:defRPr>
            </a:lvl9pPr>
          </a:lstStyle>
          <a:p xmlns:a="http://schemas.openxmlformats.org/drawingml/2006/main">
            <a:pPr algn="l">
              <a:defRPr sz="2025" b="1">
                <a:solidFill>
                  <a:srgbClr val="172D40"/>
                </a:solidFill>
                <a:latin typeface="Arial"/>
                <a:ea typeface="Arial"/>
                <a:cs typeface="Arial"/>
              </a:defRPr>
            </a:pPr>
            <a:r>
              <a:rPr sz="2025" b="1">
                <a:solidFill>
                  <a:srgbClr val="172D40"/>
                </a:solidFill>
                <a:latin typeface="Arial"/>
                <a:ea typeface="Arial"/>
                <a:cs typeface="Arial"/>
              </a:rPr>
              <a:t>Assess</a:t>
            </a:r>
          </a:p>
        </p:txBody>
      </p:sp>
      <p:sp>
        <p:nvSpPr>
          <p:cNvPr id="9" name="stage-question-1">
            <a:extLst xmlns:a="http://schemas.openxmlformats.org/drawingml/2006/main">
              <a:ext uri="{FF2B5EF4-FFF2-40B4-BE49-F238E27FC236}">
                <a16:creationId xmlns:a16="http://schemas.microsoft.com/office/drawing/2014/main" id="{3F93CD6D-B9E8-42EB-B657-60C6B6F7265B}"/>
              </a:ext>
            </a:extLst>
          </p:cNvPr>
          <p:cNvSpPr>
            <a:spLocks xmlns:a="http://schemas.openxmlformats.org/drawingml/2006/main" noGrp="1"/>
          </p:cNvSpPr>
          <p:nvPr/>
        </p:nvSpPr>
        <p:spPr>
          <a:xfrm xmlns:a="http://schemas.openxmlformats.org/drawingml/2006/main">
            <a:off x="2581275" y="4048125"/>
            <a:ext cx="1571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16B"/>
                </a:solidFill>
                <a:latin typeface="Arial"/>
                <a:ea typeface="Arial"/>
                <a:cs typeface="Arial"/>
              </a:defRPr>
            </a:defPPr>
            <a:lvl1pPr algn="l">
              <a:defRPr sz="1875" b="0">
                <a:solidFill>
                  <a:srgbClr val="52616B"/>
                </a:solidFill>
                <a:latin typeface="Arial"/>
                <a:ea typeface="Arial"/>
                <a:cs typeface="Arial"/>
              </a:defRPr>
            </a:lvl1pPr>
            <a:lvl2pPr algn="l">
              <a:defRPr sz="1875" b="0">
                <a:solidFill>
                  <a:srgbClr val="52616B"/>
                </a:solidFill>
                <a:latin typeface="Arial"/>
                <a:ea typeface="Arial"/>
                <a:cs typeface="Arial"/>
              </a:defRPr>
            </a:lvl2pPr>
            <a:lvl3pPr algn="l">
              <a:defRPr sz="1875" b="0">
                <a:solidFill>
                  <a:srgbClr val="52616B"/>
                </a:solidFill>
                <a:latin typeface="Arial"/>
                <a:ea typeface="Arial"/>
                <a:cs typeface="Arial"/>
              </a:defRPr>
            </a:lvl3pPr>
            <a:lvl4pPr algn="l">
              <a:defRPr sz="1875" b="0">
                <a:solidFill>
                  <a:srgbClr val="52616B"/>
                </a:solidFill>
                <a:latin typeface="Arial"/>
                <a:ea typeface="Arial"/>
                <a:cs typeface="Arial"/>
              </a:defRPr>
            </a:lvl4pPr>
            <a:lvl5pPr algn="l">
              <a:defRPr sz="1875" b="0">
                <a:solidFill>
                  <a:srgbClr val="52616B"/>
                </a:solidFill>
                <a:latin typeface="Arial"/>
                <a:ea typeface="Arial"/>
                <a:cs typeface="Arial"/>
              </a:defRPr>
            </a:lvl5pPr>
            <a:lvl6pPr algn="l">
              <a:defRPr sz="1875" b="0">
                <a:solidFill>
                  <a:srgbClr val="52616B"/>
                </a:solidFill>
                <a:latin typeface="Arial"/>
                <a:ea typeface="Arial"/>
                <a:cs typeface="Arial"/>
              </a:defRPr>
            </a:lvl6pPr>
            <a:lvl7pPr algn="l">
              <a:defRPr sz="1875" b="0">
                <a:solidFill>
                  <a:srgbClr val="52616B"/>
                </a:solidFill>
                <a:latin typeface="Arial"/>
                <a:ea typeface="Arial"/>
                <a:cs typeface="Arial"/>
              </a:defRPr>
            </a:lvl7pPr>
            <a:lvl8pPr algn="l">
              <a:defRPr sz="1875" b="0">
                <a:solidFill>
                  <a:srgbClr val="52616B"/>
                </a:solidFill>
                <a:latin typeface="Arial"/>
                <a:ea typeface="Arial"/>
                <a:cs typeface="Arial"/>
              </a:defRPr>
            </a:lvl8pPr>
            <a:lvl9pPr algn="l">
              <a:defRPr sz="1875" b="0">
                <a:solidFill>
                  <a:srgbClr val="52616B"/>
                </a:solidFill>
                <a:latin typeface="Arial"/>
                <a:ea typeface="Arial"/>
                <a:cs typeface="Arial"/>
              </a:defRPr>
            </a:lvl9pPr>
          </a:lstStyle>
          <a:p xmlns:a="http://schemas.openxmlformats.org/drawingml/2006/main">
            <a:pPr algn="l">
              <a:defRPr sz="1875" b="0">
                <a:solidFill>
                  <a:srgbClr val="52616B"/>
                </a:solidFill>
                <a:latin typeface="Arial"/>
                <a:ea typeface="Arial"/>
                <a:cs typeface="Arial"/>
              </a:defRPr>
            </a:pPr>
            <a:r>
              <a:rPr sz="1875" b="0">
                <a:solidFill>
                  <a:srgbClr val="52616B"/>
                </a:solidFill>
                <a:latin typeface="Arial"/>
                <a:ea typeface="Arial"/>
                <a:cs typeface="Arial"/>
              </a:rPr>
              <a:t>Genuine and suitable?</a:t>
            </a:r>
          </a:p>
        </p:txBody>
      </p:sp>
      <p:sp>
        <p:nvSpPr>
          <p:cNvPr id="10" name="stage-number-2">
            <a:extLst xmlns:a="http://schemas.openxmlformats.org/drawingml/2006/main">
              <a:ext uri="{FF2B5EF4-FFF2-40B4-BE49-F238E27FC236}">
                <a16:creationId xmlns:a16="http://schemas.microsoft.com/office/drawing/2014/main" id="{522EA7D6-F34B-40A0-9B69-E4989BE579C1}"/>
              </a:ext>
            </a:extLst>
          </p:cNvPr>
          <p:cNvSpPr>
            <a:spLocks xmlns:a="http://schemas.openxmlformats.org/drawingml/2006/main" noGrp="1"/>
          </p:cNvSpPr>
          <p:nvPr/>
        </p:nvSpPr>
        <p:spPr>
          <a:xfrm xmlns:a="http://schemas.openxmlformats.org/drawingml/2006/main">
            <a:off x="4400550" y="2466975"/>
            <a:ext cx="152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B94B28"/>
                </a:solidFill>
                <a:latin typeface="Arial"/>
                <a:ea typeface="Arial"/>
                <a:cs typeface="Arial"/>
              </a:defRPr>
            </a:defPPr>
            <a:lvl1pPr algn="l">
              <a:defRPr sz="4200" b="1">
                <a:solidFill>
                  <a:srgbClr val="B94B28"/>
                </a:solidFill>
                <a:latin typeface="Arial"/>
                <a:ea typeface="Arial"/>
                <a:cs typeface="Arial"/>
              </a:defRPr>
            </a:lvl1pPr>
            <a:lvl2pPr algn="l">
              <a:defRPr sz="4200" b="1">
                <a:solidFill>
                  <a:srgbClr val="B94B28"/>
                </a:solidFill>
                <a:latin typeface="Arial"/>
                <a:ea typeface="Arial"/>
                <a:cs typeface="Arial"/>
              </a:defRPr>
            </a:lvl2pPr>
            <a:lvl3pPr algn="l">
              <a:defRPr sz="4200" b="1">
                <a:solidFill>
                  <a:srgbClr val="B94B28"/>
                </a:solidFill>
                <a:latin typeface="Arial"/>
                <a:ea typeface="Arial"/>
                <a:cs typeface="Arial"/>
              </a:defRPr>
            </a:lvl3pPr>
            <a:lvl4pPr algn="l">
              <a:defRPr sz="4200" b="1">
                <a:solidFill>
                  <a:srgbClr val="B94B28"/>
                </a:solidFill>
                <a:latin typeface="Arial"/>
                <a:ea typeface="Arial"/>
                <a:cs typeface="Arial"/>
              </a:defRPr>
            </a:lvl4pPr>
            <a:lvl5pPr algn="l">
              <a:defRPr sz="4200" b="1">
                <a:solidFill>
                  <a:srgbClr val="B94B28"/>
                </a:solidFill>
                <a:latin typeface="Arial"/>
                <a:ea typeface="Arial"/>
                <a:cs typeface="Arial"/>
              </a:defRPr>
            </a:lvl5pPr>
            <a:lvl6pPr algn="l">
              <a:defRPr sz="4200" b="1">
                <a:solidFill>
                  <a:srgbClr val="B94B28"/>
                </a:solidFill>
                <a:latin typeface="Arial"/>
                <a:ea typeface="Arial"/>
                <a:cs typeface="Arial"/>
              </a:defRPr>
            </a:lvl6pPr>
            <a:lvl7pPr algn="l">
              <a:defRPr sz="4200" b="1">
                <a:solidFill>
                  <a:srgbClr val="B94B28"/>
                </a:solidFill>
                <a:latin typeface="Arial"/>
                <a:ea typeface="Arial"/>
                <a:cs typeface="Arial"/>
              </a:defRPr>
            </a:lvl7pPr>
            <a:lvl8pPr algn="l">
              <a:defRPr sz="4200" b="1">
                <a:solidFill>
                  <a:srgbClr val="B94B28"/>
                </a:solidFill>
                <a:latin typeface="Arial"/>
                <a:ea typeface="Arial"/>
                <a:cs typeface="Arial"/>
              </a:defRPr>
            </a:lvl8pPr>
            <a:lvl9pPr algn="l">
              <a:defRPr sz="4200" b="1">
                <a:solidFill>
                  <a:srgbClr val="B94B28"/>
                </a:solidFill>
                <a:latin typeface="Arial"/>
                <a:ea typeface="Arial"/>
                <a:cs typeface="Arial"/>
              </a:defRPr>
            </a:lvl9pPr>
          </a:lstStyle>
          <a:p xmlns:a="http://schemas.openxmlformats.org/drawingml/2006/main">
            <a:pPr algn="l">
              <a:defRPr sz="4200" b="1">
                <a:solidFill>
                  <a:srgbClr val="B94B28"/>
                </a:solidFill>
                <a:latin typeface="Arial"/>
                <a:ea typeface="Arial"/>
                <a:cs typeface="Arial"/>
              </a:defRPr>
            </a:pPr>
            <a:r>
              <a:rPr sz="4200" b="1">
                <a:solidFill>
                  <a:srgbClr val="B94B28"/>
                </a:solidFill>
                <a:latin typeface="Arial"/>
                <a:ea typeface="Arial"/>
                <a:cs typeface="Arial"/>
              </a:rPr>
              <a:t>03</a:t>
            </a:r>
          </a:p>
        </p:txBody>
      </p:sp>
      <p:sp>
        <p:nvSpPr>
          <p:cNvPr id="11" name="stage-2">
            <a:extLst xmlns:a="http://schemas.openxmlformats.org/drawingml/2006/main">
              <a:ext uri="{FF2B5EF4-FFF2-40B4-BE49-F238E27FC236}">
                <a16:creationId xmlns:a16="http://schemas.microsoft.com/office/drawing/2014/main" id="{974E86CF-2418-4985-9E16-D88D20507DF3}"/>
              </a:ext>
            </a:extLst>
          </p:cNvPr>
          <p:cNvSpPr>
            <a:spLocks xmlns:a="http://schemas.openxmlformats.org/drawingml/2006/main" noGrp="1"/>
          </p:cNvSpPr>
          <p:nvPr/>
        </p:nvSpPr>
        <p:spPr>
          <a:xfrm xmlns:a="http://schemas.openxmlformats.org/drawingml/2006/main">
            <a:off x="4400550" y="3486150"/>
            <a:ext cx="1571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2D40"/>
                </a:solidFill>
                <a:latin typeface="Arial"/>
                <a:ea typeface="Arial"/>
                <a:cs typeface="Arial"/>
              </a:defRPr>
            </a:defPPr>
            <a:lvl1pPr algn="l">
              <a:defRPr sz="2025" b="1">
                <a:solidFill>
                  <a:srgbClr val="172D40"/>
                </a:solidFill>
                <a:latin typeface="Arial"/>
                <a:ea typeface="Arial"/>
                <a:cs typeface="Arial"/>
              </a:defRPr>
            </a:lvl1pPr>
            <a:lvl2pPr algn="l">
              <a:defRPr sz="2025" b="1">
                <a:solidFill>
                  <a:srgbClr val="172D40"/>
                </a:solidFill>
                <a:latin typeface="Arial"/>
                <a:ea typeface="Arial"/>
                <a:cs typeface="Arial"/>
              </a:defRPr>
            </a:lvl2pPr>
            <a:lvl3pPr algn="l">
              <a:defRPr sz="2025" b="1">
                <a:solidFill>
                  <a:srgbClr val="172D40"/>
                </a:solidFill>
                <a:latin typeface="Arial"/>
                <a:ea typeface="Arial"/>
                <a:cs typeface="Arial"/>
              </a:defRPr>
            </a:lvl3pPr>
            <a:lvl4pPr algn="l">
              <a:defRPr sz="2025" b="1">
                <a:solidFill>
                  <a:srgbClr val="172D40"/>
                </a:solidFill>
                <a:latin typeface="Arial"/>
                <a:ea typeface="Arial"/>
                <a:cs typeface="Arial"/>
              </a:defRPr>
            </a:lvl4pPr>
            <a:lvl5pPr algn="l">
              <a:defRPr sz="2025" b="1">
                <a:solidFill>
                  <a:srgbClr val="172D40"/>
                </a:solidFill>
                <a:latin typeface="Arial"/>
                <a:ea typeface="Arial"/>
                <a:cs typeface="Arial"/>
              </a:defRPr>
            </a:lvl5pPr>
            <a:lvl6pPr algn="l">
              <a:defRPr sz="2025" b="1">
                <a:solidFill>
                  <a:srgbClr val="172D40"/>
                </a:solidFill>
                <a:latin typeface="Arial"/>
                <a:ea typeface="Arial"/>
                <a:cs typeface="Arial"/>
              </a:defRPr>
            </a:lvl6pPr>
            <a:lvl7pPr algn="l">
              <a:defRPr sz="2025" b="1">
                <a:solidFill>
                  <a:srgbClr val="172D40"/>
                </a:solidFill>
                <a:latin typeface="Arial"/>
                <a:ea typeface="Arial"/>
                <a:cs typeface="Arial"/>
              </a:defRPr>
            </a:lvl7pPr>
            <a:lvl8pPr algn="l">
              <a:defRPr sz="2025" b="1">
                <a:solidFill>
                  <a:srgbClr val="172D40"/>
                </a:solidFill>
                <a:latin typeface="Arial"/>
                <a:ea typeface="Arial"/>
                <a:cs typeface="Arial"/>
              </a:defRPr>
            </a:lvl8pPr>
            <a:lvl9pPr algn="l">
              <a:defRPr sz="2025" b="1">
                <a:solidFill>
                  <a:srgbClr val="172D40"/>
                </a:solidFill>
                <a:latin typeface="Arial"/>
                <a:ea typeface="Arial"/>
                <a:cs typeface="Arial"/>
              </a:defRPr>
            </a:lvl9pPr>
          </a:lstStyle>
          <a:p xmlns:a="http://schemas.openxmlformats.org/drawingml/2006/main">
            <a:pPr algn="l">
              <a:defRPr sz="2025" b="1">
                <a:solidFill>
                  <a:srgbClr val="172D40"/>
                </a:solidFill>
                <a:latin typeface="Arial"/>
                <a:ea typeface="Arial"/>
                <a:cs typeface="Arial"/>
              </a:defRPr>
            </a:pPr>
            <a:r>
              <a:rPr sz="2025" b="1">
                <a:solidFill>
                  <a:srgbClr val="172D40"/>
                </a:solidFill>
                <a:latin typeface="Arial"/>
                <a:ea typeface="Arial"/>
                <a:cs typeface="Arial"/>
              </a:rPr>
              <a:t>Prepare</a:t>
            </a:r>
          </a:p>
        </p:txBody>
      </p:sp>
      <p:sp>
        <p:nvSpPr>
          <p:cNvPr id="12" name="stage-question-2">
            <a:extLst xmlns:a="http://schemas.openxmlformats.org/drawingml/2006/main">
              <a:ext uri="{FF2B5EF4-FFF2-40B4-BE49-F238E27FC236}">
                <a16:creationId xmlns:a16="http://schemas.microsoft.com/office/drawing/2014/main" id="{6127409F-51E1-4399-86BB-0BAF53F031B3}"/>
              </a:ext>
            </a:extLst>
          </p:cNvPr>
          <p:cNvSpPr>
            <a:spLocks xmlns:a="http://schemas.openxmlformats.org/drawingml/2006/main" noGrp="1"/>
          </p:cNvSpPr>
          <p:nvPr/>
        </p:nvSpPr>
        <p:spPr>
          <a:xfrm xmlns:a="http://schemas.openxmlformats.org/drawingml/2006/main">
            <a:off x="4400550" y="4048125"/>
            <a:ext cx="1571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16B"/>
                </a:solidFill>
                <a:latin typeface="Arial"/>
                <a:ea typeface="Arial"/>
                <a:cs typeface="Arial"/>
              </a:defRPr>
            </a:defPPr>
            <a:lvl1pPr algn="l">
              <a:defRPr sz="1875" b="0">
                <a:solidFill>
                  <a:srgbClr val="52616B"/>
                </a:solidFill>
                <a:latin typeface="Arial"/>
                <a:ea typeface="Arial"/>
                <a:cs typeface="Arial"/>
              </a:defRPr>
            </a:lvl1pPr>
            <a:lvl2pPr algn="l">
              <a:defRPr sz="1875" b="0">
                <a:solidFill>
                  <a:srgbClr val="52616B"/>
                </a:solidFill>
                <a:latin typeface="Arial"/>
                <a:ea typeface="Arial"/>
                <a:cs typeface="Arial"/>
              </a:defRPr>
            </a:lvl2pPr>
            <a:lvl3pPr algn="l">
              <a:defRPr sz="1875" b="0">
                <a:solidFill>
                  <a:srgbClr val="52616B"/>
                </a:solidFill>
                <a:latin typeface="Arial"/>
                <a:ea typeface="Arial"/>
                <a:cs typeface="Arial"/>
              </a:defRPr>
            </a:lvl3pPr>
            <a:lvl4pPr algn="l">
              <a:defRPr sz="1875" b="0">
                <a:solidFill>
                  <a:srgbClr val="52616B"/>
                </a:solidFill>
                <a:latin typeface="Arial"/>
                <a:ea typeface="Arial"/>
                <a:cs typeface="Arial"/>
              </a:defRPr>
            </a:lvl4pPr>
            <a:lvl5pPr algn="l">
              <a:defRPr sz="1875" b="0">
                <a:solidFill>
                  <a:srgbClr val="52616B"/>
                </a:solidFill>
                <a:latin typeface="Arial"/>
                <a:ea typeface="Arial"/>
                <a:cs typeface="Arial"/>
              </a:defRPr>
            </a:lvl5pPr>
            <a:lvl6pPr algn="l">
              <a:defRPr sz="1875" b="0">
                <a:solidFill>
                  <a:srgbClr val="52616B"/>
                </a:solidFill>
                <a:latin typeface="Arial"/>
                <a:ea typeface="Arial"/>
                <a:cs typeface="Arial"/>
              </a:defRPr>
            </a:lvl6pPr>
            <a:lvl7pPr algn="l">
              <a:defRPr sz="1875" b="0">
                <a:solidFill>
                  <a:srgbClr val="52616B"/>
                </a:solidFill>
                <a:latin typeface="Arial"/>
                <a:ea typeface="Arial"/>
                <a:cs typeface="Arial"/>
              </a:defRPr>
            </a:lvl7pPr>
            <a:lvl8pPr algn="l">
              <a:defRPr sz="1875" b="0">
                <a:solidFill>
                  <a:srgbClr val="52616B"/>
                </a:solidFill>
                <a:latin typeface="Arial"/>
                <a:ea typeface="Arial"/>
                <a:cs typeface="Arial"/>
              </a:defRPr>
            </a:lvl8pPr>
            <a:lvl9pPr algn="l">
              <a:defRPr sz="1875" b="0">
                <a:solidFill>
                  <a:srgbClr val="52616B"/>
                </a:solidFill>
                <a:latin typeface="Arial"/>
                <a:ea typeface="Arial"/>
                <a:cs typeface="Arial"/>
              </a:defRPr>
            </a:lvl9pPr>
          </a:lstStyle>
          <a:p xmlns:a="http://schemas.openxmlformats.org/drawingml/2006/main">
            <a:pPr algn="l">
              <a:defRPr sz="1875" b="0">
                <a:solidFill>
                  <a:srgbClr val="52616B"/>
                </a:solidFill>
                <a:latin typeface="Arial"/>
                <a:ea typeface="Arial"/>
                <a:cs typeface="Arial"/>
              </a:defRPr>
            </a:pPr>
            <a:r>
              <a:rPr sz="1875" b="0">
                <a:solidFill>
                  <a:srgbClr val="52616B"/>
                </a:solidFill>
                <a:latin typeface="Arial"/>
                <a:ea typeface="Arial"/>
                <a:cs typeface="Arial"/>
              </a:rPr>
              <a:t>Which real evidence?</a:t>
            </a:r>
          </a:p>
        </p:txBody>
      </p:sp>
      <p:sp>
        <p:nvSpPr>
          <p:cNvPr id="13" name="stage-number-3">
            <a:extLst xmlns:a="http://schemas.openxmlformats.org/drawingml/2006/main">
              <a:ext uri="{FF2B5EF4-FFF2-40B4-BE49-F238E27FC236}">
                <a16:creationId xmlns:a16="http://schemas.microsoft.com/office/drawing/2014/main" id="{4C16701C-B891-452C-8B4B-B226BE598F02}"/>
              </a:ext>
            </a:extLst>
          </p:cNvPr>
          <p:cNvSpPr>
            <a:spLocks xmlns:a="http://schemas.openxmlformats.org/drawingml/2006/main" noGrp="1"/>
          </p:cNvSpPr>
          <p:nvPr/>
        </p:nvSpPr>
        <p:spPr>
          <a:xfrm xmlns:a="http://schemas.openxmlformats.org/drawingml/2006/main">
            <a:off x="6219825" y="2466975"/>
            <a:ext cx="152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B94B28"/>
                </a:solidFill>
                <a:latin typeface="Arial"/>
                <a:ea typeface="Arial"/>
                <a:cs typeface="Arial"/>
              </a:defRPr>
            </a:defPPr>
            <a:lvl1pPr algn="l">
              <a:defRPr sz="4200" b="1">
                <a:solidFill>
                  <a:srgbClr val="B94B28"/>
                </a:solidFill>
                <a:latin typeface="Arial"/>
                <a:ea typeface="Arial"/>
                <a:cs typeface="Arial"/>
              </a:defRPr>
            </a:lvl1pPr>
            <a:lvl2pPr algn="l">
              <a:defRPr sz="4200" b="1">
                <a:solidFill>
                  <a:srgbClr val="B94B28"/>
                </a:solidFill>
                <a:latin typeface="Arial"/>
                <a:ea typeface="Arial"/>
                <a:cs typeface="Arial"/>
              </a:defRPr>
            </a:lvl2pPr>
            <a:lvl3pPr algn="l">
              <a:defRPr sz="4200" b="1">
                <a:solidFill>
                  <a:srgbClr val="B94B28"/>
                </a:solidFill>
                <a:latin typeface="Arial"/>
                <a:ea typeface="Arial"/>
                <a:cs typeface="Arial"/>
              </a:defRPr>
            </a:lvl3pPr>
            <a:lvl4pPr algn="l">
              <a:defRPr sz="4200" b="1">
                <a:solidFill>
                  <a:srgbClr val="B94B28"/>
                </a:solidFill>
                <a:latin typeface="Arial"/>
                <a:ea typeface="Arial"/>
                <a:cs typeface="Arial"/>
              </a:defRPr>
            </a:lvl4pPr>
            <a:lvl5pPr algn="l">
              <a:defRPr sz="4200" b="1">
                <a:solidFill>
                  <a:srgbClr val="B94B28"/>
                </a:solidFill>
                <a:latin typeface="Arial"/>
                <a:ea typeface="Arial"/>
                <a:cs typeface="Arial"/>
              </a:defRPr>
            </a:lvl5pPr>
            <a:lvl6pPr algn="l">
              <a:defRPr sz="4200" b="1">
                <a:solidFill>
                  <a:srgbClr val="B94B28"/>
                </a:solidFill>
                <a:latin typeface="Arial"/>
                <a:ea typeface="Arial"/>
                <a:cs typeface="Arial"/>
              </a:defRPr>
            </a:lvl6pPr>
            <a:lvl7pPr algn="l">
              <a:defRPr sz="4200" b="1">
                <a:solidFill>
                  <a:srgbClr val="B94B28"/>
                </a:solidFill>
                <a:latin typeface="Arial"/>
                <a:ea typeface="Arial"/>
                <a:cs typeface="Arial"/>
              </a:defRPr>
            </a:lvl7pPr>
            <a:lvl8pPr algn="l">
              <a:defRPr sz="4200" b="1">
                <a:solidFill>
                  <a:srgbClr val="B94B28"/>
                </a:solidFill>
                <a:latin typeface="Arial"/>
                <a:ea typeface="Arial"/>
                <a:cs typeface="Arial"/>
              </a:defRPr>
            </a:lvl8pPr>
            <a:lvl9pPr algn="l">
              <a:defRPr sz="4200" b="1">
                <a:solidFill>
                  <a:srgbClr val="B94B28"/>
                </a:solidFill>
                <a:latin typeface="Arial"/>
                <a:ea typeface="Arial"/>
                <a:cs typeface="Arial"/>
              </a:defRPr>
            </a:lvl9pPr>
          </a:lstStyle>
          <a:p xmlns:a="http://schemas.openxmlformats.org/drawingml/2006/main">
            <a:pPr algn="l">
              <a:defRPr sz="4200" b="1">
                <a:solidFill>
                  <a:srgbClr val="B94B28"/>
                </a:solidFill>
                <a:latin typeface="Arial"/>
                <a:ea typeface="Arial"/>
                <a:cs typeface="Arial"/>
              </a:defRPr>
            </a:pPr>
            <a:r>
              <a:rPr sz="4200" b="1">
                <a:solidFill>
                  <a:srgbClr val="B94B28"/>
                </a:solidFill>
                <a:latin typeface="Arial"/>
                <a:ea typeface="Arial"/>
                <a:cs typeface="Arial"/>
              </a:rPr>
              <a:t>04</a:t>
            </a:r>
          </a:p>
        </p:txBody>
      </p:sp>
      <p:sp>
        <p:nvSpPr>
          <p:cNvPr id="14" name="stage-3">
            <a:extLst xmlns:a="http://schemas.openxmlformats.org/drawingml/2006/main">
              <a:ext uri="{FF2B5EF4-FFF2-40B4-BE49-F238E27FC236}">
                <a16:creationId xmlns:a16="http://schemas.microsoft.com/office/drawing/2014/main" id="{5A6E5A46-C888-4046-980E-991C71DEA996}"/>
              </a:ext>
            </a:extLst>
          </p:cNvPr>
          <p:cNvSpPr>
            <a:spLocks xmlns:a="http://schemas.openxmlformats.org/drawingml/2006/main" noGrp="1"/>
          </p:cNvSpPr>
          <p:nvPr/>
        </p:nvSpPr>
        <p:spPr>
          <a:xfrm xmlns:a="http://schemas.openxmlformats.org/drawingml/2006/main">
            <a:off x="6219825" y="3486150"/>
            <a:ext cx="1571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2D40"/>
                </a:solidFill>
                <a:latin typeface="Arial"/>
                <a:ea typeface="Arial"/>
                <a:cs typeface="Arial"/>
              </a:defRPr>
            </a:defPPr>
            <a:lvl1pPr algn="l">
              <a:defRPr sz="2025" b="1">
                <a:solidFill>
                  <a:srgbClr val="172D40"/>
                </a:solidFill>
                <a:latin typeface="Arial"/>
                <a:ea typeface="Arial"/>
                <a:cs typeface="Arial"/>
              </a:defRPr>
            </a:lvl1pPr>
            <a:lvl2pPr algn="l">
              <a:defRPr sz="2025" b="1">
                <a:solidFill>
                  <a:srgbClr val="172D40"/>
                </a:solidFill>
                <a:latin typeface="Arial"/>
                <a:ea typeface="Arial"/>
                <a:cs typeface="Arial"/>
              </a:defRPr>
            </a:lvl2pPr>
            <a:lvl3pPr algn="l">
              <a:defRPr sz="2025" b="1">
                <a:solidFill>
                  <a:srgbClr val="172D40"/>
                </a:solidFill>
                <a:latin typeface="Arial"/>
                <a:ea typeface="Arial"/>
                <a:cs typeface="Arial"/>
              </a:defRPr>
            </a:lvl3pPr>
            <a:lvl4pPr algn="l">
              <a:defRPr sz="2025" b="1">
                <a:solidFill>
                  <a:srgbClr val="172D40"/>
                </a:solidFill>
                <a:latin typeface="Arial"/>
                <a:ea typeface="Arial"/>
                <a:cs typeface="Arial"/>
              </a:defRPr>
            </a:lvl4pPr>
            <a:lvl5pPr algn="l">
              <a:defRPr sz="2025" b="1">
                <a:solidFill>
                  <a:srgbClr val="172D40"/>
                </a:solidFill>
                <a:latin typeface="Arial"/>
                <a:ea typeface="Arial"/>
                <a:cs typeface="Arial"/>
              </a:defRPr>
            </a:lvl5pPr>
            <a:lvl6pPr algn="l">
              <a:defRPr sz="2025" b="1">
                <a:solidFill>
                  <a:srgbClr val="172D40"/>
                </a:solidFill>
                <a:latin typeface="Arial"/>
                <a:ea typeface="Arial"/>
                <a:cs typeface="Arial"/>
              </a:defRPr>
            </a:lvl6pPr>
            <a:lvl7pPr algn="l">
              <a:defRPr sz="2025" b="1">
                <a:solidFill>
                  <a:srgbClr val="172D40"/>
                </a:solidFill>
                <a:latin typeface="Arial"/>
                <a:ea typeface="Arial"/>
                <a:cs typeface="Arial"/>
              </a:defRPr>
            </a:lvl7pPr>
            <a:lvl8pPr algn="l">
              <a:defRPr sz="2025" b="1">
                <a:solidFill>
                  <a:srgbClr val="172D40"/>
                </a:solidFill>
                <a:latin typeface="Arial"/>
                <a:ea typeface="Arial"/>
                <a:cs typeface="Arial"/>
              </a:defRPr>
            </a:lvl8pPr>
            <a:lvl9pPr algn="l">
              <a:defRPr sz="2025" b="1">
                <a:solidFill>
                  <a:srgbClr val="172D40"/>
                </a:solidFill>
                <a:latin typeface="Arial"/>
                <a:ea typeface="Arial"/>
                <a:cs typeface="Arial"/>
              </a:defRPr>
            </a:lvl9pPr>
          </a:lstStyle>
          <a:p xmlns:a="http://schemas.openxmlformats.org/drawingml/2006/main">
            <a:pPr algn="l">
              <a:defRPr sz="2025" b="1">
                <a:solidFill>
                  <a:srgbClr val="172D40"/>
                </a:solidFill>
                <a:latin typeface="Arial"/>
                <a:ea typeface="Arial"/>
                <a:cs typeface="Arial"/>
              </a:defRPr>
            </a:pPr>
            <a:r>
              <a:rPr sz="2025" b="1">
                <a:solidFill>
                  <a:srgbClr val="172D40"/>
                </a:solidFill>
                <a:latin typeface="Arial"/>
                <a:ea typeface="Arial"/>
                <a:cs typeface="Arial"/>
              </a:rPr>
              <a:t>Apply</a:t>
            </a:r>
          </a:p>
        </p:txBody>
      </p:sp>
      <p:sp>
        <p:nvSpPr>
          <p:cNvPr id="15" name="stage-question-3">
            <a:extLst xmlns:a="http://schemas.openxmlformats.org/drawingml/2006/main">
              <a:ext uri="{FF2B5EF4-FFF2-40B4-BE49-F238E27FC236}">
                <a16:creationId xmlns:a16="http://schemas.microsoft.com/office/drawing/2014/main" id="{948BD7FB-0907-43AD-A5BB-4AF885FF1F24}"/>
              </a:ext>
            </a:extLst>
          </p:cNvPr>
          <p:cNvSpPr>
            <a:spLocks xmlns:a="http://schemas.openxmlformats.org/drawingml/2006/main" noGrp="1"/>
          </p:cNvSpPr>
          <p:nvPr/>
        </p:nvSpPr>
        <p:spPr>
          <a:xfrm xmlns:a="http://schemas.openxmlformats.org/drawingml/2006/main">
            <a:off x="6219825" y="4048125"/>
            <a:ext cx="1571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16B"/>
                </a:solidFill>
                <a:latin typeface="Arial"/>
                <a:ea typeface="Arial"/>
                <a:cs typeface="Arial"/>
              </a:defRPr>
            </a:defPPr>
            <a:lvl1pPr algn="l">
              <a:defRPr sz="1875" b="0">
                <a:solidFill>
                  <a:srgbClr val="52616B"/>
                </a:solidFill>
                <a:latin typeface="Arial"/>
                <a:ea typeface="Arial"/>
                <a:cs typeface="Arial"/>
              </a:defRPr>
            </a:lvl1pPr>
            <a:lvl2pPr algn="l">
              <a:defRPr sz="1875" b="0">
                <a:solidFill>
                  <a:srgbClr val="52616B"/>
                </a:solidFill>
                <a:latin typeface="Arial"/>
                <a:ea typeface="Arial"/>
                <a:cs typeface="Arial"/>
              </a:defRPr>
            </a:lvl2pPr>
            <a:lvl3pPr algn="l">
              <a:defRPr sz="1875" b="0">
                <a:solidFill>
                  <a:srgbClr val="52616B"/>
                </a:solidFill>
                <a:latin typeface="Arial"/>
                <a:ea typeface="Arial"/>
                <a:cs typeface="Arial"/>
              </a:defRPr>
            </a:lvl3pPr>
            <a:lvl4pPr algn="l">
              <a:defRPr sz="1875" b="0">
                <a:solidFill>
                  <a:srgbClr val="52616B"/>
                </a:solidFill>
                <a:latin typeface="Arial"/>
                <a:ea typeface="Arial"/>
                <a:cs typeface="Arial"/>
              </a:defRPr>
            </a:lvl4pPr>
            <a:lvl5pPr algn="l">
              <a:defRPr sz="1875" b="0">
                <a:solidFill>
                  <a:srgbClr val="52616B"/>
                </a:solidFill>
                <a:latin typeface="Arial"/>
                <a:ea typeface="Arial"/>
                <a:cs typeface="Arial"/>
              </a:defRPr>
            </a:lvl5pPr>
            <a:lvl6pPr algn="l">
              <a:defRPr sz="1875" b="0">
                <a:solidFill>
                  <a:srgbClr val="52616B"/>
                </a:solidFill>
                <a:latin typeface="Arial"/>
                <a:ea typeface="Arial"/>
                <a:cs typeface="Arial"/>
              </a:defRPr>
            </a:lvl6pPr>
            <a:lvl7pPr algn="l">
              <a:defRPr sz="1875" b="0">
                <a:solidFill>
                  <a:srgbClr val="52616B"/>
                </a:solidFill>
                <a:latin typeface="Arial"/>
                <a:ea typeface="Arial"/>
                <a:cs typeface="Arial"/>
              </a:defRPr>
            </a:lvl7pPr>
            <a:lvl8pPr algn="l">
              <a:defRPr sz="1875" b="0">
                <a:solidFill>
                  <a:srgbClr val="52616B"/>
                </a:solidFill>
                <a:latin typeface="Arial"/>
                <a:ea typeface="Arial"/>
                <a:cs typeface="Arial"/>
              </a:defRPr>
            </a:lvl8pPr>
            <a:lvl9pPr algn="l">
              <a:defRPr sz="1875" b="0">
                <a:solidFill>
                  <a:srgbClr val="52616B"/>
                </a:solidFill>
                <a:latin typeface="Arial"/>
                <a:ea typeface="Arial"/>
                <a:cs typeface="Arial"/>
              </a:defRPr>
            </a:lvl9pPr>
          </a:lstStyle>
          <a:p xmlns:a="http://schemas.openxmlformats.org/drawingml/2006/main">
            <a:pPr algn="l">
              <a:defRPr sz="1875" b="0">
                <a:solidFill>
                  <a:srgbClr val="52616B"/>
                </a:solidFill>
                <a:latin typeface="Arial"/>
                <a:ea typeface="Arial"/>
                <a:cs typeface="Arial"/>
              </a:defRPr>
            </a:pPr>
            <a:r>
              <a:rPr sz="1875" b="0">
                <a:solidFill>
                  <a:srgbClr val="52616B"/>
                </a:solidFill>
                <a:latin typeface="Arial"/>
                <a:ea typeface="Arial"/>
                <a:cs typeface="Arial"/>
              </a:rPr>
              <a:t>What did I submit?</a:t>
            </a:r>
          </a:p>
        </p:txBody>
      </p:sp>
      <p:sp>
        <p:nvSpPr>
          <p:cNvPr id="16" name="stage-number-4">
            <a:extLst xmlns:a="http://schemas.openxmlformats.org/drawingml/2006/main">
              <a:ext uri="{FF2B5EF4-FFF2-40B4-BE49-F238E27FC236}">
                <a16:creationId xmlns:a16="http://schemas.microsoft.com/office/drawing/2014/main" id="{9C8E9221-4A97-440D-A020-5D011E499938}"/>
              </a:ext>
            </a:extLst>
          </p:cNvPr>
          <p:cNvSpPr>
            <a:spLocks xmlns:a="http://schemas.openxmlformats.org/drawingml/2006/main" noGrp="1"/>
          </p:cNvSpPr>
          <p:nvPr/>
        </p:nvSpPr>
        <p:spPr>
          <a:xfrm xmlns:a="http://schemas.openxmlformats.org/drawingml/2006/main">
            <a:off x="8039100" y="2466975"/>
            <a:ext cx="152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B94B28"/>
                </a:solidFill>
                <a:latin typeface="Arial"/>
                <a:ea typeface="Arial"/>
                <a:cs typeface="Arial"/>
              </a:defRPr>
            </a:defPPr>
            <a:lvl1pPr algn="l">
              <a:defRPr sz="4200" b="1">
                <a:solidFill>
                  <a:srgbClr val="B94B28"/>
                </a:solidFill>
                <a:latin typeface="Arial"/>
                <a:ea typeface="Arial"/>
                <a:cs typeface="Arial"/>
              </a:defRPr>
            </a:lvl1pPr>
            <a:lvl2pPr algn="l">
              <a:defRPr sz="4200" b="1">
                <a:solidFill>
                  <a:srgbClr val="B94B28"/>
                </a:solidFill>
                <a:latin typeface="Arial"/>
                <a:ea typeface="Arial"/>
                <a:cs typeface="Arial"/>
              </a:defRPr>
            </a:lvl2pPr>
            <a:lvl3pPr algn="l">
              <a:defRPr sz="4200" b="1">
                <a:solidFill>
                  <a:srgbClr val="B94B28"/>
                </a:solidFill>
                <a:latin typeface="Arial"/>
                <a:ea typeface="Arial"/>
                <a:cs typeface="Arial"/>
              </a:defRPr>
            </a:lvl3pPr>
            <a:lvl4pPr algn="l">
              <a:defRPr sz="4200" b="1">
                <a:solidFill>
                  <a:srgbClr val="B94B28"/>
                </a:solidFill>
                <a:latin typeface="Arial"/>
                <a:ea typeface="Arial"/>
                <a:cs typeface="Arial"/>
              </a:defRPr>
            </a:lvl4pPr>
            <a:lvl5pPr algn="l">
              <a:defRPr sz="4200" b="1">
                <a:solidFill>
                  <a:srgbClr val="B94B28"/>
                </a:solidFill>
                <a:latin typeface="Arial"/>
                <a:ea typeface="Arial"/>
                <a:cs typeface="Arial"/>
              </a:defRPr>
            </a:lvl5pPr>
            <a:lvl6pPr algn="l">
              <a:defRPr sz="4200" b="1">
                <a:solidFill>
                  <a:srgbClr val="B94B28"/>
                </a:solidFill>
                <a:latin typeface="Arial"/>
                <a:ea typeface="Arial"/>
                <a:cs typeface="Arial"/>
              </a:defRPr>
            </a:lvl6pPr>
            <a:lvl7pPr algn="l">
              <a:defRPr sz="4200" b="1">
                <a:solidFill>
                  <a:srgbClr val="B94B28"/>
                </a:solidFill>
                <a:latin typeface="Arial"/>
                <a:ea typeface="Arial"/>
                <a:cs typeface="Arial"/>
              </a:defRPr>
            </a:lvl7pPr>
            <a:lvl8pPr algn="l">
              <a:defRPr sz="4200" b="1">
                <a:solidFill>
                  <a:srgbClr val="B94B28"/>
                </a:solidFill>
                <a:latin typeface="Arial"/>
                <a:ea typeface="Arial"/>
                <a:cs typeface="Arial"/>
              </a:defRPr>
            </a:lvl8pPr>
            <a:lvl9pPr algn="l">
              <a:defRPr sz="4200" b="1">
                <a:solidFill>
                  <a:srgbClr val="B94B28"/>
                </a:solidFill>
                <a:latin typeface="Arial"/>
                <a:ea typeface="Arial"/>
                <a:cs typeface="Arial"/>
              </a:defRPr>
            </a:lvl9pPr>
          </a:lstStyle>
          <a:p xmlns:a="http://schemas.openxmlformats.org/drawingml/2006/main">
            <a:pPr algn="l">
              <a:defRPr sz="4200" b="1">
                <a:solidFill>
                  <a:srgbClr val="B94B28"/>
                </a:solidFill>
                <a:latin typeface="Arial"/>
                <a:ea typeface="Arial"/>
                <a:cs typeface="Arial"/>
              </a:defRPr>
            </a:pPr>
            <a:r>
              <a:rPr sz="4200" b="1">
                <a:solidFill>
                  <a:srgbClr val="B94B28"/>
                </a:solidFill>
                <a:latin typeface="Arial"/>
                <a:ea typeface="Arial"/>
                <a:cs typeface="Arial"/>
              </a:rPr>
              <a:t>05</a:t>
            </a:r>
          </a:p>
        </p:txBody>
      </p:sp>
      <p:sp>
        <p:nvSpPr>
          <p:cNvPr id="17" name="stage-4">
            <a:extLst xmlns:a="http://schemas.openxmlformats.org/drawingml/2006/main">
              <a:ext uri="{FF2B5EF4-FFF2-40B4-BE49-F238E27FC236}">
                <a16:creationId xmlns:a16="http://schemas.microsoft.com/office/drawing/2014/main" id="{CADF06F1-5CF9-4A32-8083-182648908DA2}"/>
              </a:ext>
            </a:extLst>
          </p:cNvPr>
          <p:cNvSpPr>
            <a:spLocks xmlns:a="http://schemas.openxmlformats.org/drawingml/2006/main" noGrp="1"/>
          </p:cNvSpPr>
          <p:nvPr/>
        </p:nvSpPr>
        <p:spPr>
          <a:xfrm xmlns:a="http://schemas.openxmlformats.org/drawingml/2006/main">
            <a:off x="8039100" y="3486150"/>
            <a:ext cx="1571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2D40"/>
                </a:solidFill>
                <a:latin typeface="Arial"/>
                <a:ea typeface="Arial"/>
                <a:cs typeface="Arial"/>
              </a:defRPr>
            </a:defPPr>
            <a:lvl1pPr algn="l">
              <a:defRPr sz="2025" b="1">
                <a:solidFill>
                  <a:srgbClr val="172D40"/>
                </a:solidFill>
                <a:latin typeface="Arial"/>
                <a:ea typeface="Arial"/>
                <a:cs typeface="Arial"/>
              </a:defRPr>
            </a:lvl1pPr>
            <a:lvl2pPr algn="l">
              <a:defRPr sz="2025" b="1">
                <a:solidFill>
                  <a:srgbClr val="172D40"/>
                </a:solidFill>
                <a:latin typeface="Arial"/>
                <a:ea typeface="Arial"/>
                <a:cs typeface="Arial"/>
              </a:defRPr>
            </a:lvl2pPr>
            <a:lvl3pPr algn="l">
              <a:defRPr sz="2025" b="1">
                <a:solidFill>
                  <a:srgbClr val="172D40"/>
                </a:solidFill>
                <a:latin typeface="Arial"/>
                <a:ea typeface="Arial"/>
                <a:cs typeface="Arial"/>
              </a:defRPr>
            </a:lvl3pPr>
            <a:lvl4pPr algn="l">
              <a:defRPr sz="2025" b="1">
                <a:solidFill>
                  <a:srgbClr val="172D40"/>
                </a:solidFill>
                <a:latin typeface="Arial"/>
                <a:ea typeface="Arial"/>
                <a:cs typeface="Arial"/>
              </a:defRPr>
            </a:lvl4pPr>
            <a:lvl5pPr algn="l">
              <a:defRPr sz="2025" b="1">
                <a:solidFill>
                  <a:srgbClr val="172D40"/>
                </a:solidFill>
                <a:latin typeface="Arial"/>
                <a:ea typeface="Arial"/>
                <a:cs typeface="Arial"/>
              </a:defRPr>
            </a:lvl5pPr>
            <a:lvl6pPr algn="l">
              <a:defRPr sz="2025" b="1">
                <a:solidFill>
                  <a:srgbClr val="172D40"/>
                </a:solidFill>
                <a:latin typeface="Arial"/>
                <a:ea typeface="Arial"/>
                <a:cs typeface="Arial"/>
              </a:defRPr>
            </a:lvl6pPr>
            <a:lvl7pPr algn="l">
              <a:defRPr sz="2025" b="1">
                <a:solidFill>
                  <a:srgbClr val="172D40"/>
                </a:solidFill>
                <a:latin typeface="Arial"/>
                <a:ea typeface="Arial"/>
                <a:cs typeface="Arial"/>
              </a:defRPr>
            </a:lvl7pPr>
            <a:lvl8pPr algn="l">
              <a:defRPr sz="2025" b="1">
                <a:solidFill>
                  <a:srgbClr val="172D40"/>
                </a:solidFill>
                <a:latin typeface="Arial"/>
                <a:ea typeface="Arial"/>
                <a:cs typeface="Arial"/>
              </a:defRPr>
            </a:lvl8pPr>
            <a:lvl9pPr algn="l">
              <a:defRPr sz="2025" b="1">
                <a:solidFill>
                  <a:srgbClr val="172D40"/>
                </a:solidFill>
                <a:latin typeface="Arial"/>
                <a:ea typeface="Arial"/>
                <a:cs typeface="Arial"/>
              </a:defRPr>
            </a:lvl9pPr>
          </a:lstStyle>
          <a:p xmlns:a="http://schemas.openxmlformats.org/drawingml/2006/main">
            <a:pPr algn="l">
              <a:defRPr sz="2025" b="1">
                <a:solidFill>
                  <a:srgbClr val="172D40"/>
                </a:solidFill>
                <a:latin typeface="Arial"/>
                <a:ea typeface="Arial"/>
                <a:cs typeface="Arial"/>
              </a:defRPr>
            </a:pPr>
            <a:r>
              <a:rPr sz="2025" b="1">
                <a:solidFill>
                  <a:srgbClr val="172D40"/>
                </a:solidFill>
                <a:latin typeface="Arial"/>
                <a:ea typeface="Arial"/>
                <a:cs typeface="Arial"/>
              </a:rPr>
              <a:t>Interview</a:t>
            </a:r>
          </a:p>
        </p:txBody>
      </p:sp>
      <p:sp>
        <p:nvSpPr>
          <p:cNvPr id="18" name="stage-question-4">
            <a:extLst xmlns:a="http://schemas.openxmlformats.org/drawingml/2006/main">
              <a:ext uri="{FF2B5EF4-FFF2-40B4-BE49-F238E27FC236}">
                <a16:creationId xmlns:a16="http://schemas.microsoft.com/office/drawing/2014/main" id="{971DF95A-1CFC-440E-94F5-C5719BA42CD7}"/>
              </a:ext>
            </a:extLst>
          </p:cNvPr>
          <p:cNvSpPr>
            <a:spLocks xmlns:a="http://schemas.openxmlformats.org/drawingml/2006/main" noGrp="1"/>
          </p:cNvSpPr>
          <p:nvPr/>
        </p:nvSpPr>
        <p:spPr>
          <a:xfrm xmlns:a="http://schemas.openxmlformats.org/drawingml/2006/main">
            <a:off x="8039100" y="4048125"/>
            <a:ext cx="1571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16B"/>
                </a:solidFill>
                <a:latin typeface="Arial"/>
                <a:ea typeface="Arial"/>
                <a:cs typeface="Arial"/>
              </a:defRPr>
            </a:defPPr>
            <a:lvl1pPr algn="l">
              <a:defRPr sz="1875" b="0">
                <a:solidFill>
                  <a:srgbClr val="52616B"/>
                </a:solidFill>
                <a:latin typeface="Arial"/>
                <a:ea typeface="Arial"/>
                <a:cs typeface="Arial"/>
              </a:defRPr>
            </a:lvl1pPr>
            <a:lvl2pPr algn="l">
              <a:defRPr sz="1875" b="0">
                <a:solidFill>
                  <a:srgbClr val="52616B"/>
                </a:solidFill>
                <a:latin typeface="Arial"/>
                <a:ea typeface="Arial"/>
                <a:cs typeface="Arial"/>
              </a:defRPr>
            </a:lvl2pPr>
            <a:lvl3pPr algn="l">
              <a:defRPr sz="1875" b="0">
                <a:solidFill>
                  <a:srgbClr val="52616B"/>
                </a:solidFill>
                <a:latin typeface="Arial"/>
                <a:ea typeface="Arial"/>
                <a:cs typeface="Arial"/>
              </a:defRPr>
            </a:lvl3pPr>
            <a:lvl4pPr algn="l">
              <a:defRPr sz="1875" b="0">
                <a:solidFill>
                  <a:srgbClr val="52616B"/>
                </a:solidFill>
                <a:latin typeface="Arial"/>
                <a:ea typeface="Arial"/>
                <a:cs typeface="Arial"/>
              </a:defRPr>
            </a:lvl4pPr>
            <a:lvl5pPr algn="l">
              <a:defRPr sz="1875" b="0">
                <a:solidFill>
                  <a:srgbClr val="52616B"/>
                </a:solidFill>
                <a:latin typeface="Arial"/>
                <a:ea typeface="Arial"/>
                <a:cs typeface="Arial"/>
              </a:defRPr>
            </a:lvl5pPr>
            <a:lvl6pPr algn="l">
              <a:defRPr sz="1875" b="0">
                <a:solidFill>
                  <a:srgbClr val="52616B"/>
                </a:solidFill>
                <a:latin typeface="Arial"/>
                <a:ea typeface="Arial"/>
                <a:cs typeface="Arial"/>
              </a:defRPr>
            </a:lvl6pPr>
            <a:lvl7pPr algn="l">
              <a:defRPr sz="1875" b="0">
                <a:solidFill>
                  <a:srgbClr val="52616B"/>
                </a:solidFill>
                <a:latin typeface="Arial"/>
                <a:ea typeface="Arial"/>
                <a:cs typeface="Arial"/>
              </a:defRPr>
            </a:lvl7pPr>
            <a:lvl8pPr algn="l">
              <a:defRPr sz="1875" b="0">
                <a:solidFill>
                  <a:srgbClr val="52616B"/>
                </a:solidFill>
                <a:latin typeface="Arial"/>
                <a:ea typeface="Arial"/>
                <a:cs typeface="Arial"/>
              </a:defRPr>
            </a:lvl8pPr>
            <a:lvl9pPr algn="l">
              <a:defRPr sz="1875" b="0">
                <a:solidFill>
                  <a:srgbClr val="52616B"/>
                </a:solidFill>
                <a:latin typeface="Arial"/>
                <a:ea typeface="Arial"/>
                <a:cs typeface="Arial"/>
              </a:defRPr>
            </a:lvl9pPr>
          </a:lstStyle>
          <a:p xmlns:a="http://schemas.openxmlformats.org/drawingml/2006/main">
            <a:pPr algn="l">
              <a:defRPr sz="1875" b="0">
                <a:solidFill>
                  <a:srgbClr val="52616B"/>
                </a:solidFill>
                <a:latin typeface="Arial"/>
                <a:ea typeface="Arial"/>
                <a:cs typeface="Arial"/>
              </a:defRPr>
            </a:pPr>
            <a:r>
              <a:rPr sz="1875" b="0">
                <a:solidFill>
                  <a:srgbClr val="52616B"/>
                </a:solidFill>
                <a:latin typeface="Arial"/>
                <a:ea typeface="Arial"/>
                <a:cs typeface="Arial"/>
              </a:rPr>
              <a:t>Can I explain it?</a:t>
            </a:r>
          </a:p>
        </p:txBody>
      </p:sp>
      <p:sp>
        <p:nvSpPr>
          <p:cNvPr id="19" name="stage-number-5">
            <a:extLst xmlns:a="http://schemas.openxmlformats.org/drawingml/2006/main">
              <a:ext uri="{FF2B5EF4-FFF2-40B4-BE49-F238E27FC236}">
                <a16:creationId xmlns:a16="http://schemas.microsoft.com/office/drawing/2014/main" id="{CBEE811E-0766-41B4-B997-4AB5F123EBEF}"/>
              </a:ext>
            </a:extLst>
          </p:cNvPr>
          <p:cNvSpPr>
            <a:spLocks xmlns:a="http://schemas.openxmlformats.org/drawingml/2006/main" noGrp="1"/>
          </p:cNvSpPr>
          <p:nvPr/>
        </p:nvSpPr>
        <p:spPr>
          <a:xfrm xmlns:a="http://schemas.openxmlformats.org/drawingml/2006/main">
            <a:off x="9858375" y="2466975"/>
            <a:ext cx="152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B94B28"/>
                </a:solidFill>
                <a:latin typeface="Arial"/>
                <a:ea typeface="Arial"/>
                <a:cs typeface="Arial"/>
              </a:defRPr>
            </a:defPPr>
            <a:lvl1pPr algn="l">
              <a:defRPr sz="4200" b="1">
                <a:solidFill>
                  <a:srgbClr val="B94B28"/>
                </a:solidFill>
                <a:latin typeface="Arial"/>
                <a:ea typeface="Arial"/>
                <a:cs typeface="Arial"/>
              </a:defRPr>
            </a:lvl1pPr>
            <a:lvl2pPr algn="l">
              <a:defRPr sz="4200" b="1">
                <a:solidFill>
                  <a:srgbClr val="B94B28"/>
                </a:solidFill>
                <a:latin typeface="Arial"/>
                <a:ea typeface="Arial"/>
                <a:cs typeface="Arial"/>
              </a:defRPr>
            </a:lvl2pPr>
            <a:lvl3pPr algn="l">
              <a:defRPr sz="4200" b="1">
                <a:solidFill>
                  <a:srgbClr val="B94B28"/>
                </a:solidFill>
                <a:latin typeface="Arial"/>
                <a:ea typeface="Arial"/>
                <a:cs typeface="Arial"/>
              </a:defRPr>
            </a:lvl3pPr>
            <a:lvl4pPr algn="l">
              <a:defRPr sz="4200" b="1">
                <a:solidFill>
                  <a:srgbClr val="B94B28"/>
                </a:solidFill>
                <a:latin typeface="Arial"/>
                <a:ea typeface="Arial"/>
                <a:cs typeface="Arial"/>
              </a:defRPr>
            </a:lvl4pPr>
            <a:lvl5pPr algn="l">
              <a:defRPr sz="4200" b="1">
                <a:solidFill>
                  <a:srgbClr val="B94B28"/>
                </a:solidFill>
                <a:latin typeface="Arial"/>
                <a:ea typeface="Arial"/>
                <a:cs typeface="Arial"/>
              </a:defRPr>
            </a:lvl5pPr>
            <a:lvl6pPr algn="l">
              <a:defRPr sz="4200" b="1">
                <a:solidFill>
                  <a:srgbClr val="B94B28"/>
                </a:solidFill>
                <a:latin typeface="Arial"/>
                <a:ea typeface="Arial"/>
                <a:cs typeface="Arial"/>
              </a:defRPr>
            </a:lvl6pPr>
            <a:lvl7pPr algn="l">
              <a:defRPr sz="4200" b="1">
                <a:solidFill>
                  <a:srgbClr val="B94B28"/>
                </a:solidFill>
                <a:latin typeface="Arial"/>
                <a:ea typeface="Arial"/>
                <a:cs typeface="Arial"/>
              </a:defRPr>
            </a:lvl7pPr>
            <a:lvl8pPr algn="l">
              <a:defRPr sz="4200" b="1">
                <a:solidFill>
                  <a:srgbClr val="B94B28"/>
                </a:solidFill>
                <a:latin typeface="Arial"/>
                <a:ea typeface="Arial"/>
                <a:cs typeface="Arial"/>
              </a:defRPr>
            </a:lvl8pPr>
            <a:lvl9pPr algn="l">
              <a:defRPr sz="4200" b="1">
                <a:solidFill>
                  <a:srgbClr val="B94B28"/>
                </a:solidFill>
                <a:latin typeface="Arial"/>
                <a:ea typeface="Arial"/>
                <a:cs typeface="Arial"/>
              </a:defRPr>
            </a:lvl9pPr>
          </a:lstStyle>
          <a:p xmlns:a="http://schemas.openxmlformats.org/drawingml/2006/main">
            <a:pPr algn="l">
              <a:defRPr sz="4200" b="1">
                <a:solidFill>
                  <a:srgbClr val="B94B28"/>
                </a:solidFill>
                <a:latin typeface="Arial"/>
                <a:ea typeface="Arial"/>
                <a:cs typeface="Arial"/>
              </a:defRPr>
            </a:pPr>
            <a:r>
              <a:rPr sz="4200" b="1">
                <a:solidFill>
                  <a:srgbClr val="B94B28"/>
                </a:solidFill>
                <a:latin typeface="Arial"/>
                <a:ea typeface="Arial"/>
                <a:cs typeface="Arial"/>
              </a:rPr>
              <a:t>06</a:t>
            </a:r>
          </a:p>
        </p:txBody>
      </p:sp>
      <p:sp>
        <p:nvSpPr>
          <p:cNvPr id="20" name="stage-5">
            <a:extLst xmlns:a="http://schemas.openxmlformats.org/drawingml/2006/main">
              <a:ext uri="{FF2B5EF4-FFF2-40B4-BE49-F238E27FC236}">
                <a16:creationId xmlns:a16="http://schemas.microsoft.com/office/drawing/2014/main" id="{8024CF6F-D5E3-439B-B700-718BEC854E8C}"/>
              </a:ext>
            </a:extLst>
          </p:cNvPr>
          <p:cNvSpPr>
            <a:spLocks xmlns:a="http://schemas.openxmlformats.org/drawingml/2006/main" noGrp="1"/>
          </p:cNvSpPr>
          <p:nvPr/>
        </p:nvSpPr>
        <p:spPr>
          <a:xfrm xmlns:a="http://schemas.openxmlformats.org/drawingml/2006/main">
            <a:off x="9858375" y="3486150"/>
            <a:ext cx="1571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2D40"/>
                </a:solidFill>
                <a:latin typeface="Arial"/>
                <a:ea typeface="Arial"/>
                <a:cs typeface="Arial"/>
              </a:defRPr>
            </a:defPPr>
            <a:lvl1pPr algn="l">
              <a:defRPr sz="2025" b="1">
                <a:solidFill>
                  <a:srgbClr val="172D40"/>
                </a:solidFill>
                <a:latin typeface="Arial"/>
                <a:ea typeface="Arial"/>
                <a:cs typeface="Arial"/>
              </a:defRPr>
            </a:lvl1pPr>
            <a:lvl2pPr algn="l">
              <a:defRPr sz="2025" b="1">
                <a:solidFill>
                  <a:srgbClr val="172D40"/>
                </a:solidFill>
                <a:latin typeface="Arial"/>
                <a:ea typeface="Arial"/>
                <a:cs typeface="Arial"/>
              </a:defRPr>
            </a:lvl2pPr>
            <a:lvl3pPr algn="l">
              <a:defRPr sz="2025" b="1">
                <a:solidFill>
                  <a:srgbClr val="172D40"/>
                </a:solidFill>
                <a:latin typeface="Arial"/>
                <a:ea typeface="Arial"/>
                <a:cs typeface="Arial"/>
              </a:defRPr>
            </a:lvl3pPr>
            <a:lvl4pPr algn="l">
              <a:defRPr sz="2025" b="1">
                <a:solidFill>
                  <a:srgbClr val="172D40"/>
                </a:solidFill>
                <a:latin typeface="Arial"/>
                <a:ea typeface="Arial"/>
                <a:cs typeface="Arial"/>
              </a:defRPr>
            </a:lvl4pPr>
            <a:lvl5pPr algn="l">
              <a:defRPr sz="2025" b="1">
                <a:solidFill>
                  <a:srgbClr val="172D40"/>
                </a:solidFill>
                <a:latin typeface="Arial"/>
                <a:ea typeface="Arial"/>
                <a:cs typeface="Arial"/>
              </a:defRPr>
            </a:lvl5pPr>
            <a:lvl6pPr algn="l">
              <a:defRPr sz="2025" b="1">
                <a:solidFill>
                  <a:srgbClr val="172D40"/>
                </a:solidFill>
                <a:latin typeface="Arial"/>
                <a:ea typeface="Arial"/>
                <a:cs typeface="Arial"/>
              </a:defRPr>
            </a:lvl6pPr>
            <a:lvl7pPr algn="l">
              <a:defRPr sz="2025" b="1">
                <a:solidFill>
                  <a:srgbClr val="172D40"/>
                </a:solidFill>
                <a:latin typeface="Arial"/>
                <a:ea typeface="Arial"/>
                <a:cs typeface="Arial"/>
              </a:defRPr>
            </a:lvl7pPr>
            <a:lvl8pPr algn="l">
              <a:defRPr sz="2025" b="1">
                <a:solidFill>
                  <a:srgbClr val="172D40"/>
                </a:solidFill>
                <a:latin typeface="Arial"/>
                <a:ea typeface="Arial"/>
                <a:cs typeface="Arial"/>
              </a:defRPr>
            </a:lvl8pPr>
            <a:lvl9pPr algn="l">
              <a:defRPr sz="2025" b="1">
                <a:solidFill>
                  <a:srgbClr val="172D40"/>
                </a:solidFill>
                <a:latin typeface="Arial"/>
                <a:ea typeface="Arial"/>
                <a:cs typeface="Arial"/>
              </a:defRPr>
            </a:lvl9pPr>
          </a:lstStyle>
          <a:p xmlns:a="http://schemas.openxmlformats.org/drawingml/2006/main">
            <a:pPr algn="l">
              <a:defRPr sz="2025" b="1">
                <a:solidFill>
                  <a:srgbClr val="172D40"/>
                </a:solidFill>
                <a:latin typeface="Arial"/>
                <a:ea typeface="Arial"/>
                <a:cs typeface="Arial"/>
              </a:defRPr>
            </a:pPr>
            <a:r>
              <a:rPr sz="2025" b="1">
                <a:solidFill>
                  <a:srgbClr val="172D40"/>
                </a:solidFill>
                <a:latin typeface="Arial"/>
                <a:ea typeface="Arial"/>
                <a:cs typeface="Arial"/>
              </a:rPr>
              <a:t>Decide</a:t>
            </a:r>
          </a:p>
        </p:txBody>
      </p:sp>
      <p:sp>
        <p:nvSpPr>
          <p:cNvPr id="21" name="stage-question-5">
            <a:extLst xmlns:a="http://schemas.openxmlformats.org/drawingml/2006/main">
              <a:ext uri="{FF2B5EF4-FFF2-40B4-BE49-F238E27FC236}">
                <a16:creationId xmlns:a16="http://schemas.microsoft.com/office/drawing/2014/main" id="{9DC29F96-86F5-41F5-BAB4-DB736CEF6340}"/>
              </a:ext>
            </a:extLst>
          </p:cNvPr>
          <p:cNvSpPr>
            <a:spLocks xmlns:a="http://schemas.openxmlformats.org/drawingml/2006/main" noGrp="1"/>
          </p:cNvSpPr>
          <p:nvPr/>
        </p:nvSpPr>
        <p:spPr>
          <a:xfrm xmlns:a="http://schemas.openxmlformats.org/drawingml/2006/main">
            <a:off x="9858375" y="4048125"/>
            <a:ext cx="1571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2616B"/>
                </a:solidFill>
                <a:latin typeface="Arial"/>
                <a:ea typeface="Arial"/>
                <a:cs typeface="Arial"/>
              </a:defRPr>
            </a:defPPr>
            <a:lvl1pPr algn="l">
              <a:defRPr sz="1875" b="0">
                <a:solidFill>
                  <a:srgbClr val="52616B"/>
                </a:solidFill>
                <a:latin typeface="Arial"/>
                <a:ea typeface="Arial"/>
                <a:cs typeface="Arial"/>
              </a:defRPr>
            </a:lvl1pPr>
            <a:lvl2pPr algn="l">
              <a:defRPr sz="1875" b="0">
                <a:solidFill>
                  <a:srgbClr val="52616B"/>
                </a:solidFill>
                <a:latin typeface="Arial"/>
                <a:ea typeface="Arial"/>
                <a:cs typeface="Arial"/>
              </a:defRPr>
            </a:lvl2pPr>
            <a:lvl3pPr algn="l">
              <a:defRPr sz="1875" b="0">
                <a:solidFill>
                  <a:srgbClr val="52616B"/>
                </a:solidFill>
                <a:latin typeface="Arial"/>
                <a:ea typeface="Arial"/>
                <a:cs typeface="Arial"/>
              </a:defRPr>
            </a:lvl3pPr>
            <a:lvl4pPr algn="l">
              <a:defRPr sz="1875" b="0">
                <a:solidFill>
                  <a:srgbClr val="52616B"/>
                </a:solidFill>
                <a:latin typeface="Arial"/>
                <a:ea typeface="Arial"/>
                <a:cs typeface="Arial"/>
              </a:defRPr>
            </a:lvl4pPr>
            <a:lvl5pPr algn="l">
              <a:defRPr sz="1875" b="0">
                <a:solidFill>
                  <a:srgbClr val="52616B"/>
                </a:solidFill>
                <a:latin typeface="Arial"/>
                <a:ea typeface="Arial"/>
                <a:cs typeface="Arial"/>
              </a:defRPr>
            </a:lvl5pPr>
            <a:lvl6pPr algn="l">
              <a:defRPr sz="1875" b="0">
                <a:solidFill>
                  <a:srgbClr val="52616B"/>
                </a:solidFill>
                <a:latin typeface="Arial"/>
                <a:ea typeface="Arial"/>
                <a:cs typeface="Arial"/>
              </a:defRPr>
            </a:lvl6pPr>
            <a:lvl7pPr algn="l">
              <a:defRPr sz="1875" b="0">
                <a:solidFill>
                  <a:srgbClr val="52616B"/>
                </a:solidFill>
                <a:latin typeface="Arial"/>
                <a:ea typeface="Arial"/>
                <a:cs typeface="Arial"/>
              </a:defRPr>
            </a:lvl7pPr>
            <a:lvl8pPr algn="l">
              <a:defRPr sz="1875" b="0">
                <a:solidFill>
                  <a:srgbClr val="52616B"/>
                </a:solidFill>
                <a:latin typeface="Arial"/>
                <a:ea typeface="Arial"/>
                <a:cs typeface="Arial"/>
              </a:defRPr>
            </a:lvl8pPr>
            <a:lvl9pPr algn="l">
              <a:defRPr sz="1875" b="0">
                <a:solidFill>
                  <a:srgbClr val="52616B"/>
                </a:solidFill>
                <a:latin typeface="Arial"/>
                <a:ea typeface="Arial"/>
                <a:cs typeface="Arial"/>
              </a:defRPr>
            </a:lvl9pPr>
          </a:lstStyle>
          <a:p xmlns:a="http://schemas.openxmlformats.org/drawingml/2006/main">
            <a:pPr algn="l">
              <a:defRPr sz="1875" b="0">
                <a:solidFill>
                  <a:srgbClr val="52616B"/>
                </a:solidFill>
                <a:latin typeface="Arial"/>
                <a:ea typeface="Arial"/>
                <a:cs typeface="Arial"/>
              </a:defRPr>
            </a:pPr>
            <a:r>
              <a:rPr sz="1875" b="0">
                <a:solidFill>
                  <a:srgbClr val="52616B"/>
                </a:solidFill>
                <a:latin typeface="Arial"/>
                <a:ea typeface="Arial"/>
                <a:cs typeface="Arial"/>
              </a:rPr>
              <a:t>Does the offer work?</a:t>
            </a:r>
          </a:p>
        </p:txBody>
      </p:sp>
      <p:sp>
        <p:nvSpPr>
          <p:cNvPr id="22" name="takeaway">
            <a:extLst xmlns:a="http://schemas.openxmlformats.org/drawingml/2006/main">
              <a:ext uri="{FF2B5EF4-FFF2-40B4-BE49-F238E27FC236}">
                <a16:creationId xmlns:a16="http://schemas.microsoft.com/office/drawing/2014/main" id="{BB05BD4E-7292-4A0D-9957-C42E97D5E8FF}"/>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Progress depends on decisions and information, as well as documents.</a:t>
            </a:r>
          </a:p>
        </p:txBody>
      </p:sp>
      <p:sp>
        <p:nvSpPr>
          <p:cNvPr id="23" name="evidence-boundary">
            <a:extLst xmlns:a="http://schemas.openxmlformats.org/drawingml/2006/main">
              <a:ext uri="{FF2B5EF4-FFF2-40B4-BE49-F238E27FC236}">
                <a16:creationId xmlns:a16="http://schemas.microsoft.com/office/drawing/2014/main" id="{C29B3CF7-A486-4A6A-98C1-B1A525AEE9AA}"/>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Research synthesis. A teaching model, not a validated or mandatory workflow.</a:t>
            </a:r>
          </a:p>
        </p:txBody>
      </p:sp>
      <p:sp>
        <p:nvSpPr>
          <p:cNvPr id="24" name="slide-number">
            <a:extLst xmlns:a="http://schemas.openxmlformats.org/drawingml/2006/main">
              <a:ext uri="{FF2B5EF4-FFF2-40B4-BE49-F238E27FC236}">
                <a16:creationId xmlns:a16="http://schemas.microsoft.com/office/drawing/2014/main" id="{AEBCC003-E1C1-4254-9DD4-949EB9E5CDDB}"/>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03</a:t>
            </a:r>
          </a:p>
        </p:txBody>
      </p:sp>
    </p:spTree>
    <p:extLst>
      <p:ext uri="{BB962C8B-B14F-4D97-AF65-F5344CB8AC3E}">
        <p14:creationId xmlns:p14="http://schemas.microsoft.com/office/powerpoint/2010/main" val="446309751"/>
      </p:ext>
    </p:extLst>
  </p:cSld>
</p:sld>
</file>

<file path=ppt/slides/slide4.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040FCC8E-E80B-46CC-B92B-D733315DA901}"/>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What this research can tell us</a:t>
            </a:r>
          </a:p>
        </p:txBody>
      </p:sp>
      <p:sp>
        <p:nvSpPr>
          <p:cNvPr id="2" name="lead">
            <a:extLst xmlns:a="http://schemas.openxmlformats.org/drawingml/2006/main">
              <a:ext uri="{FF2B5EF4-FFF2-40B4-BE49-F238E27FC236}">
                <a16:creationId xmlns:a16="http://schemas.microsoft.com/office/drawing/2014/main" id="{5D5E4E6D-2005-48D5-90A1-8F0295A18A7C}"/>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Different sources answer different questions.</a:t>
            </a:r>
          </a:p>
        </p:txBody>
      </p:sp>
      <p:sp>
        <p:nvSpPr>
          <p:cNvPr id="3" name="column-heading-0">
            <a:extLst xmlns:a="http://schemas.openxmlformats.org/drawingml/2006/main">
              <a:ext uri="{FF2B5EF4-FFF2-40B4-BE49-F238E27FC236}">
                <a16:creationId xmlns:a16="http://schemas.microsoft.com/office/drawing/2014/main" id="{5807BE80-6686-4756-A2BE-1658FF5B2177}"/>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Experiences</a:t>
            </a:r>
          </a:p>
        </p:txBody>
      </p:sp>
      <p:sp>
        <p:nvSpPr>
          <p:cNvPr id="4" name="column-0-detail-0">
            <a:extLst xmlns:a="http://schemas.openxmlformats.org/drawingml/2006/main">
              <a:ext uri="{FF2B5EF4-FFF2-40B4-BE49-F238E27FC236}">
                <a16:creationId xmlns:a16="http://schemas.microsoft.com/office/drawing/2014/main" id="{06670456-74B8-452F-A025-354A9F46E21A}"/>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Public accounts describe friction and coping routines.</a:t>
            </a:r>
          </a:p>
        </p:txBody>
      </p:sp>
      <p:sp>
        <p:nvSpPr>
          <p:cNvPr id="5" name="column-0-detail-1">
            <a:extLst xmlns:a="http://schemas.openxmlformats.org/drawingml/2006/main">
              <a:ext uri="{FF2B5EF4-FFF2-40B4-BE49-F238E27FC236}">
                <a16:creationId xmlns:a16="http://schemas.microsoft.com/office/drawing/2014/main" id="{DF596E12-50BD-4DDC-B8B0-48E5658A80B5}"/>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They do not establish how common a problem is.</a:t>
            </a:r>
          </a:p>
        </p:txBody>
      </p:sp>
      <p:sp>
        <p:nvSpPr>
          <p:cNvPr id="6" name="column-heading-1">
            <a:extLst xmlns:a="http://schemas.openxmlformats.org/drawingml/2006/main">
              <a:ext uri="{FF2B5EF4-FFF2-40B4-BE49-F238E27FC236}">
                <a16:creationId xmlns:a16="http://schemas.microsoft.com/office/drawing/2014/main" id="{D6306A3E-80B4-472B-B78A-CBD9BAFC4646}"/>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Guidance and studies</a:t>
            </a:r>
          </a:p>
        </p:txBody>
      </p:sp>
      <p:sp>
        <p:nvSpPr>
          <p:cNvPr id="7" name="column-1-detail-0">
            <a:extLst xmlns:a="http://schemas.openxmlformats.org/drawingml/2006/main">
              <a:ext uri="{FF2B5EF4-FFF2-40B4-BE49-F238E27FC236}">
                <a16:creationId xmlns:a16="http://schemas.microsoft.com/office/drawing/2014/main" id="{53C48EC1-006A-453A-AA81-73797695AE58}"/>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Guidance suggests checks and preparation methods.</a:t>
            </a:r>
          </a:p>
        </p:txBody>
      </p:sp>
      <p:sp>
        <p:nvSpPr>
          <p:cNvPr id="8" name="column-1-detail-1">
            <a:extLst xmlns:a="http://schemas.openxmlformats.org/drawingml/2006/main">
              <a:ext uri="{FF2B5EF4-FFF2-40B4-BE49-F238E27FC236}">
                <a16:creationId xmlns:a16="http://schemas.microsoft.com/office/drawing/2014/main" id="{DE069DCA-6ACC-48A8-98BD-5E075F63F105}"/>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Studies report results within specific settings.</a:t>
            </a:r>
          </a:p>
        </p:txBody>
      </p:sp>
      <p:sp>
        <p:nvSpPr>
          <p:cNvPr id="9" name="takeaway">
            <a:extLst xmlns:a="http://schemas.openxmlformats.org/drawingml/2006/main">
              <a:ext uri="{FF2B5EF4-FFF2-40B4-BE49-F238E27FC236}">
                <a16:creationId xmlns:a16="http://schemas.microsoft.com/office/drawing/2014/main" id="{3C94B37B-BC0C-4BDC-B90A-28566B271187}"/>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These accounts suggest possible mechanisms. JobHub's benefit remains unmeasured.</a:t>
            </a:r>
          </a:p>
        </p:txBody>
      </p:sp>
      <p:sp>
        <p:nvSpPr>
          <p:cNvPr id="10" name="evidence-boundary">
            <a:extLst xmlns:a="http://schemas.openxmlformats.org/drawingml/2006/main">
              <a:ext uri="{FF2B5EF4-FFF2-40B4-BE49-F238E27FC236}">
                <a16:creationId xmlns:a16="http://schemas.microsoft.com/office/drawing/2014/main" id="{C78C34AC-3146-49A9-A963-6BA478711A99}"/>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Public-source research and bounded internal review. No direct JobHub user study.</a:t>
            </a:r>
          </a:p>
        </p:txBody>
      </p:sp>
      <p:sp>
        <p:nvSpPr>
          <p:cNvPr id="11" name="slide-number">
            <a:extLst xmlns:a="http://schemas.openxmlformats.org/drawingml/2006/main">
              <a:ext uri="{FF2B5EF4-FFF2-40B4-BE49-F238E27FC236}">
                <a16:creationId xmlns:a16="http://schemas.microsoft.com/office/drawing/2014/main" id="{0E558D5C-FFBC-4417-92ED-CD80068B9968}"/>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04</a:t>
            </a:r>
          </a:p>
        </p:txBody>
      </p:sp>
    </p:spTree>
    <p:extLst>
      <p:ext uri="{BB962C8B-B14F-4D97-AF65-F5344CB8AC3E}">
        <p14:creationId xmlns:p14="http://schemas.microsoft.com/office/powerpoint/2010/main" val="372391912"/>
      </p:ext>
    </p:extLst>
  </p:cSld>
</p:sld>
</file>

<file path=ppt/slides/slide5.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3D478243-8E35-419E-B9BB-023AA3768432}"/>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The workload extends beyond the resume</a:t>
            </a:r>
          </a:p>
        </p:txBody>
      </p:sp>
      <p:sp>
        <p:nvSpPr>
          <p:cNvPr id="2" name="lead">
            <a:extLst xmlns:a="http://schemas.openxmlformats.org/drawingml/2006/main">
              <a:ext uri="{FF2B5EF4-FFF2-40B4-BE49-F238E27FC236}">
                <a16:creationId xmlns:a16="http://schemas.microsoft.com/office/drawing/2014/main" id="{0194C17E-FF6A-4482-A840-FC86EF20C20E}"/>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One Singapore account makes the broader effort visible.</a:t>
            </a:r>
          </a:p>
        </p:txBody>
      </p:sp>
      <p:sp>
        <p:nvSpPr>
          <p:cNvPr id="3" name="case-main">
            <a:extLst xmlns:a="http://schemas.openxmlformats.org/drawingml/2006/main">
              <a:ext uri="{FF2B5EF4-FFF2-40B4-BE49-F238E27FC236}">
                <a16:creationId xmlns:a16="http://schemas.microsoft.com/office/drawing/2014/main" id="{D5D330F5-6647-4C7D-9105-41E68A0564A9}"/>
              </a:ext>
            </a:extLst>
          </p:cNvPr>
          <p:cNvSpPr>
            <a:spLocks xmlns:a="http://schemas.openxmlformats.org/drawingml/2006/main" noGrp="1"/>
          </p:cNvSpPr>
          <p:nvPr/>
        </p:nvSpPr>
        <p:spPr>
          <a:xfrm xmlns:a="http://schemas.openxmlformats.org/drawingml/2006/main">
            <a:off x="762000" y="2724150"/>
            <a:ext cx="5095875"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1">
                <a:solidFill>
                  <a:srgbClr val="B94B28"/>
                </a:solidFill>
                <a:latin typeface="Arial"/>
                <a:ea typeface="Arial"/>
                <a:cs typeface="Arial"/>
              </a:defRPr>
            </a:defPPr>
            <a:lvl1pPr algn="l">
              <a:defRPr sz="3675" b="1">
                <a:solidFill>
                  <a:srgbClr val="B94B28"/>
                </a:solidFill>
                <a:latin typeface="Arial"/>
                <a:ea typeface="Arial"/>
                <a:cs typeface="Arial"/>
              </a:defRPr>
            </a:lvl1pPr>
            <a:lvl2pPr algn="l">
              <a:defRPr sz="3675" b="1">
                <a:solidFill>
                  <a:srgbClr val="B94B28"/>
                </a:solidFill>
                <a:latin typeface="Arial"/>
                <a:ea typeface="Arial"/>
                <a:cs typeface="Arial"/>
              </a:defRPr>
            </a:lvl2pPr>
            <a:lvl3pPr algn="l">
              <a:defRPr sz="3675" b="1">
                <a:solidFill>
                  <a:srgbClr val="B94B28"/>
                </a:solidFill>
                <a:latin typeface="Arial"/>
                <a:ea typeface="Arial"/>
                <a:cs typeface="Arial"/>
              </a:defRPr>
            </a:lvl3pPr>
            <a:lvl4pPr algn="l">
              <a:defRPr sz="3675" b="1">
                <a:solidFill>
                  <a:srgbClr val="B94B28"/>
                </a:solidFill>
                <a:latin typeface="Arial"/>
                <a:ea typeface="Arial"/>
                <a:cs typeface="Arial"/>
              </a:defRPr>
            </a:lvl4pPr>
            <a:lvl5pPr algn="l">
              <a:defRPr sz="3675" b="1">
                <a:solidFill>
                  <a:srgbClr val="B94B28"/>
                </a:solidFill>
                <a:latin typeface="Arial"/>
                <a:ea typeface="Arial"/>
                <a:cs typeface="Arial"/>
              </a:defRPr>
            </a:lvl5pPr>
            <a:lvl6pPr algn="l">
              <a:defRPr sz="3675" b="1">
                <a:solidFill>
                  <a:srgbClr val="B94B28"/>
                </a:solidFill>
                <a:latin typeface="Arial"/>
                <a:ea typeface="Arial"/>
                <a:cs typeface="Arial"/>
              </a:defRPr>
            </a:lvl6pPr>
            <a:lvl7pPr algn="l">
              <a:defRPr sz="3675" b="1">
                <a:solidFill>
                  <a:srgbClr val="B94B28"/>
                </a:solidFill>
                <a:latin typeface="Arial"/>
                <a:ea typeface="Arial"/>
                <a:cs typeface="Arial"/>
              </a:defRPr>
            </a:lvl7pPr>
            <a:lvl8pPr algn="l">
              <a:defRPr sz="3675" b="1">
                <a:solidFill>
                  <a:srgbClr val="B94B28"/>
                </a:solidFill>
                <a:latin typeface="Arial"/>
                <a:ea typeface="Arial"/>
                <a:cs typeface="Arial"/>
              </a:defRPr>
            </a:lvl8pPr>
            <a:lvl9pPr algn="l">
              <a:defRPr sz="3675" b="1">
                <a:solidFill>
                  <a:srgbClr val="B94B28"/>
                </a:solidFill>
                <a:latin typeface="Arial"/>
                <a:ea typeface="Arial"/>
                <a:cs typeface="Arial"/>
              </a:defRPr>
            </a:lvl9pPr>
          </a:lstStyle>
          <a:p xmlns:a="http://schemas.openxmlformats.org/drawingml/2006/main">
            <a:pPr algn="l">
              <a:defRPr sz="3675" b="1">
                <a:solidFill>
                  <a:srgbClr val="B94B28"/>
                </a:solidFill>
                <a:latin typeface="Arial"/>
                <a:ea typeface="Arial"/>
                <a:cs typeface="Arial"/>
              </a:defRPr>
            </a:pPr>
            <a:r>
              <a:rPr sz="3675" b="1">
                <a:solidFill>
                  <a:srgbClr val="B94B28"/>
                </a:solidFill>
                <a:latin typeface="Arial"/>
                <a:ea typeface="Arial"/>
                <a:cs typeface="Arial"/>
              </a:rPr>
              <a:t>Repeated applications.</a:t>
            </a:r>
          </a:p>
          <a:p xmlns:a="http://schemas.openxmlformats.org/drawingml/2006/main">
            <a:pPr algn="l">
              <a:defRPr sz="3675" b="1">
                <a:solidFill>
                  <a:srgbClr val="B94B28"/>
                </a:solidFill>
                <a:latin typeface="Arial"/>
                <a:ea typeface="Arial"/>
                <a:cs typeface="Arial"/>
              </a:defRPr>
            </a:pPr>
            <a:r>
              <a:rPr sz="3675" b="1">
                <a:solidFill>
                  <a:srgbClr val="B94B28"/>
                </a:solidFill>
                <a:latin typeface="Arial"/>
                <a:ea typeface="Arial"/>
                <a:cs typeface="Arial"/>
              </a:rPr>
              <a:t>Preparation. Waiting.</a:t>
            </a:r>
          </a:p>
        </p:txBody>
      </p:sp>
      <p:sp>
        <p:nvSpPr>
          <p:cNvPr id="4" name="case-label-0">
            <a:extLst xmlns:a="http://schemas.openxmlformats.org/drawingml/2006/main">
              <a:ext uri="{FF2B5EF4-FFF2-40B4-BE49-F238E27FC236}">
                <a16:creationId xmlns:a16="http://schemas.microsoft.com/office/drawing/2014/main" id="{25E50956-6213-4947-B7CB-6319FC0C5F02}"/>
              </a:ext>
            </a:extLst>
          </p:cNvPr>
          <p:cNvSpPr>
            <a:spLocks xmlns:a="http://schemas.openxmlformats.org/drawingml/2006/main" noGrp="1"/>
          </p:cNvSpPr>
          <p:nvPr/>
        </p:nvSpPr>
        <p:spPr>
          <a:xfrm xmlns:a="http://schemas.openxmlformats.org/drawingml/2006/main">
            <a:off x="6477000" y="2571750"/>
            <a:ext cx="495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66B65"/>
                </a:solidFill>
                <a:latin typeface="Arial"/>
                <a:ea typeface="Arial"/>
                <a:cs typeface="Arial"/>
              </a:defRPr>
            </a:defPPr>
            <a:lvl1pPr algn="l">
              <a:defRPr sz="2250" b="1">
                <a:solidFill>
                  <a:srgbClr val="166B65"/>
                </a:solidFill>
                <a:latin typeface="Arial"/>
                <a:ea typeface="Arial"/>
                <a:cs typeface="Arial"/>
              </a:defRPr>
            </a:lvl1pPr>
            <a:lvl2pPr algn="l">
              <a:defRPr sz="2250" b="1">
                <a:solidFill>
                  <a:srgbClr val="166B65"/>
                </a:solidFill>
                <a:latin typeface="Arial"/>
                <a:ea typeface="Arial"/>
                <a:cs typeface="Arial"/>
              </a:defRPr>
            </a:lvl2pPr>
            <a:lvl3pPr algn="l">
              <a:defRPr sz="2250" b="1">
                <a:solidFill>
                  <a:srgbClr val="166B65"/>
                </a:solidFill>
                <a:latin typeface="Arial"/>
                <a:ea typeface="Arial"/>
                <a:cs typeface="Arial"/>
              </a:defRPr>
            </a:lvl3pPr>
            <a:lvl4pPr algn="l">
              <a:defRPr sz="2250" b="1">
                <a:solidFill>
                  <a:srgbClr val="166B65"/>
                </a:solidFill>
                <a:latin typeface="Arial"/>
                <a:ea typeface="Arial"/>
                <a:cs typeface="Arial"/>
              </a:defRPr>
            </a:lvl4pPr>
            <a:lvl5pPr algn="l">
              <a:defRPr sz="2250" b="1">
                <a:solidFill>
                  <a:srgbClr val="166B65"/>
                </a:solidFill>
                <a:latin typeface="Arial"/>
                <a:ea typeface="Arial"/>
                <a:cs typeface="Arial"/>
              </a:defRPr>
            </a:lvl5pPr>
            <a:lvl6pPr algn="l">
              <a:defRPr sz="2250" b="1">
                <a:solidFill>
                  <a:srgbClr val="166B65"/>
                </a:solidFill>
                <a:latin typeface="Arial"/>
                <a:ea typeface="Arial"/>
                <a:cs typeface="Arial"/>
              </a:defRPr>
            </a:lvl6pPr>
            <a:lvl7pPr algn="l">
              <a:defRPr sz="2250" b="1">
                <a:solidFill>
                  <a:srgbClr val="166B65"/>
                </a:solidFill>
                <a:latin typeface="Arial"/>
                <a:ea typeface="Arial"/>
                <a:cs typeface="Arial"/>
              </a:defRPr>
            </a:lvl7pPr>
            <a:lvl8pPr algn="l">
              <a:defRPr sz="2250" b="1">
                <a:solidFill>
                  <a:srgbClr val="166B65"/>
                </a:solidFill>
                <a:latin typeface="Arial"/>
                <a:ea typeface="Arial"/>
                <a:cs typeface="Arial"/>
              </a:defRPr>
            </a:lvl8pPr>
            <a:lvl9pPr algn="l">
              <a:defRPr sz="2250" b="1">
                <a:solidFill>
                  <a:srgbClr val="166B65"/>
                </a:solidFill>
                <a:latin typeface="Arial"/>
                <a:ea typeface="Arial"/>
                <a:cs typeface="Arial"/>
              </a:defRPr>
            </a:lvl9pPr>
          </a:lstStyle>
          <a:p xmlns:a="http://schemas.openxmlformats.org/drawingml/2006/main">
            <a:pPr algn="l">
              <a:defRPr sz="2250" b="1">
                <a:solidFill>
                  <a:srgbClr val="166B65"/>
                </a:solidFill>
                <a:latin typeface="Arial"/>
                <a:ea typeface="Arial"/>
                <a:cs typeface="Arial"/>
              </a:defRPr>
            </a:pPr>
            <a:r>
              <a:rPr sz="2250" b="1">
                <a:solidFill>
                  <a:srgbClr val="166B65"/>
                </a:solidFill>
                <a:latin typeface="Arial"/>
                <a:ea typeface="Arial"/>
                <a:cs typeface="Arial"/>
              </a:rPr>
              <a:t>The reported experience</a:t>
            </a:r>
          </a:p>
        </p:txBody>
      </p:sp>
      <p:sp>
        <p:nvSpPr>
          <p:cNvPr id="5" name="case-text-0">
            <a:extLst xmlns:a="http://schemas.openxmlformats.org/drawingml/2006/main">
              <a:ext uri="{FF2B5EF4-FFF2-40B4-BE49-F238E27FC236}">
                <a16:creationId xmlns:a16="http://schemas.microsoft.com/office/drawing/2014/main" id="{927926FD-5441-4D82-A1D6-0E10CC6B03AE}"/>
              </a:ext>
            </a:extLst>
          </p:cNvPr>
          <p:cNvSpPr>
            <a:spLocks xmlns:a="http://schemas.openxmlformats.org/drawingml/2006/main" noGrp="1"/>
          </p:cNvSpPr>
          <p:nvPr/>
        </p:nvSpPr>
        <p:spPr>
          <a:xfrm xmlns:a="http://schemas.openxmlformats.org/drawingml/2006/main">
            <a:off x="6477000" y="3095625"/>
            <a:ext cx="4857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72D40"/>
                </a:solidFill>
                <a:latin typeface="Arial"/>
                <a:ea typeface="Arial"/>
                <a:cs typeface="Arial"/>
              </a:defRPr>
            </a:defPPr>
            <a:lvl1pPr algn="l">
              <a:defRPr sz="1950" b="0">
                <a:solidFill>
                  <a:srgbClr val="172D40"/>
                </a:solidFill>
                <a:latin typeface="Arial"/>
                <a:ea typeface="Arial"/>
                <a:cs typeface="Arial"/>
              </a:defRPr>
            </a:lvl1pPr>
            <a:lvl2pPr algn="l">
              <a:defRPr sz="1950" b="0">
                <a:solidFill>
                  <a:srgbClr val="172D40"/>
                </a:solidFill>
                <a:latin typeface="Arial"/>
                <a:ea typeface="Arial"/>
                <a:cs typeface="Arial"/>
              </a:defRPr>
            </a:lvl2pPr>
            <a:lvl3pPr algn="l">
              <a:defRPr sz="1950" b="0">
                <a:solidFill>
                  <a:srgbClr val="172D40"/>
                </a:solidFill>
                <a:latin typeface="Arial"/>
                <a:ea typeface="Arial"/>
                <a:cs typeface="Arial"/>
              </a:defRPr>
            </a:lvl3pPr>
            <a:lvl4pPr algn="l">
              <a:defRPr sz="1950" b="0">
                <a:solidFill>
                  <a:srgbClr val="172D40"/>
                </a:solidFill>
                <a:latin typeface="Arial"/>
                <a:ea typeface="Arial"/>
                <a:cs typeface="Arial"/>
              </a:defRPr>
            </a:lvl4pPr>
            <a:lvl5pPr algn="l">
              <a:defRPr sz="1950" b="0">
                <a:solidFill>
                  <a:srgbClr val="172D40"/>
                </a:solidFill>
                <a:latin typeface="Arial"/>
                <a:ea typeface="Arial"/>
                <a:cs typeface="Arial"/>
              </a:defRPr>
            </a:lvl5pPr>
            <a:lvl6pPr algn="l">
              <a:defRPr sz="1950" b="0">
                <a:solidFill>
                  <a:srgbClr val="172D40"/>
                </a:solidFill>
                <a:latin typeface="Arial"/>
                <a:ea typeface="Arial"/>
                <a:cs typeface="Arial"/>
              </a:defRPr>
            </a:lvl6pPr>
            <a:lvl7pPr algn="l">
              <a:defRPr sz="1950" b="0">
                <a:solidFill>
                  <a:srgbClr val="172D40"/>
                </a:solidFill>
                <a:latin typeface="Arial"/>
                <a:ea typeface="Arial"/>
                <a:cs typeface="Arial"/>
              </a:defRPr>
            </a:lvl7pPr>
            <a:lvl8pPr algn="l">
              <a:defRPr sz="1950" b="0">
                <a:solidFill>
                  <a:srgbClr val="172D40"/>
                </a:solidFill>
                <a:latin typeface="Arial"/>
                <a:ea typeface="Arial"/>
                <a:cs typeface="Arial"/>
              </a:defRPr>
            </a:lvl8pPr>
            <a:lvl9pPr algn="l">
              <a:defRPr sz="1950" b="0">
                <a:solidFill>
                  <a:srgbClr val="172D40"/>
                </a:solidFill>
                <a:latin typeface="Arial"/>
                <a:ea typeface="Arial"/>
                <a:cs typeface="Arial"/>
              </a:defRPr>
            </a:lvl9pPr>
          </a:lstStyle>
          <a:p xmlns:a="http://schemas.openxmlformats.org/drawingml/2006/main">
            <a:pPr algn="l">
              <a:defRPr sz="1950" b="0">
                <a:solidFill>
                  <a:srgbClr val="172D40"/>
                </a:solidFill>
                <a:latin typeface="Arial"/>
                <a:ea typeface="Arial"/>
                <a:cs typeface="Arial"/>
              </a:defRPr>
            </a:pPr>
            <a:r>
              <a:rPr sz="1950" b="0">
                <a:solidFill>
                  <a:srgbClr val="172D40"/>
                </a:solidFill>
                <a:latin typeface="Arial"/>
                <a:ea typeface="Arial"/>
                <a:cs typeface="Arial"/>
              </a:rPr>
              <a:t>Low Chee Wee describes rejection, skills development, human support and a later move into hospital operations.</a:t>
            </a:r>
          </a:p>
        </p:txBody>
      </p:sp>
      <p:sp>
        <p:nvSpPr>
          <p:cNvPr id="6" name="case-label-1">
            <a:extLst xmlns:a="http://schemas.openxmlformats.org/drawingml/2006/main">
              <a:ext uri="{FF2B5EF4-FFF2-40B4-BE49-F238E27FC236}">
                <a16:creationId xmlns:a16="http://schemas.microsoft.com/office/drawing/2014/main" id="{F8F7CC35-4A93-41B9-B128-FD799BD034BF}"/>
              </a:ext>
            </a:extLst>
          </p:cNvPr>
          <p:cNvSpPr>
            <a:spLocks xmlns:a="http://schemas.openxmlformats.org/drawingml/2006/main" noGrp="1"/>
          </p:cNvSpPr>
          <p:nvPr/>
        </p:nvSpPr>
        <p:spPr>
          <a:xfrm xmlns:a="http://schemas.openxmlformats.org/drawingml/2006/main">
            <a:off x="6477000" y="4143375"/>
            <a:ext cx="495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66B65"/>
                </a:solidFill>
                <a:latin typeface="Arial"/>
                <a:ea typeface="Arial"/>
                <a:cs typeface="Arial"/>
              </a:defRPr>
            </a:defPPr>
            <a:lvl1pPr algn="l">
              <a:defRPr sz="2250" b="1">
                <a:solidFill>
                  <a:srgbClr val="166B65"/>
                </a:solidFill>
                <a:latin typeface="Arial"/>
                <a:ea typeface="Arial"/>
                <a:cs typeface="Arial"/>
              </a:defRPr>
            </a:lvl1pPr>
            <a:lvl2pPr algn="l">
              <a:defRPr sz="2250" b="1">
                <a:solidFill>
                  <a:srgbClr val="166B65"/>
                </a:solidFill>
                <a:latin typeface="Arial"/>
                <a:ea typeface="Arial"/>
                <a:cs typeface="Arial"/>
              </a:defRPr>
            </a:lvl2pPr>
            <a:lvl3pPr algn="l">
              <a:defRPr sz="2250" b="1">
                <a:solidFill>
                  <a:srgbClr val="166B65"/>
                </a:solidFill>
                <a:latin typeface="Arial"/>
                <a:ea typeface="Arial"/>
                <a:cs typeface="Arial"/>
              </a:defRPr>
            </a:lvl3pPr>
            <a:lvl4pPr algn="l">
              <a:defRPr sz="2250" b="1">
                <a:solidFill>
                  <a:srgbClr val="166B65"/>
                </a:solidFill>
                <a:latin typeface="Arial"/>
                <a:ea typeface="Arial"/>
                <a:cs typeface="Arial"/>
              </a:defRPr>
            </a:lvl4pPr>
            <a:lvl5pPr algn="l">
              <a:defRPr sz="2250" b="1">
                <a:solidFill>
                  <a:srgbClr val="166B65"/>
                </a:solidFill>
                <a:latin typeface="Arial"/>
                <a:ea typeface="Arial"/>
                <a:cs typeface="Arial"/>
              </a:defRPr>
            </a:lvl5pPr>
            <a:lvl6pPr algn="l">
              <a:defRPr sz="2250" b="1">
                <a:solidFill>
                  <a:srgbClr val="166B65"/>
                </a:solidFill>
                <a:latin typeface="Arial"/>
                <a:ea typeface="Arial"/>
                <a:cs typeface="Arial"/>
              </a:defRPr>
            </a:lvl6pPr>
            <a:lvl7pPr algn="l">
              <a:defRPr sz="2250" b="1">
                <a:solidFill>
                  <a:srgbClr val="166B65"/>
                </a:solidFill>
                <a:latin typeface="Arial"/>
                <a:ea typeface="Arial"/>
                <a:cs typeface="Arial"/>
              </a:defRPr>
            </a:lvl7pPr>
            <a:lvl8pPr algn="l">
              <a:defRPr sz="2250" b="1">
                <a:solidFill>
                  <a:srgbClr val="166B65"/>
                </a:solidFill>
                <a:latin typeface="Arial"/>
                <a:ea typeface="Arial"/>
                <a:cs typeface="Arial"/>
              </a:defRPr>
            </a:lvl8pPr>
            <a:lvl9pPr algn="l">
              <a:defRPr sz="2250" b="1">
                <a:solidFill>
                  <a:srgbClr val="166B65"/>
                </a:solidFill>
                <a:latin typeface="Arial"/>
                <a:ea typeface="Arial"/>
                <a:cs typeface="Arial"/>
              </a:defRPr>
            </a:lvl9pPr>
          </a:lstStyle>
          <a:p xmlns:a="http://schemas.openxmlformats.org/drawingml/2006/main">
            <a:pPr algn="l">
              <a:defRPr sz="2250" b="1">
                <a:solidFill>
                  <a:srgbClr val="166B65"/>
                </a:solidFill>
                <a:latin typeface="Arial"/>
                <a:ea typeface="Arial"/>
                <a:cs typeface="Arial"/>
              </a:defRPr>
            </a:pPr>
            <a:r>
              <a:rPr sz="2250" b="1">
                <a:solidFill>
                  <a:srgbClr val="166B65"/>
                </a:solidFill>
                <a:latin typeface="Arial"/>
                <a:ea typeface="Arial"/>
                <a:cs typeface="Arial"/>
              </a:rPr>
              <a:t>What it teaches</a:t>
            </a:r>
          </a:p>
        </p:txBody>
      </p:sp>
      <p:sp>
        <p:nvSpPr>
          <p:cNvPr id="7" name="case-text-1">
            <a:extLst xmlns:a="http://schemas.openxmlformats.org/drawingml/2006/main">
              <a:ext uri="{FF2B5EF4-FFF2-40B4-BE49-F238E27FC236}">
                <a16:creationId xmlns:a16="http://schemas.microsoft.com/office/drawing/2014/main" id="{5B6D6185-6AD2-4EF1-8C5D-F331B44D4C16}"/>
              </a:ext>
            </a:extLst>
          </p:cNvPr>
          <p:cNvSpPr>
            <a:spLocks xmlns:a="http://schemas.openxmlformats.org/drawingml/2006/main" noGrp="1"/>
          </p:cNvSpPr>
          <p:nvPr/>
        </p:nvSpPr>
        <p:spPr>
          <a:xfrm xmlns:a="http://schemas.openxmlformats.org/drawingml/2006/main">
            <a:off x="6477000" y="4667250"/>
            <a:ext cx="4857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72D40"/>
                </a:solidFill>
                <a:latin typeface="Arial"/>
                <a:ea typeface="Arial"/>
                <a:cs typeface="Arial"/>
              </a:defRPr>
            </a:defPPr>
            <a:lvl1pPr algn="l">
              <a:defRPr sz="1950" b="0">
                <a:solidFill>
                  <a:srgbClr val="172D40"/>
                </a:solidFill>
                <a:latin typeface="Arial"/>
                <a:ea typeface="Arial"/>
                <a:cs typeface="Arial"/>
              </a:defRPr>
            </a:lvl1pPr>
            <a:lvl2pPr algn="l">
              <a:defRPr sz="1950" b="0">
                <a:solidFill>
                  <a:srgbClr val="172D40"/>
                </a:solidFill>
                <a:latin typeface="Arial"/>
                <a:ea typeface="Arial"/>
                <a:cs typeface="Arial"/>
              </a:defRPr>
            </a:lvl2pPr>
            <a:lvl3pPr algn="l">
              <a:defRPr sz="1950" b="0">
                <a:solidFill>
                  <a:srgbClr val="172D40"/>
                </a:solidFill>
                <a:latin typeface="Arial"/>
                <a:ea typeface="Arial"/>
                <a:cs typeface="Arial"/>
              </a:defRPr>
            </a:lvl3pPr>
            <a:lvl4pPr algn="l">
              <a:defRPr sz="1950" b="0">
                <a:solidFill>
                  <a:srgbClr val="172D40"/>
                </a:solidFill>
                <a:latin typeface="Arial"/>
                <a:ea typeface="Arial"/>
                <a:cs typeface="Arial"/>
              </a:defRPr>
            </a:lvl4pPr>
            <a:lvl5pPr algn="l">
              <a:defRPr sz="1950" b="0">
                <a:solidFill>
                  <a:srgbClr val="172D40"/>
                </a:solidFill>
                <a:latin typeface="Arial"/>
                <a:ea typeface="Arial"/>
                <a:cs typeface="Arial"/>
              </a:defRPr>
            </a:lvl5pPr>
            <a:lvl6pPr algn="l">
              <a:defRPr sz="1950" b="0">
                <a:solidFill>
                  <a:srgbClr val="172D40"/>
                </a:solidFill>
                <a:latin typeface="Arial"/>
                <a:ea typeface="Arial"/>
                <a:cs typeface="Arial"/>
              </a:defRPr>
            </a:lvl6pPr>
            <a:lvl7pPr algn="l">
              <a:defRPr sz="1950" b="0">
                <a:solidFill>
                  <a:srgbClr val="172D40"/>
                </a:solidFill>
                <a:latin typeface="Arial"/>
                <a:ea typeface="Arial"/>
                <a:cs typeface="Arial"/>
              </a:defRPr>
            </a:lvl7pPr>
            <a:lvl8pPr algn="l">
              <a:defRPr sz="1950" b="0">
                <a:solidFill>
                  <a:srgbClr val="172D40"/>
                </a:solidFill>
                <a:latin typeface="Arial"/>
                <a:ea typeface="Arial"/>
                <a:cs typeface="Arial"/>
              </a:defRPr>
            </a:lvl8pPr>
            <a:lvl9pPr algn="l">
              <a:defRPr sz="1950" b="0">
                <a:solidFill>
                  <a:srgbClr val="172D40"/>
                </a:solidFill>
                <a:latin typeface="Arial"/>
                <a:ea typeface="Arial"/>
                <a:cs typeface="Arial"/>
              </a:defRPr>
            </a:lvl9pPr>
          </a:lstStyle>
          <a:p xmlns:a="http://schemas.openxmlformats.org/drawingml/2006/main">
            <a:pPr algn="l">
              <a:defRPr sz="1950" b="0">
                <a:solidFill>
                  <a:srgbClr val="172D40"/>
                </a:solidFill>
                <a:latin typeface="Arial"/>
                <a:ea typeface="Arial"/>
                <a:cs typeface="Arial"/>
              </a:defRPr>
            </a:pPr>
            <a:r>
              <a:rPr sz="1950" b="0">
                <a:solidFill>
                  <a:srgbClr val="172D40"/>
                </a:solidFill>
                <a:latin typeface="Arial"/>
                <a:ea typeface="Arial"/>
                <a:cs typeface="Arial"/>
              </a:rPr>
              <a:t>A search has several moving parts. The account cannot isolate which change led to the offer.</a:t>
            </a:r>
          </a:p>
        </p:txBody>
      </p:sp>
      <p:sp>
        <p:nvSpPr>
          <p:cNvPr id="8" name="evidence-boundary">
            <a:extLst xmlns:a="http://schemas.openxmlformats.org/drawingml/2006/main">
              <a:ext uri="{FF2B5EF4-FFF2-40B4-BE49-F238E27FC236}">
                <a16:creationId xmlns:a16="http://schemas.microsoft.com/office/drawing/2014/main" id="{37834C1D-5144-4911-B75C-A7CE8D1D62EA}"/>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P01: one retrospective account of 2020–21, published in 2021. Not an outcome study.</a:t>
            </a:r>
          </a:p>
        </p:txBody>
      </p:sp>
      <p:sp>
        <p:nvSpPr>
          <p:cNvPr id="9" name="slide-number">
            <a:extLst xmlns:a="http://schemas.openxmlformats.org/drawingml/2006/main">
              <a:ext uri="{FF2B5EF4-FFF2-40B4-BE49-F238E27FC236}">
                <a16:creationId xmlns:a16="http://schemas.microsoft.com/office/drawing/2014/main" id="{28BD99E9-9261-4D44-AC36-C008159E911E}"/>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05</a:t>
            </a:r>
          </a:p>
        </p:txBody>
      </p:sp>
    </p:spTree>
    <p:extLst>
      <p:ext uri="{BB962C8B-B14F-4D97-AF65-F5344CB8AC3E}">
        <p14:creationId xmlns:p14="http://schemas.microsoft.com/office/powerpoint/2010/main" val="70471953"/>
      </p:ext>
    </p:extLst>
  </p:cSld>
</p:sld>
</file>

<file path=ppt/slides/slide6.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11B36657-C3A1-499A-8B97-DDF598EC8DCC}"/>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Preparation cannot remove every barrier</a:t>
            </a:r>
          </a:p>
        </p:txBody>
      </p:sp>
      <p:sp>
        <p:nvSpPr>
          <p:cNvPr id="2" name="lead">
            <a:extLst xmlns:a="http://schemas.openxmlformats.org/drawingml/2006/main">
              <a:ext uri="{FF2B5EF4-FFF2-40B4-BE49-F238E27FC236}">
                <a16:creationId xmlns:a16="http://schemas.microsoft.com/office/drawing/2014/main" id="{A4642180-ABFC-46FE-B0B2-A7CB612B7C99}"/>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Some difficulties concern the work or hiring process itself.</a:t>
            </a:r>
          </a:p>
        </p:txBody>
      </p:sp>
      <p:sp>
        <p:nvSpPr>
          <p:cNvPr id="3" name="column-heading-0">
            <a:extLst xmlns:a="http://schemas.openxmlformats.org/drawingml/2006/main">
              <a:ext uri="{FF2B5EF4-FFF2-40B4-BE49-F238E27FC236}">
                <a16:creationId xmlns:a16="http://schemas.microsoft.com/office/drawing/2014/main" id="{CAF66B2A-E6A3-4A44-BDA3-53395A1FA1B9}"/>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Feasibility and access</a:t>
            </a:r>
          </a:p>
        </p:txBody>
      </p:sp>
      <p:sp>
        <p:nvSpPr>
          <p:cNvPr id="4" name="column-0-detail-0">
            <a:extLst xmlns:a="http://schemas.openxmlformats.org/drawingml/2006/main">
              <a:ext uri="{FF2B5EF4-FFF2-40B4-BE49-F238E27FC236}">
                <a16:creationId xmlns:a16="http://schemas.microsoft.com/office/drawing/2014/main" id="{F9FB92B0-B117-4A2D-8BFF-1F5F5B691DF3}"/>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Care responsibilities, shifts and working conditions can limit feasible options.</a:t>
            </a:r>
          </a:p>
        </p:txBody>
      </p:sp>
      <p:sp>
        <p:nvSpPr>
          <p:cNvPr id="5" name="column-0-detail-1">
            <a:extLst xmlns:a="http://schemas.openxmlformats.org/drawingml/2006/main">
              <a:ext uri="{FF2B5EF4-FFF2-40B4-BE49-F238E27FC236}">
                <a16:creationId xmlns:a16="http://schemas.microsoft.com/office/drawing/2014/main" id="{B8903770-F176-4049-8938-47651EE3CE27}"/>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Application accessibility can exclude people before their experience receives consideration.</a:t>
            </a:r>
          </a:p>
        </p:txBody>
      </p:sp>
      <p:sp>
        <p:nvSpPr>
          <p:cNvPr id="6" name="column-heading-1">
            <a:extLst xmlns:a="http://schemas.openxmlformats.org/drawingml/2006/main">
              <a:ext uri="{FF2B5EF4-FFF2-40B4-BE49-F238E27FC236}">
                <a16:creationId xmlns:a16="http://schemas.microsoft.com/office/drawing/2014/main" id="{5BBE80A2-4353-443E-8DF8-84147B2C11E5}"/>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94B28"/>
                </a:solidFill>
                <a:latin typeface="Arial"/>
                <a:ea typeface="Arial"/>
                <a:cs typeface="Arial"/>
              </a:defRPr>
            </a:defPPr>
            <a:lvl1pPr algn="l">
              <a:defRPr sz="2325" b="1">
                <a:solidFill>
                  <a:srgbClr val="B94B28"/>
                </a:solidFill>
                <a:latin typeface="Arial"/>
                <a:ea typeface="Arial"/>
                <a:cs typeface="Arial"/>
              </a:defRPr>
            </a:lvl1pPr>
            <a:lvl2pPr algn="l">
              <a:defRPr sz="2325" b="1">
                <a:solidFill>
                  <a:srgbClr val="B94B28"/>
                </a:solidFill>
                <a:latin typeface="Arial"/>
                <a:ea typeface="Arial"/>
                <a:cs typeface="Arial"/>
              </a:defRPr>
            </a:lvl2pPr>
            <a:lvl3pPr algn="l">
              <a:defRPr sz="2325" b="1">
                <a:solidFill>
                  <a:srgbClr val="B94B28"/>
                </a:solidFill>
                <a:latin typeface="Arial"/>
                <a:ea typeface="Arial"/>
                <a:cs typeface="Arial"/>
              </a:defRPr>
            </a:lvl3pPr>
            <a:lvl4pPr algn="l">
              <a:defRPr sz="2325" b="1">
                <a:solidFill>
                  <a:srgbClr val="B94B28"/>
                </a:solidFill>
                <a:latin typeface="Arial"/>
                <a:ea typeface="Arial"/>
                <a:cs typeface="Arial"/>
              </a:defRPr>
            </a:lvl4pPr>
            <a:lvl5pPr algn="l">
              <a:defRPr sz="2325" b="1">
                <a:solidFill>
                  <a:srgbClr val="B94B28"/>
                </a:solidFill>
                <a:latin typeface="Arial"/>
                <a:ea typeface="Arial"/>
                <a:cs typeface="Arial"/>
              </a:defRPr>
            </a:lvl5pPr>
            <a:lvl6pPr algn="l">
              <a:defRPr sz="2325" b="1">
                <a:solidFill>
                  <a:srgbClr val="B94B28"/>
                </a:solidFill>
                <a:latin typeface="Arial"/>
                <a:ea typeface="Arial"/>
                <a:cs typeface="Arial"/>
              </a:defRPr>
            </a:lvl6pPr>
            <a:lvl7pPr algn="l">
              <a:defRPr sz="2325" b="1">
                <a:solidFill>
                  <a:srgbClr val="B94B28"/>
                </a:solidFill>
                <a:latin typeface="Arial"/>
                <a:ea typeface="Arial"/>
                <a:cs typeface="Arial"/>
              </a:defRPr>
            </a:lvl7pPr>
            <a:lvl8pPr algn="l">
              <a:defRPr sz="2325" b="1">
                <a:solidFill>
                  <a:srgbClr val="B94B28"/>
                </a:solidFill>
                <a:latin typeface="Arial"/>
                <a:ea typeface="Arial"/>
                <a:cs typeface="Arial"/>
              </a:defRPr>
            </a:lvl8pPr>
            <a:lvl9pPr algn="l">
              <a:defRPr sz="2325" b="1">
                <a:solidFill>
                  <a:srgbClr val="B94B28"/>
                </a:solidFill>
                <a:latin typeface="Arial"/>
                <a:ea typeface="Arial"/>
                <a:cs typeface="Arial"/>
              </a:defRPr>
            </a:lvl9pPr>
          </a:lstStyle>
          <a:p xmlns:a="http://schemas.openxmlformats.org/drawingml/2006/main">
            <a:pPr algn="l">
              <a:defRPr sz="2325" b="1">
                <a:solidFill>
                  <a:srgbClr val="B94B28"/>
                </a:solidFill>
                <a:latin typeface="Arial"/>
                <a:ea typeface="Arial"/>
                <a:cs typeface="Arial"/>
              </a:defRPr>
            </a:pPr>
            <a:r>
              <a:rPr sz="2325" b="1">
                <a:solidFill>
                  <a:srgbClr val="B94B28"/>
                </a:solidFill>
                <a:latin typeface="Arial"/>
                <a:ea typeface="Arial"/>
                <a:cs typeface="Arial"/>
              </a:rPr>
              <a:t>Employer-controlled steps</a:t>
            </a:r>
          </a:p>
        </p:txBody>
      </p:sp>
      <p:sp>
        <p:nvSpPr>
          <p:cNvPr id="7" name="column-1-detail-0">
            <a:extLst xmlns:a="http://schemas.openxmlformats.org/drawingml/2006/main">
              <a:ext uri="{FF2B5EF4-FFF2-40B4-BE49-F238E27FC236}">
                <a16:creationId xmlns:a16="http://schemas.microsoft.com/office/drawing/2014/main" id="{1E622B78-84AD-49C9-947E-5968744488FF}"/>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Waiting, unclear responses and scheduling can remain outside the applicant's control.</a:t>
            </a:r>
          </a:p>
        </p:txBody>
      </p:sp>
      <p:sp>
        <p:nvSpPr>
          <p:cNvPr id="8" name="column-1-detail-1">
            <a:extLst xmlns:a="http://schemas.openxmlformats.org/drawingml/2006/main">
              <a:ext uri="{FF2B5EF4-FFF2-40B4-BE49-F238E27FC236}">
                <a16:creationId xmlns:a16="http://schemas.microsoft.com/office/drawing/2014/main" id="{346E2FD9-A455-4DE9-87DB-E3DB9BB77BDF}"/>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Better wording alone cannot change those conditions.</a:t>
            </a:r>
          </a:p>
        </p:txBody>
      </p:sp>
      <p:sp>
        <p:nvSpPr>
          <p:cNvPr id="9" name="takeaway">
            <a:extLst xmlns:a="http://schemas.openxmlformats.org/drawingml/2006/main">
              <a:ext uri="{FF2B5EF4-FFF2-40B4-BE49-F238E27FC236}">
                <a16:creationId xmlns:a16="http://schemas.microsoft.com/office/drawing/2014/main" id="{7909807D-49A1-4FE2-A38B-756A25B3D74C}"/>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JobHub's possible contribution needs a boundary as well as a benefit.</a:t>
            </a:r>
          </a:p>
        </p:txBody>
      </p:sp>
      <p:sp>
        <p:nvSpPr>
          <p:cNvPr id="10" name="evidence-boundary">
            <a:extLst xmlns:a="http://schemas.openxmlformats.org/drawingml/2006/main">
              <a:ext uri="{FF2B5EF4-FFF2-40B4-BE49-F238E27FC236}">
                <a16:creationId xmlns:a16="http://schemas.microsoft.com/office/drawing/2014/main" id="{FFA49950-3506-4A72-8F4C-184AA98F7F6C}"/>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Includes a 2023 US expert screen-reader evaluation. No shared prevalence or current Singapore access test.</a:t>
            </a:r>
          </a:p>
        </p:txBody>
      </p:sp>
      <p:sp>
        <p:nvSpPr>
          <p:cNvPr id="11" name="slide-number">
            <a:extLst xmlns:a="http://schemas.openxmlformats.org/drawingml/2006/main">
              <a:ext uri="{FF2B5EF4-FFF2-40B4-BE49-F238E27FC236}">
                <a16:creationId xmlns:a16="http://schemas.microsoft.com/office/drawing/2014/main" id="{404B999F-34DC-4726-A046-1DE8FA2F2DD3}"/>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06</a:t>
            </a:r>
          </a:p>
        </p:txBody>
      </p:sp>
    </p:spTree>
    <p:extLst>
      <p:ext uri="{BB962C8B-B14F-4D97-AF65-F5344CB8AC3E}">
        <p14:creationId xmlns:p14="http://schemas.microsoft.com/office/powerpoint/2010/main" val="1861417209"/>
      </p:ext>
    </p:extLst>
  </p:cSld>
</p:sld>
</file>

<file path=ppt/slides/slide7.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A338427F-1F84-418C-84DE-C7444BF6EE17}"/>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Which opportunities deserve effort?</a:t>
            </a:r>
          </a:p>
        </p:txBody>
      </p:sp>
      <p:sp>
        <p:nvSpPr>
          <p:cNvPr id="2" name="lead">
            <a:extLst xmlns:a="http://schemas.openxmlformats.org/drawingml/2006/main">
              <a:ext uri="{FF2B5EF4-FFF2-40B4-BE49-F238E27FC236}">
                <a16:creationId xmlns:a16="http://schemas.microsoft.com/office/drawing/2014/main" id="{2D98DC41-DD65-49BC-BC85-BB6DFCA8A829}"/>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 job title alone leaves important questions unanswered.</a:t>
            </a:r>
          </a:p>
        </p:txBody>
      </p:sp>
      <p:sp>
        <p:nvSpPr>
          <p:cNvPr id="3" name="column-heading-0">
            <a:extLst xmlns:a="http://schemas.openxmlformats.org/drawingml/2006/main">
              <a:ext uri="{FF2B5EF4-FFF2-40B4-BE49-F238E27FC236}">
                <a16:creationId xmlns:a16="http://schemas.microsoft.com/office/drawing/2014/main" id="{65AA28ED-553F-4DC5-82C7-51A2BA8BB3FE}"/>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The work and conditions</a:t>
            </a:r>
          </a:p>
        </p:txBody>
      </p:sp>
      <p:sp>
        <p:nvSpPr>
          <p:cNvPr id="4" name="column-0-detail-0">
            <a:extLst xmlns:a="http://schemas.openxmlformats.org/drawingml/2006/main">
              <a:ext uri="{FF2B5EF4-FFF2-40B4-BE49-F238E27FC236}">
                <a16:creationId xmlns:a16="http://schemas.microsoft.com/office/drawing/2014/main" id="{0898580C-0AAC-47EA-B158-42AD4EE26D2E}"/>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What tasks and essential requirements are involved?</a:t>
            </a:r>
          </a:p>
        </p:txBody>
      </p:sp>
      <p:sp>
        <p:nvSpPr>
          <p:cNvPr id="5" name="column-0-detail-1">
            <a:extLst xmlns:a="http://schemas.openxmlformats.org/drawingml/2006/main">
              <a:ext uri="{FF2B5EF4-FFF2-40B4-BE49-F238E27FC236}">
                <a16:creationId xmlns:a16="http://schemas.microsoft.com/office/drawing/2014/main" id="{AA8E734B-D09C-4449-B397-6E82FDA116E6}"/>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What hours, location and compensation terms apply?</a:t>
            </a:r>
          </a:p>
        </p:txBody>
      </p:sp>
      <p:sp>
        <p:nvSpPr>
          <p:cNvPr id="6" name="column-heading-1">
            <a:extLst xmlns:a="http://schemas.openxmlformats.org/drawingml/2006/main">
              <a:ext uri="{FF2B5EF4-FFF2-40B4-BE49-F238E27FC236}">
                <a16:creationId xmlns:a16="http://schemas.microsoft.com/office/drawing/2014/main" id="{D28CA5B8-1D79-4005-BF54-691316F5EE7B}"/>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The person's evidence</a:t>
            </a:r>
          </a:p>
        </p:txBody>
      </p:sp>
      <p:sp>
        <p:nvSpPr>
          <p:cNvPr id="7" name="column-1-detail-0">
            <a:extLst xmlns:a="http://schemas.openxmlformats.org/drawingml/2006/main">
              <a:ext uri="{FF2B5EF4-FFF2-40B4-BE49-F238E27FC236}">
                <a16:creationId xmlns:a16="http://schemas.microsoft.com/office/drawing/2014/main" id="{D4ECDFFA-6A01-4744-8946-13807AC0F662}"/>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Which real experience supports those tasks?</a:t>
            </a:r>
          </a:p>
        </p:txBody>
      </p:sp>
      <p:sp>
        <p:nvSpPr>
          <p:cNvPr id="8" name="column-1-detail-1">
            <a:extLst xmlns:a="http://schemas.openxmlformats.org/drawingml/2006/main">
              <a:ext uri="{FF2B5EF4-FFF2-40B4-BE49-F238E27FC236}">
                <a16:creationId xmlns:a16="http://schemas.microsoft.com/office/drawing/2014/main" id="{71859693-2486-46D7-8D80-27CB39F98D74}"/>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Which constraints, preferences or gaps matter?</a:t>
            </a:r>
          </a:p>
        </p:txBody>
      </p:sp>
      <p:sp>
        <p:nvSpPr>
          <p:cNvPr id="9" name="takeaway">
            <a:extLst xmlns:a="http://schemas.openxmlformats.org/drawingml/2006/main">
              <a:ext uri="{FF2B5EF4-FFF2-40B4-BE49-F238E27FC236}">
                <a16:creationId xmlns:a16="http://schemas.microsoft.com/office/drawing/2014/main" id="{4D425C7F-8672-4D1E-8363-FDBA3666B350}"/>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Missing information should become a question, rather than an assumed answer.</a:t>
            </a:r>
          </a:p>
        </p:txBody>
      </p:sp>
      <p:sp>
        <p:nvSpPr>
          <p:cNvPr id="10" name="evidence-boundary">
            <a:extLst xmlns:a="http://schemas.openxmlformats.org/drawingml/2006/main">
              <a:ext uri="{FF2B5EF4-FFF2-40B4-BE49-F238E27FC236}">
                <a16:creationId xmlns:a16="http://schemas.microsoft.com/office/drawing/2014/main" id="{7D23CC61-37FE-4025-B82E-E35356035D71}"/>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D02–D05, D10–D12. Research-derived guidance, not an individual suitability assessment.</a:t>
            </a:r>
          </a:p>
        </p:txBody>
      </p:sp>
      <p:sp>
        <p:nvSpPr>
          <p:cNvPr id="11" name="slide-number">
            <a:extLst xmlns:a="http://schemas.openxmlformats.org/drawingml/2006/main">
              <a:ext uri="{FF2B5EF4-FFF2-40B4-BE49-F238E27FC236}">
                <a16:creationId xmlns:a16="http://schemas.microsoft.com/office/drawing/2014/main" id="{A35AA8EA-7795-4266-8420-FC87998D936D}"/>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07</a:t>
            </a:r>
          </a:p>
        </p:txBody>
      </p:sp>
    </p:spTree>
    <p:extLst>
      <p:ext uri="{BB962C8B-B14F-4D97-AF65-F5344CB8AC3E}">
        <p14:creationId xmlns:p14="http://schemas.microsoft.com/office/powerpoint/2010/main" val="934557114"/>
      </p:ext>
    </p:extLst>
  </p:cSld>
</p:sld>
</file>

<file path=ppt/slides/slide8.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D85C026-EE55-431B-B3C6-BC32D95FF1AF}"/>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A warning sign starts a check</a:t>
            </a:r>
          </a:p>
        </p:txBody>
      </p:sp>
      <p:sp>
        <p:nvSpPr>
          <p:cNvPr id="2" name="lead">
            <a:extLst xmlns:a="http://schemas.openxmlformats.org/drawingml/2006/main">
              <a:ext uri="{FF2B5EF4-FFF2-40B4-BE49-F238E27FC236}">
                <a16:creationId xmlns:a16="http://schemas.microsoft.com/office/drawing/2014/main" id="{7189643A-34FA-4A59-9225-DECFC9B5B42C}"/>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 specific concern is more useful when paired with a proportionate question.</a:t>
            </a:r>
          </a:p>
        </p:txBody>
      </p:sp>
      <p:graphicFrame>
        <p:nvGraphicFramePr>
          <p:cNvPr id="3" name="">
            <a:extLst xmlns:a="http://schemas.openxmlformats.org/drawingml/2006/main">
              <a:ext uri="{FF2B5EF4-FFF2-40B4-BE49-F238E27FC236}">
                <a16:creationId xmlns:a16="http://schemas.microsoft.com/office/drawing/2014/main" id="{F1E0514C-1602-415B-A2A1-A67CB8E97C86}"/>
              </a:ext>
            </a:extLst>
          </p:cNvPr>
          <p:cNvGraphicFramePr/>
          <p:nvPr/>
        </p:nvGraphicFramePr>
        <p:xfrm>
          <a:off xmlns:a="http://schemas.openxmlformats.org/drawingml/2006/main" x="723900" y="2533650"/>
          <a:ext xmlns:a="http://schemas.openxmlformats.org/drawingml/2006/main" cx="10820400" cy="3219450"/>
        </p:xfrm>
        <a:graphic xmlns:a="http://schemas.openxmlformats.org/drawingml/2006/main">
          <a:graphicData uri="http://schemas.openxmlformats.org/drawingml/2006/table">
            <a:tbl>
              <a:tblPr firstRow="1" bandRow="0"/>
              <a:tblGrid>
                <a:gridCol w="4191000"/>
                <a:gridCol w="6629400"/>
              </a:tblGrid>
              <a:tr h="457200">
                <a:tc>
                  <a:txBody>
                    <a:bodyPr wrap="square" lIns="133350" tIns="76200" rIns="133350" bIns="76200">
                      <a:noAutofit/>
                    </a:bodyPr>
                    <a:lstStyle/>
                    <a:p>
                      <a:r>
                        <a:rPr sz="1800" b="1">
                          <a:solidFill>
                            <a:srgbClr val="FFFFFF"/>
                          </a:solidFill>
                          <a:latin typeface="Arial"/>
                          <a:ea typeface="Arial"/>
                          <a:cs typeface="Arial"/>
                        </a:rPr>
                        <a:t>Signal or uncertainty</a:t>
                      </a:r>
                    </a:p>
                  </a:txBody>
                  <a:tcPr marL="91440" marR="91440" marT="45720" marB="45720" anchor="ctr">
                    <a:lnL w="6668">
                      <a:solidFill>
                        <a:srgbClr val="D9D8D2"/>
                      </a:solidFill>
                      <a:prstDash val="solid"/>
                    </a:lnL>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76200" rIns="133350" bIns="76200">
                      <a:noAutofit/>
                    </a:bodyPr>
                    <a:lstStyle/>
                    <a:p>
                      <a:r>
                        <a:rPr sz="1800" b="1">
                          <a:solidFill>
                            <a:srgbClr val="FFFFFF"/>
                          </a:solidFill>
                          <a:latin typeface="Arial"/>
                          <a:ea typeface="Arial"/>
                          <a:cs typeface="Arial"/>
                        </a:rPr>
                        <a:t>Useful next check</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r>
              <a:tr h="690563">
                <a:tc>
                  <a:txBody>
                    <a:bodyPr wrap="square" lIns="133350" tIns="76200" rIns="133350" bIns="76200">
                      <a:noAutofit/>
                    </a:bodyPr>
                    <a:lstStyle/>
                    <a:p>
                      <a:r>
                        <a:rPr sz="1875" b="0">
                          <a:solidFill>
                            <a:srgbClr val="172D40"/>
                          </a:solidFill>
                          <a:latin typeface="Arial"/>
                          <a:ea typeface="Arial"/>
                          <a:cs typeface="Arial"/>
                        </a:rPr>
                        <a:t>Unclear recruiter identity</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Independently confirm the organisation, contact and vacancy.</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Vague or changing duties</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Ask what the work involves and how success is assessed.</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Pressure or substantial unpaid work</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Clarify the deadline, assessment scope and reason.</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Repeated listing or hostile wording</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Ask about hiring history, expectations and conditions.</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bl>
          </a:graphicData>
        </a:graphic>
      </p:graphicFrame>
      <p:sp>
        <p:nvSpPr>
          <p:cNvPr id="4" name="evidence-boundary">
            <a:extLst xmlns:a="http://schemas.openxmlformats.org/drawingml/2006/main">
              <a:ext uri="{FF2B5EF4-FFF2-40B4-BE49-F238E27FC236}">
                <a16:creationId xmlns:a16="http://schemas.microsoft.com/office/drawing/2014/main" id="{A2D28D48-2253-4F5A-A7D5-B69161E6BBDB}"/>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D01, D02, D05, D08–D09. Wording or a repeated listing cannot establish employer intent.</a:t>
            </a:r>
          </a:p>
        </p:txBody>
      </p:sp>
      <p:sp>
        <p:nvSpPr>
          <p:cNvPr id="5" name="slide-number">
            <a:extLst xmlns:a="http://schemas.openxmlformats.org/drawingml/2006/main">
              <a:ext uri="{FF2B5EF4-FFF2-40B4-BE49-F238E27FC236}">
                <a16:creationId xmlns:a16="http://schemas.microsoft.com/office/drawing/2014/main" id="{8A5FD62A-0141-4109-8D5D-0FDE28D6BB95}"/>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08</a:t>
            </a:r>
          </a:p>
        </p:txBody>
      </p:sp>
    </p:spTree>
    <p:extLst>
      <p:ext uri="{BB962C8B-B14F-4D97-AF65-F5344CB8AC3E}">
        <p14:creationId xmlns:p14="http://schemas.microsoft.com/office/powerpoint/2010/main" val="1382345237"/>
      </p:ext>
    </p:extLst>
  </p:cSld>
</p:sld>
</file>

<file path=ppt/slides/slide9.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005C6645-B300-4B00-BEFA-7C606720F472}"/>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Fit is more than a keyword score</a:t>
            </a:r>
          </a:p>
        </p:txBody>
      </p:sp>
      <p:sp>
        <p:nvSpPr>
          <p:cNvPr id="2" name="lead">
            <a:extLst xmlns:a="http://schemas.openxmlformats.org/drawingml/2006/main">
              <a:ext uri="{FF2B5EF4-FFF2-40B4-BE49-F238E27FC236}">
                <a16:creationId xmlns:a16="http://schemas.microsoft.com/office/drawing/2014/main" id="{8963398B-F47D-4A66-BECA-3FEDBDA0A276}"/>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An incomplete record is different from a demonstrated skill gap.</a:t>
            </a:r>
          </a:p>
        </p:txBody>
      </p:sp>
      <p:sp>
        <p:nvSpPr>
          <p:cNvPr id="3" name="diagram-heading-0">
            <a:extLst xmlns:a="http://schemas.openxmlformats.org/drawingml/2006/main">
              <a:ext uri="{FF2B5EF4-FFF2-40B4-BE49-F238E27FC236}">
                <a16:creationId xmlns:a16="http://schemas.microsoft.com/office/drawing/2014/main" id="{3DDE32B9-2E20-4054-8B3F-E82FBEF8E180}"/>
              </a:ext>
            </a:extLst>
          </p:cNvPr>
          <p:cNvSpPr>
            <a:spLocks xmlns:a="http://schemas.openxmlformats.org/drawingml/2006/main" noGrp="1"/>
          </p:cNvSpPr>
          <p:nvPr/>
        </p:nvSpPr>
        <p:spPr>
          <a:xfrm xmlns:a="http://schemas.openxmlformats.org/drawingml/2006/main">
            <a:off x="762000" y="281940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166B65"/>
                </a:solidFill>
                <a:latin typeface="Arial"/>
                <a:ea typeface="Arial"/>
                <a:cs typeface="Arial"/>
              </a:defRPr>
            </a:defPPr>
            <a:lvl1pPr algn="l">
              <a:defRPr sz="2625" b="1">
                <a:solidFill>
                  <a:srgbClr val="166B65"/>
                </a:solidFill>
                <a:latin typeface="Arial"/>
                <a:ea typeface="Arial"/>
                <a:cs typeface="Arial"/>
              </a:defRPr>
            </a:lvl1pPr>
            <a:lvl2pPr algn="l">
              <a:defRPr sz="2625" b="1">
                <a:solidFill>
                  <a:srgbClr val="166B65"/>
                </a:solidFill>
                <a:latin typeface="Arial"/>
                <a:ea typeface="Arial"/>
                <a:cs typeface="Arial"/>
              </a:defRPr>
            </a:lvl2pPr>
            <a:lvl3pPr algn="l">
              <a:defRPr sz="2625" b="1">
                <a:solidFill>
                  <a:srgbClr val="166B65"/>
                </a:solidFill>
                <a:latin typeface="Arial"/>
                <a:ea typeface="Arial"/>
                <a:cs typeface="Arial"/>
              </a:defRPr>
            </a:lvl3pPr>
            <a:lvl4pPr algn="l">
              <a:defRPr sz="2625" b="1">
                <a:solidFill>
                  <a:srgbClr val="166B65"/>
                </a:solidFill>
                <a:latin typeface="Arial"/>
                <a:ea typeface="Arial"/>
                <a:cs typeface="Arial"/>
              </a:defRPr>
            </a:lvl4pPr>
            <a:lvl5pPr algn="l">
              <a:defRPr sz="2625" b="1">
                <a:solidFill>
                  <a:srgbClr val="166B65"/>
                </a:solidFill>
                <a:latin typeface="Arial"/>
                <a:ea typeface="Arial"/>
                <a:cs typeface="Arial"/>
              </a:defRPr>
            </a:lvl5pPr>
            <a:lvl6pPr algn="l">
              <a:defRPr sz="2625" b="1">
                <a:solidFill>
                  <a:srgbClr val="166B65"/>
                </a:solidFill>
                <a:latin typeface="Arial"/>
                <a:ea typeface="Arial"/>
                <a:cs typeface="Arial"/>
              </a:defRPr>
            </a:lvl6pPr>
            <a:lvl7pPr algn="l">
              <a:defRPr sz="2625" b="1">
                <a:solidFill>
                  <a:srgbClr val="166B65"/>
                </a:solidFill>
                <a:latin typeface="Arial"/>
                <a:ea typeface="Arial"/>
                <a:cs typeface="Arial"/>
              </a:defRPr>
            </a:lvl7pPr>
            <a:lvl8pPr algn="l">
              <a:defRPr sz="2625" b="1">
                <a:solidFill>
                  <a:srgbClr val="166B65"/>
                </a:solidFill>
                <a:latin typeface="Arial"/>
                <a:ea typeface="Arial"/>
                <a:cs typeface="Arial"/>
              </a:defRPr>
            </a:lvl8pPr>
            <a:lvl9pPr algn="l">
              <a:defRPr sz="2625" b="1">
                <a:solidFill>
                  <a:srgbClr val="166B65"/>
                </a:solidFill>
                <a:latin typeface="Arial"/>
                <a:ea typeface="Arial"/>
                <a:cs typeface="Arial"/>
              </a:defRPr>
            </a:lvl9pPr>
          </a:lstStyle>
          <a:p xmlns:a="http://schemas.openxmlformats.org/drawingml/2006/main">
            <a:pPr algn="l">
              <a:defRPr sz="2625" b="1">
                <a:solidFill>
                  <a:srgbClr val="166B65"/>
                </a:solidFill>
                <a:latin typeface="Arial"/>
                <a:ea typeface="Arial"/>
                <a:cs typeface="Arial"/>
              </a:defRPr>
            </a:pPr>
            <a:r>
              <a:rPr sz="2625" b="1">
                <a:solidFill>
                  <a:srgbClr val="166B65"/>
                </a:solidFill>
                <a:latin typeface="Arial"/>
                <a:ea typeface="Arial"/>
                <a:cs typeface="Arial"/>
              </a:rPr>
              <a:t>Demonstrated</a:t>
            </a:r>
          </a:p>
        </p:txBody>
      </p:sp>
      <p:sp>
        <p:nvSpPr>
          <p:cNvPr id="4" name="diagram-detail-0">
            <a:extLst xmlns:a="http://schemas.openxmlformats.org/drawingml/2006/main">
              <a:ext uri="{FF2B5EF4-FFF2-40B4-BE49-F238E27FC236}">
                <a16:creationId xmlns:a16="http://schemas.microsoft.com/office/drawing/2014/main" id="{F6160757-ECAA-4045-BF57-B22ED5543074}"/>
              </a:ext>
            </a:extLst>
          </p:cNvPr>
          <p:cNvSpPr>
            <a:spLocks xmlns:a="http://schemas.openxmlformats.org/drawingml/2006/main" noGrp="1"/>
          </p:cNvSpPr>
          <p:nvPr/>
        </p:nvSpPr>
        <p:spPr>
          <a:xfrm xmlns:a="http://schemas.openxmlformats.org/drawingml/2006/main">
            <a:off x="762000" y="3857625"/>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 real task or outcome supports the requirement.</a:t>
            </a:r>
          </a:p>
        </p:txBody>
      </p:sp>
      <p:sp>
        <p:nvSpPr>
          <p:cNvPr id="5" name="diagram-heading-1">
            <a:extLst xmlns:a="http://schemas.openxmlformats.org/drawingml/2006/main">
              <a:ext uri="{FF2B5EF4-FFF2-40B4-BE49-F238E27FC236}">
                <a16:creationId xmlns:a16="http://schemas.microsoft.com/office/drawing/2014/main" id="{44B2ECB5-6C2B-4D74-AFDB-9026BF6375BF}"/>
              </a:ext>
            </a:extLst>
          </p:cNvPr>
          <p:cNvSpPr>
            <a:spLocks xmlns:a="http://schemas.openxmlformats.org/drawingml/2006/main" noGrp="1"/>
          </p:cNvSpPr>
          <p:nvPr/>
        </p:nvSpPr>
        <p:spPr>
          <a:xfrm xmlns:a="http://schemas.openxmlformats.org/drawingml/2006/main">
            <a:off x="4476750" y="281940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166B65"/>
                </a:solidFill>
                <a:latin typeface="Arial"/>
                <a:ea typeface="Arial"/>
                <a:cs typeface="Arial"/>
              </a:defRPr>
            </a:defPPr>
            <a:lvl1pPr algn="l">
              <a:defRPr sz="2625" b="1">
                <a:solidFill>
                  <a:srgbClr val="166B65"/>
                </a:solidFill>
                <a:latin typeface="Arial"/>
                <a:ea typeface="Arial"/>
                <a:cs typeface="Arial"/>
              </a:defRPr>
            </a:lvl1pPr>
            <a:lvl2pPr algn="l">
              <a:defRPr sz="2625" b="1">
                <a:solidFill>
                  <a:srgbClr val="166B65"/>
                </a:solidFill>
                <a:latin typeface="Arial"/>
                <a:ea typeface="Arial"/>
                <a:cs typeface="Arial"/>
              </a:defRPr>
            </a:lvl2pPr>
            <a:lvl3pPr algn="l">
              <a:defRPr sz="2625" b="1">
                <a:solidFill>
                  <a:srgbClr val="166B65"/>
                </a:solidFill>
                <a:latin typeface="Arial"/>
                <a:ea typeface="Arial"/>
                <a:cs typeface="Arial"/>
              </a:defRPr>
            </a:lvl3pPr>
            <a:lvl4pPr algn="l">
              <a:defRPr sz="2625" b="1">
                <a:solidFill>
                  <a:srgbClr val="166B65"/>
                </a:solidFill>
                <a:latin typeface="Arial"/>
                <a:ea typeface="Arial"/>
                <a:cs typeface="Arial"/>
              </a:defRPr>
            </a:lvl4pPr>
            <a:lvl5pPr algn="l">
              <a:defRPr sz="2625" b="1">
                <a:solidFill>
                  <a:srgbClr val="166B65"/>
                </a:solidFill>
                <a:latin typeface="Arial"/>
                <a:ea typeface="Arial"/>
                <a:cs typeface="Arial"/>
              </a:defRPr>
            </a:lvl5pPr>
            <a:lvl6pPr algn="l">
              <a:defRPr sz="2625" b="1">
                <a:solidFill>
                  <a:srgbClr val="166B65"/>
                </a:solidFill>
                <a:latin typeface="Arial"/>
                <a:ea typeface="Arial"/>
                <a:cs typeface="Arial"/>
              </a:defRPr>
            </a:lvl6pPr>
            <a:lvl7pPr algn="l">
              <a:defRPr sz="2625" b="1">
                <a:solidFill>
                  <a:srgbClr val="166B65"/>
                </a:solidFill>
                <a:latin typeface="Arial"/>
                <a:ea typeface="Arial"/>
                <a:cs typeface="Arial"/>
              </a:defRPr>
            </a:lvl7pPr>
            <a:lvl8pPr algn="l">
              <a:defRPr sz="2625" b="1">
                <a:solidFill>
                  <a:srgbClr val="166B65"/>
                </a:solidFill>
                <a:latin typeface="Arial"/>
                <a:ea typeface="Arial"/>
                <a:cs typeface="Arial"/>
              </a:defRPr>
            </a:lvl8pPr>
            <a:lvl9pPr algn="l">
              <a:defRPr sz="2625" b="1">
                <a:solidFill>
                  <a:srgbClr val="166B65"/>
                </a:solidFill>
                <a:latin typeface="Arial"/>
                <a:ea typeface="Arial"/>
                <a:cs typeface="Arial"/>
              </a:defRPr>
            </a:lvl9pPr>
          </a:lstStyle>
          <a:p xmlns:a="http://schemas.openxmlformats.org/drawingml/2006/main">
            <a:pPr algn="l">
              <a:defRPr sz="2625" b="1">
                <a:solidFill>
                  <a:srgbClr val="166B65"/>
                </a:solidFill>
                <a:latin typeface="Arial"/>
                <a:ea typeface="Arial"/>
                <a:cs typeface="Arial"/>
              </a:defRPr>
            </a:pPr>
            <a:r>
              <a:rPr sz="2625" b="1">
                <a:solidFill>
                  <a:srgbClr val="166B65"/>
                </a:solidFill>
                <a:latin typeface="Arial"/>
                <a:ea typeface="Arial"/>
                <a:cs typeface="Arial"/>
              </a:rPr>
              <a:t>Transferable</a:t>
            </a:r>
          </a:p>
        </p:txBody>
      </p:sp>
      <p:sp>
        <p:nvSpPr>
          <p:cNvPr id="6" name="diagram-detail-1">
            <a:extLst xmlns:a="http://schemas.openxmlformats.org/drawingml/2006/main">
              <a:ext uri="{FF2B5EF4-FFF2-40B4-BE49-F238E27FC236}">
                <a16:creationId xmlns:a16="http://schemas.microsoft.com/office/drawing/2014/main" id="{4AF8A762-389A-4E43-ACCF-18290243EE12}"/>
              </a:ext>
            </a:extLst>
          </p:cNvPr>
          <p:cNvSpPr>
            <a:spLocks xmlns:a="http://schemas.openxmlformats.org/drawingml/2006/main" noGrp="1"/>
          </p:cNvSpPr>
          <p:nvPr/>
        </p:nvSpPr>
        <p:spPr>
          <a:xfrm xmlns:a="http://schemas.openxmlformats.org/drawingml/2006/main">
            <a:off x="4476750" y="3857625"/>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Explain how existing experience applies here.</a:t>
            </a:r>
          </a:p>
        </p:txBody>
      </p:sp>
      <p:sp>
        <p:nvSpPr>
          <p:cNvPr id="7" name="diagram-heading-2">
            <a:extLst xmlns:a="http://schemas.openxmlformats.org/drawingml/2006/main">
              <a:ext uri="{FF2B5EF4-FFF2-40B4-BE49-F238E27FC236}">
                <a16:creationId xmlns:a16="http://schemas.microsoft.com/office/drawing/2014/main" id="{5AEC6EAE-B68E-43BD-9DED-64D2132E1914}"/>
              </a:ext>
            </a:extLst>
          </p:cNvPr>
          <p:cNvSpPr>
            <a:spLocks xmlns:a="http://schemas.openxmlformats.org/drawingml/2006/main" noGrp="1"/>
          </p:cNvSpPr>
          <p:nvPr/>
        </p:nvSpPr>
        <p:spPr>
          <a:xfrm xmlns:a="http://schemas.openxmlformats.org/drawingml/2006/main">
            <a:off x="8191500" y="281940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166B65"/>
                </a:solidFill>
                <a:latin typeface="Arial"/>
                <a:ea typeface="Arial"/>
                <a:cs typeface="Arial"/>
              </a:defRPr>
            </a:defPPr>
            <a:lvl1pPr algn="l">
              <a:defRPr sz="2625" b="1">
                <a:solidFill>
                  <a:srgbClr val="166B65"/>
                </a:solidFill>
                <a:latin typeface="Arial"/>
                <a:ea typeface="Arial"/>
                <a:cs typeface="Arial"/>
              </a:defRPr>
            </a:lvl1pPr>
            <a:lvl2pPr algn="l">
              <a:defRPr sz="2625" b="1">
                <a:solidFill>
                  <a:srgbClr val="166B65"/>
                </a:solidFill>
                <a:latin typeface="Arial"/>
                <a:ea typeface="Arial"/>
                <a:cs typeface="Arial"/>
              </a:defRPr>
            </a:lvl2pPr>
            <a:lvl3pPr algn="l">
              <a:defRPr sz="2625" b="1">
                <a:solidFill>
                  <a:srgbClr val="166B65"/>
                </a:solidFill>
                <a:latin typeface="Arial"/>
                <a:ea typeface="Arial"/>
                <a:cs typeface="Arial"/>
              </a:defRPr>
            </a:lvl3pPr>
            <a:lvl4pPr algn="l">
              <a:defRPr sz="2625" b="1">
                <a:solidFill>
                  <a:srgbClr val="166B65"/>
                </a:solidFill>
                <a:latin typeface="Arial"/>
                <a:ea typeface="Arial"/>
                <a:cs typeface="Arial"/>
              </a:defRPr>
            </a:lvl4pPr>
            <a:lvl5pPr algn="l">
              <a:defRPr sz="2625" b="1">
                <a:solidFill>
                  <a:srgbClr val="166B65"/>
                </a:solidFill>
                <a:latin typeface="Arial"/>
                <a:ea typeface="Arial"/>
                <a:cs typeface="Arial"/>
              </a:defRPr>
            </a:lvl5pPr>
            <a:lvl6pPr algn="l">
              <a:defRPr sz="2625" b="1">
                <a:solidFill>
                  <a:srgbClr val="166B65"/>
                </a:solidFill>
                <a:latin typeface="Arial"/>
                <a:ea typeface="Arial"/>
                <a:cs typeface="Arial"/>
              </a:defRPr>
            </a:lvl6pPr>
            <a:lvl7pPr algn="l">
              <a:defRPr sz="2625" b="1">
                <a:solidFill>
                  <a:srgbClr val="166B65"/>
                </a:solidFill>
                <a:latin typeface="Arial"/>
                <a:ea typeface="Arial"/>
                <a:cs typeface="Arial"/>
              </a:defRPr>
            </a:lvl7pPr>
            <a:lvl8pPr algn="l">
              <a:defRPr sz="2625" b="1">
                <a:solidFill>
                  <a:srgbClr val="166B65"/>
                </a:solidFill>
                <a:latin typeface="Arial"/>
                <a:ea typeface="Arial"/>
                <a:cs typeface="Arial"/>
              </a:defRPr>
            </a:lvl8pPr>
            <a:lvl9pPr algn="l">
              <a:defRPr sz="2625" b="1">
                <a:solidFill>
                  <a:srgbClr val="166B65"/>
                </a:solidFill>
                <a:latin typeface="Arial"/>
                <a:ea typeface="Arial"/>
                <a:cs typeface="Arial"/>
              </a:defRPr>
            </a:lvl9pPr>
          </a:lstStyle>
          <a:p xmlns:a="http://schemas.openxmlformats.org/drawingml/2006/main">
            <a:pPr algn="l">
              <a:defRPr sz="2625" b="1">
                <a:solidFill>
                  <a:srgbClr val="166B65"/>
                </a:solidFill>
                <a:latin typeface="Arial"/>
                <a:ea typeface="Arial"/>
                <a:cs typeface="Arial"/>
              </a:defRPr>
            </a:pPr>
            <a:r>
              <a:rPr sz="2625" b="1">
                <a:solidFill>
                  <a:srgbClr val="166B65"/>
                </a:solidFill>
                <a:latin typeface="Arial"/>
                <a:ea typeface="Arial"/>
                <a:cs typeface="Arial"/>
              </a:rPr>
              <a:t>Unconfirmed</a:t>
            </a:r>
          </a:p>
        </p:txBody>
      </p:sp>
      <p:sp>
        <p:nvSpPr>
          <p:cNvPr id="8" name="diagram-detail-2">
            <a:extLst xmlns:a="http://schemas.openxmlformats.org/drawingml/2006/main">
              <a:ext uri="{FF2B5EF4-FFF2-40B4-BE49-F238E27FC236}">
                <a16:creationId xmlns:a16="http://schemas.microsoft.com/office/drawing/2014/main" id="{BFF37E30-5CD2-487E-B34C-34F00E4CA871}"/>
              </a:ext>
            </a:extLst>
          </p:cNvPr>
          <p:cNvSpPr>
            <a:spLocks xmlns:a="http://schemas.openxmlformats.org/drawingml/2006/main" noGrp="1"/>
          </p:cNvSpPr>
          <p:nvPr/>
        </p:nvSpPr>
        <p:spPr>
          <a:xfrm xmlns:a="http://schemas.openxmlformats.org/drawingml/2006/main">
            <a:off x="8191500" y="3857625"/>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Ask for evidence or retain a genuine gap.</a:t>
            </a:r>
          </a:p>
        </p:txBody>
      </p:sp>
      <p:sp>
        <p:nvSpPr>
          <p:cNvPr id="9" name="takeaway">
            <a:extLst xmlns:a="http://schemas.openxmlformats.org/drawingml/2006/main">
              <a:ext uri="{FF2B5EF4-FFF2-40B4-BE49-F238E27FC236}">
                <a16:creationId xmlns:a16="http://schemas.microsoft.com/office/drawing/2014/main" id="{CD34988C-3884-44FF-9AF1-CC40F73EF7AF}"/>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Essential criteria still matter. Missing profile detail does not prove missing ability.</a:t>
            </a:r>
          </a:p>
        </p:txBody>
      </p:sp>
      <p:sp>
        <p:nvSpPr>
          <p:cNvPr id="10" name="evidence-boundary">
            <a:extLst xmlns:a="http://schemas.openxmlformats.org/drawingml/2006/main">
              <a:ext uri="{FF2B5EF4-FFF2-40B4-BE49-F238E27FC236}">
                <a16:creationId xmlns:a16="http://schemas.microsoft.com/office/drawing/2014/main" id="{8AC8BA0D-728D-468F-A3AD-FFC02AF95870}"/>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D02, D03, D10, D12. These are assessment distinctions, not a predictive scoring system.</a:t>
            </a:r>
          </a:p>
        </p:txBody>
      </p:sp>
      <p:sp>
        <p:nvSpPr>
          <p:cNvPr id="11" name="slide-number">
            <a:extLst xmlns:a="http://schemas.openxmlformats.org/drawingml/2006/main">
              <a:ext uri="{FF2B5EF4-FFF2-40B4-BE49-F238E27FC236}">
                <a16:creationId xmlns:a16="http://schemas.microsoft.com/office/drawing/2014/main" id="{35C94271-F68A-4531-B3CD-5DC942293EB2}"/>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09</a:t>
            </a:r>
          </a:p>
        </p:txBody>
      </p:sp>
    </p:spTree>
    <p:extLst>
      <p:ext uri="{BB962C8B-B14F-4D97-AF65-F5344CB8AC3E}">
        <p14:creationId xmlns:p14="http://schemas.microsoft.com/office/powerpoint/2010/main" val="230745808"/>
      </p:ext>
    </p:extLst>
  </p:cSld>
</p:sld>
</file>

<file path=ppt/slides/slide10.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BE61D01-9452-49D1-B7B2-61B65AC1A996}"/>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Truthful tailoring begins with facts</a:t>
            </a:r>
          </a:p>
        </p:txBody>
      </p:sp>
      <p:sp>
        <p:nvSpPr>
          <p:cNvPr id="2" name="lead">
            <a:extLst xmlns:a="http://schemas.openxmlformats.org/drawingml/2006/main">
              <a:ext uri="{FF2B5EF4-FFF2-40B4-BE49-F238E27FC236}">
                <a16:creationId xmlns:a16="http://schemas.microsoft.com/office/drawing/2014/main" id="{8C7531DA-D7EC-413F-9BF1-1C381152440B}"/>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Fictional fact record: clearer wording must stay within what it establishes.</a:t>
            </a:r>
          </a:p>
        </p:txBody>
      </p:sp>
      <p:graphicFrame>
        <p:nvGraphicFramePr>
          <p:cNvPr id="3" name="">
            <a:extLst xmlns:a="http://schemas.openxmlformats.org/drawingml/2006/main">
              <a:ext uri="{FF2B5EF4-FFF2-40B4-BE49-F238E27FC236}">
                <a16:creationId xmlns:a16="http://schemas.microsoft.com/office/drawing/2014/main" id="{EBDB5D2D-2B9F-4190-B404-199FBC057BEB}"/>
              </a:ext>
            </a:extLst>
          </p:cNvPr>
          <p:cNvGraphicFramePr/>
          <p:nvPr/>
        </p:nvGraphicFramePr>
        <p:xfrm>
          <a:off xmlns:a="http://schemas.openxmlformats.org/drawingml/2006/main" x="723900" y="2533650"/>
          <a:ext xmlns:a="http://schemas.openxmlformats.org/drawingml/2006/main" cx="10820400" cy="3143250"/>
        </p:xfrm>
        <a:graphic xmlns:a="http://schemas.openxmlformats.org/drawingml/2006/main">
          <a:graphicData uri="http://schemas.openxmlformats.org/drawingml/2006/table">
            <a:tbl>
              <a:tblPr firstRow="1" bandRow="0"/>
              <a:tblGrid>
                <a:gridCol w="3143250"/>
                <a:gridCol w="4438650"/>
                <a:gridCol w="3238500"/>
              </a:tblGrid>
              <a:tr h="457200">
                <a:tc>
                  <a:txBody>
                    <a:bodyPr wrap="square" lIns="133350" tIns="76200" rIns="133350" bIns="76200">
                      <a:noAutofit/>
                    </a:bodyPr>
                    <a:lstStyle/>
                    <a:p>
                      <a:r>
                        <a:rPr sz="1800" b="1">
                          <a:solidFill>
                            <a:srgbClr val="FFFFFF"/>
                          </a:solidFill>
                          <a:latin typeface="Arial"/>
                          <a:ea typeface="Arial"/>
                          <a:cs typeface="Arial"/>
                        </a:rPr>
                        <a:t>Known experience</a:t>
                      </a:r>
                    </a:p>
                  </a:txBody>
                  <a:tcPr marL="91440" marR="91440" marT="45720" marB="45720" anchor="ctr">
                    <a:lnL w="6668">
                      <a:solidFill>
                        <a:srgbClr val="D9D8D2"/>
                      </a:solidFill>
                      <a:prstDash val="solid"/>
                    </a:lnL>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76200" rIns="133350" bIns="76200">
                      <a:noAutofit/>
                    </a:bodyPr>
                    <a:lstStyle/>
                    <a:p>
                      <a:r>
                        <a:rPr sz="1800" b="1">
                          <a:solidFill>
                            <a:srgbClr val="FFFFFF"/>
                          </a:solidFill>
                          <a:latin typeface="Arial"/>
                          <a:ea typeface="Arial"/>
                          <a:cs typeface="Arial"/>
                        </a:rPr>
                        <a:t>Reviewable wording</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76200" rIns="133350" bIns="76200">
                      <a:noAutofit/>
                    </a:bodyPr>
                    <a:lstStyle/>
                    <a:p>
                      <a:r>
                        <a:rPr sz="1800" b="1">
                          <a:solidFill>
                            <a:srgbClr val="FFFFFF"/>
                          </a:solidFill>
                          <a:latin typeface="Arial"/>
                          <a:ea typeface="Arial"/>
                          <a:cs typeface="Arial"/>
                        </a:rPr>
                        <a:t>Still unconfirmed</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r>
              <a:tr h="895350">
                <a:tc>
                  <a:txBody>
                    <a:bodyPr wrap="square" lIns="133350" tIns="76200" rIns="133350" bIns="76200">
                      <a:noAutofit/>
                    </a:bodyPr>
                    <a:lstStyle/>
                    <a:p>
                      <a:r>
                        <a:rPr sz="1875" b="0">
                          <a:solidFill>
                            <a:srgbClr val="172D40"/>
                          </a:solidFill>
                          <a:latin typeface="Arial"/>
                          <a:ea typeface="Arial"/>
                          <a:cs typeface="Arial"/>
                        </a:rPr>
                        <a:t>Daily stock updates in Excel</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Maintained daily inventory records in Excel.</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SQL or database proficiency</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895350">
                <a:tc>
                  <a:txBody>
                    <a:bodyPr wrap="square" lIns="133350" tIns="76200" rIns="133350" bIns="76200">
                      <a:noAutofit/>
                    </a:bodyPr>
                    <a:lstStyle/>
                    <a:p>
                      <a:r>
                        <a:rPr sz="1875" b="0">
                          <a:solidFill>
                            <a:srgbClr val="172D40"/>
                          </a:solidFill>
                          <a:latin typeface="Arial"/>
                          <a:ea typeface="Arial"/>
                          <a:cs typeface="Arial"/>
                        </a:rPr>
                        <a:t>Answered delivery-status enquiries</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Responded to customer enquiries about delivery status.</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The new role's technical tasks</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895350">
                <a:tc>
                  <a:txBody>
                    <a:bodyPr wrap="square" lIns="133350" tIns="76200" rIns="133350" bIns="76200">
                      <a:noAutofit/>
                    </a:bodyPr>
                    <a:lstStyle/>
                    <a:p>
                      <a:r>
                        <a:rPr sz="1875" b="0">
                          <a:solidFill>
                            <a:srgbClr val="172D40"/>
                          </a:solidFill>
                          <a:latin typeface="Arial"/>
                          <a:ea typeface="Arial"/>
                          <a:cs typeface="Arial"/>
                        </a:rPr>
                        <a:t>Showed a colleague the stock sheet</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Demonstrated the inventory spreadsheet to a colleague.</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Formal management experience</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bl>
          </a:graphicData>
        </a:graphic>
      </p:graphicFrame>
      <p:sp>
        <p:nvSpPr>
          <p:cNvPr id="4" name="evidence-boundary">
            <a:extLst xmlns:a="http://schemas.openxmlformats.org/drawingml/2006/main">
              <a:ext uri="{FF2B5EF4-FFF2-40B4-BE49-F238E27FC236}">
                <a16:creationId xmlns:a16="http://schemas.microsoft.com/office/drawing/2014/main" id="{042217E4-166C-416A-A549-E5ADD85EB82D}"/>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Fictional examples based on guidance. Actual titles, dates, credentials and metrics must stay factual.</a:t>
            </a:r>
          </a:p>
        </p:txBody>
      </p:sp>
      <p:sp>
        <p:nvSpPr>
          <p:cNvPr id="5" name="slide-number">
            <a:extLst xmlns:a="http://schemas.openxmlformats.org/drawingml/2006/main">
              <a:ext uri="{FF2B5EF4-FFF2-40B4-BE49-F238E27FC236}">
                <a16:creationId xmlns:a16="http://schemas.microsoft.com/office/drawing/2014/main" id="{AC2A4EC0-B1FB-4D80-AC4C-59E649CAC9C9}"/>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10</a:t>
            </a:r>
          </a:p>
        </p:txBody>
      </p:sp>
    </p:spTree>
    <p:extLst>
      <p:ext uri="{BB962C8B-B14F-4D97-AF65-F5344CB8AC3E}">
        <p14:creationId xmlns:p14="http://schemas.microsoft.com/office/powerpoint/2010/main" val="1682446967"/>
      </p:ext>
    </p:extLst>
  </p:cSld>
</p:sld>
</file>

<file path=ppt/slides/slide11.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05F8DFF0-D0AD-4B36-AAAF-57B5A7CDC1DC}"/>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People report different resume strategies</a:t>
            </a:r>
          </a:p>
        </p:txBody>
      </p:sp>
      <p:sp>
        <p:nvSpPr>
          <p:cNvPr id="2" name="lead">
            <a:extLst xmlns:a="http://schemas.openxmlformats.org/drawingml/2006/main">
              <a:ext uri="{FF2B5EF4-FFF2-40B4-BE49-F238E27FC236}">
                <a16:creationId xmlns:a16="http://schemas.microsoft.com/office/drawing/2014/main" id="{02262193-6BB5-4DA4-A380-FC197EF88365}"/>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The collected accounts do not establish one best routine.</a:t>
            </a:r>
          </a:p>
        </p:txBody>
      </p:sp>
      <p:sp>
        <p:nvSpPr>
          <p:cNvPr id="3" name="column-heading-0">
            <a:extLst xmlns:a="http://schemas.openxmlformats.org/drawingml/2006/main">
              <a:ext uri="{FF2B5EF4-FFF2-40B4-BE49-F238E27FC236}">
                <a16:creationId xmlns:a16="http://schemas.microsoft.com/office/drawing/2014/main" id="{EBBDEF67-E2B5-4C9A-9734-84456AE6DEFF}"/>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Intensive tailoring</a:t>
            </a:r>
          </a:p>
        </p:txBody>
      </p:sp>
      <p:sp>
        <p:nvSpPr>
          <p:cNvPr id="4" name="column-0-detail-0">
            <a:extLst xmlns:a="http://schemas.openxmlformats.org/drawingml/2006/main">
              <a:ext uri="{FF2B5EF4-FFF2-40B4-BE49-F238E27FC236}">
                <a16:creationId xmlns:a16="http://schemas.microsoft.com/office/drawing/2014/main" id="{D73A6640-F1D4-406B-9E6B-6EF78A24CAA7}"/>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Some accounts associate it with interview requests.</a:t>
            </a:r>
          </a:p>
        </p:txBody>
      </p:sp>
      <p:sp>
        <p:nvSpPr>
          <p:cNvPr id="5" name="column-0-detail-1">
            <a:extLst xmlns:a="http://schemas.openxmlformats.org/drawingml/2006/main">
              <a:ext uri="{FF2B5EF4-FFF2-40B4-BE49-F238E27FC236}">
                <a16:creationId xmlns:a16="http://schemas.microsoft.com/office/drawing/2014/main" id="{E6208506-729A-44A2-97D5-DA803832E7AF}"/>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They also describe substantial repeated effort.</a:t>
            </a:r>
          </a:p>
        </p:txBody>
      </p:sp>
      <p:sp>
        <p:nvSpPr>
          <p:cNvPr id="6" name="column-heading-1">
            <a:extLst xmlns:a="http://schemas.openxmlformats.org/drawingml/2006/main">
              <a:ext uri="{FF2B5EF4-FFF2-40B4-BE49-F238E27FC236}">
                <a16:creationId xmlns:a16="http://schemas.microsoft.com/office/drawing/2014/main" id="{F46EBD28-BA97-4D6A-9F0B-12368DA08C69}"/>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94B28"/>
                </a:solidFill>
                <a:latin typeface="Arial"/>
                <a:ea typeface="Arial"/>
                <a:cs typeface="Arial"/>
              </a:defRPr>
            </a:defPPr>
            <a:lvl1pPr algn="l">
              <a:defRPr sz="2325" b="1">
                <a:solidFill>
                  <a:srgbClr val="B94B28"/>
                </a:solidFill>
                <a:latin typeface="Arial"/>
                <a:ea typeface="Arial"/>
                <a:cs typeface="Arial"/>
              </a:defRPr>
            </a:lvl1pPr>
            <a:lvl2pPr algn="l">
              <a:defRPr sz="2325" b="1">
                <a:solidFill>
                  <a:srgbClr val="B94B28"/>
                </a:solidFill>
                <a:latin typeface="Arial"/>
                <a:ea typeface="Arial"/>
                <a:cs typeface="Arial"/>
              </a:defRPr>
            </a:lvl2pPr>
            <a:lvl3pPr algn="l">
              <a:defRPr sz="2325" b="1">
                <a:solidFill>
                  <a:srgbClr val="B94B28"/>
                </a:solidFill>
                <a:latin typeface="Arial"/>
                <a:ea typeface="Arial"/>
                <a:cs typeface="Arial"/>
              </a:defRPr>
            </a:lvl3pPr>
            <a:lvl4pPr algn="l">
              <a:defRPr sz="2325" b="1">
                <a:solidFill>
                  <a:srgbClr val="B94B28"/>
                </a:solidFill>
                <a:latin typeface="Arial"/>
                <a:ea typeface="Arial"/>
                <a:cs typeface="Arial"/>
              </a:defRPr>
            </a:lvl4pPr>
            <a:lvl5pPr algn="l">
              <a:defRPr sz="2325" b="1">
                <a:solidFill>
                  <a:srgbClr val="B94B28"/>
                </a:solidFill>
                <a:latin typeface="Arial"/>
                <a:ea typeface="Arial"/>
                <a:cs typeface="Arial"/>
              </a:defRPr>
            </a:lvl5pPr>
            <a:lvl6pPr algn="l">
              <a:defRPr sz="2325" b="1">
                <a:solidFill>
                  <a:srgbClr val="B94B28"/>
                </a:solidFill>
                <a:latin typeface="Arial"/>
                <a:ea typeface="Arial"/>
                <a:cs typeface="Arial"/>
              </a:defRPr>
            </a:lvl6pPr>
            <a:lvl7pPr algn="l">
              <a:defRPr sz="2325" b="1">
                <a:solidFill>
                  <a:srgbClr val="B94B28"/>
                </a:solidFill>
                <a:latin typeface="Arial"/>
                <a:ea typeface="Arial"/>
                <a:cs typeface="Arial"/>
              </a:defRPr>
            </a:lvl7pPr>
            <a:lvl8pPr algn="l">
              <a:defRPr sz="2325" b="1">
                <a:solidFill>
                  <a:srgbClr val="B94B28"/>
                </a:solidFill>
                <a:latin typeface="Arial"/>
                <a:ea typeface="Arial"/>
                <a:cs typeface="Arial"/>
              </a:defRPr>
            </a:lvl8pPr>
            <a:lvl9pPr algn="l">
              <a:defRPr sz="2325" b="1">
                <a:solidFill>
                  <a:srgbClr val="B94B28"/>
                </a:solidFill>
                <a:latin typeface="Arial"/>
                <a:ea typeface="Arial"/>
                <a:cs typeface="Arial"/>
              </a:defRPr>
            </a:lvl9pPr>
          </a:lstStyle>
          <a:p xmlns:a="http://schemas.openxmlformats.org/drawingml/2006/main">
            <a:pPr algn="l">
              <a:defRPr sz="2325" b="1">
                <a:solidFill>
                  <a:srgbClr val="B94B28"/>
                </a:solidFill>
                <a:latin typeface="Arial"/>
                <a:ea typeface="Arial"/>
                <a:cs typeface="Arial"/>
              </a:defRPr>
            </a:pPr>
            <a:r>
              <a:rPr sz="2325" b="1">
                <a:solidFill>
                  <a:srgbClr val="B94B28"/>
                </a:solidFill>
                <a:latin typeface="Arial"/>
                <a:ea typeface="Arial"/>
                <a:cs typeface="Arial"/>
              </a:rPr>
              <a:t>Reuse and selective changes</a:t>
            </a:r>
          </a:p>
        </p:txBody>
      </p:sp>
      <p:sp>
        <p:nvSpPr>
          <p:cNvPr id="7" name="column-1-detail-0">
            <a:extLst xmlns:a="http://schemas.openxmlformats.org/drawingml/2006/main">
              <a:ext uri="{FF2B5EF4-FFF2-40B4-BE49-F238E27FC236}">
                <a16:creationId xmlns:a16="http://schemas.microsoft.com/office/drawing/2014/main" id="{97E3F76B-C5C6-47D1-ABB3-6EF9F1994D2A}"/>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Others report benefits from stable versions or a master resume.</a:t>
            </a:r>
          </a:p>
        </p:txBody>
      </p:sp>
      <p:sp>
        <p:nvSpPr>
          <p:cNvPr id="8" name="column-1-detail-1">
            <a:extLst xmlns:a="http://schemas.openxmlformats.org/drawingml/2006/main">
              <a:ext uri="{FF2B5EF4-FFF2-40B4-BE49-F238E27FC236}">
                <a16:creationId xmlns:a16="http://schemas.microsoft.com/office/drawing/2014/main" id="{2D31A08E-6B31-4432-971B-A6450743151C}"/>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Their roles, timing and circumstances differ.</a:t>
            </a:r>
          </a:p>
        </p:txBody>
      </p:sp>
      <p:sp>
        <p:nvSpPr>
          <p:cNvPr id="9" name="takeaway">
            <a:extLst xmlns:a="http://schemas.openxmlformats.org/drawingml/2006/main">
              <a:ext uri="{FF2B5EF4-FFF2-40B4-BE49-F238E27FC236}">
                <a16:creationId xmlns:a16="http://schemas.microsoft.com/office/drawing/2014/main" id="{CAC22A4F-2197-4E88-B566-4DE2B1848186}"/>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Compare approaches on the same task before prescribing a universal workflow.</a:t>
            </a:r>
          </a:p>
        </p:txBody>
      </p:sp>
      <p:sp>
        <p:nvSpPr>
          <p:cNvPr id="10" name="evidence-boundary">
            <a:extLst xmlns:a="http://schemas.openxmlformats.org/drawingml/2006/main">
              <a:ext uri="{FF2B5EF4-FFF2-40B4-BE49-F238E27FC236}">
                <a16:creationId xmlns:a16="http://schemas.microsoft.com/office/drawing/2014/main" id="{E8EEA49A-E7CA-45C5-A8D8-C4BC86B303D1}"/>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P10 and Round 01 counterexamples. Self-reports, not a controlled comparison.</a:t>
            </a:r>
          </a:p>
        </p:txBody>
      </p:sp>
      <p:sp>
        <p:nvSpPr>
          <p:cNvPr id="11" name="slide-number">
            <a:extLst xmlns:a="http://schemas.openxmlformats.org/drawingml/2006/main">
              <a:ext uri="{FF2B5EF4-FFF2-40B4-BE49-F238E27FC236}">
                <a16:creationId xmlns:a16="http://schemas.microsoft.com/office/drawing/2014/main" id="{4F5129F7-F7B6-4E00-AB3B-CD8AF16F6E14}"/>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11</a:t>
            </a:r>
          </a:p>
        </p:txBody>
      </p:sp>
    </p:spTree>
    <p:extLst>
      <p:ext uri="{BB962C8B-B14F-4D97-AF65-F5344CB8AC3E}">
        <p14:creationId xmlns:p14="http://schemas.microsoft.com/office/powerpoint/2010/main" val="1378297718"/>
      </p:ext>
    </p:extLst>
  </p:cSld>
</p:sld>
</file>

<file path=ppt/slides/slide12.xml><?xml version="1.0" encoding="utf-8"?>
<p:sld xmlns:p="http://schemas.openxmlformats.org/presentationml/2006/main">
  <p:cSld>
    <p:bg>
      <p:bgPr>
        <a:solidFill xmlns:a="http://schemas.openxmlformats.org/drawingml/2006/main">
          <a:srgbClr val="102235"/>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6D891E52-52D9-439A-A41B-91077FA55DB4}"/>
              </a:ext>
            </a:extLst>
          </p:cNvPr>
          <p:cNvPicPr>
            <a:picLocks xmlns:a="http://schemas.openxmlformats.org/drawingml/2006/main" noChangeAspect="1"/>
          </p:cNvPicPr>
          <p:nvPr/>
        </p:nvPicPr>
        <p:blipFill>
          <a:blip xmlns:r="http://schemas.openxmlformats.org/officeDocument/2006/relationships" xmlns:a="http://schemas.openxmlformats.org/drawingml/2006/main" r:embed="R1e1bf83dde9b4f1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F71FD9B1-C31D-4DCC-958B-0D7F128E7978}"/>
              </a:ext>
            </a:extLst>
          </p:cNvPr>
          <p:cNvSpPr>
            <a:spLocks xmlns:a="http://schemas.openxmlformats.org/drawingml/2006/main" noGrp="1"/>
          </p:cNvSpPr>
          <p:nvPr/>
        </p:nvSpPr>
        <p:spPr>
          <a:xfrm xmlns:a="http://schemas.openxmlformats.org/drawingml/2006/main">
            <a:off x="723900" y="1200150"/>
            <a:ext cx="4619625" cy="2724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a:solidFill>
                  <a:srgbClr val="FFFFFF"/>
                </a:solidFill>
                <a:latin typeface="Arial"/>
                <a:ea typeface="Arial"/>
                <a:cs typeface="Arial"/>
              </a:defRPr>
            </a:defPPr>
            <a:lvl1pPr algn="l">
              <a:defRPr sz="4050" b="1">
                <a:solidFill>
                  <a:srgbClr val="FFFFFF"/>
                </a:solidFill>
                <a:latin typeface="Arial"/>
                <a:ea typeface="Arial"/>
                <a:cs typeface="Arial"/>
              </a:defRPr>
            </a:lvl1pPr>
            <a:lvl2pPr algn="l">
              <a:defRPr sz="4050" b="1">
                <a:solidFill>
                  <a:srgbClr val="FFFFFF"/>
                </a:solidFill>
                <a:latin typeface="Arial"/>
                <a:ea typeface="Arial"/>
                <a:cs typeface="Arial"/>
              </a:defRPr>
            </a:lvl2pPr>
            <a:lvl3pPr algn="l">
              <a:defRPr sz="4050" b="1">
                <a:solidFill>
                  <a:srgbClr val="FFFFFF"/>
                </a:solidFill>
                <a:latin typeface="Arial"/>
                <a:ea typeface="Arial"/>
                <a:cs typeface="Arial"/>
              </a:defRPr>
            </a:lvl3pPr>
            <a:lvl4pPr algn="l">
              <a:defRPr sz="4050" b="1">
                <a:solidFill>
                  <a:srgbClr val="FFFFFF"/>
                </a:solidFill>
                <a:latin typeface="Arial"/>
                <a:ea typeface="Arial"/>
                <a:cs typeface="Arial"/>
              </a:defRPr>
            </a:lvl4pPr>
            <a:lvl5pPr algn="l">
              <a:defRPr sz="4050" b="1">
                <a:solidFill>
                  <a:srgbClr val="FFFFFF"/>
                </a:solidFill>
                <a:latin typeface="Arial"/>
                <a:ea typeface="Arial"/>
                <a:cs typeface="Arial"/>
              </a:defRPr>
            </a:lvl5pPr>
            <a:lvl6pPr algn="l">
              <a:defRPr sz="4050" b="1">
                <a:solidFill>
                  <a:srgbClr val="FFFFFF"/>
                </a:solidFill>
                <a:latin typeface="Arial"/>
                <a:ea typeface="Arial"/>
                <a:cs typeface="Arial"/>
              </a:defRPr>
            </a:lvl6pPr>
            <a:lvl7pPr algn="l">
              <a:defRPr sz="4050" b="1">
                <a:solidFill>
                  <a:srgbClr val="FFFFFF"/>
                </a:solidFill>
                <a:latin typeface="Arial"/>
                <a:ea typeface="Arial"/>
                <a:cs typeface="Arial"/>
              </a:defRPr>
            </a:lvl7pPr>
            <a:lvl8pPr algn="l">
              <a:defRPr sz="4050" b="1">
                <a:solidFill>
                  <a:srgbClr val="FFFFFF"/>
                </a:solidFill>
                <a:latin typeface="Arial"/>
                <a:ea typeface="Arial"/>
                <a:cs typeface="Arial"/>
              </a:defRPr>
            </a:lvl8pPr>
            <a:lvl9pPr algn="l">
              <a:defRPr sz="4050" b="1">
                <a:solidFill>
                  <a:srgbClr val="FFFFFF"/>
                </a:solidFill>
                <a:latin typeface="Arial"/>
                <a:ea typeface="Arial"/>
                <a:cs typeface="Arial"/>
              </a:defRPr>
            </a:lvl9pPr>
          </a:lstStyle>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AI enters an</a:t>
            </a:r>
          </a:p>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already</a:t>
            </a:r>
          </a:p>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demanding</a:t>
            </a:r>
          </a:p>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process</a:t>
            </a:r>
          </a:p>
        </p:txBody>
      </p:sp>
      <p:sp>
        <p:nvSpPr>
          <p:cNvPr id="3" name="subtitle">
            <a:extLst xmlns:a="http://schemas.openxmlformats.org/drawingml/2006/main">
              <a:ext uri="{FF2B5EF4-FFF2-40B4-BE49-F238E27FC236}">
                <a16:creationId xmlns:a16="http://schemas.microsoft.com/office/drawing/2014/main" id="{C589EBC3-254A-4A61-9ED8-7941E8588C17}"/>
              </a:ext>
            </a:extLst>
          </p:cNvPr>
          <p:cNvSpPr>
            <a:spLocks xmlns:a="http://schemas.openxmlformats.org/drawingml/2006/main" noGrp="1"/>
          </p:cNvSpPr>
          <p:nvPr/>
        </p:nvSpPr>
        <p:spPr>
          <a:xfrm xmlns:a="http://schemas.openxmlformats.org/drawingml/2006/main">
            <a:off x="762000" y="4324350"/>
            <a:ext cx="4667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D7E1E3"/>
                </a:solidFill>
                <a:latin typeface="Arial"/>
                <a:ea typeface="Arial"/>
                <a:cs typeface="Arial"/>
              </a:defRPr>
            </a:defPPr>
            <a:lvl1pPr algn="l">
              <a:defRPr sz="2175" b="0">
                <a:solidFill>
                  <a:srgbClr val="D7E1E3"/>
                </a:solidFill>
                <a:latin typeface="Arial"/>
                <a:ea typeface="Arial"/>
                <a:cs typeface="Arial"/>
              </a:defRPr>
            </a:lvl1pPr>
            <a:lvl2pPr algn="l">
              <a:defRPr sz="2175" b="0">
                <a:solidFill>
                  <a:srgbClr val="D7E1E3"/>
                </a:solidFill>
                <a:latin typeface="Arial"/>
                <a:ea typeface="Arial"/>
                <a:cs typeface="Arial"/>
              </a:defRPr>
            </a:lvl2pPr>
            <a:lvl3pPr algn="l">
              <a:defRPr sz="2175" b="0">
                <a:solidFill>
                  <a:srgbClr val="D7E1E3"/>
                </a:solidFill>
                <a:latin typeface="Arial"/>
                <a:ea typeface="Arial"/>
                <a:cs typeface="Arial"/>
              </a:defRPr>
            </a:lvl3pPr>
            <a:lvl4pPr algn="l">
              <a:defRPr sz="2175" b="0">
                <a:solidFill>
                  <a:srgbClr val="D7E1E3"/>
                </a:solidFill>
                <a:latin typeface="Arial"/>
                <a:ea typeface="Arial"/>
                <a:cs typeface="Arial"/>
              </a:defRPr>
            </a:lvl4pPr>
            <a:lvl5pPr algn="l">
              <a:defRPr sz="2175" b="0">
                <a:solidFill>
                  <a:srgbClr val="D7E1E3"/>
                </a:solidFill>
                <a:latin typeface="Arial"/>
                <a:ea typeface="Arial"/>
                <a:cs typeface="Arial"/>
              </a:defRPr>
            </a:lvl5pPr>
            <a:lvl6pPr algn="l">
              <a:defRPr sz="2175" b="0">
                <a:solidFill>
                  <a:srgbClr val="D7E1E3"/>
                </a:solidFill>
                <a:latin typeface="Arial"/>
                <a:ea typeface="Arial"/>
                <a:cs typeface="Arial"/>
              </a:defRPr>
            </a:lvl6pPr>
            <a:lvl7pPr algn="l">
              <a:defRPr sz="2175" b="0">
                <a:solidFill>
                  <a:srgbClr val="D7E1E3"/>
                </a:solidFill>
                <a:latin typeface="Arial"/>
                <a:ea typeface="Arial"/>
                <a:cs typeface="Arial"/>
              </a:defRPr>
            </a:lvl7pPr>
            <a:lvl8pPr algn="l">
              <a:defRPr sz="2175" b="0">
                <a:solidFill>
                  <a:srgbClr val="D7E1E3"/>
                </a:solidFill>
                <a:latin typeface="Arial"/>
                <a:ea typeface="Arial"/>
                <a:cs typeface="Arial"/>
              </a:defRPr>
            </a:lvl8pPr>
            <a:lvl9pPr algn="l">
              <a:defRPr sz="2175" b="0">
                <a:solidFill>
                  <a:srgbClr val="D7E1E3"/>
                </a:solidFill>
                <a:latin typeface="Arial"/>
                <a:ea typeface="Arial"/>
                <a:cs typeface="Arial"/>
              </a:defRPr>
            </a:lvl9pPr>
          </a:lstStyle>
          <a:p xmlns:a="http://schemas.openxmlformats.org/drawingml/2006/main">
            <a:pPr algn="l">
              <a:defRPr sz="2175" b="0">
                <a:solidFill>
                  <a:srgbClr val="D7E1E3"/>
                </a:solidFill>
                <a:latin typeface="Arial"/>
                <a:ea typeface="Arial"/>
                <a:cs typeface="Arial"/>
              </a:defRPr>
            </a:pPr>
            <a:r>
              <a:rPr sz="2175" b="0">
                <a:solidFill>
                  <a:srgbClr val="D7E1E3"/>
                </a:solidFill>
                <a:latin typeface="Arial"/>
                <a:ea typeface="Arial"/>
                <a:cs typeface="Arial"/>
              </a:rPr>
              <a:t>Assistance changes the work.</a:t>
            </a:r>
          </a:p>
          <a:p xmlns:a="http://schemas.openxmlformats.org/drawingml/2006/main">
            <a:pPr algn="l">
              <a:defRPr sz="2175" b="0">
                <a:solidFill>
                  <a:srgbClr val="D7E1E3"/>
                </a:solidFill>
                <a:latin typeface="Arial"/>
                <a:ea typeface="Arial"/>
                <a:cs typeface="Arial"/>
              </a:defRPr>
            </a:pPr>
            <a:r>
              <a:rPr sz="2175" b="0">
                <a:solidFill>
                  <a:srgbClr val="D7E1E3"/>
                </a:solidFill>
                <a:latin typeface="Arial"/>
                <a:ea typeface="Arial"/>
                <a:cs typeface="Arial"/>
              </a:rPr>
              <a:t>It also creates things to check.</a:t>
            </a:r>
          </a:p>
        </p:txBody>
      </p:sp>
      <p:sp>
        <p:nvSpPr>
          <p:cNvPr id="4" name="evidence-boundary">
            <a:extLst xmlns:a="http://schemas.openxmlformats.org/drawingml/2006/main">
              <a:ext uri="{FF2B5EF4-FFF2-40B4-BE49-F238E27FC236}">
                <a16:creationId xmlns:a16="http://schemas.microsoft.com/office/drawing/2014/main" id="{D87E6188-98D3-44E8-8B4A-AD217938B6A0}"/>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D7E1E3"/>
                </a:solidFill>
                <a:latin typeface="Arial"/>
                <a:ea typeface="Arial"/>
                <a:cs typeface="Arial"/>
              </a:defRPr>
            </a:defPPr>
            <a:lvl1pPr algn="l">
              <a:defRPr sz="1350" b="0">
                <a:solidFill>
                  <a:srgbClr val="D7E1E3"/>
                </a:solidFill>
                <a:latin typeface="Arial"/>
                <a:ea typeface="Arial"/>
                <a:cs typeface="Arial"/>
              </a:defRPr>
            </a:lvl1pPr>
            <a:lvl2pPr algn="l">
              <a:defRPr sz="1350" b="0">
                <a:solidFill>
                  <a:srgbClr val="D7E1E3"/>
                </a:solidFill>
                <a:latin typeface="Arial"/>
                <a:ea typeface="Arial"/>
                <a:cs typeface="Arial"/>
              </a:defRPr>
            </a:lvl2pPr>
            <a:lvl3pPr algn="l">
              <a:defRPr sz="1350" b="0">
                <a:solidFill>
                  <a:srgbClr val="D7E1E3"/>
                </a:solidFill>
                <a:latin typeface="Arial"/>
                <a:ea typeface="Arial"/>
                <a:cs typeface="Arial"/>
              </a:defRPr>
            </a:lvl3pPr>
            <a:lvl4pPr algn="l">
              <a:defRPr sz="1350" b="0">
                <a:solidFill>
                  <a:srgbClr val="D7E1E3"/>
                </a:solidFill>
                <a:latin typeface="Arial"/>
                <a:ea typeface="Arial"/>
                <a:cs typeface="Arial"/>
              </a:defRPr>
            </a:lvl4pPr>
            <a:lvl5pPr algn="l">
              <a:defRPr sz="1350" b="0">
                <a:solidFill>
                  <a:srgbClr val="D7E1E3"/>
                </a:solidFill>
                <a:latin typeface="Arial"/>
                <a:ea typeface="Arial"/>
                <a:cs typeface="Arial"/>
              </a:defRPr>
            </a:lvl5pPr>
            <a:lvl6pPr algn="l">
              <a:defRPr sz="1350" b="0">
                <a:solidFill>
                  <a:srgbClr val="D7E1E3"/>
                </a:solidFill>
                <a:latin typeface="Arial"/>
                <a:ea typeface="Arial"/>
                <a:cs typeface="Arial"/>
              </a:defRPr>
            </a:lvl6pPr>
            <a:lvl7pPr algn="l">
              <a:defRPr sz="1350" b="0">
                <a:solidFill>
                  <a:srgbClr val="D7E1E3"/>
                </a:solidFill>
                <a:latin typeface="Arial"/>
                <a:ea typeface="Arial"/>
                <a:cs typeface="Arial"/>
              </a:defRPr>
            </a:lvl7pPr>
            <a:lvl8pPr algn="l">
              <a:defRPr sz="1350" b="0">
                <a:solidFill>
                  <a:srgbClr val="D7E1E3"/>
                </a:solidFill>
                <a:latin typeface="Arial"/>
                <a:ea typeface="Arial"/>
                <a:cs typeface="Arial"/>
              </a:defRPr>
            </a:lvl8pPr>
            <a:lvl9pPr algn="l">
              <a:defRPr sz="1350" b="0">
                <a:solidFill>
                  <a:srgbClr val="D7E1E3"/>
                </a:solidFill>
                <a:latin typeface="Arial"/>
                <a:ea typeface="Arial"/>
                <a:cs typeface="Arial"/>
              </a:defRPr>
            </a:lvl9pPr>
          </a:lstStyle>
          <a:p xmlns:a="http://schemas.openxmlformats.org/drawingml/2006/main">
            <a:pPr algn="l">
              <a:defRPr sz="1350" b="0">
                <a:solidFill>
                  <a:srgbClr val="D7E1E3"/>
                </a:solidFill>
                <a:latin typeface="Arial"/>
                <a:ea typeface="Arial"/>
                <a:cs typeface="Arial"/>
              </a:defRPr>
            </a:pPr>
            <a:r>
              <a:rPr sz="1350" b="0">
                <a:solidFill>
                  <a:srgbClr val="D7E1E3"/>
                </a:solidFill>
                <a:latin typeface="Arial"/>
                <a:ea typeface="Arial"/>
                <a:cs typeface="Arial"/>
              </a:rPr>
              <a:t>Fictional illustration. AI findings follow.</a:t>
            </a:r>
          </a:p>
        </p:txBody>
      </p:sp>
      <p:sp>
        <p:nvSpPr>
          <p:cNvPr id="5" name="slide-number">
            <a:extLst xmlns:a="http://schemas.openxmlformats.org/drawingml/2006/main">
              <a:ext uri="{FF2B5EF4-FFF2-40B4-BE49-F238E27FC236}">
                <a16:creationId xmlns:a16="http://schemas.microsoft.com/office/drawing/2014/main" id="{1D9BE831-159C-4EB6-B62B-13A3ABFB00CD}"/>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1C58A"/>
                </a:solidFill>
                <a:latin typeface="Arial"/>
                <a:ea typeface="Arial"/>
                <a:cs typeface="Arial"/>
              </a:defRPr>
            </a:defPPr>
            <a:lvl1pPr algn="l">
              <a:defRPr sz="1575" b="1">
                <a:solidFill>
                  <a:srgbClr val="F1C58A"/>
                </a:solidFill>
                <a:latin typeface="Arial"/>
                <a:ea typeface="Arial"/>
                <a:cs typeface="Arial"/>
              </a:defRPr>
            </a:lvl1pPr>
            <a:lvl2pPr algn="l">
              <a:defRPr sz="1575" b="1">
                <a:solidFill>
                  <a:srgbClr val="F1C58A"/>
                </a:solidFill>
                <a:latin typeface="Arial"/>
                <a:ea typeface="Arial"/>
                <a:cs typeface="Arial"/>
              </a:defRPr>
            </a:lvl2pPr>
            <a:lvl3pPr algn="l">
              <a:defRPr sz="1575" b="1">
                <a:solidFill>
                  <a:srgbClr val="F1C58A"/>
                </a:solidFill>
                <a:latin typeface="Arial"/>
                <a:ea typeface="Arial"/>
                <a:cs typeface="Arial"/>
              </a:defRPr>
            </a:lvl3pPr>
            <a:lvl4pPr algn="l">
              <a:defRPr sz="1575" b="1">
                <a:solidFill>
                  <a:srgbClr val="F1C58A"/>
                </a:solidFill>
                <a:latin typeface="Arial"/>
                <a:ea typeface="Arial"/>
                <a:cs typeface="Arial"/>
              </a:defRPr>
            </a:lvl4pPr>
            <a:lvl5pPr algn="l">
              <a:defRPr sz="1575" b="1">
                <a:solidFill>
                  <a:srgbClr val="F1C58A"/>
                </a:solidFill>
                <a:latin typeface="Arial"/>
                <a:ea typeface="Arial"/>
                <a:cs typeface="Arial"/>
              </a:defRPr>
            </a:lvl5pPr>
            <a:lvl6pPr algn="l">
              <a:defRPr sz="1575" b="1">
                <a:solidFill>
                  <a:srgbClr val="F1C58A"/>
                </a:solidFill>
                <a:latin typeface="Arial"/>
                <a:ea typeface="Arial"/>
                <a:cs typeface="Arial"/>
              </a:defRPr>
            </a:lvl6pPr>
            <a:lvl7pPr algn="l">
              <a:defRPr sz="1575" b="1">
                <a:solidFill>
                  <a:srgbClr val="F1C58A"/>
                </a:solidFill>
                <a:latin typeface="Arial"/>
                <a:ea typeface="Arial"/>
                <a:cs typeface="Arial"/>
              </a:defRPr>
            </a:lvl7pPr>
            <a:lvl8pPr algn="l">
              <a:defRPr sz="1575" b="1">
                <a:solidFill>
                  <a:srgbClr val="F1C58A"/>
                </a:solidFill>
                <a:latin typeface="Arial"/>
                <a:ea typeface="Arial"/>
                <a:cs typeface="Arial"/>
              </a:defRPr>
            </a:lvl8pPr>
            <a:lvl9pPr algn="l">
              <a:defRPr sz="1575" b="1">
                <a:solidFill>
                  <a:srgbClr val="F1C58A"/>
                </a:solidFill>
                <a:latin typeface="Arial"/>
                <a:ea typeface="Arial"/>
                <a:cs typeface="Arial"/>
              </a:defRPr>
            </a:lvl9pPr>
          </a:lstStyle>
          <a:p xmlns:a="http://schemas.openxmlformats.org/drawingml/2006/main">
            <a:pPr algn="l">
              <a:defRPr sz="1575" b="1">
                <a:solidFill>
                  <a:srgbClr val="F1C58A"/>
                </a:solidFill>
                <a:latin typeface="Arial"/>
                <a:ea typeface="Arial"/>
                <a:cs typeface="Arial"/>
              </a:defRPr>
            </a:pPr>
            <a:r>
              <a:rPr sz="1575" b="1">
                <a:solidFill>
                  <a:srgbClr val="F1C58A"/>
                </a:solidFill>
                <a:latin typeface="Arial"/>
                <a:ea typeface="Arial"/>
                <a:cs typeface="Arial"/>
              </a:rPr>
              <a:t>12</a:t>
            </a:r>
          </a:p>
        </p:txBody>
      </p:sp>
    </p:spTree>
    <p:extLst>
      <p:ext uri="{BB962C8B-B14F-4D97-AF65-F5344CB8AC3E}">
        <p14:creationId xmlns:p14="http://schemas.microsoft.com/office/powerpoint/2010/main" val="368892998"/>
      </p:ext>
    </p:extLst>
  </p:cSld>
</p:sld>
</file>

<file path=ppt/slides/slide13.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F8ECC8CF-28C0-485F-922C-F2E05DFD7910}"/>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People use AI in different ways</a:t>
            </a:r>
          </a:p>
        </p:txBody>
      </p:sp>
      <p:sp>
        <p:nvSpPr>
          <p:cNvPr id="2" name="lead">
            <a:extLst xmlns:a="http://schemas.openxmlformats.org/drawingml/2006/main">
              <a:ext uri="{FF2B5EF4-FFF2-40B4-BE49-F238E27FC236}">
                <a16:creationId xmlns:a16="http://schemas.microsoft.com/office/drawing/2014/main" id="{779A7F14-4828-43E2-96EE-B5EA10CD3372}"/>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02 includes assistance, selective use and non-use.</a:t>
            </a:r>
          </a:p>
        </p:txBody>
      </p:sp>
      <p:sp>
        <p:nvSpPr>
          <p:cNvPr id="3" name="column-heading-0">
            <a:extLst xmlns:a="http://schemas.openxmlformats.org/drawingml/2006/main">
              <a:ext uri="{FF2B5EF4-FFF2-40B4-BE49-F238E27FC236}">
                <a16:creationId xmlns:a16="http://schemas.microsoft.com/office/drawing/2014/main" id="{6D7A5548-AE4C-4CFA-AE61-E34EA0BB0390}"/>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Reported uses</a:t>
            </a:r>
          </a:p>
        </p:txBody>
      </p:sp>
      <p:sp>
        <p:nvSpPr>
          <p:cNvPr id="4" name="column-0-detail-0">
            <a:extLst xmlns:a="http://schemas.openxmlformats.org/drawingml/2006/main">
              <a:ext uri="{FF2B5EF4-FFF2-40B4-BE49-F238E27FC236}">
                <a16:creationId xmlns:a16="http://schemas.microsoft.com/office/drawing/2014/main" id="{00E5AFB6-F24F-40A1-9E14-9C12C58E72FA}"/>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Reviewing or rewording information supplied by the person.</a:t>
            </a:r>
          </a:p>
        </p:txBody>
      </p:sp>
      <p:sp>
        <p:nvSpPr>
          <p:cNvPr id="5" name="column-0-detail-1">
            <a:extLst xmlns:a="http://schemas.openxmlformats.org/drawingml/2006/main">
              <a:ext uri="{FF2B5EF4-FFF2-40B4-BE49-F238E27FC236}">
                <a16:creationId xmlns:a16="http://schemas.microsoft.com/office/drawing/2014/main" id="{C229A248-E738-467F-B63C-06983A43B149}"/>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Drafting application text or supporting interview preparation.</a:t>
            </a:r>
          </a:p>
        </p:txBody>
      </p:sp>
      <p:sp>
        <p:nvSpPr>
          <p:cNvPr id="6" name="column-heading-1">
            <a:extLst xmlns:a="http://schemas.openxmlformats.org/drawingml/2006/main">
              <a:ext uri="{FF2B5EF4-FFF2-40B4-BE49-F238E27FC236}">
                <a16:creationId xmlns:a16="http://schemas.microsoft.com/office/drawing/2014/main" id="{B10E3D9E-3585-471D-AF1F-22DC39A7D4F1}"/>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Different starting points</a:t>
            </a:r>
          </a:p>
        </p:txBody>
      </p:sp>
      <p:sp>
        <p:nvSpPr>
          <p:cNvPr id="7" name="column-1-detail-0">
            <a:extLst xmlns:a="http://schemas.openxmlformats.org/drawingml/2006/main">
              <a:ext uri="{FF2B5EF4-FFF2-40B4-BE49-F238E27FC236}">
                <a16:creationId xmlns:a16="http://schemas.microsoft.com/office/drawing/2014/main" id="{7DB42C62-82C6-4661-8DEE-4C30C89CD9CD}"/>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Some participants used templates or made little use of AI for applications.</a:t>
            </a:r>
          </a:p>
        </p:txBody>
      </p:sp>
      <p:sp>
        <p:nvSpPr>
          <p:cNvPr id="8" name="column-1-detail-1">
            <a:extLst xmlns:a="http://schemas.openxmlformats.org/drawingml/2006/main">
              <a:ext uri="{FF2B5EF4-FFF2-40B4-BE49-F238E27FC236}">
                <a16:creationId xmlns:a16="http://schemas.microsoft.com/office/drawing/2014/main" id="{33254B36-E415-4D45-89AC-498A39BC92F6}"/>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Authenticity, confidence and access affected how they approached it.</a:t>
            </a:r>
          </a:p>
        </p:txBody>
      </p:sp>
      <p:sp>
        <p:nvSpPr>
          <p:cNvPr id="9" name="takeaway">
            <a:extLst xmlns:a="http://schemas.openxmlformats.org/drawingml/2006/main">
              <a:ext uri="{FF2B5EF4-FFF2-40B4-BE49-F238E27FC236}">
                <a16:creationId xmlns:a16="http://schemas.microsoft.com/office/drawing/2014/main" id="{85557295-AFF9-4E84-8EDE-4F8096B836BE}"/>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A fluent draft is only one part of a usable, personally owned application.</a:t>
            </a:r>
          </a:p>
        </p:txBody>
      </p:sp>
      <p:sp>
        <p:nvSpPr>
          <p:cNvPr id="10" name="evidence-boundary">
            <a:extLst xmlns:a="http://schemas.openxmlformats.org/drawingml/2006/main">
              <a:ext uri="{FF2B5EF4-FFF2-40B4-BE49-F238E27FC236}">
                <a16:creationId xmlns:a16="http://schemas.microsoft.com/office/drawing/2014/main" id="{63F12D0B-12CF-40E5-BCB2-CB2167F16B8E}"/>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P03, P05, P08–P09. International cohorts and selected accounts do not estimate Singapore adoption.</a:t>
            </a:r>
          </a:p>
        </p:txBody>
      </p:sp>
      <p:sp>
        <p:nvSpPr>
          <p:cNvPr id="11" name="slide-number">
            <a:extLst xmlns:a="http://schemas.openxmlformats.org/drawingml/2006/main">
              <a:ext uri="{FF2B5EF4-FFF2-40B4-BE49-F238E27FC236}">
                <a16:creationId xmlns:a16="http://schemas.microsoft.com/office/drawing/2014/main" id="{0DD58D7A-A8EE-43FC-B87A-15A59981BFF4}"/>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13</a:t>
            </a:r>
          </a:p>
        </p:txBody>
      </p:sp>
    </p:spTree>
    <p:extLst>
      <p:ext uri="{BB962C8B-B14F-4D97-AF65-F5344CB8AC3E}">
        <p14:creationId xmlns:p14="http://schemas.microsoft.com/office/powerpoint/2010/main" val="1174904835"/>
      </p:ext>
    </p:extLst>
  </p:cSld>
</p:sld>
</file>

<file path=ppt/slides/slide14.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3D9C4522-AA6F-42A3-98B9-73A191558426}"/>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Clearer writing helped in one experiment</a:t>
            </a:r>
          </a:p>
        </p:txBody>
      </p:sp>
      <p:sp>
        <p:nvSpPr>
          <p:cNvPr id="2" name="lead">
            <a:extLst xmlns:a="http://schemas.openxmlformats.org/drawingml/2006/main">
              <a:ext uri="{FF2B5EF4-FFF2-40B4-BE49-F238E27FC236}">
                <a16:creationId xmlns:a16="http://schemas.microsoft.com/office/drawing/2014/main" id="{34C477D7-BBC7-4626-BB3C-D46B29760360}"/>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Algorithmic assistance edited job seekers' resume writing.</a:t>
            </a:r>
          </a:p>
        </p:txBody>
      </p:sp>
      <p:sp>
        <p:nvSpPr>
          <p:cNvPr id="3" name="reported-effect">
            <a:extLst xmlns:a="http://schemas.openxmlformats.org/drawingml/2006/main">
              <a:ext uri="{FF2B5EF4-FFF2-40B4-BE49-F238E27FC236}">
                <a16:creationId xmlns:a16="http://schemas.microsoft.com/office/drawing/2014/main" id="{B8175F5D-7E92-4D9D-BFB3-332A090E0E74}"/>
              </a:ext>
            </a:extLst>
          </p:cNvPr>
          <p:cNvSpPr>
            <a:spLocks xmlns:a="http://schemas.openxmlformats.org/drawingml/2006/main" noGrp="1"/>
          </p:cNvSpPr>
          <p:nvPr/>
        </p:nvSpPr>
        <p:spPr>
          <a:xfrm xmlns:a="http://schemas.openxmlformats.org/drawingml/2006/main">
            <a:off x="723900" y="2457450"/>
            <a:ext cx="4857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050" b="1">
                <a:solidFill>
                  <a:srgbClr val="B94B28"/>
                </a:solidFill>
                <a:latin typeface="Arial"/>
                <a:ea typeface="Arial"/>
                <a:cs typeface="Arial"/>
              </a:defRPr>
            </a:defPPr>
            <a:lvl1pPr algn="l">
              <a:defRPr sz="13050" b="1">
                <a:solidFill>
                  <a:srgbClr val="B94B28"/>
                </a:solidFill>
                <a:latin typeface="Arial"/>
                <a:ea typeface="Arial"/>
                <a:cs typeface="Arial"/>
              </a:defRPr>
            </a:lvl1pPr>
            <a:lvl2pPr algn="l">
              <a:defRPr sz="13050" b="1">
                <a:solidFill>
                  <a:srgbClr val="B94B28"/>
                </a:solidFill>
                <a:latin typeface="Arial"/>
                <a:ea typeface="Arial"/>
                <a:cs typeface="Arial"/>
              </a:defRPr>
            </a:lvl2pPr>
            <a:lvl3pPr algn="l">
              <a:defRPr sz="13050" b="1">
                <a:solidFill>
                  <a:srgbClr val="B94B28"/>
                </a:solidFill>
                <a:latin typeface="Arial"/>
                <a:ea typeface="Arial"/>
                <a:cs typeface="Arial"/>
              </a:defRPr>
            </a:lvl3pPr>
            <a:lvl4pPr algn="l">
              <a:defRPr sz="13050" b="1">
                <a:solidFill>
                  <a:srgbClr val="B94B28"/>
                </a:solidFill>
                <a:latin typeface="Arial"/>
                <a:ea typeface="Arial"/>
                <a:cs typeface="Arial"/>
              </a:defRPr>
            </a:lvl4pPr>
            <a:lvl5pPr algn="l">
              <a:defRPr sz="13050" b="1">
                <a:solidFill>
                  <a:srgbClr val="B94B28"/>
                </a:solidFill>
                <a:latin typeface="Arial"/>
                <a:ea typeface="Arial"/>
                <a:cs typeface="Arial"/>
              </a:defRPr>
            </a:lvl5pPr>
            <a:lvl6pPr algn="l">
              <a:defRPr sz="13050" b="1">
                <a:solidFill>
                  <a:srgbClr val="B94B28"/>
                </a:solidFill>
                <a:latin typeface="Arial"/>
                <a:ea typeface="Arial"/>
                <a:cs typeface="Arial"/>
              </a:defRPr>
            </a:lvl6pPr>
            <a:lvl7pPr algn="l">
              <a:defRPr sz="13050" b="1">
                <a:solidFill>
                  <a:srgbClr val="B94B28"/>
                </a:solidFill>
                <a:latin typeface="Arial"/>
                <a:ea typeface="Arial"/>
                <a:cs typeface="Arial"/>
              </a:defRPr>
            </a:lvl7pPr>
            <a:lvl8pPr algn="l">
              <a:defRPr sz="13050" b="1">
                <a:solidFill>
                  <a:srgbClr val="B94B28"/>
                </a:solidFill>
                <a:latin typeface="Arial"/>
                <a:ea typeface="Arial"/>
                <a:cs typeface="Arial"/>
              </a:defRPr>
            </a:lvl8pPr>
            <a:lvl9pPr algn="l">
              <a:defRPr sz="13050" b="1">
                <a:solidFill>
                  <a:srgbClr val="B94B28"/>
                </a:solidFill>
                <a:latin typeface="Arial"/>
                <a:ea typeface="Arial"/>
                <a:cs typeface="Arial"/>
              </a:defRPr>
            </a:lvl9pPr>
          </a:lstStyle>
          <a:p xmlns:a="http://schemas.openxmlformats.org/drawingml/2006/main">
            <a:pPr algn="l">
              <a:defRPr sz="13050" b="1">
                <a:solidFill>
                  <a:srgbClr val="B94B28"/>
                </a:solidFill>
                <a:latin typeface="Arial"/>
                <a:ea typeface="Arial"/>
                <a:cs typeface="Arial"/>
              </a:defRPr>
            </a:pPr>
            <a:r>
              <a:rPr sz="13050" b="1">
                <a:solidFill>
                  <a:srgbClr val="B94B28"/>
                </a:solidFill>
                <a:latin typeface="Arial"/>
                <a:ea typeface="Arial"/>
                <a:cs typeface="Arial"/>
              </a:rPr>
              <a:t>8%</a:t>
            </a:r>
          </a:p>
        </p:txBody>
      </p:sp>
      <p:sp>
        <p:nvSpPr>
          <p:cNvPr id="4" name="effect-definition">
            <a:extLst xmlns:a="http://schemas.openxmlformats.org/drawingml/2006/main">
              <a:ext uri="{FF2B5EF4-FFF2-40B4-BE49-F238E27FC236}">
                <a16:creationId xmlns:a16="http://schemas.microsoft.com/office/drawing/2014/main" id="{8B23301A-2AE7-46C8-9282-CB59828C638B}"/>
              </a:ext>
            </a:extLst>
          </p:cNvPr>
          <p:cNvSpPr>
            <a:spLocks xmlns:a="http://schemas.openxmlformats.org/drawingml/2006/main" noGrp="1"/>
          </p:cNvSpPr>
          <p:nvPr/>
        </p:nvSpPr>
        <p:spPr>
          <a:xfrm xmlns:a="http://schemas.openxmlformats.org/drawingml/2006/main">
            <a:off x="819150" y="4486275"/>
            <a:ext cx="44291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72D40"/>
                </a:solidFill>
                <a:latin typeface="Arial"/>
                <a:ea typeface="Arial"/>
                <a:cs typeface="Arial"/>
              </a:defRPr>
            </a:defPPr>
            <a:lvl1pPr algn="l">
              <a:defRPr sz="2400" b="1">
                <a:solidFill>
                  <a:srgbClr val="172D40"/>
                </a:solidFill>
                <a:latin typeface="Arial"/>
                <a:ea typeface="Arial"/>
                <a:cs typeface="Arial"/>
              </a:defRPr>
            </a:lvl1pPr>
            <a:lvl2pPr algn="l">
              <a:defRPr sz="2400" b="1">
                <a:solidFill>
                  <a:srgbClr val="172D40"/>
                </a:solidFill>
                <a:latin typeface="Arial"/>
                <a:ea typeface="Arial"/>
                <a:cs typeface="Arial"/>
              </a:defRPr>
            </a:lvl2pPr>
            <a:lvl3pPr algn="l">
              <a:defRPr sz="2400" b="1">
                <a:solidFill>
                  <a:srgbClr val="172D40"/>
                </a:solidFill>
                <a:latin typeface="Arial"/>
                <a:ea typeface="Arial"/>
                <a:cs typeface="Arial"/>
              </a:defRPr>
            </a:lvl3pPr>
            <a:lvl4pPr algn="l">
              <a:defRPr sz="2400" b="1">
                <a:solidFill>
                  <a:srgbClr val="172D40"/>
                </a:solidFill>
                <a:latin typeface="Arial"/>
                <a:ea typeface="Arial"/>
                <a:cs typeface="Arial"/>
              </a:defRPr>
            </a:lvl4pPr>
            <a:lvl5pPr algn="l">
              <a:defRPr sz="2400" b="1">
                <a:solidFill>
                  <a:srgbClr val="172D40"/>
                </a:solidFill>
                <a:latin typeface="Arial"/>
                <a:ea typeface="Arial"/>
                <a:cs typeface="Arial"/>
              </a:defRPr>
            </a:lvl5pPr>
            <a:lvl6pPr algn="l">
              <a:defRPr sz="2400" b="1">
                <a:solidFill>
                  <a:srgbClr val="172D40"/>
                </a:solidFill>
                <a:latin typeface="Arial"/>
                <a:ea typeface="Arial"/>
                <a:cs typeface="Arial"/>
              </a:defRPr>
            </a:lvl6pPr>
            <a:lvl7pPr algn="l">
              <a:defRPr sz="2400" b="1">
                <a:solidFill>
                  <a:srgbClr val="172D40"/>
                </a:solidFill>
                <a:latin typeface="Arial"/>
                <a:ea typeface="Arial"/>
                <a:cs typeface="Arial"/>
              </a:defRPr>
            </a:lvl7pPr>
            <a:lvl8pPr algn="l">
              <a:defRPr sz="2400" b="1">
                <a:solidFill>
                  <a:srgbClr val="172D40"/>
                </a:solidFill>
                <a:latin typeface="Arial"/>
                <a:ea typeface="Arial"/>
                <a:cs typeface="Arial"/>
              </a:defRPr>
            </a:lvl8pPr>
            <a:lvl9pPr algn="l">
              <a:defRPr sz="2400" b="1">
                <a:solidFill>
                  <a:srgbClr val="172D40"/>
                </a:solidFill>
                <a:latin typeface="Arial"/>
                <a:ea typeface="Arial"/>
                <a:cs typeface="Arial"/>
              </a:defRPr>
            </a:lvl9pPr>
          </a:lstStyle>
          <a:p xmlns:a="http://schemas.openxmlformats.org/drawingml/2006/main">
            <a:pPr algn="l">
              <a:defRPr sz="2400" b="1">
                <a:solidFill>
                  <a:srgbClr val="172D40"/>
                </a:solidFill>
                <a:latin typeface="Arial"/>
                <a:ea typeface="Arial"/>
                <a:cs typeface="Arial"/>
              </a:defRPr>
            </a:pPr>
            <a:r>
              <a:rPr sz="2400" b="1">
                <a:solidFill>
                  <a:srgbClr val="172D40"/>
                </a:solidFill>
                <a:latin typeface="Arial"/>
                <a:ea typeface="Arial"/>
                <a:cs typeface="Arial"/>
              </a:rPr>
              <a:t>relative increase in hiring probability</a:t>
            </a:r>
          </a:p>
        </p:txBody>
      </p:sp>
      <p:sp>
        <p:nvSpPr>
          <p:cNvPr id="5" name="study-context-0">
            <a:extLst xmlns:a="http://schemas.openxmlformats.org/drawingml/2006/main">
              <a:ext uri="{FF2B5EF4-FFF2-40B4-BE49-F238E27FC236}">
                <a16:creationId xmlns:a16="http://schemas.microsoft.com/office/drawing/2014/main" id="{E4D064EE-1E9C-46DB-8685-83F05BBF6C9A}"/>
              </a:ext>
            </a:extLst>
          </p:cNvPr>
          <p:cNvSpPr>
            <a:spLocks xmlns:a="http://schemas.openxmlformats.org/drawingml/2006/main" noGrp="1"/>
          </p:cNvSpPr>
          <p:nvPr/>
        </p:nvSpPr>
        <p:spPr>
          <a:xfrm xmlns:a="http://schemas.openxmlformats.org/drawingml/2006/main">
            <a:off x="6477000" y="2571750"/>
            <a:ext cx="4953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66B65"/>
                </a:solidFill>
                <a:latin typeface="Arial"/>
                <a:ea typeface="Arial"/>
                <a:cs typeface="Arial"/>
              </a:defRPr>
            </a:defPPr>
            <a:lvl1pPr algn="l">
              <a:defRPr sz="2250" b="1">
                <a:solidFill>
                  <a:srgbClr val="166B65"/>
                </a:solidFill>
                <a:latin typeface="Arial"/>
                <a:ea typeface="Arial"/>
                <a:cs typeface="Arial"/>
              </a:defRPr>
            </a:lvl1pPr>
            <a:lvl2pPr algn="l">
              <a:defRPr sz="2250" b="1">
                <a:solidFill>
                  <a:srgbClr val="166B65"/>
                </a:solidFill>
                <a:latin typeface="Arial"/>
                <a:ea typeface="Arial"/>
                <a:cs typeface="Arial"/>
              </a:defRPr>
            </a:lvl2pPr>
            <a:lvl3pPr algn="l">
              <a:defRPr sz="2250" b="1">
                <a:solidFill>
                  <a:srgbClr val="166B65"/>
                </a:solidFill>
                <a:latin typeface="Arial"/>
                <a:ea typeface="Arial"/>
                <a:cs typeface="Arial"/>
              </a:defRPr>
            </a:lvl3pPr>
            <a:lvl4pPr algn="l">
              <a:defRPr sz="2250" b="1">
                <a:solidFill>
                  <a:srgbClr val="166B65"/>
                </a:solidFill>
                <a:latin typeface="Arial"/>
                <a:ea typeface="Arial"/>
                <a:cs typeface="Arial"/>
              </a:defRPr>
            </a:lvl4pPr>
            <a:lvl5pPr algn="l">
              <a:defRPr sz="2250" b="1">
                <a:solidFill>
                  <a:srgbClr val="166B65"/>
                </a:solidFill>
                <a:latin typeface="Arial"/>
                <a:ea typeface="Arial"/>
                <a:cs typeface="Arial"/>
              </a:defRPr>
            </a:lvl5pPr>
            <a:lvl6pPr algn="l">
              <a:defRPr sz="2250" b="1">
                <a:solidFill>
                  <a:srgbClr val="166B65"/>
                </a:solidFill>
                <a:latin typeface="Arial"/>
                <a:ea typeface="Arial"/>
                <a:cs typeface="Arial"/>
              </a:defRPr>
            </a:lvl6pPr>
            <a:lvl7pPr algn="l">
              <a:defRPr sz="2250" b="1">
                <a:solidFill>
                  <a:srgbClr val="166B65"/>
                </a:solidFill>
                <a:latin typeface="Arial"/>
                <a:ea typeface="Arial"/>
                <a:cs typeface="Arial"/>
              </a:defRPr>
            </a:lvl7pPr>
            <a:lvl8pPr algn="l">
              <a:defRPr sz="2250" b="1">
                <a:solidFill>
                  <a:srgbClr val="166B65"/>
                </a:solidFill>
                <a:latin typeface="Arial"/>
                <a:ea typeface="Arial"/>
                <a:cs typeface="Arial"/>
              </a:defRPr>
            </a:lvl8pPr>
            <a:lvl9pPr algn="l">
              <a:defRPr sz="2250" b="1">
                <a:solidFill>
                  <a:srgbClr val="166B65"/>
                </a:solidFill>
                <a:latin typeface="Arial"/>
                <a:ea typeface="Arial"/>
                <a:cs typeface="Arial"/>
              </a:defRPr>
            </a:lvl9pPr>
          </a:lstStyle>
          <a:p xmlns:a="http://schemas.openxmlformats.org/drawingml/2006/main">
            <a:pPr algn="l">
              <a:defRPr sz="2250" b="1">
                <a:solidFill>
                  <a:srgbClr val="166B65"/>
                </a:solidFill>
                <a:latin typeface="Arial"/>
                <a:ea typeface="Arial"/>
                <a:cs typeface="Arial"/>
              </a:defRPr>
            </a:pPr>
            <a:r>
              <a:rPr sz="2250" b="1">
                <a:solidFill>
                  <a:srgbClr val="166B65"/>
                </a:solidFill>
                <a:latin typeface="Arial"/>
                <a:ea typeface="Arial"/>
                <a:cs typeface="Arial"/>
              </a:rPr>
              <a:t>What the authors report</a:t>
            </a:r>
          </a:p>
        </p:txBody>
      </p:sp>
      <p:sp>
        <p:nvSpPr>
          <p:cNvPr id="6" name="study-context-detail-0">
            <a:extLst xmlns:a="http://schemas.openxmlformats.org/drawingml/2006/main">
              <a:ext uri="{FF2B5EF4-FFF2-40B4-BE49-F238E27FC236}">
                <a16:creationId xmlns:a16="http://schemas.microsoft.com/office/drawing/2014/main" id="{BBEDC2DF-C1F2-4181-B151-BD6957A52FB1}"/>
              </a:ext>
            </a:extLst>
          </p:cNvPr>
          <p:cNvSpPr>
            <a:spLocks xmlns:a="http://schemas.openxmlformats.org/drawingml/2006/main" noGrp="1"/>
          </p:cNvSpPr>
          <p:nvPr/>
        </p:nvSpPr>
        <p:spPr>
          <a:xfrm xmlns:a="http://schemas.openxmlformats.org/drawingml/2006/main">
            <a:off x="6477000" y="3362325"/>
            <a:ext cx="4857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72D40"/>
                </a:solidFill>
                <a:latin typeface="Arial"/>
                <a:ea typeface="Arial"/>
                <a:cs typeface="Arial"/>
              </a:defRPr>
            </a:defPPr>
            <a:lvl1pPr algn="l">
              <a:defRPr sz="1950" b="0">
                <a:solidFill>
                  <a:srgbClr val="172D40"/>
                </a:solidFill>
                <a:latin typeface="Arial"/>
                <a:ea typeface="Arial"/>
                <a:cs typeface="Arial"/>
              </a:defRPr>
            </a:lvl1pPr>
            <a:lvl2pPr algn="l">
              <a:defRPr sz="1950" b="0">
                <a:solidFill>
                  <a:srgbClr val="172D40"/>
                </a:solidFill>
                <a:latin typeface="Arial"/>
                <a:ea typeface="Arial"/>
                <a:cs typeface="Arial"/>
              </a:defRPr>
            </a:lvl2pPr>
            <a:lvl3pPr algn="l">
              <a:defRPr sz="1950" b="0">
                <a:solidFill>
                  <a:srgbClr val="172D40"/>
                </a:solidFill>
                <a:latin typeface="Arial"/>
                <a:ea typeface="Arial"/>
                <a:cs typeface="Arial"/>
              </a:defRPr>
            </a:lvl3pPr>
            <a:lvl4pPr algn="l">
              <a:defRPr sz="1950" b="0">
                <a:solidFill>
                  <a:srgbClr val="172D40"/>
                </a:solidFill>
                <a:latin typeface="Arial"/>
                <a:ea typeface="Arial"/>
                <a:cs typeface="Arial"/>
              </a:defRPr>
            </a:lvl4pPr>
            <a:lvl5pPr algn="l">
              <a:defRPr sz="1950" b="0">
                <a:solidFill>
                  <a:srgbClr val="172D40"/>
                </a:solidFill>
                <a:latin typeface="Arial"/>
                <a:ea typeface="Arial"/>
                <a:cs typeface="Arial"/>
              </a:defRPr>
            </a:lvl5pPr>
            <a:lvl6pPr algn="l">
              <a:defRPr sz="1950" b="0">
                <a:solidFill>
                  <a:srgbClr val="172D40"/>
                </a:solidFill>
                <a:latin typeface="Arial"/>
                <a:ea typeface="Arial"/>
                <a:cs typeface="Arial"/>
              </a:defRPr>
            </a:lvl6pPr>
            <a:lvl7pPr algn="l">
              <a:defRPr sz="1950" b="0">
                <a:solidFill>
                  <a:srgbClr val="172D40"/>
                </a:solidFill>
                <a:latin typeface="Arial"/>
                <a:ea typeface="Arial"/>
                <a:cs typeface="Arial"/>
              </a:defRPr>
            </a:lvl7pPr>
            <a:lvl8pPr algn="l">
              <a:defRPr sz="1950" b="0">
                <a:solidFill>
                  <a:srgbClr val="172D40"/>
                </a:solidFill>
                <a:latin typeface="Arial"/>
                <a:ea typeface="Arial"/>
                <a:cs typeface="Arial"/>
              </a:defRPr>
            </a:lvl8pPr>
            <a:lvl9pPr algn="l">
              <a:defRPr sz="1950" b="0">
                <a:solidFill>
                  <a:srgbClr val="172D40"/>
                </a:solidFill>
                <a:latin typeface="Arial"/>
                <a:ea typeface="Arial"/>
                <a:cs typeface="Arial"/>
              </a:defRPr>
            </a:lvl9pPr>
          </a:lstStyle>
          <a:p xmlns:a="http://schemas.openxmlformats.org/drawingml/2006/main">
            <a:pPr algn="l">
              <a:defRPr sz="1950" b="0">
                <a:solidFill>
                  <a:srgbClr val="172D40"/>
                </a:solidFill>
                <a:latin typeface="Arial"/>
                <a:ea typeface="Arial"/>
                <a:cs typeface="Arial"/>
              </a:defRPr>
            </a:pPr>
            <a:r>
              <a:rPr sz="1950" b="0">
                <a:solidFill>
                  <a:srgbClr val="172D40"/>
                </a:solidFill>
                <a:latin typeface="Arial"/>
                <a:ea typeface="Arial"/>
                <a:cs typeface="Arial"/>
              </a:rPr>
              <a:t>An online labour-market field experiment with nearly half a million job seekers.</a:t>
            </a:r>
          </a:p>
        </p:txBody>
      </p:sp>
      <p:sp>
        <p:nvSpPr>
          <p:cNvPr id="7" name="study-context-1">
            <a:extLst xmlns:a="http://schemas.openxmlformats.org/drawingml/2006/main">
              <a:ext uri="{FF2B5EF4-FFF2-40B4-BE49-F238E27FC236}">
                <a16:creationId xmlns:a16="http://schemas.microsoft.com/office/drawing/2014/main" id="{56E8AA87-AEDF-4FBE-8548-C7A580C6D284}"/>
              </a:ext>
            </a:extLst>
          </p:cNvPr>
          <p:cNvSpPr>
            <a:spLocks xmlns:a="http://schemas.openxmlformats.org/drawingml/2006/main" noGrp="1"/>
          </p:cNvSpPr>
          <p:nvPr/>
        </p:nvSpPr>
        <p:spPr>
          <a:xfrm xmlns:a="http://schemas.openxmlformats.org/drawingml/2006/main">
            <a:off x="6477000" y="4238625"/>
            <a:ext cx="4953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66B65"/>
                </a:solidFill>
                <a:latin typeface="Arial"/>
                <a:ea typeface="Arial"/>
                <a:cs typeface="Arial"/>
              </a:defRPr>
            </a:defPPr>
            <a:lvl1pPr algn="l">
              <a:defRPr sz="2250" b="1">
                <a:solidFill>
                  <a:srgbClr val="166B65"/>
                </a:solidFill>
                <a:latin typeface="Arial"/>
                <a:ea typeface="Arial"/>
                <a:cs typeface="Arial"/>
              </a:defRPr>
            </a:lvl1pPr>
            <a:lvl2pPr algn="l">
              <a:defRPr sz="2250" b="1">
                <a:solidFill>
                  <a:srgbClr val="166B65"/>
                </a:solidFill>
                <a:latin typeface="Arial"/>
                <a:ea typeface="Arial"/>
                <a:cs typeface="Arial"/>
              </a:defRPr>
            </a:lvl2pPr>
            <a:lvl3pPr algn="l">
              <a:defRPr sz="2250" b="1">
                <a:solidFill>
                  <a:srgbClr val="166B65"/>
                </a:solidFill>
                <a:latin typeface="Arial"/>
                <a:ea typeface="Arial"/>
                <a:cs typeface="Arial"/>
              </a:defRPr>
            </a:lvl3pPr>
            <a:lvl4pPr algn="l">
              <a:defRPr sz="2250" b="1">
                <a:solidFill>
                  <a:srgbClr val="166B65"/>
                </a:solidFill>
                <a:latin typeface="Arial"/>
                <a:ea typeface="Arial"/>
                <a:cs typeface="Arial"/>
              </a:defRPr>
            </a:lvl4pPr>
            <a:lvl5pPr algn="l">
              <a:defRPr sz="2250" b="1">
                <a:solidFill>
                  <a:srgbClr val="166B65"/>
                </a:solidFill>
                <a:latin typeface="Arial"/>
                <a:ea typeface="Arial"/>
                <a:cs typeface="Arial"/>
              </a:defRPr>
            </a:lvl5pPr>
            <a:lvl6pPr algn="l">
              <a:defRPr sz="2250" b="1">
                <a:solidFill>
                  <a:srgbClr val="166B65"/>
                </a:solidFill>
                <a:latin typeface="Arial"/>
                <a:ea typeface="Arial"/>
                <a:cs typeface="Arial"/>
              </a:defRPr>
            </a:lvl6pPr>
            <a:lvl7pPr algn="l">
              <a:defRPr sz="2250" b="1">
                <a:solidFill>
                  <a:srgbClr val="166B65"/>
                </a:solidFill>
                <a:latin typeface="Arial"/>
                <a:ea typeface="Arial"/>
                <a:cs typeface="Arial"/>
              </a:defRPr>
            </a:lvl7pPr>
            <a:lvl8pPr algn="l">
              <a:defRPr sz="2250" b="1">
                <a:solidFill>
                  <a:srgbClr val="166B65"/>
                </a:solidFill>
                <a:latin typeface="Arial"/>
                <a:ea typeface="Arial"/>
                <a:cs typeface="Arial"/>
              </a:defRPr>
            </a:lvl8pPr>
            <a:lvl9pPr algn="l">
              <a:defRPr sz="2250" b="1">
                <a:solidFill>
                  <a:srgbClr val="166B65"/>
                </a:solidFill>
                <a:latin typeface="Arial"/>
                <a:ea typeface="Arial"/>
                <a:cs typeface="Arial"/>
              </a:defRPr>
            </a:lvl9pPr>
          </a:lstStyle>
          <a:p xmlns:a="http://schemas.openxmlformats.org/drawingml/2006/main">
            <a:pPr algn="l">
              <a:defRPr sz="2250" b="1">
                <a:solidFill>
                  <a:srgbClr val="166B65"/>
                </a:solidFill>
                <a:latin typeface="Arial"/>
                <a:ea typeface="Arial"/>
                <a:cs typeface="Arial"/>
              </a:defRPr>
            </a:pPr>
            <a:r>
              <a:rPr sz="2250" b="1">
                <a:solidFill>
                  <a:srgbClr val="166B65"/>
                </a:solidFill>
                <a:latin typeface="Arial"/>
                <a:ea typeface="Arial"/>
                <a:cs typeface="Arial"/>
              </a:rPr>
              <a:t>What it does not establish</a:t>
            </a:r>
          </a:p>
        </p:txBody>
      </p:sp>
      <p:sp>
        <p:nvSpPr>
          <p:cNvPr id="8" name="study-context-detail-1">
            <a:extLst xmlns:a="http://schemas.openxmlformats.org/drawingml/2006/main">
              <a:ext uri="{FF2B5EF4-FFF2-40B4-BE49-F238E27FC236}">
                <a16:creationId xmlns:a16="http://schemas.microsoft.com/office/drawing/2014/main" id="{19C70A8A-A316-43AE-88AE-AC2BE93CF38A}"/>
              </a:ext>
            </a:extLst>
          </p:cNvPr>
          <p:cNvSpPr>
            <a:spLocks xmlns:a="http://schemas.openxmlformats.org/drawingml/2006/main" noGrp="1"/>
          </p:cNvSpPr>
          <p:nvPr/>
        </p:nvSpPr>
        <p:spPr>
          <a:xfrm xmlns:a="http://schemas.openxmlformats.org/drawingml/2006/main">
            <a:off x="6477000" y="5029200"/>
            <a:ext cx="4857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72D40"/>
                </a:solidFill>
                <a:latin typeface="Arial"/>
                <a:ea typeface="Arial"/>
                <a:cs typeface="Arial"/>
              </a:defRPr>
            </a:defPPr>
            <a:lvl1pPr algn="l">
              <a:defRPr sz="1950" b="0">
                <a:solidFill>
                  <a:srgbClr val="172D40"/>
                </a:solidFill>
                <a:latin typeface="Arial"/>
                <a:ea typeface="Arial"/>
                <a:cs typeface="Arial"/>
              </a:defRPr>
            </a:lvl1pPr>
            <a:lvl2pPr algn="l">
              <a:defRPr sz="1950" b="0">
                <a:solidFill>
                  <a:srgbClr val="172D40"/>
                </a:solidFill>
                <a:latin typeface="Arial"/>
                <a:ea typeface="Arial"/>
                <a:cs typeface="Arial"/>
              </a:defRPr>
            </a:lvl2pPr>
            <a:lvl3pPr algn="l">
              <a:defRPr sz="1950" b="0">
                <a:solidFill>
                  <a:srgbClr val="172D40"/>
                </a:solidFill>
                <a:latin typeface="Arial"/>
                <a:ea typeface="Arial"/>
                <a:cs typeface="Arial"/>
              </a:defRPr>
            </a:lvl3pPr>
            <a:lvl4pPr algn="l">
              <a:defRPr sz="1950" b="0">
                <a:solidFill>
                  <a:srgbClr val="172D40"/>
                </a:solidFill>
                <a:latin typeface="Arial"/>
                <a:ea typeface="Arial"/>
                <a:cs typeface="Arial"/>
              </a:defRPr>
            </a:lvl4pPr>
            <a:lvl5pPr algn="l">
              <a:defRPr sz="1950" b="0">
                <a:solidFill>
                  <a:srgbClr val="172D40"/>
                </a:solidFill>
                <a:latin typeface="Arial"/>
                <a:ea typeface="Arial"/>
                <a:cs typeface="Arial"/>
              </a:defRPr>
            </a:lvl5pPr>
            <a:lvl6pPr algn="l">
              <a:defRPr sz="1950" b="0">
                <a:solidFill>
                  <a:srgbClr val="172D40"/>
                </a:solidFill>
                <a:latin typeface="Arial"/>
                <a:ea typeface="Arial"/>
                <a:cs typeface="Arial"/>
              </a:defRPr>
            </a:lvl6pPr>
            <a:lvl7pPr algn="l">
              <a:defRPr sz="1950" b="0">
                <a:solidFill>
                  <a:srgbClr val="172D40"/>
                </a:solidFill>
                <a:latin typeface="Arial"/>
                <a:ea typeface="Arial"/>
                <a:cs typeface="Arial"/>
              </a:defRPr>
            </a:lvl7pPr>
            <a:lvl8pPr algn="l">
              <a:defRPr sz="1950" b="0">
                <a:solidFill>
                  <a:srgbClr val="172D40"/>
                </a:solidFill>
                <a:latin typeface="Arial"/>
                <a:ea typeface="Arial"/>
                <a:cs typeface="Arial"/>
              </a:defRPr>
            </a:lvl8pPr>
            <a:lvl9pPr algn="l">
              <a:defRPr sz="1950" b="0">
                <a:solidFill>
                  <a:srgbClr val="172D40"/>
                </a:solidFill>
                <a:latin typeface="Arial"/>
                <a:ea typeface="Arial"/>
                <a:cs typeface="Arial"/>
              </a:defRPr>
            </a:lvl9pPr>
          </a:lstStyle>
          <a:p xmlns:a="http://schemas.openxmlformats.org/drawingml/2006/main">
            <a:pPr algn="l">
              <a:defRPr sz="1950" b="0">
                <a:solidFill>
                  <a:srgbClr val="172D40"/>
                </a:solidFill>
                <a:latin typeface="Arial"/>
                <a:ea typeface="Arial"/>
                <a:cs typeface="Arial"/>
              </a:defRPr>
            </a:pPr>
            <a:r>
              <a:rPr sz="1950" b="0">
                <a:solidFill>
                  <a:srgbClr val="172D40"/>
                </a:solidFill>
                <a:latin typeface="Arial"/>
                <a:ea typeface="Arial"/>
                <a:cs typeface="Arial"/>
              </a:rPr>
              <a:t>The effect of today's chatbots, fabricated experience or a JobHub product.</a:t>
            </a:r>
          </a:p>
        </p:txBody>
      </p:sp>
      <p:sp>
        <p:nvSpPr>
          <p:cNvPr id="9" name="evidence-boundary">
            <a:extLst xmlns:a="http://schemas.openxmlformats.org/drawingml/2006/main">
              <a:ext uri="{FF2B5EF4-FFF2-40B4-BE49-F238E27FC236}">
                <a16:creationId xmlns:a16="http://schemas.microsoft.com/office/drawing/2014/main" id="{9ADC7771-754B-4EF8-BE4D-AD0962EE5839}"/>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C01, Jan 2023 abstract. Editing existing text. Relative change, not 8 percentage points.</a:t>
            </a:r>
          </a:p>
        </p:txBody>
      </p:sp>
      <p:sp>
        <p:nvSpPr>
          <p:cNvPr id="10" name="slide-number">
            <a:extLst xmlns:a="http://schemas.openxmlformats.org/drawingml/2006/main">
              <a:ext uri="{FF2B5EF4-FFF2-40B4-BE49-F238E27FC236}">
                <a16:creationId xmlns:a16="http://schemas.microsoft.com/office/drawing/2014/main" id="{76C85EE1-CBD8-4CA2-BC9A-059A920F13DF}"/>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14</a:t>
            </a:r>
          </a:p>
        </p:txBody>
      </p:sp>
    </p:spTree>
    <p:extLst>
      <p:ext uri="{BB962C8B-B14F-4D97-AF65-F5344CB8AC3E}">
        <p14:creationId xmlns:p14="http://schemas.microsoft.com/office/powerpoint/2010/main" val="1323919673"/>
      </p:ext>
    </p:extLst>
  </p:cSld>
</p:sld>
</file>

<file path=ppt/slides/slide15.xml><?xml version="1.0" encoding="utf-8"?>
<p:sld xmlns:p="http://schemas.openxmlformats.org/presentationml/2006/main">
  <p:cSld>
    <p:bg>
      <p:bgPr>
        <a:solidFill xmlns:a="http://schemas.openxmlformats.org/drawingml/2006/main">
          <a:srgbClr val="102235"/>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71B7858C-48FB-4F05-AA37-F5107F6BF8B5}"/>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rial"/>
                <a:ea typeface="Arial"/>
                <a:cs typeface="Arial"/>
              </a:defRPr>
            </a:defPPr>
            <a:lvl1pPr algn="l">
              <a:defRPr sz="3450" b="1">
                <a:solidFill>
                  <a:srgbClr val="FFFFFF"/>
                </a:solidFill>
                <a:latin typeface="Arial"/>
                <a:ea typeface="Arial"/>
                <a:cs typeface="Arial"/>
              </a:defRPr>
            </a:lvl1pPr>
            <a:lvl2pPr algn="l">
              <a:defRPr sz="3450" b="1">
                <a:solidFill>
                  <a:srgbClr val="FFFFFF"/>
                </a:solidFill>
                <a:latin typeface="Arial"/>
                <a:ea typeface="Arial"/>
                <a:cs typeface="Arial"/>
              </a:defRPr>
            </a:lvl2pPr>
            <a:lvl3pPr algn="l">
              <a:defRPr sz="3450" b="1">
                <a:solidFill>
                  <a:srgbClr val="FFFFFF"/>
                </a:solidFill>
                <a:latin typeface="Arial"/>
                <a:ea typeface="Arial"/>
                <a:cs typeface="Arial"/>
              </a:defRPr>
            </a:lvl3pPr>
            <a:lvl4pPr algn="l">
              <a:defRPr sz="3450" b="1">
                <a:solidFill>
                  <a:srgbClr val="FFFFFF"/>
                </a:solidFill>
                <a:latin typeface="Arial"/>
                <a:ea typeface="Arial"/>
                <a:cs typeface="Arial"/>
              </a:defRPr>
            </a:lvl4pPr>
            <a:lvl5pPr algn="l">
              <a:defRPr sz="3450" b="1">
                <a:solidFill>
                  <a:srgbClr val="FFFFFF"/>
                </a:solidFill>
                <a:latin typeface="Arial"/>
                <a:ea typeface="Arial"/>
                <a:cs typeface="Arial"/>
              </a:defRPr>
            </a:lvl5pPr>
            <a:lvl6pPr algn="l">
              <a:defRPr sz="3450" b="1">
                <a:solidFill>
                  <a:srgbClr val="FFFFFF"/>
                </a:solidFill>
                <a:latin typeface="Arial"/>
                <a:ea typeface="Arial"/>
                <a:cs typeface="Arial"/>
              </a:defRPr>
            </a:lvl6pPr>
            <a:lvl7pPr algn="l">
              <a:defRPr sz="3450" b="1">
                <a:solidFill>
                  <a:srgbClr val="FFFFFF"/>
                </a:solidFill>
                <a:latin typeface="Arial"/>
                <a:ea typeface="Arial"/>
                <a:cs typeface="Arial"/>
              </a:defRPr>
            </a:lvl7pPr>
            <a:lvl8pPr algn="l">
              <a:defRPr sz="3450" b="1">
                <a:solidFill>
                  <a:srgbClr val="FFFFFF"/>
                </a:solidFill>
                <a:latin typeface="Arial"/>
                <a:ea typeface="Arial"/>
                <a:cs typeface="Arial"/>
              </a:defRPr>
            </a:lvl8pPr>
            <a:lvl9pPr algn="l">
              <a:defRPr sz="3450" b="1">
                <a:solidFill>
                  <a:srgbClr val="FFFFFF"/>
                </a:solidFill>
                <a:latin typeface="Arial"/>
                <a:ea typeface="Arial"/>
                <a:cs typeface="Arial"/>
              </a:defRPr>
            </a:lvl9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Cheaper writing did not guarantee more matches</a:t>
            </a:r>
          </a:p>
        </p:txBody>
      </p:sp>
      <p:sp>
        <p:nvSpPr>
          <p:cNvPr id="2" name="lead">
            <a:extLst xmlns:a="http://schemas.openxmlformats.org/drawingml/2006/main">
              <a:ext uri="{FF2B5EF4-FFF2-40B4-BE49-F238E27FC236}">
                <a16:creationId xmlns:a16="http://schemas.microsoft.com/office/drawing/2014/main" id="{5C672A26-51EC-4074-BB08-D96BC96A005A}"/>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D7E1E3"/>
                </a:solidFill>
                <a:latin typeface="Arial"/>
                <a:ea typeface="Arial"/>
                <a:cs typeface="Arial"/>
              </a:defRPr>
            </a:defPPr>
            <a:lvl1pPr algn="l">
              <a:defRPr sz="2025" b="0">
                <a:solidFill>
                  <a:srgbClr val="D7E1E3"/>
                </a:solidFill>
                <a:latin typeface="Arial"/>
                <a:ea typeface="Arial"/>
                <a:cs typeface="Arial"/>
              </a:defRPr>
            </a:lvl1pPr>
            <a:lvl2pPr algn="l">
              <a:defRPr sz="2025" b="0">
                <a:solidFill>
                  <a:srgbClr val="D7E1E3"/>
                </a:solidFill>
                <a:latin typeface="Arial"/>
                <a:ea typeface="Arial"/>
                <a:cs typeface="Arial"/>
              </a:defRPr>
            </a:lvl2pPr>
            <a:lvl3pPr algn="l">
              <a:defRPr sz="2025" b="0">
                <a:solidFill>
                  <a:srgbClr val="D7E1E3"/>
                </a:solidFill>
                <a:latin typeface="Arial"/>
                <a:ea typeface="Arial"/>
                <a:cs typeface="Arial"/>
              </a:defRPr>
            </a:lvl3pPr>
            <a:lvl4pPr algn="l">
              <a:defRPr sz="2025" b="0">
                <a:solidFill>
                  <a:srgbClr val="D7E1E3"/>
                </a:solidFill>
                <a:latin typeface="Arial"/>
                <a:ea typeface="Arial"/>
                <a:cs typeface="Arial"/>
              </a:defRPr>
            </a:lvl4pPr>
            <a:lvl5pPr algn="l">
              <a:defRPr sz="2025" b="0">
                <a:solidFill>
                  <a:srgbClr val="D7E1E3"/>
                </a:solidFill>
                <a:latin typeface="Arial"/>
                <a:ea typeface="Arial"/>
                <a:cs typeface="Arial"/>
              </a:defRPr>
            </a:lvl5pPr>
            <a:lvl6pPr algn="l">
              <a:defRPr sz="2025" b="0">
                <a:solidFill>
                  <a:srgbClr val="D7E1E3"/>
                </a:solidFill>
                <a:latin typeface="Arial"/>
                <a:ea typeface="Arial"/>
                <a:cs typeface="Arial"/>
              </a:defRPr>
            </a:lvl6pPr>
            <a:lvl7pPr algn="l">
              <a:defRPr sz="2025" b="0">
                <a:solidFill>
                  <a:srgbClr val="D7E1E3"/>
                </a:solidFill>
                <a:latin typeface="Arial"/>
                <a:ea typeface="Arial"/>
                <a:cs typeface="Arial"/>
              </a:defRPr>
            </a:lvl7pPr>
            <a:lvl8pPr algn="l">
              <a:defRPr sz="2025" b="0">
                <a:solidFill>
                  <a:srgbClr val="D7E1E3"/>
                </a:solidFill>
                <a:latin typeface="Arial"/>
                <a:ea typeface="Arial"/>
                <a:cs typeface="Arial"/>
              </a:defRPr>
            </a:lvl8pPr>
            <a:lvl9pPr algn="l">
              <a:defRPr sz="2025" b="0">
                <a:solidFill>
                  <a:srgbClr val="D7E1E3"/>
                </a:solidFill>
                <a:latin typeface="Arial"/>
                <a:ea typeface="Arial"/>
                <a:cs typeface="Arial"/>
              </a:defRPr>
            </a:lvl9pPr>
          </a:lstStyle>
          <a:p xmlns:a="http://schemas.openxmlformats.org/drawingml/2006/main">
            <a:pPr algn="l">
              <a:defRPr sz="2025" b="0">
                <a:solidFill>
                  <a:srgbClr val="D7E1E3"/>
                </a:solidFill>
                <a:latin typeface="Arial"/>
                <a:ea typeface="Arial"/>
                <a:cs typeface="Arial"/>
              </a:defRPr>
            </a:pPr>
            <a:r>
              <a:rPr sz="2025" b="0">
                <a:solidFill>
                  <a:srgbClr val="D7E1E3"/>
                </a:solidFill>
                <a:latin typeface="Arial"/>
                <a:ea typeface="Arial"/>
                <a:cs typeface="Arial"/>
              </a:rPr>
              <a:t>A separate experiment offered employers AI-written job-post drafts.</a:t>
            </a:r>
          </a:p>
        </p:txBody>
      </p:sp>
      <p:sp>
        <p:nvSpPr>
          <p:cNvPr id="3" name="reported-effect-0">
            <a:extLst xmlns:a="http://schemas.openxmlformats.org/drawingml/2006/main">
              <a:ext uri="{FF2B5EF4-FFF2-40B4-BE49-F238E27FC236}">
                <a16:creationId xmlns:a16="http://schemas.microsoft.com/office/drawing/2014/main" id="{ABE4645D-4AA7-47CB-A929-8FF487119E31}"/>
              </a:ext>
            </a:extLst>
          </p:cNvPr>
          <p:cNvSpPr>
            <a:spLocks xmlns:a="http://schemas.openxmlformats.org/drawingml/2006/main" noGrp="1"/>
          </p:cNvSpPr>
          <p:nvPr/>
        </p:nvSpPr>
        <p:spPr>
          <a:xfrm xmlns:a="http://schemas.openxmlformats.org/drawingml/2006/main">
            <a:off x="762000" y="2552700"/>
            <a:ext cx="5048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25" b="1">
                <a:solidFill>
                  <a:srgbClr val="F1C58A"/>
                </a:solidFill>
                <a:latin typeface="Arial"/>
                <a:ea typeface="Arial"/>
                <a:cs typeface="Arial"/>
              </a:defRPr>
            </a:defPPr>
            <a:lvl1pPr algn="l">
              <a:defRPr sz="10125" b="1">
                <a:solidFill>
                  <a:srgbClr val="F1C58A"/>
                </a:solidFill>
                <a:latin typeface="Arial"/>
                <a:ea typeface="Arial"/>
                <a:cs typeface="Arial"/>
              </a:defRPr>
            </a:lvl1pPr>
            <a:lvl2pPr algn="l">
              <a:defRPr sz="10125" b="1">
                <a:solidFill>
                  <a:srgbClr val="F1C58A"/>
                </a:solidFill>
                <a:latin typeface="Arial"/>
                <a:ea typeface="Arial"/>
                <a:cs typeface="Arial"/>
              </a:defRPr>
            </a:lvl2pPr>
            <a:lvl3pPr algn="l">
              <a:defRPr sz="10125" b="1">
                <a:solidFill>
                  <a:srgbClr val="F1C58A"/>
                </a:solidFill>
                <a:latin typeface="Arial"/>
                <a:ea typeface="Arial"/>
                <a:cs typeface="Arial"/>
              </a:defRPr>
            </a:lvl3pPr>
            <a:lvl4pPr algn="l">
              <a:defRPr sz="10125" b="1">
                <a:solidFill>
                  <a:srgbClr val="F1C58A"/>
                </a:solidFill>
                <a:latin typeface="Arial"/>
                <a:ea typeface="Arial"/>
                <a:cs typeface="Arial"/>
              </a:defRPr>
            </a:lvl4pPr>
            <a:lvl5pPr algn="l">
              <a:defRPr sz="10125" b="1">
                <a:solidFill>
                  <a:srgbClr val="F1C58A"/>
                </a:solidFill>
                <a:latin typeface="Arial"/>
                <a:ea typeface="Arial"/>
                <a:cs typeface="Arial"/>
              </a:defRPr>
            </a:lvl5pPr>
            <a:lvl6pPr algn="l">
              <a:defRPr sz="10125" b="1">
                <a:solidFill>
                  <a:srgbClr val="F1C58A"/>
                </a:solidFill>
                <a:latin typeface="Arial"/>
                <a:ea typeface="Arial"/>
                <a:cs typeface="Arial"/>
              </a:defRPr>
            </a:lvl6pPr>
            <a:lvl7pPr algn="l">
              <a:defRPr sz="10125" b="1">
                <a:solidFill>
                  <a:srgbClr val="F1C58A"/>
                </a:solidFill>
                <a:latin typeface="Arial"/>
                <a:ea typeface="Arial"/>
                <a:cs typeface="Arial"/>
              </a:defRPr>
            </a:lvl7pPr>
            <a:lvl8pPr algn="l">
              <a:defRPr sz="10125" b="1">
                <a:solidFill>
                  <a:srgbClr val="F1C58A"/>
                </a:solidFill>
                <a:latin typeface="Arial"/>
                <a:ea typeface="Arial"/>
                <a:cs typeface="Arial"/>
              </a:defRPr>
            </a:lvl8pPr>
            <a:lvl9pPr algn="l">
              <a:defRPr sz="10125" b="1">
                <a:solidFill>
                  <a:srgbClr val="F1C58A"/>
                </a:solidFill>
                <a:latin typeface="Arial"/>
                <a:ea typeface="Arial"/>
                <a:cs typeface="Arial"/>
              </a:defRPr>
            </a:lvl9pPr>
          </a:lstStyle>
          <a:p xmlns:a="http://schemas.openxmlformats.org/drawingml/2006/main">
            <a:pPr algn="l">
              <a:defRPr sz="10125" b="1">
                <a:solidFill>
                  <a:srgbClr val="F1C58A"/>
                </a:solidFill>
                <a:latin typeface="Arial"/>
                <a:ea typeface="Arial"/>
                <a:cs typeface="Arial"/>
              </a:defRPr>
            </a:pPr>
            <a:r>
              <a:rPr sz="10125" b="1">
                <a:solidFill>
                  <a:srgbClr val="F1C58A"/>
                </a:solidFill>
                <a:latin typeface="Arial"/>
                <a:ea typeface="Arial"/>
                <a:cs typeface="Arial"/>
              </a:rPr>
              <a:t>44%</a:t>
            </a:r>
          </a:p>
        </p:txBody>
      </p:sp>
      <p:sp>
        <p:nvSpPr>
          <p:cNvPr id="4" name="effect-definition-0">
            <a:extLst xmlns:a="http://schemas.openxmlformats.org/drawingml/2006/main">
              <a:ext uri="{FF2B5EF4-FFF2-40B4-BE49-F238E27FC236}">
                <a16:creationId xmlns:a16="http://schemas.microsoft.com/office/drawing/2014/main" id="{EA2713E7-D6B1-4527-98AD-01421C77C22C}"/>
              </a:ext>
            </a:extLst>
          </p:cNvPr>
          <p:cNvSpPr>
            <a:spLocks xmlns:a="http://schemas.openxmlformats.org/drawingml/2006/main" noGrp="1"/>
          </p:cNvSpPr>
          <p:nvPr/>
        </p:nvSpPr>
        <p:spPr>
          <a:xfrm xmlns:a="http://schemas.openxmlformats.org/drawingml/2006/main">
            <a:off x="809625" y="4219575"/>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less drafting time among</a:t>
            </a:r>
          </a:p>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employers who posted</a:t>
            </a:r>
          </a:p>
        </p:txBody>
      </p:sp>
      <p:sp>
        <p:nvSpPr>
          <p:cNvPr id="5" name="reported-effect-1">
            <a:extLst xmlns:a="http://schemas.openxmlformats.org/drawingml/2006/main">
              <a:ext uri="{FF2B5EF4-FFF2-40B4-BE49-F238E27FC236}">
                <a16:creationId xmlns:a16="http://schemas.microsoft.com/office/drawing/2014/main" id="{E45774F1-D1B8-4374-ABC8-5BCEEE7E94B6}"/>
              </a:ext>
            </a:extLst>
          </p:cNvPr>
          <p:cNvSpPr>
            <a:spLocks xmlns:a="http://schemas.openxmlformats.org/drawingml/2006/main" noGrp="1"/>
          </p:cNvSpPr>
          <p:nvPr/>
        </p:nvSpPr>
        <p:spPr>
          <a:xfrm xmlns:a="http://schemas.openxmlformats.org/drawingml/2006/main">
            <a:off x="6381750" y="2552700"/>
            <a:ext cx="5048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25" b="1">
                <a:solidFill>
                  <a:srgbClr val="F1C58A"/>
                </a:solidFill>
                <a:latin typeface="Arial"/>
                <a:ea typeface="Arial"/>
                <a:cs typeface="Arial"/>
              </a:defRPr>
            </a:defPPr>
            <a:lvl1pPr algn="l">
              <a:defRPr sz="10125" b="1">
                <a:solidFill>
                  <a:srgbClr val="F1C58A"/>
                </a:solidFill>
                <a:latin typeface="Arial"/>
                <a:ea typeface="Arial"/>
                <a:cs typeface="Arial"/>
              </a:defRPr>
            </a:lvl1pPr>
            <a:lvl2pPr algn="l">
              <a:defRPr sz="10125" b="1">
                <a:solidFill>
                  <a:srgbClr val="F1C58A"/>
                </a:solidFill>
                <a:latin typeface="Arial"/>
                <a:ea typeface="Arial"/>
                <a:cs typeface="Arial"/>
              </a:defRPr>
            </a:lvl2pPr>
            <a:lvl3pPr algn="l">
              <a:defRPr sz="10125" b="1">
                <a:solidFill>
                  <a:srgbClr val="F1C58A"/>
                </a:solidFill>
                <a:latin typeface="Arial"/>
                <a:ea typeface="Arial"/>
                <a:cs typeface="Arial"/>
              </a:defRPr>
            </a:lvl3pPr>
            <a:lvl4pPr algn="l">
              <a:defRPr sz="10125" b="1">
                <a:solidFill>
                  <a:srgbClr val="F1C58A"/>
                </a:solidFill>
                <a:latin typeface="Arial"/>
                <a:ea typeface="Arial"/>
                <a:cs typeface="Arial"/>
              </a:defRPr>
            </a:lvl4pPr>
            <a:lvl5pPr algn="l">
              <a:defRPr sz="10125" b="1">
                <a:solidFill>
                  <a:srgbClr val="F1C58A"/>
                </a:solidFill>
                <a:latin typeface="Arial"/>
                <a:ea typeface="Arial"/>
                <a:cs typeface="Arial"/>
              </a:defRPr>
            </a:lvl5pPr>
            <a:lvl6pPr algn="l">
              <a:defRPr sz="10125" b="1">
                <a:solidFill>
                  <a:srgbClr val="F1C58A"/>
                </a:solidFill>
                <a:latin typeface="Arial"/>
                <a:ea typeface="Arial"/>
                <a:cs typeface="Arial"/>
              </a:defRPr>
            </a:lvl6pPr>
            <a:lvl7pPr algn="l">
              <a:defRPr sz="10125" b="1">
                <a:solidFill>
                  <a:srgbClr val="F1C58A"/>
                </a:solidFill>
                <a:latin typeface="Arial"/>
                <a:ea typeface="Arial"/>
                <a:cs typeface="Arial"/>
              </a:defRPr>
            </a:lvl7pPr>
            <a:lvl8pPr algn="l">
              <a:defRPr sz="10125" b="1">
                <a:solidFill>
                  <a:srgbClr val="F1C58A"/>
                </a:solidFill>
                <a:latin typeface="Arial"/>
                <a:ea typeface="Arial"/>
                <a:cs typeface="Arial"/>
              </a:defRPr>
            </a:lvl8pPr>
            <a:lvl9pPr algn="l">
              <a:defRPr sz="10125" b="1">
                <a:solidFill>
                  <a:srgbClr val="F1C58A"/>
                </a:solidFill>
                <a:latin typeface="Arial"/>
                <a:ea typeface="Arial"/>
                <a:cs typeface="Arial"/>
              </a:defRPr>
            </a:lvl9pPr>
          </a:lstStyle>
          <a:p xmlns:a="http://schemas.openxmlformats.org/drawingml/2006/main">
            <a:pPr algn="l">
              <a:defRPr sz="10125" b="1">
                <a:solidFill>
                  <a:srgbClr val="F1C58A"/>
                </a:solidFill>
                <a:latin typeface="Arial"/>
                <a:ea typeface="Arial"/>
                <a:cs typeface="Arial"/>
              </a:defRPr>
            </a:pPr>
            <a:r>
              <a:rPr sz="10125" b="1">
                <a:solidFill>
                  <a:srgbClr val="F1C58A"/>
                </a:solidFill>
                <a:latin typeface="Arial"/>
                <a:ea typeface="Arial"/>
                <a:cs typeface="Arial"/>
              </a:rPr>
              <a:t>19%</a:t>
            </a:r>
          </a:p>
        </p:txBody>
      </p:sp>
      <p:sp>
        <p:nvSpPr>
          <p:cNvPr id="6" name="effect-definition-1">
            <a:extLst xmlns:a="http://schemas.openxmlformats.org/drawingml/2006/main">
              <a:ext uri="{FF2B5EF4-FFF2-40B4-BE49-F238E27FC236}">
                <a16:creationId xmlns:a16="http://schemas.microsoft.com/office/drawing/2014/main" id="{2E6B58EC-0835-4D7E-BB18-CFB2297C2CA0}"/>
              </a:ext>
            </a:extLst>
          </p:cNvPr>
          <p:cNvSpPr>
            <a:spLocks xmlns:a="http://schemas.openxmlformats.org/drawingml/2006/main" noGrp="1"/>
          </p:cNvSpPr>
          <p:nvPr/>
        </p:nvSpPr>
        <p:spPr>
          <a:xfrm xmlns:a="http://schemas.openxmlformats.org/drawingml/2006/main">
            <a:off x="6429375" y="4219575"/>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higher posting probability</a:t>
            </a:r>
          </a:p>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(relative increase)</a:t>
            </a:r>
          </a:p>
        </p:txBody>
      </p:sp>
      <p:sp>
        <p:nvSpPr>
          <p:cNvPr id="7" name="takeaway">
            <a:extLst xmlns:a="http://schemas.openxmlformats.org/drawingml/2006/main">
              <a:ext uri="{FF2B5EF4-FFF2-40B4-BE49-F238E27FC236}">
                <a16:creationId xmlns:a16="http://schemas.microsoft.com/office/drawing/2014/main" id="{E40DD2E4-FB05-469A-84DB-D8F149E8170A}"/>
              </a:ext>
            </a:extLst>
          </p:cNvPr>
          <p:cNvSpPr>
            <a:spLocks xmlns:a="http://schemas.openxmlformats.org/drawingml/2006/main" noGrp="1"/>
          </p:cNvSpPr>
          <p:nvPr/>
        </p:nvSpPr>
        <p:spPr>
          <a:xfrm xmlns:a="http://schemas.openxmlformats.org/drawingml/2006/main">
            <a:off x="762000" y="5191125"/>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Arial"/>
                <a:ea typeface="Arial"/>
                <a:cs typeface="Arial"/>
              </a:defRPr>
            </a:defPPr>
            <a:lvl1pPr algn="l">
              <a:defRPr sz="2400" b="1">
                <a:solidFill>
                  <a:srgbClr val="FFFFFF"/>
                </a:solidFill>
                <a:latin typeface="Arial"/>
                <a:ea typeface="Arial"/>
                <a:cs typeface="Arial"/>
              </a:defRPr>
            </a:lvl1pPr>
            <a:lvl2pPr algn="l">
              <a:defRPr sz="2400" b="1">
                <a:solidFill>
                  <a:srgbClr val="FFFFFF"/>
                </a:solidFill>
                <a:latin typeface="Arial"/>
                <a:ea typeface="Arial"/>
                <a:cs typeface="Arial"/>
              </a:defRPr>
            </a:lvl2pPr>
            <a:lvl3pPr algn="l">
              <a:defRPr sz="2400" b="1">
                <a:solidFill>
                  <a:srgbClr val="FFFFFF"/>
                </a:solidFill>
                <a:latin typeface="Arial"/>
                <a:ea typeface="Arial"/>
                <a:cs typeface="Arial"/>
              </a:defRPr>
            </a:lvl3pPr>
            <a:lvl4pPr algn="l">
              <a:defRPr sz="2400" b="1">
                <a:solidFill>
                  <a:srgbClr val="FFFFFF"/>
                </a:solidFill>
                <a:latin typeface="Arial"/>
                <a:ea typeface="Arial"/>
                <a:cs typeface="Arial"/>
              </a:defRPr>
            </a:lvl4pPr>
            <a:lvl5pPr algn="l">
              <a:defRPr sz="2400" b="1">
                <a:solidFill>
                  <a:srgbClr val="FFFFFF"/>
                </a:solidFill>
                <a:latin typeface="Arial"/>
                <a:ea typeface="Arial"/>
                <a:cs typeface="Arial"/>
              </a:defRPr>
            </a:lvl5pPr>
            <a:lvl6pPr algn="l">
              <a:defRPr sz="2400" b="1">
                <a:solidFill>
                  <a:srgbClr val="FFFFFF"/>
                </a:solidFill>
                <a:latin typeface="Arial"/>
                <a:ea typeface="Arial"/>
                <a:cs typeface="Arial"/>
              </a:defRPr>
            </a:lvl6pPr>
            <a:lvl7pPr algn="l">
              <a:defRPr sz="2400" b="1">
                <a:solidFill>
                  <a:srgbClr val="FFFFFF"/>
                </a:solidFill>
                <a:latin typeface="Arial"/>
                <a:ea typeface="Arial"/>
                <a:cs typeface="Arial"/>
              </a:defRPr>
            </a:lvl7pPr>
            <a:lvl8pPr algn="l">
              <a:defRPr sz="2400" b="1">
                <a:solidFill>
                  <a:srgbClr val="FFFFFF"/>
                </a:solidFill>
                <a:latin typeface="Arial"/>
                <a:ea typeface="Arial"/>
                <a:cs typeface="Arial"/>
              </a:defRPr>
            </a:lvl8pPr>
            <a:lvl9pPr algn="l">
              <a:defRPr sz="2400" b="1">
                <a:solidFill>
                  <a:srgbClr val="FFFFFF"/>
                </a:solidFill>
                <a:latin typeface="Arial"/>
                <a:ea typeface="Arial"/>
                <a:cs typeface="Arial"/>
              </a:defRPr>
            </a:lvl9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The authors found no discernible increase in matches.</a:t>
            </a:r>
          </a:p>
        </p:txBody>
      </p:sp>
      <p:sp>
        <p:nvSpPr>
          <p:cNvPr id="8" name="evidence-boundary">
            <a:extLst xmlns:a="http://schemas.openxmlformats.org/drawingml/2006/main">
              <a:ext uri="{FF2B5EF4-FFF2-40B4-BE49-F238E27FC236}">
                <a16:creationId xmlns:a16="http://schemas.microsoft.com/office/drawing/2014/main" id="{4DE93753-67B4-4D59-B9DE-8CA86D8DFFA3}"/>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D7E1E3"/>
                </a:solidFill>
                <a:latin typeface="Arial"/>
                <a:ea typeface="Arial"/>
                <a:cs typeface="Arial"/>
              </a:defRPr>
            </a:defPPr>
            <a:lvl1pPr algn="l">
              <a:defRPr sz="1350" b="0">
                <a:solidFill>
                  <a:srgbClr val="D7E1E3"/>
                </a:solidFill>
                <a:latin typeface="Arial"/>
                <a:ea typeface="Arial"/>
                <a:cs typeface="Arial"/>
              </a:defRPr>
            </a:lvl1pPr>
            <a:lvl2pPr algn="l">
              <a:defRPr sz="1350" b="0">
                <a:solidFill>
                  <a:srgbClr val="D7E1E3"/>
                </a:solidFill>
                <a:latin typeface="Arial"/>
                <a:ea typeface="Arial"/>
                <a:cs typeface="Arial"/>
              </a:defRPr>
            </a:lvl2pPr>
            <a:lvl3pPr algn="l">
              <a:defRPr sz="1350" b="0">
                <a:solidFill>
                  <a:srgbClr val="D7E1E3"/>
                </a:solidFill>
                <a:latin typeface="Arial"/>
                <a:ea typeface="Arial"/>
                <a:cs typeface="Arial"/>
              </a:defRPr>
            </a:lvl3pPr>
            <a:lvl4pPr algn="l">
              <a:defRPr sz="1350" b="0">
                <a:solidFill>
                  <a:srgbClr val="D7E1E3"/>
                </a:solidFill>
                <a:latin typeface="Arial"/>
                <a:ea typeface="Arial"/>
                <a:cs typeface="Arial"/>
              </a:defRPr>
            </a:lvl4pPr>
            <a:lvl5pPr algn="l">
              <a:defRPr sz="1350" b="0">
                <a:solidFill>
                  <a:srgbClr val="D7E1E3"/>
                </a:solidFill>
                <a:latin typeface="Arial"/>
                <a:ea typeface="Arial"/>
                <a:cs typeface="Arial"/>
              </a:defRPr>
            </a:lvl5pPr>
            <a:lvl6pPr algn="l">
              <a:defRPr sz="1350" b="0">
                <a:solidFill>
                  <a:srgbClr val="D7E1E3"/>
                </a:solidFill>
                <a:latin typeface="Arial"/>
                <a:ea typeface="Arial"/>
                <a:cs typeface="Arial"/>
              </a:defRPr>
            </a:lvl6pPr>
            <a:lvl7pPr algn="l">
              <a:defRPr sz="1350" b="0">
                <a:solidFill>
                  <a:srgbClr val="D7E1E3"/>
                </a:solidFill>
                <a:latin typeface="Arial"/>
                <a:ea typeface="Arial"/>
                <a:cs typeface="Arial"/>
              </a:defRPr>
            </a:lvl7pPr>
            <a:lvl8pPr algn="l">
              <a:defRPr sz="1350" b="0">
                <a:solidFill>
                  <a:srgbClr val="D7E1E3"/>
                </a:solidFill>
                <a:latin typeface="Arial"/>
                <a:ea typeface="Arial"/>
                <a:cs typeface="Arial"/>
              </a:defRPr>
            </a:lvl8pPr>
            <a:lvl9pPr algn="l">
              <a:defRPr sz="1350" b="0">
                <a:solidFill>
                  <a:srgbClr val="D7E1E3"/>
                </a:solidFill>
                <a:latin typeface="Arial"/>
                <a:ea typeface="Arial"/>
                <a:cs typeface="Arial"/>
              </a:defRPr>
            </a:lvl9pPr>
          </a:lstStyle>
          <a:p xmlns:a="http://schemas.openxmlformats.org/drawingml/2006/main">
            <a:pPr algn="l">
              <a:defRPr sz="1350" b="0">
                <a:solidFill>
                  <a:srgbClr val="D7E1E3"/>
                </a:solidFill>
                <a:latin typeface="Arial"/>
                <a:ea typeface="Arial"/>
                <a:cs typeface="Arial"/>
              </a:defRPr>
            </a:pPr>
            <a:r>
              <a:rPr sz="1350" b="0">
                <a:solidFill>
                  <a:srgbClr val="D7E1E3"/>
                </a:solidFill>
                <a:latin typeface="Arial"/>
                <a:ea typeface="Arial"/>
                <a:cs typeface="Arial"/>
              </a:rPr>
              <a:t>C02, Sep 2026 working paper. Online labour market. Treatment vs control. Different task from C01.</a:t>
            </a:r>
          </a:p>
        </p:txBody>
      </p:sp>
      <p:sp>
        <p:nvSpPr>
          <p:cNvPr id="9" name="slide-number">
            <a:extLst xmlns:a="http://schemas.openxmlformats.org/drawingml/2006/main">
              <a:ext uri="{FF2B5EF4-FFF2-40B4-BE49-F238E27FC236}">
                <a16:creationId xmlns:a16="http://schemas.microsoft.com/office/drawing/2014/main" id="{E62CC048-C6E0-473A-9821-F2B7EC46384E}"/>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1C58A"/>
                </a:solidFill>
                <a:latin typeface="Arial"/>
                <a:ea typeface="Arial"/>
                <a:cs typeface="Arial"/>
              </a:defRPr>
            </a:defPPr>
            <a:lvl1pPr algn="l">
              <a:defRPr sz="1575" b="1">
                <a:solidFill>
                  <a:srgbClr val="F1C58A"/>
                </a:solidFill>
                <a:latin typeface="Arial"/>
                <a:ea typeface="Arial"/>
                <a:cs typeface="Arial"/>
              </a:defRPr>
            </a:lvl1pPr>
            <a:lvl2pPr algn="l">
              <a:defRPr sz="1575" b="1">
                <a:solidFill>
                  <a:srgbClr val="F1C58A"/>
                </a:solidFill>
                <a:latin typeface="Arial"/>
                <a:ea typeface="Arial"/>
                <a:cs typeface="Arial"/>
              </a:defRPr>
            </a:lvl2pPr>
            <a:lvl3pPr algn="l">
              <a:defRPr sz="1575" b="1">
                <a:solidFill>
                  <a:srgbClr val="F1C58A"/>
                </a:solidFill>
                <a:latin typeface="Arial"/>
                <a:ea typeface="Arial"/>
                <a:cs typeface="Arial"/>
              </a:defRPr>
            </a:lvl3pPr>
            <a:lvl4pPr algn="l">
              <a:defRPr sz="1575" b="1">
                <a:solidFill>
                  <a:srgbClr val="F1C58A"/>
                </a:solidFill>
                <a:latin typeface="Arial"/>
                <a:ea typeface="Arial"/>
                <a:cs typeface="Arial"/>
              </a:defRPr>
            </a:lvl4pPr>
            <a:lvl5pPr algn="l">
              <a:defRPr sz="1575" b="1">
                <a:solidFill>
                  <a:srgbClr val="F1C58A"/>
                </a:solidFill>
                <a:latin typeface="Arial"/>
                <a:ea typeface="Arial"/>
                <a:cs typeface="Arial"/>
              </a:defRPr>
            </a:lvl5pPr>
            <a:lvl6pPr algn="l">
              <a:defRPr sz="1575" b="1">
                <a:solidFill>
                  <a:srgbClr val="F1C58A"/>
                </a:solidFill>
                <a:latin typeface="Arial"/>
                <a:ea typeface="Arial"/>
                <a:cs typeface="Arial"/>
              </a:defRPr>
            </a:lvl6pPr>
            <a:lvl7pPr algn="l">
              <a:defRPr sz="1575" b="1">
                <a:solidFill>
                  <a:srgbClr val="F1C58A"/>
                </a:solidFill>
                <a:latin typeface="Arial"/>
                <a:ea typeface="Arial"/>
                <a:cs typeface="Arial"/>
              </a:defRPr>
            </a:lvl7pPr>
            <a:lvl8pPr algn="l">
              <a:defRPr sz="1575" b="1">
                <a:solidFill>
                  <a:srgbClr val="F1C58A"/>
                </a:solidFill>
                <a:latin typeface="Arial"/>
                <a:ea typeface="Arial"/>
                <a:cs typeface="Arial"/>
              </a:defRPr>
            </a:lvl8pPr>
            <a:lvl9pPr algn="l">
              <a:defRPr sz="1575" b="1">
                <a:solidFill>
                  <a:srgbClr val="F1C58A"/>
                </a:solidFill>
                <a:latin typeface="Arial"/>
                <a:ea typeface="Arial"/>
                <a:cs typeface="Arial"/>
              </a:defRPr>
            </a:lvl9pPr>
          </a:lstStyle>
          <a:p xmlns:a="http://schemas.openxmlformats.org/drawingml/2006/main">
            <a:pPr algn="l">
              <a:defRPr sz="1575" b="1">
                <a:solidFill>
                  <a:srgbClr val="F1C58A"/>
                </a:solidFill>
                <a:latin typeface="Arial"/>
                <a:ea typeface="Arial"/>
                <a:cs typeface="Arial"/>
              </a:defRPr>
            </a:pPr>
            <a:r>
              <a:rPr sz="1575" b="1">
                <a:solidFill>
                  <a:srgbClr val="F1C58A"/>
                </a:solidFill>
                <a:latin typeface="Arial"/>
                <a:ea typeface="Arial"/>
                <a:cs typeface="Arial"/>
              </a:rPr>
              <a:t>15</a:t>
            </a:r>
          </a:p>
        </p:txBody>
      </p:sp>
    </p:spTree>
    <p:extLst>
      <p:ext uri="{BB962C8B-B14F-4D97-AF65-F5344CB8AC3E}">
        <p14:creationId xmlns:p14="http://schemas.microsoft.com/office/powerpoint/2010/main" val="956486499"/>
      </p:ext>
    </p:extLst>
  </p:cSld>
</p:sld>
</file>

<file path=ppt/slides/slide16.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ECC49FB0-80E9-4986-B8D2-5E6C5DDAE48A}"/>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Explaining real experience in interviews</a:t>
            </a:r>
          </a:p>
        </p:txBody>
      </p:sp>
      <p:sp>
        <p:nvSpPr>
          <p:cNvPr id="2" name="lead">
            <a:extLst xmlns:a="http://schemas.openxmlformats.org/drawingml/2006/main">
              <a:ext uri="{FF2B5EF4-FFF2-40B4-BE49-F238E27FC236}">
                <a16:creationId xmlns:a16="http://schemas.microsoft.com/office/drawing/2014/main" id="{EF0467FA-C199-4796-950F-F9B05C614A6F}"/>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After applying, if shortlisted: rehearse in a format you can use.</a:t>
            </a:r>
          </a:p>
        </p:txBody>
      </p:sp>
      <p:sp>
        <p:nvSpPr>
          <p:cNvPr id="3" name="diagram-index-0">
            <a:extLst xmlns:a="http://schemas.openxmlformats.org/drawingml/2006/main">
              <a:ext uri="{FF2B5EF4-FFF2-40B4-BE49-F238E27FC236}">
                <a16:creationId xmlns:a16="http://schemas.microsoft.com/office/drawing/2014/main" id="{186E4758-8763-45FB-A9A0-BB07E47FF8DC}"/>
              </a:ext>
            </a:extLst>
          </p:cNvPr>
          <p:cNvSpPr>
            <a:spLocks xmlns:a="http://schemas.openxmlformats.org/drawingml/2006/main" noGrp="1"/>
          </p:cNvSpPr>
          <p:nvPr/>
        </p:nvSpPr>
        <p:spPr>
          <a:xfrm xmlns:a="http://schemas.openxmlformats.org/drawingml/2006/main">
            <a:off x="762000"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01</a:t>
            </a:r>
          </a:p>
        </p:txBody>
      </p:sp>
      <p:sp>
        <p:nvSpPr>
          <p:cNvPr id="4" name="diagram-heading-0">
            <a:extLst xmlns:a="http://schemas.openxmlformats.org/drawingml/2006/main">
              <a:ext uri="{FF2B5EF4-FFF2-40B4-BE49-F238E27FC236}">
                <a16:creationId xmlns:a16="http://schemas.microsoft.com/office/drawing/2014/main" id="{082798DC-4791-48D0-9D08-741996AEEEAE}"/>
              </a:ext>
            </a:extLst>
          </p:cNvPr>
          <p:cNvSpPr>
            <a:spLocks xmlns:a="http://schemas.openxmlformats.org/drawingml/2006/main" noGrp="1"/>
          </p:cNvSpPr>
          <p:nvPr/>
        </p:nvSpPr>
        <p:spPr>
          <a:xfrm xmlns:a="http://schemas.openxmlformats.org/drawingml/2006/main">
            <a:off x="762000"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Choose</a:t>
            </a:r>
          </a:p>
        </p:txBody>
      </p:sp>
      <p:sp>
        <p:nvSpPr>
          <p:cNvPr id="5" name="diagram-detail-0">
            <a:extLst xmlns:a="http://schemas.openxmlformats.org/drawingml/2006/main">
              <a:ext uri="{FF2B5EF4-FFF2-40B4-BE49-F238E27FC236}">
                <a16:creationId xmlns:a16="http://schemas.microsoft.com/office/drawing/2014/main" id="{A247A361-3F24-4A93-8198-059157EBBF54}"/>
              </a:ext>
            </a:extLst>
          </p:cNvPr>
          <p:cNvSpPr>
            <a:spLocks xmlns:a="http://schemas.openxmlformats.org/drawingml/2006/main" noGrp="1"/>
          </p:cNvSpPr>
          <p:nvPr/>
        </p:nvSpPr>
        <p:spPr>
          <a:xfrm xmlns:a="http://schemas.openxmlformats.org/drawingml/2006/main">
            <a:off x="762000"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 real experience relevant to the role.</a:t>
            </a:r>
          </a:p>
        </p:txBody>
      </p:sp>
      <p:sp>
        <p:nvSpPr>
          <p:cNvPr id="6" name="diagram-sequence-0">
            <a:extLst xmlns:a="http://schemas.openxmlformats.org/drawingml/2006/main">
              <a:ext uri="{FF2B5EF4-FFF2-40B4-BE49-F238E27FC236}">
                <a16:creationId xmlns:a16="http://schemas.microsoft.com/office/drawing/2014/main" id="{D5EC3FDA-3B50-414D-9EDB-B38367712DB0}"/>
              </a:ext>
            </a:extLst>
          </p:cNvPr>
          <p:cNvSpPr>
            <a:spLocks xmlns:a="http://schemas.openxmlformats.org/drawingml/2006/main" noGrp="1"/>
          </p:cNvSpPr>
          <p:nvPr/>
        </p:nvSpPr>
        <p:spPr>
          <a:xfrm xmlns:a="http://schemas.openxmlformats.org/drawingml/2006/main">
            <a:off x="1524000" y="3009900"/>
            <a:ext cx="2024063"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7" name="diagram-index-1">
            <a:extLst xmlns:a="http://schemas.openxmlformats.org/drawingml/2006/main">
              <a:ext uri="{FF2B5EF4-FFF2-40B4-BE49-F238E27FC236}">
                <a16:creationId xmlns:a16="http://schemas.microsoft.com/office/drawing/2014/main" id="{143ED05B-CD5B-4EDC-98AF-B3D259B70C16}"/>
              </a:ext>
            </a:extLst>
          </p:cNvPr>
          <p:cNvSpPr>
            <a:spLocks xmlns:a="http://schemas.openxmlformats.org/drawingml/2006/main" noGrp="1"/>
          </p:cNvSpPr>
          <p:nvPr/>
        </p:nvSpPr>
        <p:spPr>
          <a:xfrm xmlns:a="http://schemas.openxmlformats.org/drawingml/2006/main">
            <a:off x="3548063"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02</a:t>
            </a:r>
          </a:p>
        </p:txBody>
      </p:sp>
      <p:sp>
        <p:nvSpPr>
          <p:cNvPr id="8" name="diagram-heading-1">
            <a:extLst xmlns:a="http://schemas.openxmlformats.org/drawingml/2006/main">
              <a:ext uri="{FF2B5EF4-FFF2-40B4-BE49-F238E27FC236}">
                <a16:creationId xmlns:a16="http://schemas.microsoft.com/office/drawing/2014/main" id="{C2B7E2B7-AE3F-440B-961B-BBF7CBD03E5B}"/>
              </a:ext>
            </a:extLst>
          </p:cNvPr>
          <p:cNvSpPr>
            <a:spLocks xmlns:a="http://schemas.openxmlformats.org/drawingml/2006/main" noGrp="1"/>
          </p:cNvSpPr>
          <p:nvPr/>
        </p:nvSpPr>
        <p:spPr>
          <a:xfrm xmlns:a="http://schemas.openxmlformats.org/drawingml/2006/main">
            <a:off x="3548063"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Explain</a:t>
            </a:r>
          </a:p>
        </p:txBody>
      </p:sp>
      <p:sp>
        <p:nvSpPr>
          <p:cNvPr id="9" name="diagram-detail-1">
            <a:extLst xmlns:a="http://schemas.openxmlformats.org/drawingml/2006/main">
              <a:ext uri="{FF2B5EF4-FFF2-40B4-BE49-F238E27FC236}">
                <a16:creationId xmlns:a16="http://schemas.microsoft.com/office/drawing/2014/main" id="{2B2046AD-7D44-4B1E-80E2-F8CA615A754C}"/>
              </a:ext>
            </a:extLst>
          </p:cNvPr>
          <p:cNvSpPr>
            <a:spLocks xmlns:a="http://schemas.openxmlformats.org/drawingml/2006/main" noGrp="1"/>
          </p:cNvSpPr>
          <p:nvPr/>
        </p:nvSpPr>
        <p:spPr>
          <a:xfrm xmlns:a="http://schemas.openxmlformats.org/drawingml/2006/main">
            <a:off x="3548063"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What happened and what you actually did.</a:t>
            </a:r>
          </a:p>
        </p:txBody>
      </p:sp>
      <p:sp>
        <p:nvSpPr>
          <p:cNvPr id="10" name="diagram-sequence-1">
            <a:extLst xmlns:a="http://schemas.openxmlformats.org/drawingml/2006/main">
              <a:ext uri="{FF2B5EF4-FFF2-40B4-BE49-F238E27FC236}">
                <a16:creationId xmlns:a16="http://schemas.microsoft.com/office/drawing/2014/main" id="{D2956063-A48C-4BD6-B6E8-BED52AB8AF82}"/>
              </a:ext>
            </a:extLst>
          </p:cNvPr>
          <p:cNvSpPr>
            <a:spLocks xmlns:a="http://schemas.openxmlformats.org/drawingml/2006/main" noGrp="1"/>
          </p:cNvSpPr>
          <p:nvPr/>
        </p:nvSpPr>
        <p:spPr>
          <a:xfrm xmlns:a="http://schemas.openxmlformats.org/drawingml/2006/main">
            <a:off x="4310063" y="3009900"/>
            <a:ext cx="2024063"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11" name="diagram-index-2">
            <a:extLst xmlns:a="http://schemas.openxmlformats.org/drawingml/2006/main">
              <a:ext uri="{FF2B5EF4-FFF2-40B4-BE49-F238E27FC236}">
                <a16:creationId xmlns:a16="http://schemas.microsoft.com/office/drawing/2014/main" id="{66F60AA0-BD62-44DF-A14C-A846E066382F}"/>
              </a:ext>
            </a:extLst>
          </p:cNvPr>
          <p:cNvSpPr>
            <a:spLocks xmlns:a="http://schemas.openxmlformats.org/drawingml/2006/main" noGrp="1"/>
          </p:cNvSpPr>
          <p:nvPr/>
        </p:nvSpPr>
        <p:spPr>
          <a:xfrm xmlns:a="http://schemas.openxmlformats.org/drawingml/2006/main">
            <a:off x="6334125"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03</a:t>
            </a:r>
          </a:p>
        </p:txBody>
      </p:sp>
      <p:sp>
        <p:nvSpPr>
          <p:cNvPr id="12" name="diagram-heading-2">
            <a:extLst xmlns:a="http://schemas.openxmlformats.org/drawingml/2006/main">
              <a:ext uri="{FF2B5EF4-FFF2-40B4-BE49-F238E27FC236}">
                <a16:creationId xmlns:a16="http://schemas.microsoft.com/office/drawing/2014/main" id="{0A74BDCF-9462-40AE-B039-CA811B4AA3B7}"/>
              </a:ext>
            </a:extLst>
          </p:cNvPr>
          <p:cNvSpPr>
            <a:spLocks xmlns:a="http://schemas.openxmlformats.org/drawingml/2006/main" noGrp="1"/>
          </p:cNvSpPr>
          <p:nvPr/>
        </p:nvSpPr>
        <p:spPr>
          <a:xfrm xmlns:a="http://schemas.openxmlformats.org/drawingml/2006/main">
            <a:off x="6334125"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Rehearse</a:t>
            </a:r>
          </a:p>
        </p:txBody>
      </p:sp>
      <p:sp>
        <p:nvSpPr>
          <p:cNvPr id="13" name="diagram-detail-2">
            <a:extLst xmlns:a="http://schemas.openxmlformats.org/drawingml/2006/main">
              <a:ext uri="{FF2B5EF4-FFF2-40B4-BE49-F238E27FC236}">
                <a16:creationId xmlns:a16="http://schemas.microsoft.com/office/drawing/2014/main" id="{B2E99FF5-3B16-4473-A7F1-4C6229023D9C}"/>
              </a:ext>
            </a:extLst>
          </p:cNvPr>
          <p:cNvSpPr>
            <a:spLocks xmlns:a="http://schemas.openxmlformats.org/drawingml/2006/main" noGrp="1"/>
          </p:cNvSpPr>
          <p:nvPr/>
        </p:nvSpPr>
        <p:spPr>
          <a:xfrm xmlns:a="http://schemas.openxmlformats.org/drawingml/2006/main">
            <a:off x="6334125"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Practise aloud or in an accessible alternative format.</a:t>
            </a:r>
          </a:p>
        </p:txBody>
      </p:sp>
      <p:sp>
        <p:nvSpPr>
          <p:cNvPr id="14" name="diagram-sequence-2">
            <a:extLst xmlns:a="http://schemas.openxmlformats.org/drawingml/2006/main">
              <a:ext uri="{FF2B5EF4-FFF2-40B4-BE49-F238E27FC236}">
                <a16:creationId xmlns:a16="http://schemas.microsoft.com/office/drawing/2014/main" id="{0D44DF48-8604-4B81-875A-5CC9A3A3912B}"/>
              </a:ext>
            </a:extLst>
          </p:cNvPr>
          <p:cNvSpPr>
            <a:spLocks xmlns:a="http://schemas.openxmlformats.org/drawingml/2006/main" noGrp="1"/>
          </p:cNvSpPr>
          <p:nvPr/>
        </p:nvSpPr>
        <p:spPr>
          <a:xfrm xmlns:a="http://schemas.openxmlformats.org/drawingml/2006/main">
            <a:off x="7096125" y="3009900"/>
            <a:ext cx="2024063"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15" name="diagram-index-3">
            <a:extLst xmlns:a="http://schemas.openxmlformats.org/drawingml/2006/main">
              <a:ext uri="{FF2B5EF4-FFF2-40B4-BE49-F238E27FC236}">
                <a16:creationId xmlns:a16="http://schemas.microsoft.com/office/drawing/2014/main" id="{9B2345BA-BD70-4448-8D52-355423940F64}"/>
              </a:ext>
            </a:extLst>
          </p:cNvPr>
          <p:cNvSpPr>
            <a:spLocks xmlns:a="http://schemas.openxmlformats.org/drawingml/2006/main" noGrp="1"/>
          </p:cNvSpPr>
          <p:nvPr/>
        </p:nvSpPr>
        <p:spPr>
          <a:xfrm xmlns:a="http://schemas.openxmlformats.org/drawingml/2006/main">
            <a:off x="9120188"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04</a:t>
            </a:r>
          </a:p>
        </p:txBody>
      </p:sp>
      <p:sp>
        <p:nvSpPr>
          <p:cNvPr id="16" name="diagram-heading-3">
            <a:extLst xmlns:a="http://schemas.openxmlformats.org/drawingml/2006/main">
              <a:ext uri="{FF2B5EF4-FFF2-40B4-BE49-F238E27FC236}">
                <a16:creationId xmlns:a16="http://schemas.microsoft.com/office/drawing/2014/main" id="{382212A1-61A7-4F99-8B42-8D0FE416880B}"/>
              </a:ext>
            </a:extLst>
          </p:cNvPr>
          <p:cNvSpPr>
            <a:spLocks xmlns:a="http://schemas.openxmlformats.org/drawingml/2006/main" noGrp="1"/>
          </p:cNvSpPr>
          <p:nvPr/>
        </p:nvSpPr>
        <p:spPr>
          <a:xfrm xmlns:a="http://schemas.openxmlformats.org/drawingml/2006/main">
            <a:off x="9120188"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Review</a:t>
            </a:r>
          </a:p>
        </p:txBody>
      </p:sp>
      <p:sp>
        <p:nvSpPr>
          <p:cNvPr id="17" name="diagram-detail-3">
            <a:extLst xmlns:a="http://schemas.openxmlformats.org/drawingml/2006/main">
              <a:ext uri="{FF2B5EF4-FFF2-40B4-BE49-F238E27FC236}">
                <a16:creationId xmlns:a16="http://schemas.microsoft.com/office/drawing/2014/main" id="{1A735D2E-423C-4B38-BD2F-312A877DAFBA}"/>
              </a:ext>
            </a:extLst>
          </p:cNvPr>
          <p:cNvSpPr>
            <a:spLocks xmlns:a="http://schemas.openxmlformats.org/drawingml/2006/main" noGrp="1"/>
          </p:cNvSpPr>
          <p:nvPr/>
        </p:nvSpPr>
        <p:spPr>
          <a:xfrm xmlns:a="http://schemas.openxmlformats.org/drawingml/2006/main">
            <a:off x="9120188"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Record weak points and the next practice step.</a:t>
            </a:r>
          </a:p>
        </p:txBody>
      </p:sp>
      <p:sp>
        <p:nvSpPr>
          <p:cNvPr id="18" name="takeaway">
            <a:extLst xmlns:a="http://schemas.openxmlformats.org/drawingml/2006/main">
              <a:ext uri="{FF2B5EF4-FFF2-40B4-BE49-F238E27FC236}">
                <a16:creationId xmlns:a16="http://schemas.microsoft.com/office/drawing/2014/main" id="{623FF637-51B9-4DAF-94E6-2A4A13BDA482}"/>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Useful preparation preserves the person's voice and ability to explain their claims.</a:t>
            </a:r>
          </a:p>
        </p:txBody>
      </p:sp>
      <p:sp>
        <p:nvSpPr>
          <p:cNvPr id="19" name="evidence-boundary">
            <a:extLst xmlns:a="http://schemas.openxmlformats.org/drawingml/2006/main">
              <a:ext uri="{FF2B5EF4-FFF2-40B4-BE49-F238E27FC236}">
                <a16:creationId xmlns:a16="http://schemas.microsoft.com/office/drawing/2014/main" id="{017266AE-0E2B-4B7C-A589-885C3E56DFFE}"/>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P08–P09, I06–I07, V08. Guidance and reported routines, not a calibrated readiness score.</a:t>
            </a:r>
          </a:p>
        </p:txBody>
      </p:sp>
      <p:sp>
        <p:nvSpPr>
          <p:cNvPr id="20" name="slide-number">
            <a:extLst xmlns:a="http://schemas.openxmlformats.org/drawingml/2006/main">
              <a:ext uri="{FF2B5EF4-FFF2-40B4-BE49-F238E27FC236}">
                <a16:creationId xmlns:a16="http://schemas.microsoft.com/office/drawing/2014/main" id="{46F3E7D6-9BB3-4E9F-BE0A-1DE0047CF119}"/>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16</a:t>
            </a:r>
          </a:p>
        </p:txBody>
      </p:sp>
    </p:spTree>
    <p:extLst>
      <p:ext uri="{BB962C8B-B14F-4D97-AF65-F5344CB8AC3E}">
        <p14:creationId xmlns:p14="http://schemas.microsoft.com/office/powerpoint/2010/main" val="418846041"/>
      </p:ext>
    </p:extLst>
  </p:cSld>
</p:sld>
</file>

<file path=ppt/slides/slide17.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7CB8B16-C668-4360-9C36-F0A66A2301F9}"/>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Pay needs a like-for-like comparison</a:t>
            </a:r>
          </a:p>
        </p:txBody>
      </p:sp>
      <p:sp>
        <p:nvSpPr>
          <p:cNvPr id="2" name="lead">
            <a:extLst xmlns:a="http://schemas.openxmlformats.org/drawingml/2006/main">
              <a:ext uri="{FF2B5EF4-FFF2-40B4-BE49-F238E27FC236}">
                <a16:creationId xmlns:a16="http://schemas.microsoft.com/office/drawing/2014/main" id="{C7493457-F9FC-4FE0-9A12-244261907FB5}"/>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If an offer arrives: compare the full package before judging its value.</a:t>
            </a:r>
          </a:p>
        </p:txBody>
      </p:sp>
      <p:graphicFrame>
        <p:nvGraphicFramePr>
          <p:cNvPr id="3" name="">
            <a:extLst xmlns:a="http://schemas.openxmlformats.org/drawingml/2006/main">
              <a:ext uri="{FF2B5EF4-FFF2-40B4-BE49-F238E27FC236}">
                <a16:creationId xmlns:a16="http://schemas.microsoft.com/office/drawing/2014/main" id="{BA022A47-9ACB-49D2-A2C6-693DF7316F2B}"/>
              </a:ext>
            </a:extLst>
          </p:cNvPr>
          <p:cNvGraphicFramePr/>
          <p:nvPr/>
        </p:nvGraphicFramePr>
        <p:xfrm>
          <a:off xmlns:a="http://schemas.openxmlformats.org/drawingml/2006/main" x="723900" y="2533650"/>
          <a:ext xmlns:a="http://schemas.openxmlformats.org/drawingml/2006/main" cx="10820400" cy="3219450"/>
        </p:xfrm>
        <a:graphic xmlns:a="http://schemas.openxmlformats.org/drawingml/2006/main">
          <a:graphicData uri="http://schemas.openxmlformats.org/drawingml/2006/table">
            <a:tbl>
              <a:tblPr firstRow="1" bandRow="0"/>
              <a:tblGrid>
                <a:gridCol w="3238500"/>
                <a:gridCol w="7581900"/>
              </a:tblGrid>
              <a:tr h="457200">
                <a:tc>
                  <a:txBody>
                    <a:bodyPr wrap="square" lIns="133350" tIns="76200" rIns="133350" bIns="76200">
                      <a:noAutofit/>
                    </a:bodyPr>
                    <a:lstStyle/>
                    <a:p>
                      <a:r>
                        <a:rPr sz="1800" b="1">
                          <a:solidFill>
                            <a:srgbClr val="FFFFFF"/>
                          </a:solidFill>
                          <a:latin typeface="Arial"/>
                          <a:ea typeface="Arial"/>
                          <a:cs typeface="Arial"/>
                        </a:rPr>
                        <a:t>Compare</a:t>
                      </a:r>
                    </a:p>
                  </a:txBody>
                  <a:tcPr marL="91440" marR="91440" marT="45720" marB="45720" anchor="ctr">
                    <a:lnL w="6668">
                      <a:solidFill>
                        <a:srgbClr val="D9D8D2"/>
                      </a:solidFill>
                      <a:prstDash val="solid"/>
                    </a:lnL>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76200" rIns="133350" bIns="76200">
                      <a:noAutofit/>
                    </a:bodyPr>
                    <a:lstStyle/>
                    <a:p>
                      <a:r>
                        <a:rPr sz="1800" b="1">
                          <a:solidFill>
                            <a:srgbClr val="FFFFFF"/>
                          </a:solidFill>
                          <a:latin typeface="Arial"/>
                          <a:ea typeface="Arial"/>
                          <a:cs typeface="Arial"/>
                        </a:rPr>
                        <a:t>Record before judging</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r>
              <a:tr h="690563">
                <a:tc>
                  <a:txBody>
                    <a:bodyPr wrap="square" lIns="133350" tIns="76200" rIns="133350" bIns="76200">
                      <a:noAutofit/>
                    </a:bodyPr>
                    <a:lstStyle/>
                    <a:p>
                      <a:r>
                        <a:rPr sz="1875" b="0">
                          <a:solidFill>
                            <a:srgbClr val="172D40"/>
                          </a:solidFill>
                          <a:latin typeface="Arial"/>
                          <a:ea typeface="Arial"/>
                          <a:cs typeface="Arial"/>
                        </a:rPr>
                        <a:t>Market benchmark</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Role, scope, level, location, reference date and pay definition.</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Recurring cash</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Basic pay, regular allowances, relevant overtime and hours.</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Conditional value</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Bonus, commission, equity, eligibility and timing.</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Work package</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Leave, benefits, shifts, location and contract terms.</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bl>
          </a:graphicData>
        </a:graphic>
      </p:graphicFrame>
      <p:sp>
        <p:nvSpPr>
          <p:cNvPr id="4" name="evidence-boundary">
            <a:extLst xmlns:a="http://schemas.openxmlformats.org/drawingml/2006/main">
              <a:ext uri="{FF2B5EF4-FFF2-40B4-BE49-F238E27FC236}">
                <a16:creationId xmlns:a16="http://schemas.microsoft.com/office/drawing/2014/main" id="{2BAAB5E7-19CE-46F5-B071-851F1BC8675B}"/>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D04–D06. MOM's June 2025 wage reference is guidance context, not an individual's entitlement.</a:t>
            </a:r>
          </a:p>
        </p:txBody>
      </p:sp>
      <p:sp>
        <p:nvSpPr>
          <p:cNvPr id="5" name="slide-number">
            <a:extLst xmlns:a="http://schemas.openxmlformats.org/drawingml/2006/main">
              <a:ext uri="{FF2B5EF4-FFF2-40B4-BE49-F238E27FC236}">
                <a16:creationId xmlns:a16="http://schemas.microsoft.com/office/drawing/2014/main" id="{628E91CC-52B3-453C-93FF-70DCF6893D52}"/>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17</a:t>
            </a:r>
          </a:p>
        </p:txBody>
      </p:sp>
    </p:spTree>
    <p:extLst>
      <p:ext uri="{BB962C8B-B14F-4D97-AF65-F5344CB8AC3E}">
        <p14:creationId xmlns:p14="http://schemas.microsoft.com/office/powerpoint/2010/main" val="2118406739"/>
      </p:ext>
    </p:extLst>
  </p:cSld>
</p:sld>
</file>

<file path=ppt/slides/slide18.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BC4A8B4D-9FEF-44EC-BBD8-B851AF73BCB9}"/>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Negotiation depends on the offer</a:t>
            </a:r>
          </a:p>
        </p:txBody>
      </p:sp>
      <p:sp>
        <p:nvSpPr>
          <p:cNvPr id="2" name="lead">
            <a:extLst xmlns:a="http://schemas.openxmlformats.org/drawingml/2006/main">
              <a:ext uri="{FF2B5EF4-FFF2-40B4-BE49-F238E27FC236}">
                <a16:creationId xmlns:a16="http://schemas.microsoft.com/office/drawing/2014/main" id="{6D7A8E63-5104-4369-B92A-00CA88242E02}"/>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Preparation should make the available choices clearer.</a:t>
            </a:r>
          </a:p>
        </p:txBody>
      </p:sp>
      <p:sp>
        <p:nvSpPr>
          <p:cNvPr id="3" name="column-heading-0">
            <a:extLst xmlns:a="http://schemas.openxmlformats.org/drawingml/2006/main">
              <a:ext uri="{FF2B5EF4-FFF2-40B4-BE49-F238E27FC236}">
                <a16:creationId xmlns:a16="http://schemas.microsoft.com/office/drawing/2014/main" id="{9A9FD3BB-50A3-4A80-87A5-1511937FAAC3}"/>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Evidence to prepare</a:t>
            </a:r>
          </a:p>
        </p:txBody>
      </p:sp>
      <p:sp>
        <p:nvSpPr>
          <p:cNvPr id="4" name="column-0-detail-0">
            <a:extLst xmlns:a="http://schemas.openxmlformats.org/drawingml/2006/main">
              <a:ext uri="{FF2B5EF4-FFF2-40B4-BE49-F238E27FC236}">
                <a16:creationId xmlns:a16="http://schemas.microsoft.com/office/drawing/2014/main" id="{247AB3A3-D40D-4558-82D1-086F0C7F9513}"/>
              </a:ext>
            </a:extLst>
          </p:cNvPr>
          <p:cNvSpPr>
            <a:spLocks xmlns:a="http://schemas.openxmlformats.org/drawingml/2006/main" noGrp="1"/>
          </p:cNvSpPr>
          <p:nvPr/>
        </p:nvSpPr>
        <p:spPr>
          <a:xfrm xmlns:a="http://schemas.openxmlformats.org/drawingml/2006/main">
            <a:off x="76200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Comparable role and package information.</a:t>
            </a:r>
          </a:p>
        </p:txBody>
      </p:sp>
      <p:sp>
        <p:nvSpPr>
          <p:cNvPr id="5" name="column-0-detail-1">
            <a:extLst xmlns:a="http://schemas.openxmlformats.org/drawingml/2006/main">
              <a:ext uri="{FF2B5EF4-FFF2-40B4-BE49-F238E27FC236}">
                <a16:creationId xmlns:a16="http://schemas.microsoft.com/office/drawing/2014/main" id="{A19FA5A1-52C7-4A26-B88E-F48848250F74}"/>
              </a:ext>
            </a:extLst>
          </p:cNvPr>
          <p:cNvSpPr>
            <a:spLocks xmlns:a="http://schemas.openxmlformats.org/drawingml/2006/main" noGrp="1"/>
          </p:cNvSpPr>
          <p:nvPr/>
        </p:nvSpPr>
        <p:spPr>
          <a:xfrm xmlns:a="http://schemas.openxmlformats.org/drawingml/2006/main">
            <a:off x="76200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Questions about what can change and when.</a:t>
            </a:r>
          </a:p>
        </p:txBody>
      </p:sp>
      <p:sp>
        <p:nvSpPr>
          <p:cNvPr id="6" name="column-0-detail-2">
            <a:extLst xmlns:a="http://schemas.openxmlformats.org/drawingml/2006/main">
              <a:ext uri="{FF2B5EF4-FFF2-40B4-BE49-F238E27FC236}">
                <a16:creationId xmlns:a16="http://schemas.microsoft.com/office/drawing/2014/main" id="{C7F8E6DE-830B-4157-B024-BE72FBC1E63D}"/>
              </a:ext>
            </a:extLst>
          </p:cNvPr>
          <p:cNvSpPr>
            <a:spLocks xmlns:a="http://schemas.openxmlformats.org/drawingml/2006/main" noGrp="1"/>
          </p:cNvSpPr>
          <p:nvPr/>
        </p:nvSpPr>
        <p:spPr>
          <a:xfrm xmlns:a="http://schemas.openxmlformats.org/drawingml/2006/main">
            <a:off x="76200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Personal priorities, alternatives and risk tolerance.</a:t>
            </a:r>
          </a:p>
        </p:txBody>
      </p:sp>
      <p:sp>
        <p:nvSpPr>
          <p:cNvPr id="7" name="column-heading-1">
            <a:extLst xmlns:a="http://schemas.openxmlformats.org/drawingml/2006/main">
              <a:ext uri="{FF2B5EF4-FFF2-40B4-BE49-F238E27FC236}">
                <a16:creationId xmlns:a16="http://schemas.microsoft.com/office/drawing/2014/main" id="{A1BEDBCC-FB0B-4F04-AAD1-E057F9EAC4D2}"/>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94B28"/>
                </a:solidFill>
                <a:latin typeface="Arial"/>
                <a:ea typeface="Arial"/>
                <a:cs typeface="Arial"/>
              </a:defRPr>
            </a:defPPr>
            <a:lvl1pPr algn="l">
              <a:defRPr sz="2325" b="1">
                <a:solidFill>
                  <a:srgbClr val="B94B28"/>
                </a:solidFill>
                <a:latin typeface="Arial"/>
                <a:ea typeface="Arial"/>
                <a:cs typeface="Arial"/>
              </a:defRPr>
            </a:lvl1pPr>
            <a:lvl2pPr algn="l">
              <a:defRPr sz="2325" b="1">
                <a:solidFill>
                  <a:srgbClr val="B94B28"/>
                </a:solidFill>
                <a:latin typeface="Arial"/>
                <a:ea typeface="Arial"/>
                <a:cs typeface="Arial"/>
              </a:defRPr>
            </a:lvl2pPr>
            <a:lvl3pPr algn="l">
              <a:defRPr sz="2325" b="1">
                <a:solidFill>
                  <a:srgbClr val="B94B28"/>
                </a:solidFill>
                <a:latin typeface="Arial"/>
                <a:ea typeface="Arial"/>
                <a:cs typeface="Arial"/>
              </a:defRPr>
            </a:lvl3pPr>
            <a:lvl4pPr algn="l">
              <a:defRPr sz="2325" b="1">
                <a:solidFill>
                  <a:srgbClr val="B94B28"/>
                </a:solidFill>
                <a:latin typeface="Arial"/>
                <a:ea typeface="Arial"/>
                <a:cs typeface="Arial"/>
              </a:defRPr>
            </a:lvl4pPr>
            <a:lvl5pPr algn="l">
              <a:defRPr sz="2325" b="1">
                <a:solidFill>
                  <a:srgbClr val="B94B28"/>
                </a:solidFill>
                <a:latin typeface="Arial"/>
                <a:ea typeface="Arial"/>
                <a:cs typeface="Arial"/>
              </a:defRPr>
            </a:lvl5pPr>
            <a:lvl6pPr algn="l">
              <a:defRPr sz="2325" b="1">
                <a:solidFill>
                  <a:srgbClr val="B94B28"/>
                </a:solidFill>
                <a:latin typeface="Arial"/>
                <a:ea typeface="Arial"/>
                <a:cs typeface="Arial"/>
              </a:defRPr>
            </a:lvl6pPr>
            <a:lvl7pPr algn="l">
              <a:defRPr sz="2325" b="1">
                <a:solidFill>
                  <a:srgbClr val="B94B28"/>
                </a:solidFill>
                <a:latin typeface="Arial"/>
                <a:ea typeface="Arial"/>
                <a:cs typeface="Arial"/>
              </a:defRPr>
            </a:lvl7pPr>
            <a:lvl8pPr algn="l">
              <a:defRPr sz="2325" b="1">
                <a:solidFill>
                  <a:srgbClr val="B94B28"/>
                </a:solidFill>
                <a:latin typeface="Arial"/>
                <a:ea typeface="Arial"/>
                <a:cs typeface="Arial"/>
              </a:defRPr>
            </a:lvl8pPr>
            <a:lvl9pPr algn="l">
              <a:defRPr sz="2325" b="1">
                <a:solidFill>
                  <a:srgbClr val="B94B28"/>
                </a:solidFill>
                <a:latin typeface="Arial"/>
                <a:ea typeface="Arial"/>
                <a:cs typeface="Arial"/>
              </a:defRPr>
            </a:lvl9pPr>
          </a:lstStyle>
          <a:p xmlns:a="http://schemas.openxmlformats.org/drawingml/2006/main">
            <a:pPr algn="l">
              <a:defRPr sz="2325" b="1">
                <a:solidFill>
                  <a:srgbClr val="B94B28"/>
                </a:solidFill>
                <a:latin typeface="Arial"/>
                <a:ea typeface="Arial"/>
                <a:cs typeface="Arial"/>
              </a:defRPr>
            </a:pPr>
            <a:r>
              <a:rPr sz="2325" b="1">
                <a:solidFill>
                  <a:srgbClr val="B94B28"/>
                </a:solidFill>
                <a:latin typeface="Arial"/>
                <a:ea typeface="Arial"/>
                <a:cs typeface="Arial"/>
              </a:rPr>
              <a:t>Conditions to recognise</a:t>
            </a:r>
          </a:p>
        </p:txBody>
      </p:sp>
      <p:sp>
        <p:nvSpPr>
          <p:cNvPr id="8" name="column-1-detail-0">
            <a:extLst xmlns:a="http://schemas.openxmlformats.org/drawingml/2006/main">
              <a:ext uri="{FF2B5EF4-FFF2-40B4-BE49-F238E27FC236}">
                <a16:creationId xmlns:a16="http://schemas.microsoft.com/office/drawing/2014/main" id="{08303EB5-16E5-49BA-AA96-6F415B996F6A}"/>
              </a:ext>
            </a:extLst>
          </p:cNvPr>
          <p:cNvSpPr>
            <a:spLocks xmlns:a="http://schemas.openxmlformats.org/drawingml/2006/main" noGrp="1"/>
          </p:cNvSpPr>
          <p:nvPr/>
        </p:nvSpPr>
        <p:spPr>
          <a:xfrm xmlns:a="http://schemas.openxmlformats.org/drawingml/2006/main">
            <a:off x="638175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Fixed bands or standardised scales.</a:t>
            </a:r>
          </a:p>
        </p:txBody>
      </p:sp>
      <p:sp>
        <p:nvSpPr>
          <p:cNvPr id="9" name="column-1-detail-1">
            <a:extLst xmlns:a="http://schemas.openxmlformats.org/drawingml/2006/main">
              <a:ext uri="{FF2B5EF4-FFF2-40B4-BE49-F238E27FC236}">
                <a16:creationId xmlns:a16="http://schemas.microsoft.com/office/drawing/2014/main" id="{2F3216CA-B1BD-4C4E-99E0-B521728527FE}"/>
              </a:ext>
            </a:extLst>
          </p:cNvPr>
          <p:cNvSpPr>
            <a:spLocks xmlns:a="http://schemas.openxmlformats.org/drawingml/2006/main" noGrp="1"/>
          </p:cNvSpPr>
          <p:nvPr/>
        </p:nvSpPr>
        <p:spPr>
          <a:xfrm xmlns:a="http://schemas.openxmlformats.org/drawingml/2006/main">
            <a:off x="638175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Variable pay, contract terms and deadlines.</a:t>
            </a:r>
          </a:p>
        </p:txBody>
      </p:sp>
      <p:sp>
        <p:nvSpPr>
          <p:cNvPr id="10" name="column-1-detail-2">
            <a:extLst xmlns:a="http://schemas.openxmlformats.org/drawingml/2006/main">
              <a:ext uri="{FF2B5EF4-FFF2-40B4-BE49-F238E27FC236}">
                <a16:creationId xmlns:a16="http://schemas.microsoft.com/office/drawing/2014/main" id="{7DACF068-E939-4A4C-A80C-FDE115D7B5C7}"/>
              </a:ext>
            </a:extLst>
          </p:cNvPr>
          <p:cNvSpPr>
            <a:spLocks xmlns:a="http://schemas.openxmlformats.org/drawingml/2006/main" noGrp="1"/>
          </p:cNvSpPr>
          <p:nvPr/>
        </p:nvSpPr>
        <p:spPr>
          <a:xfrm xmlns:a="http://schemas.openxmlformats.org/drawingml/2006/main">
            <a:off x="638175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Accepting, countering or declining can each be reasonable.</a:t>
            </a:r>
          </a:p>
        </p:txBody>
      </p:sp>
      <p:sp>
        <p:nvSpPr>
          <p:cNvPr id="11" name="takeaway">
            <a:extLst xmlns:a="http://schemas.openxmlformats.org/drawingml/2006/main">
              <a:ext uri="{FF2B5EF4-FFF2-40B4-BE49-F238E27FC236}">
                <a16:creationId xmlns:a16="http://schemas.microsoft.com/office/drawing/2014/main" id="{A29AC72C-E5DB-4E94-9753-4F10BA01B841}"/>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No universal counteroffer rule or guaranteed pay uplift follows from this research.</a:t>
            </a:r>
          </a:p>
        </p:txBody>
      </p:sp>
      <p:sp>
        <p:nvSpPr>
          <p:cNvPr id="12" name="evidence-boundary">
            <a:extLst xmlns:a="http://schemas.openxmlformats.org/drawingml/2006/main">
              <a:ext uri="{FF2B5EF4-FFF2-40B4-BE49-F238E27FC236}">
                <a16:creationId xmlns:a16="http://schemas.microsoft.com/office/drawing/2014/main" id="{D877746E-6319-40CA-AA30-47E1E7D4582B}"/>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D06–D07, D11. International experimental evidence does not establish Singapore-wide outcomes.</a:t>
            </a:r>
          </a:p>
        </p:txBody>
      </p:sp>
      <p:sp>
        <p:nvSpPr>
          <p:cNvPr id="13" name="slide-number">
            <a:extLst xmlns:a="http://schemas.openxmlformats.org/drawingml/2006/main">
              <a:ext uri="{FF2B5EF4-FFF2-40B4-BE49-F238E27FC236}">
                <a16:creationId xmlns:a16="http://schemas.microsoft.com/office/drawing/2014/main" id="{A9815675-1958-4444-8D75-4AE150865427}"/>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18</a:t>
            </a:r>
          </a:p>
        </p:txBody>
      </p:sp>
    </p:spTree>
    <p:extLst>
      <p:ext uri="{BB962C8B-B14F-4D97-AF65-F5344CB8AC3E}">
        <p14:creationId xmlns:p14="http://schemas.microsoft.com/office/powerpoint/2010/main" val="1535547257"/>
      </p:ext>
    </p:extLst>
  </p:cSld>
</p:sld>
</file>

<file path=ppt/slides/slide19.xml><?xml version="1.0" encoding="utf-8"?>
<p:sld xmlns:p="http://schemas.openxmlformats.org/presentationml/2006/main">
  <p:cSld>
    <p:bg>
      <p:bgPr>
        <a:solidFill xmlns:a="http://schemas.openxmlformats.org/drawingml/2006/main">
          <a:srgbClr val="102235"/>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F89768B4-5EDC-4707-81AB-85D01FD7F500}"/>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rial"/>
                <a:ea typeface="Arial"/>
                <a:cs typeface="Arial"/>
              </a:defRPr>
            </a:defPPr>
            <a:lvl1pPr algn="l">
              <a:defRPr sz="3450" b="1">
                <a:solidFill>
                  <a:srgbClr val="FFFFFF"/>
                </a:solidFill>
                <a:latin typeface="Arial"/>
                <a:ea typeface="Arial"/>
                <a:cs typeface="Arial"/>
              </a:defRPr>
            </a:lvl1pPr>
            <a:lvl2pPr algn="l">
              <a:defRPr sz="3450" b="1">
                <a:solidFill>
                  <a:srgbClr val="FFFFFF"/>
                </a:solidFill>
                <a:latin typeface="Arial"/>
                <a:ea typeface="Arial"/>
                <a:cs typeface="Arial"/>
              </a:defRPr>
            </a:lvl2pPr>
            <a:lvl3pPr algn="l">
              <a:defRPr sz="3450" b="1">
                <a:solidFill>
                  <a:srgbClr val="FFFFFF"/>
                </a:solidFill>
                <a:latin typeface="Arial"/>
                <a:ea typeface="Arial"/>
                <a:cs typeface="Arial"/>
              </a:defRPr>
            </a:lvl3pPr>
            <a:lvl4pPr algn="l">
              <a:defRPr sz="3450" b="1">
                <a:solidFill>
                  <a:srgbClr val="FFFFFF"/>
                </a:solidFill>
                <a:latin typeface="Arial"/>
                <a:ea typeface="Arial"/>
                <a:cs typeface="Arial"/>
              </a:defRPr>
            </a:lvl4pPr>
            <a:lvl5pPr algn="l">
              <a:defRPr sz="3450" b="1">
                <a:solidFill>
                  <a:srgbClr val="FFFFFF"/>
                </a:solidFill>
                <a:latin typeface="Arial"/>
                <a:ea typeface="Arial"/>
                <a:cs typeface="Arial"/>
              </a:defRPr>
            </a:lvl5pPr>
            <a:lvl6pPr algn="l">
              <a:defRPr sz="3450" b="1">
                <a:solidFill>
                  <a:srgbClr val="FFFFFF"/>
                </a:solidFill>
                <a:latin typeface="Arial"/>
                <a:ea typeface="Arial"/>
                <a:cs typeface="Arial"/>
              </a:defRPr>
            </a:lvl6pPr>
            <a:lvl7pPr algn="l">
              <a:defRPr sz="3450" b="1">
                <a:solidFill>
                  <a:srgbClr val="FFFFFF"/>
                </a:solidFill>
                <a:latin typeface="Arial"/>
                <a:ea typeface="Arial"/>
                <a:cs typeface="Arial"/>
              </a:defRPr>
            </a:lvl7pPr>
            <a:lvl8pPr algn="l">
              <a:defRPr sz="3450" b="1">
                <a:solidFill>
                  <a:srgbClr val="FFFFFF"/>
                </a:solidFill>
                <a:latin typeface="Arial"/>
                <a:ea typeface="Arial"/>
                <a:cs typeface="Arial"/>
              </a:defRPr>
            </a:lvl8pPr>
            <a:lvl9pPr algn="l">
              <a:defRPr sz="3450" b="1">
                <a:solidFill>
                  <a:srgbClr val="FFFFFF"/>
                </a:solidFill>
                <a:latin typeface="Arial"/>
                <a:ea typeface="Arial"/>
                <a:cs typeface="Arial"/>
              </a:defRPr>
            </a:lvl9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Returning to unfinished work</a:t>
            </a:r>
          </a:p>
        </p:txBody>
      </p:sp>
      <p:sp>
        <p:nvSpPr>
          <p:cNvPr id="2" name="lead">
            <a:extLst xmlns:a="http://schemas.openxmlformats.org/drawingml/2006/main">
              <a:ext uri="{FF2B5EF4-FFF2-40B4-BE49-F238E27FC236}">
                <a16:creationId xmlns:a16="http://schemas.microsoft.com/office/drawing/2014/main" id="{206812EB-6B96-4BD4-8558-7BAC42B24B93}"/>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D7E1E3"/>
                </a:solidFill>
                <a:latin typeface="Arial"/>
                <a:ea typeface="Arial"/>
                <a:cs typeface="Arial"/>
              </a:defRPr>
            </a:defPPr>
            <a:lvl1pPr algn="l">
              <a:defRPr sz="2025" b="0">
                <a:solidFill>
                  <a:srgbClr val="D7E1E3"/>
                </a:solidFill>
                <a:latin typeface="Arial"/>
                <a:ea typeface="Arial"/>
                <a:cs typeface="Arial"/>
              </a:defRPr>
            </a:lvl1pPr>
            <a:lvl2pPr algn="l">
              <a:defRPr sz="2025" b="0">
                <a:solidFill>
                  <a:srgbClr val="D7E1E3"/>
                </a:solidFill>
                <a:latin typeface="Arial"/>
                <a:ea typeface="Arial"/>
                <a:cs typeface="Arial"/>
              </a:defRPr>
            </a:lvl2pPr>
            <a:lvl3pPr algn="l">
              <a:defRPr sz="2025" b="0">
                <a:solidFill>
                  <a:srgbClr val="D7E1E3"/>
                </a:solidFill>
                <a:latin typeface="Arial"/>
                <a:ea typeface="Arial"/>
                <a:cs typeface="Arial"/>
              </a:defRPr>
            </a:lvl3pPr>
            <a:lvl4pPr algn="l">
              <a:defRPr sz="2025" b="0">
                <a:solidFill>
                  <a:srgbClr val="D7E1E3"/>
                </a:solidFill>
                <a:latin typeface="Arial"/>
                <a:ea typeface="Arial"/>
                <a:cs typeface="Arial"/>
              </a:defRPr>
            </a:lvl4pPr>
            <a:lvl5pPr algn="l">
              <a:defRPr sz="2025" b="0">
                <a:solidFill>
                  <a:srgbClr val="D7E1E3"/>
                </a:solidFill>
                <a:latin typeface="Arial"/>
                <a:ea typeface="Arial"/>
                <a:cs typeface="Arial"/>
              </a:defRPr>
            </a:lvl5pPr>
            <a:lvl6pPr algn="l">
              <a:defRPr sz="2025" b="0">
                <a:solidFill>
                  <a:srgbClr val="D7E1E3"/>
                </a:solidFill>
                <a:latin typeface="Arial"/>
                <a:ea typeface="Arial"/>
                <a:cs typeface="Arial"/>
              </a:defRPr>
            </a:lvl6pPr>
            <a:lvl7pPr algn="l">
              <a:defRPr sz="2025" b="0">
                <a:solidFill>
                  <a:srgbClr val="D7E1E3"/>
                </a:solidFill>
                <a:latin typeface="Arial"/>
                <a:ea typeface="Arial"/>
                <a:cs typeface="Arial"/>
              </a:defRPr>
            </a:lvl7pPr>
            <a:lvl8pPr algn="l">
              <a:defRPr sz="2025" b="0">
                <a:solidFill>
                  <a:srgbClr val="D7E1E3"/>
                </a:solidFill>
                <a:latin typeface="Arial"/>
                <a:ea typeface="Arial"/>
                <a:cs typeface="Arial"/>
              </a:defRPr>
            </a:lvl8pPr>
            <a:lvl9pPr algn="l">
              <a:defRPr sz="2025" b="0">
                <a:solidFill>
                  <a:srgbClr val="D7E1E3"/>
                </a:solidFill>
                <a:latin typeface="Arial"/>
                <a:ea typeface="Arial"/>
                <a:cs typeface="Arial"/>
              </a:defRPr>
            </a:lvl9pPr>
          </a:lstStyle>
          <a:p xmlns:a="http://schemas.openxmlformats.org/drawingml/2006/main">
            <a:pPr algn="l">
              <a:defRPr sz="2025" b="0">
                <a:solidFill>
                  <a:srgbClr val="D7E1E3"/>
                </a:solidFill>
                <a:latin typeface="Arial"/>
                <a:ea typeface="Arial"/>
                <a:cs typeface="Arial"/>
              </a:defRPr>
            </a:pPr>
            <a:r>
              <a:rPr sz="2025" b="0">
                <a:solidFill>
                  <a:srgbClr val="D7E1E3"/>
                </a:solidFill>
                <a:latin typeface="Arial"/>
                <a:ea typeface="Arial"/>
                <a:cs typeface="Arial"/>
              </a:rPr>
              <a:t>Interruptions can happen at any stage. These fields form a proposed checkpoint.</a:t>
            </a:r>
          </a:p>
        </p:txBody>
      </p:sp>
      <p:sp>
        <p:nvSpPr>
          <p:cNvPr id="3" name="diagram-heading-0">
            <a:extLst xmlns:a="http://schemas.openxmlformats.org/drawingml/2006/main">
              <a:ext uri="{FF2B5EF4-FFF2-40B4-BE49-F238E27FC236}">
                <a16:creationId xmlns:a16="http://schemas.microsoft.com/office/drawing/2014/main" id="{3CC4804E-BA10-4511-9106-63F0B405431D}"/>
              </a:ext>
            </a:extLst>
          </p:cNvPr>
          <p:cNvSpPr>
            <a:spLocks xmlns:a="http://schemas.openxmlformats.org/drawingml/2006/main" noGrp="1"/>
          </p:cNvSpPr>
          <p:nvPr/>
        </p:nvSpPr>
        <p:spPr>
          <a:xfrm xmlns:a="http://schemas.openxmlformats.org/drawingml/2006/main">
            <a:off x="762000" y="281940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F1C58A"/>
                </a:solidFill>
                <a:latin typeface="Arial"/>
                <a:ea typeface="Arial"/>
                <a:cs typeface="Arial"/>
              </a:defRPr>
            </a:defPPr>
            <a:lvl1pPr algn="l">
              <a:defRPr sz="2625" b="1">
                <a:solidFill>
                  <a:srgbClr val="F1C58A"/>
                </a:solidFill>
                <a:latin typeface="Arial"/>
                <a:ea typeface="Arial"/>
                <a:cs typeface="Arial"/>
              </a:defRPr>
            </a:lvl1pPr>
            <a:lvl2pPr algn="l">
              <a:defRPr sz="2625" b="1">
                <a:solidFill>
                  <a:srgbClr val="F1C58A"/>
                </a:solidFill>
                <a:latin typeface="Arial"/>
                <a:ea typeface="Arial"/>
                <a:cs typeface="Arial"/>
              </a:defRPr>
            </a:lvl2pPr>
            <a:lvl3pPr algn="l">
              <a:defRPr sz="2625" b="1">
                <a:solidFill>
                  <a:srgbClr val="F1C58A"/>
                </a:solidFill>
                <a:latin typeface="Arial"/>
                <a:ea typeface="Arial"/>
                <a:cs typeface="Arial"/>
              </a:defRPr>
            </a:lvl3pPr>
            <a:lvl4pPr algn="l">
              <a:defRPr sz="2625" b="1">
                <a:solidFill>
                  <a:srgbClr val="F1C58A"/>
                </a:solidFill>
                <a:latin typeface="Arial"/>
                <a:ea typeface="Arial"/>
                <a:cs typeface="Arial"/>
              </a:defRPr>
            </a:lvl4pPr>
            <a:lvl5pPr algn="l">
              <a:defRPr sz="2625" b="1">
                <a:solidFill>
                  <a:srgbClr val="F1C58A"/>
                </a:solidFill>
                <a:latin typeface="Arial"/>
                <a:ea typeface="Arial"/>
                <a:cs typeface="Arial"/>
              </a:defRPr>
            </a:lvl5pPr>
            <a:lvl6pPr algn="l">
              <a:defRPr sz="2625" b="1">
                <a:solidFill>
                  <a:srgbClr val="F1C58A"/>
                </a:solidFill>
                <a:latin typeface="Arial"/>
                <a:ea typeface="Arial"/>
                <a:cs typeface="Arial"/>
              </a:defRPr>
            </a:lvl6pPr>
            <a:lvl7pPr algn="l">
              <a:defRPr sz="2625" b="1">
                <a:solidFill>
                  <a:srgbClr val="F1C58A"/>
                </a:solidFill>
                <a:latin typeface="Arial"/>
                <a:ea typeface="Arial"/>
                <a:cs typeface="Arial"/>
              </a:defRPr>
            </a:lvl7pPr>
            <a:lvl8pPr algn="l">
              <a:defRPr sz="2625" b="1">
                <a:solidFill>
                  <a:srgbClr val="F1C58A"/>
                </a:solidFill>
                <a:latin typeface="Arial"/>
                <a:ea typeface="Arial"/>
                <a:cs typeface="Arial"/>
              </a:defRPr>
            </a:lvl8pPr>
            <a:lvl9pPr algn="l">
              <a:defRPr sz="2625" b="1">
                <a:solidFill>
                  <a:srgbClr val="F1C58A"/>
                </a:solidFill>
                <a:latin typeface="Arial"/>
                <a:ea typeface="Arial"/>
                <a:cs typeface="Arial"/>
              </a:defRPr>
            </a:lvl9pPr>
          </a:lstStyle>
          <a:p xmlns:a="http://schemas.openxmlformats.org/drawingml/2006/main">
            <a:pPr algn="l">
              <a:defRPr sz="2625" b="1">
                <a:solidFill>
                  <a:srgbClr val="F1C58A"/>
                </a:solidFill>
                <a:latin typeface="Arial"/>
                <a:ea typeface="Arial"/>
                <a:cs typeface="Arial"/>
              </a:defRPr>
            </a:pPr>
            <a:r>
              <a:rPr sz="2625" b="1">
                <a:solidFill>
                  <a:srgbClr val="F1C58A"/>
                </a:solidFill>
                <a:latin typeface="Arial"/>
                <a:ea typeface="Arial"/>
                <a:cs typeface="Arial"/>
              </a:rPr>
              <a:t>Source</a:t>
            </a:r>
          </a:p>
        </p:txBody>
      </p:sp>
      <p:sp>
        <p:nvSpPr>
          <p:cNvPr id="4" name="diagram-detail-0">
            <a:extLst xmlns:a="http://schemas.openxmlformats.org/drawingml/2006/main">
              <a:ext uri="{FF2B5EF4-FFF2-40B4-BE49-F238E27FC236}">
                <a16:creationId xmlns:a16="http://schemas.microsoft.com/office/drawing/2014/main" id="{F82AFA33-E269-4482-B3AA-9B4ECE25BFFB}"/>
              </a:ext>
            </a:extLst>
          </p:cNvPr>
          <p:cNvSpPr>
            <a:spLocks xmlns:a="http://schemas.openxmlformats.org/drawingml/2006/main" noGrp="1"/>
          </p:cNvSpPr>
          <p:nvPr/>
        </p:nvSpPr>
        <p:spPr>
          <a:xfrm xmlns:a="http://schemas.openxmlformats.org/drawingml/2006/main">
            <a:off x="762000" y="3857625"/>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D7E1E3"/>
                </a:solidFill>
                <a:latin typeface="Arial"/>
                <a:ea typeface="Arial"/>
                <a:cs typeface="Arial"/>
              </a:defRPr>
            </a:defPPr>
            <a:lvl1pPr algn="l">
              <a:defRPr sz="2025" b="0">
                <a:solidFill>
                  <a:srgbClr val="D7E1E3"/>
                </a:solidFill>
                <a:latin typeface="Arial"/>
                <a:ea typeface="Arial"/>
                <a:cs typeface="Arial"/>
              </a:defRPr>
            </a:lvl1pPr>
            <a:lvl2pPr algn="l">
              <a:defRPr sz="2025" b="0">
                <a:solidFill>
                  <a:srgbClr val="D7E1E3"/>
                </a:solidFill>
                <a:latin typeface="Arial"/>
                <a:ea typeface="Arial"/>
                <a:cs typeface="Arial"/>
              </a:defRPr>
            </a:lvl2pPr>
            <a:lvl3pPr algn="l">
              <a:defRPr sz="2025" b="0">
                <a:solidFill>
                  <a:srgbClr val="D7E1E3"/>
                </a:solidFill>
                <a:latin typeface="Arial"/>
                <a:ea typeface="Arial"/>
                <a:cs typeface="Arial"/>
              </a:defRPr>
            </a:lvl3pPr>
            <a:lvl4pPr algn="l">
              <a:defRPr sz="2025" b="0">
                <a:solidFill>
                  <a:srgbClr val="D7E1E3"/>
                </a:solidFill>
                <a:latin typeface="Arial"/>
                <a:ea typeface="Arial"/>
                <a:cs typeface="Arial"/>
              </a:defRPr>
            </a:lvl4pPr>
            <a:lvl5pPr algn="l">
              <a:defRPr sz="2025" b="0">
                <a:solidFill>
                  <a:srgbClr val="D7E1E3"/>
                </a:solidFill>
                <a:latin typeface="Arial"/>
                <a:ea typeface="Arial"/>
                <a:cs typeface="Arial"/>
              </a:defRPr>
            </a:lvl5pPr>
            <a:lvl6pPr algn="l">
              <a:defRPr sz="2025" b="0">
                <a:solidFill>
                  <a:srgbClr val="D7E1E3"/>
                </a:solidFill>
                <a:latin typeface="Arial"/>
                <a:ea typeface="Arial"/>
                <a:cs typeface="Arial"/>
              </a:defRPr>
            </a:lvl6pPr>
            <a:lvl7pPr algn="l">
              <a:defRPr sz="2025" b="0">
                <a:solidFill>
                  <a:srgbClr val="D7E1E3"/>
                </a:solidFill>
                <a:latin typeface="Arial"/>
                <a:ea typeface="Arial"/>
                <a:cs typeface="Arial"/>
              </a:defRPr>
            </a:lvl7pPr>
            <a:lvl8pPr algn="l">
              <a:defRPr sz="2025" b="0">
                <a:solidFill>
                  <a:srgbClr val="D7E1E3"/>
                </a:solidFill>
                <a:latin typeface="Arial"/>
                <a:ea typeface="Arial"/>
                <a:cs typeface="Arial"/>
              </a:defRPr>
            </a:lvl8pPr>
            <a:lvl9pPr algn="l">
              <a:defRPr sz="2025" b="0">
                <a:solidFill>
                  <a:srgbClr val="D7E1E3"/>
                </a:solidFill>
                <a:latin typeface="Arial"/>
                <a:ea typeface="Arial"/>
                <a:cs typeface="Arial"/>
              </a:defRPr>
            </a:lvl9pPr>
          </a:lstStyle>
          <a:p xmlns:a="http://schemas.openxmlformats.org/drawingml/2006/main">
            <a:pPr algn="l">
              <a:defRPr sz="2025" b="0">
                <a:solidFill>
                  <a:srgbClr val="D7E1E3"/>
                </a:solidFill>
                <a:latin typeface="Arial"/>
                <a:ea typeface="Arial"/>
                <a:cs typeface="Arial"/>
              </a:defRPr>
            </a:pPr>
            <a:r>
              <a:rPr sz="2025" b="0">
                <a:solidFill>
                  <a:srgbClr val="D7E1E3"/>
                </a:solidFill>
                <a:latin typeface="Arial"/>
                <a:ea typeface="Arial"/>
                <a:cs typeface="Arial"/>
              </a:rPr>
              <a:t>The posting and where it came from.</a:t>
            </a:r>
          </a:p>
        </p:txBody>
      </p:sp>
      <p:sp>
        <p:nvSpPr>
          <p:cNvPr id="5" name="diagram-heading-1">
            <a:extLst xmlns:a="http://schemas.openxmlformats.org/drawingml/2006/main">
              <a:ext uri="{FF2B5EF4-FFF2-40B4-BE49-F238E27FC236}">
                <a16:creationId xmlns:a16="http://schemas.microsoft.com/office/drawing/2014/main" id="{4ABB0A24-1D8F-4460-A268-4EDD52A72984}"/>
              </a:ext>
            </a:extLst>
          </p:cNvPr>
          <p:cNvSpPr>
            <a:spLocks xmlns:a="http://schemas.openxmlformats.org/drawingml/2006/main" noGrp="1"/>
          </p:cNvSpPr>
          <p:nvPr/>
        </p:nvSpPr>
        <p:spPr>
          <a:xfrm xmlns:a="http://schemas.openxmlformats.org/drawingml/2006/main">
            <a:off x="4476750" y="281940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F1C58A"/>
                </a:solidFill>
                <a:latin typeface="Arial"/>
                <a:ea typeface="Arial"/>
                <a:cs typeface="Arial"/>
              </a:defRPr>
            </a:defPPr>
            <a:lvl1pPr algn="l">
              <a:defRPr sz="2625" b="1">
                <a:solidFill>
                  <a:srgbClr val="F1C58A"/>
                </a:solidFill>
                <a:latin typeface="Arial"/>
                <a:ea typeface="Arial"/>
                <a:cs typeface="Arial"/>
              </a:defRPr>
            </a:lvl1pPr>
            <a:lvl2pPr algn="l">
              <a:defRPr sz="2625" b="1">
                <a:solidFill>
                  <a:srgbClr val="F1C58A"/>
                </a:solidFill>
                <a:latin typeface="Arial"/>
                <a:ea typeface="Arial"/>
                <a:cs typeface="Arial"/>
              </a:defRPr>
            </a:lvl2pPr>
            <a:lvl3pPr algn="l">
              <a:defRPr sz="2625" b="1">
                <a:solidFill>
                  <a:srgbClr val="F1C58A"/>
                </a:solidFill>
                <a:latin typeface="Arial"/>
                <a:ea typeface="Arial"/>
                <a:cs typeface="Arial"/>
              </a:defRPr>
            </a:lvl3pPr>
            <a:lvl4pPr algn="l">
              <a:defRPr sz="2625" b="1">
                <a:solidFill>
                  <a:srgbClr val="F1C58A"/>
                </a:solidFill>
                <a:latin typeface="Arial"/>
                <a:ea typeface="Arial"/>
                <a:cs typeface="Arial"/>
              </a:defRPr>
            </a:lvl4pPr>
            <a:lvl5pPr algn="l">
              <a:defRPr sz="2625" b="1">
                <a:solidFill>
                  <a:srgbClr val="F1C58A"/>
                </a:solidFill>
                <a:latin typeface="Arial"/>
                <a:ea typeface="Arial"/>
                <a:cs typeface="Arial"/>
              </a:defRPr>
            </a:lvl5pPr>
            <a:lvl6pPr algn="l">
              <a:defRPr sz="2625" b="1">
                <a:solidFill>
                  <a:srgbClr val="F1C58A"/>
                </a:solidFill>
                <a:latin typeface="Arial"/>
                <a:ea typeface="Arial"/>
                <a:cs typeface="Arial"/>
              </a:defRPr>
            </a:lvl6pPr>
            <a:lvl7pPr algn="l">
              <a:defRPr sz="2625" b="1">
                <a:solidFill>
                  <a:srgbClr val="F1C58A"/>
                </a:solidFill>
                <a:latin typeface="Arial"/>
                <a:ea typeface="Arial"/>
                <a:cs typeface="Arial"/>
              </a:defRPr>
            </a:lvl7pPr>
            <a:lvl8pPr algn="l">
              <a:defRPr sz="2625" b="1">
                <a:solidFill>
                  <a:srgbClr val="F1C58A"/>
                </a:solidFill>
                <a:latin typeface="Arial"/>
                <a:ea typeface="Arial"/>
                <a:cs typeface="Arial"/>
              </a:defRPr>
            </a:lvl8pPr>
            <a:lvl9pPr algn="l">
              <a:defRPr sz="2625" b="1">
                <a:solidFill>
                  <a:srgbClr val="F1C58A"/>
                </a:solidFill>
                <a:latin typeface="Arial"/>
                <a:ea typeface="Arial"/>
                <a:cs typeface="Arial"/>
              </a:defRPr>
            </a:lvl9pPr>
          </a:lstStyle>
          <a:p xmlns:a="http://schemas.openxmlformats.org/drawingml/2006/main">
            <a:pPr algn="l">
              <a:defRPr sz="2625" b="1">
                <a:solidFill>
                  <a:srgbClr val="F1C58A"/>
                </a:solidFill>
                <a:latin typeface="Arial"/>
                <a:ea typeface="Arial"/>
                <a:cs typeface="Arial"/>
              </a:defRPr>
            </a:pPr>
            <a:r>
              <a:rPr sz="2625" b="1">
                <a:solidFill>
                  <a:srgbClr val="F1C58A"/>
                </a:solidFill>
                <a:latin typeface="Arial"/>
                <a:ea typeface="Arial"/>
                <a:cs typeface="Arial"/>
              </a:rPr>
              <a:t>State</a:t>
            </a:r>
          </a:p>
        </p:txBody>
      </p:sp>
      <p:sp>
        <p:nvSpPr>
          <p:cNvPr id="6" name="diagram-detail-1">
            <a:extLst xmlns:a="http://schemas.openxmlformats.org/drawingml/2006/main">
              <a:ext uri="{FF2B5EF4-FFF2-40B4-BE49-F238E27FC236}">
                <a16:creationId xmlns:a16="http://schemas.microsoft.com/office/drawing/2014/main" id="{ADD0B344-B82D-459E-ACB8-545FF97B57A2}"/>
              </a:ext>
            </a:extLst>
          </p:cNvPr>
          <p:cNvSpPr>
            <a:spLocks xmlns:a="http://schemas.openxmlformats.org/drawingml/2006/main" noGrp="1"/>
          </p:cNvSpPr>
          <p:nvPr/>
        </p:nvSpPr>
        <p:spPr>
          <a:xfrm xmlns:a="http://schemas.openxmlformats.org/drawingml/2006/main">
            <a:off x="4476750" y="3857625"/>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D7E1E3"/>
                </a:solidFill>
                <a:latin typeface="Arial"/>
                <a:ea typeface="Arial"/>
                <a:cs typeface="Arial"/>
              </a:defRPr>
            </a:defPPr>
            <a:lvl1pPr algn="l">
              <a:defRPr sz="2025" b="0">
                <a:solidFill>
                  <a:srgbClr val="D7E1E3"/>
                </a:solidFill>
                <a:latin typeface="Arial"/>
                <a:ea typeface="Arial"/>
                <a:cs typeface="Arial"/>
              </a:defRPr>
            </a:lvl1pPr>
            <a:lvl2pPr algn="l">
              <a:defRPr sz="2025" b="0">
                <a:solidFill>
                  <a:srgbClr val="D7E1E3"/>
                </a:solidFill>
                <a:latin typeface="Arial"/>
                <a:ea typeface="Arial"/>
                <a:cs typeface="Arial"/>
              </a:defRPr>
            </a:lvl2pPr>
            <a:lvl3pPr algn="l">
              <a:defRPr sz="2025" b="0">
                <a:solidFill>
                  <a:srgbClr val="D7E1E3"/>
                </a:solidFill>
                <a:latin typeface="Arial"/>
                <a:ea typeface="Arial"/>
                <a:cs typeface="Arial"/>
              </a:defRPr>
            </a:lvl3pPr>
            <a:lvl4pPr algn="l">
              <a:defRPr sz="2025" b="0">
                <a:solidFill>
                  <a:srgbClr val="D7E1E3"/>
                </a:solidFill>
                <a:latin typeface="Arial"/>
                <a:ea typeface="Arial"/>
                <a:cs typeface="Arial"/>
              </a:defRPr>
            </a:lvl4pPr>
            <a:lvl5pPr algn="l">
              <a:defRPr sz="2025" b="0">
                <a:solidFill>
                  <a:srgbClr val="D7E1E3"/>
                </a:solidFill>
                <a:latin typeface="Arial"/>
                <a:ea typeface="Arial"/>
                <a:cs typeface="Arial"/>
              </a:defRPr>
            </a:lvl5pPr>
            <a:lvl6pPr algn="l">
              <a:defRPr sz="2025" b="0">
                <a:solidFill>
                  <a:srgbClr val="D7E1E3"/>
                </a:solidFill>
                <a:latin typeface="Arial"/>
                <a:ea typeface="Arial"/>
                <a:cs typeface="Arial"/>
              </a:defRPr>
            </a:lvl6pPr>
            <a:lvl7pPr algn="l">
              <a:defRPr sz="2025" b="0">
                <a:solidFill>
                  <a:srgbClr val="D7E1E3"/>
                </a:solidFill>
                <a:latin typeface="Arial"/>
                <a:ea typeface="Arial"/>
                <a:cs typeface="Arial"/>
              </a:defRPr>
            </a:lvl7pPr>
            <a:lvl8pPr algn="l">
              <a:defRPr sz="2025" b="0">
                <a:solidFill>
                  <a:srgbClr val="D7E1E3"/>
                </a:solidFill>
                <a:latin typeface="Arial"/>
                <a:ea typeface="Arial"/>
                <a:cs typeface="Arial"/>
              </a:defRPr>
            </a:lvl8pPr>
            <a:lvl9pPr algn="l">
              <a:defRPr sz="2025" b="0">
                <a:solidFill>
                  <a:srgbClr val="D7E1E3"/>
                </a:solidFill>
                <a:latin typeface="Arial"/>
                <a:ea typeface="Arial"/>
                <a:cs typeface="Arial"/>
              </a:defRPr>
            </a:lvl9pPr>
          </a:lstStyle>
          <a:p xmlns:a="http://schemas.openxmlformats.org/drawingml/2006/main">
            <a:pPr algn="l">
              <a:defRPr sz="2025" b="0">
                <a:solidFill>
                  <a:srgbClr val="D7E1E3"/>
                </a:solidFill>
                <a:latin typeface="Arial"/>
                <a:ea typeface="Arial"/>
                <a:cs typeface="Arial"/>
              </a:defRPr>
            </a:pPr>
            <a:r>
              <a:rPr sz="2025" b="0">
                <a:solidFill>
                  <a:srgbClr val="D7E1E3"/>
                </a:solidFill>
                <a:latin typeface="Arial"/>
                <a:ea typeface="Arial"/>
                <a:cs typeface="Arial"/>
              </a:rPr>
              <a:t>Current stage, document version and submission confirmation.</a:t>
            </a:r>
          </a:p>
        </p:txBody>
      </p:sp>
      <p:sp>
        <p:nvSpPr>
          <p:cNvPr id="7" name="diagram-heading-2">
            <a:extLst xmlns:a="http://schemas.openxmlformats.org/drawingml/2006/main">
              <a:ext uri="{FF2B5EF4-FFF2-40B4-BE49-F238E27FC236}">
                <a16:creationId xmlns:a16="http://schemas.microsoft.com/office/drawing/2014/main" id="{79937F54-12D1-4CB9-974E-FFD6FF62F1E2}"/>
              </a:ext>
            </a:extLst>
          </p:cNvPr>
          <p:cNvSpPr>
            <a:spLocks xmlns:a="http://schemas.openxmlformats.org/drawingml/2006/main" noGrp="1"/>
          </p:cNvSpPr>
          <p:nvPr/>
        </p:nvSpPr>
        <p:spPr>
          <a:xfrm xmlns:a="http://schemas.openxmlformats.org/drawingml/2006/main">
            <a:off x="8191500" y="281940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F1C58A"/>
                </a:solidFill>
                <a:latin typeface="Arial"/>
                <a:ea typeface="Arial"/>
                <a:cs typeface="Arial"/>
              </a:defRPr>
            </a:defPPr>
            <a:lvl1pPr algn="l">
              <a:defRPr sz="2625" b="1">
                <a:solidFill>
                  <a:srgbClr val="F1C58A"/>
                </a:solidFill>
                <a:latin typeface="Arial"/>
                <a:ea typeface="Arial"/>
                <a:cs typeface="Arial"/>
              </a:defRPr>
            </a:lvl1pPr>
            <a:lvl2pPr algn="l">
              <a:defRPr sz="2625" b="1">
                <a:solidFill>
                  <a:srgbClr val="F1C58A"/>
                </a:solidFill>
                <a:latin typeface="Arial"/>
                <a:ea typeface="Arial"/>
                <a:cs typeface="Arial"/>
              </a:defRPr>
            </a:lvl2pPr>
            <a:lvl3pPr algn="l">
              <a:defRPr sz="2625" b="1">
                <a:solidFill>
                  <a:srgbClr val="F1C58A"/>
                </a:solidFill>
                <a:latin typeface="Arial"/>
                <a:ea typeface="Arial"/>
                <a:cs typeface="Arial"/>
              </a:defRPr>
            </a:lvl3pPr>
            <a:lvl4pPr algn="l">
              <a:defRPr sz="2625" b="1">
                <a:solidFill>
                  <a:srgbClr val="F1C58A"/>
                </a:solidFill>
                <a:latin typeface="Arial"/>
                <a:ea typeface="Arial"/>
                <a:cs typeface="Arial"/>
              </a:defRPr>
            </a:lvl4pPr>
            <a:lvl5pPr algn="l">
              <a:defRPr sz="2625" b="1">
                <a:solidFill>
                  <a:srgbClr val="F1C58A"/>
                </a:solidFill>
                <a:latin typeface="Arial"/>
                <a:ea typeface="Arial"/>
                <a:cs typeface="Arial"/>
              </a:defRPr>
            </a:lvl5pPr>
            <a:lvl6pPr algn="l">
              <a:defRPr sz="2625" b="1">
                <a:solidFill>
                  <a:srgbClr val="F1C58A"/>
                </a:solidFill>
                <a:latin typeface="Arial"/>
                <a:ea typeface="Arial"/>
                <a:cs typeface="Arial"/>
              </a:defRPr>
            </a:lvl6pPr>
            <a:lvl7pPr algn="l">
              <a:defRPr sz="2625" b="1">
                <a:solidFill>
                  <a:srgbClr val="F1C58A"/>
                </a:solidFill>
                <a:latin typeface="Arial"/>
                <a:ea typeface="Arial"/>
                <a:cs typeface="Arial"/>
              </a:defRPr>
            </a:lvl7pPr>
            <a:lvl8pPr algn="l">
              <a:defRPr sz="2625" b="1">
                <a:solidFill>
                  <a:srgbClr val="F1C58A"/>
                </a:solidFill>
                <a:latin typeface="Arial"/>
                <a:ea typeface="Arial"/>
                <a:cs typeface="Arial"/>
              </a:defRPr>
            </a:lvl8pPr>
            <a:lvl9pPr algn="l">
              <a:defRPr sz="2625" b="1">
                <a:solidFill>
                  <a:srgbClr val="F1C58A"/>
                </a:solidFill>
                <a:latin typeface="Arial"/>
                <a:ea typeface="Arial"/>
                <a:cs typeface="Arial"/>
              </a:defRPr>
            </a:lvl9pPr>
          </a:lstStyle>
          <a:p xmlns:a="http://schemas.openxmlformats.org/drawingml/2006/main">
            <a:pPr algn="l">
              <a:defRPr sz="2625" b="1">
                <a:solidFill>
                  <a:srgbClr val="F1C58A"/>
                </a:solidFill>
                <a:latin typeface="Arial"/>
                <a:ea typeface="Arial"/>
                <a:cs typeface="Arial"/>
              </a:defRPr>
            </a:pPr>
            <a:r>
              <a:rPr sz="2625" b="1">
                <a:solidFill>
                  <a:srgbClr val="F1C58A"/>
                </a:solidFill>
                <a:latin typeface="Arial"/>
                <a:ea typeface="Arial"/>
                <a:cs typeface="Arial"/>
              </a:rPr>
              <a:t>Next action</a:t>
            </a:r>
          </a:p>
        </p:txBody>
      </p:sp>
      <p:sp>
        <p:nvSpPr>
          <p:cNvPr id="8" name="diagram-detail-2">
            <a:extLst xmlns:a="http://schemas.openxmlformats.org/drawingml/2006/main">
              <a:ext uri="{FF2B5EF4-FFF2-40B4-BE49-F238E27FC236}">
                <a16:creationId xmlns:a16="http://schemas.microsoft.com/office/drawing/2014/main" id="{D29B987B-6E97-4BEE-9B88-BBC9F0621AAE}"/>
              </a:ext>
            </a:extLst>
          </p:cNvPr>
          <p:cNvSpPr>
            <a:spLocks xmlns:a="http://schemas.openxmlformats.org/drawingml/2006/main" noGrp="1"/>
          </p:cNvSpPr>
          <p:nvPr/>
        </p:nvSpPr>
        <p:spPr>
          <a:xfrm xmlns:a="http://schemas.openxmlformats.org/drawingml/2006/main">
            <a:off x="8191500" y="3857625"/>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D7E1E3"/>
                </a:solidFill>
                <a:latin typeface="Arial"/>
                <a:ea typeface="Arial"/>
                <a:cs typeface="Arial"/>
              </a:defRPr>
            </a:defPPr>
            <a:lvl1pPr algn="l">
              <a:defRPr sz="2025" b="0">
                <a:solidFill>
                  <a:srgbClr val="D7E1E3"/>
                </a:solidFill>
                <a:latin typeface="Arial"/>
                <a:ea typeface="Arial"/>
                <a:cs typeface="Arial"/>
              </a:defRPr>
            </a:lvl1pPr>
            <a:lvl2pPr algn="l">
              <a:defRPr sz="2025" b="0">
                <a:solidFill>
                  <a:srgbClr val="D7E1E3"/>
                </a:solidFill>
                <a:latin typeface="Arial"/>
                <a:ea typeface="Arial"/>
                <a:cs typeface="Arial"/>
              </a:defRPr>
            </a:lvl2pPr>
            <a:lvl3pPr algn="l">
              <a:defRPr sz="2025" b="0">
                <a:solidFill>
                  <a:srgbClr val="D7E1E3"/>
                </a:solidFill>
                <a:latin typeface="Arial"/>
                <a:ea typeface="Arial"/>
                <a:cs typeface="Arial"/>
              </a:defRPr>
            </a:lvl3pPr>
            <a:lvl4pPr algn="l">
              <a:defRPr sz="2025" b="0">
                <a:solidFill>
                  <a:srgbClr val="D7E1E3"/>
                </a:solidFill>
                <a:latin typeface="Arial"/>
                <a:ea typeface="Arial"/>
                <a:cs typeface="Arial"/>
              </a:defRPr>
            </a:lvl4pPr>
            <a:lvl5pPr algn="l">
              <a:defRPr sz="2025" b="0">
                <a:solidFill>
                  <a:srgbClr val="D7E1E3"/>
                </a:solidFill>
                <a:latin typeface="Arial"/>
                <a:ea typeface="Arial"/>
                <a:cs typeface="Arial"/>
              </a:defRPr>
            </a:lvl5pPr>
            <a:lvl6pPr algn="l">
              <a:defRPr sz="2025" b="0">
                <a:solidFill>
                  <a:srgbClr val="D7E1E3"/>
                </a:solidFill>
                <a:latin typeface="Arial"/>
                <a:ea typeface="Arial"/>
                <a:cs typeface="Arial"/>
              </a:defRPr>
            </a:lvl6pPr>
            <a:lvl7pPr algn="l">
              <a:defRPr sz="2025" b="0">
                <a:solidFill>
                  <a:srgbClr val="D7E1E3"/>
                </a:solidFill>
                <a:latin typeface="Arial"/>
                <a:ea typeface="Arial"/>
                <a:cs typeface="Arial"/>
              </a:defRPr>
            </a:lvl7pPr>
            <a:lvl8pPr algn="l">
              <a:defRPr sz="2025" b="0">
                <a:solidFill>
                  <a:srgbClr val="D7E1E3"/>
                </a:solidFill>
                <a:latin typeface="Arial"/>
                <a:ea typeface="Arial"/>
                <a:cs typeface="Arial"/>
              </a:defRPr>
            </a:lvl8pPr>
            <a:lvl9pPr algn="l">
              <a:defRPr sz="2025" b="0">
                <a:solidFill>
                  <a:srgbClr val="D7E1E3"/>
                </a:solidFill>
                <a:latin typeface="Arial"/>
                <a:ea typeface="Arial"/>
                <a:cs typeface="Arial"/>
              </a:defRPr>
            </a:lvl9pPr>
          </a:lstStyle>
          <a:p xmlns:a="http://schemas.openxmlformats.org/drawingml/2006/main">
            <a:pPr algn="l">
              <a:defRPr sz="2025" b="0">
                <a:solidFill>
                  <a:srgbClr val="D7E1E3"/>
                </a:solidFill>
                <a:latin typeface="Arial"/>
                <a:ea typeface="Arial"/>
                <a:cs typeface="Arial"/>
              </a:defRPr>
            </a:pPr>
            <a:r>
              <a:rPr sz="2025" b="0">
                <a:solidFill>
                  <a:srgbClr val="D7E1E3"/>
                </a:solidFill>
                <a:latin typeface="Arial"/>
                <a:ea typeface="Arial"/>
                <a:cs typeface="Arial"/>
              </a:rPr>
              <a:t>One task and the unresolved questions.</a:t>
            </a:r>
          </a:p>
        </p:txBody>
      </p:sp>
      <p:sp>
        <p:nvSpPr>
          <p:cNvPr id="9" name="takeaway">
            <a:extLst xmlns:a="http://schemas.openxmlformats.org/drawingml/2006/main">
              <a:ext uri="{FF2B5EF4-FFF2-40B4-BE49-F238E27FC236}">
                <a16:creationId xmlns:a16="http://schemas.microsoft.com/office/drawing/2014/main" id="{E968F3C5-1449-47DE-B3FA-A692FC6876CB}"/>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Saved or prepared does not mean submitted. Recovery needs testing across the journey.</a:t>
            </a:r>
          </a:p>
        </p:txBody>
      </p:sp>
      <p:sp>
        <p:nvSpPr>
          <p:cNvPr id="10" name="evidence-boundary">
            <a:extLst xmlns:a="http://schemas.openxmlformats.org/drawingml/2006/main">
              <a:ext uri="{FF2B5EF4-FFF2-40B4-BE49-F238E27FC236}">
                <a16:creationId xmlns:a16="http://schemas.microsoft.com/office/drawing/2014/main" id="{7E8345BC-1B00-4CA5-B62F-493427724799}"/>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D7E1E3"/>
                </a:solidFill>
                <a:latin typeface="Arial"/>
                <a:ea typeface="Arial"/>
                <a:cs typeface="Arial"/>
              </a:defRPr>
            </a:defPPr>
            <a:lvl1pPr algn="l">
              <a:defRPr sz="1350" b="0">
                <a:solidFill>
                  <a:srgbClr val="D7E1E3"/>
                </a:solidFill>
                <a:latin typeface="Arial"/>
                <a:ea typeface="Arial"/>
                <a:cs typeface="Arial"/>
              </a:defRPr>
            </a:lvl1pPr>
            <a:lvl2pPr algn="l">
              <a:defRPr sz="1350" b="0">
                <a:solidFill>
                  <a:srgbClr val="D7E1E3"/>
                </a:solidFill>
                <a:latin typeface="Arial"/>
                <a:ea typeface="Arial"/>
                <a:cs typeface="Arial"/>
              </a:defRPr>
            </a:lvl2pPr>
            <a:lvl3pPr algn="l">
              <a:defRPr sz="1350" b="0">
                <a:solidFill>
                  <a:srgbClr val="D7E1E3"/>
                </a:solidFill>
                <a:latin typeface="Arial"/>
                <a:ea typeface="Arial"/>
                <a:cs typeface="Arial"/>
              </a:defRPr>
            </a:lvl3pPr>
            <a:lvl4pPr algn="l">
              <a:defRPr sz="1350" b="0">
                <a:solidFill>
                  <a:srgbClr val="D7E1E3"/>
                </a:solidFill>
                <a:latin typeface="Arial"/>
                <a:ea typeface="Arial"/>
                <a:cs typeface="Arial"/>
              </a:defRPr>
            </a:lvl4pPr>
            <a:lvl5pPr algn="l">
              <a:defRPr sz="1350" b="0">
                <a:solidFill>
                  <a:srgbClr val="D7E1E3"/>
                </a:solidFill>
                <a:latin typeface="Arial"/>
                <a:ea typeface="Arial"/>
                <a:cs typeface="Arial"/>
              </a:defRPr>
            </a:lvl5pPr>
            <a:lvl6pPr algn="l">
              <a:defRPr sz="1350" b="0">
                <a:solidFill>
                  <a:srgbClr val="D7E1E3"/>
                </a:solidFill>
                <a:latin typeface="Arial"/>
                <a:ea typeface="Arial"/>
                <a:cs typeface="Arial"/>
              </a:defRPr>
            </a:lvl6pPr>
            <a:lvl7pPr algn="l">
              <a:defRPr sz="1350" b="0">
                <a:solidFill>
                  <a:srgbClr val="D7E1E3"/>
                </a:solidFill>
                <a:latin typeface="Arial"/>
                <a:ea typeface="Arial"/>
                <a:cs typeface="Arial"/>
              </a:defRPr>
            </a:lvl7pPr>
            <a:lvl8pPr algn="l">
              <a:defRPr sz="1350" b="0">
                <a:solidFill>
                  <a:srgbClr val="D7E1E3"/>
                </a:solidFill>
                <a:latin typeface="Arial"/>
                <a:ea typeface="Arial"/>
                <a:cs typeface="Arial"/>
              </a:defRPr>
            </a:lvl8pPr>
            <a:lvl9pPr algn="l">
              <a:defRPr sz="1350" b="0">
                <a:solidFill>
                  <a:srgbClr val="D7E1E3"/>
                </a:solidFill>
                <a:latin typeface="Arial"/>
                <a:ea typeface="Arial"/>
                <a:cs typeface="Arial"/>
              </a:defRPr>
            </a:lvl9pPr>
          </a:lstStyle>
          <a:p xmlns:a="http://schemas.openxmlformats.org/drawingml/2006/main">
            <a:pPr algn="l">
              <a:defRPr sz="1350" b="0">
                <a:solidFill>
                  <a:srgbClr val="D7E1E3"/>
                </a:solidFill>
                <a:latin typeface="Arial"/>
                <a:ea typeface="Arial"/>
                <a:cs typeface="Arial"/>
              </a:defRPr>
            </a:pPr>
            <a:r>
              <a:rPr sz="1350" b="0">
                <a:solidFill>
                  <a:srgbClr val="D7E1E3"/>
                </a:solidFill>
                <a:latin typeface="Arial"/>
                <a:ea typeface="Arial"/>
                <a:cs typeface="Arial"/>
              </a:rPr>
              <a:t>Proposed aid. The exact Singapore phone-to-laptop lost-opportunity chain remains unsupported.</a:t>
            </a:r>
          </a:p>
        </p:txBody>
      </p:sp>
      <p:sp>
        <p:nvSpPr>
          <p:cNvPr id="11" name="slide-number">
            <a:extLst xmlns:a="http://schemas.openxmlformats.org/drawingml/2006/main">
              <a:ext uri="{FF2B5EF4-FFF2-40B4-BE49-F238E27FC236}">
                <a16:creationId xmlns:a16="http://schemas.microsoft.com/office/drawing/2014/main" id="{5392BF4E-78A0-4752-8B31-5EDE44358AD7}"/>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1C58A"/>
                </a:solidFill>
                <a:latin typeface="Arial"/>
                <a:ea typeface="Arial"/>
                <a:cs typeface="Arial"/>
              </a:defRPr>
            </a:defPPr>
            <a:lvl1pPr algn="l">
              <a:defRPr sz="1575" b="1">
                <a:solidFill>
                  <a:srgbClr val="F1C58A"/>
                </a:solidFill>
                <a:latin typeface="Arial"/>
                <a:ea typeface="Arial"/>
                <a:cs typeface="Arial"/>
              </a:defRPr>
            </a:lvl1pPr>
            <a:lvl2pPr algn="l">
              <a:defRPr sz="1575" b="1">
                <a:solidFill>
                  <a:srgbClr val="F1C58A"/>
                </a:solidFill>
                <a:latin typeface="Arial"/>
                <a:ea typeface="Arial"/>
                <a:cs typeface="Arial"/>
              </a:defRPr>
            </a:lvl2pPr>
            <a:lvl3pPr algn="l">
              <a:defRPr sz="1575" b="1">
                <a:solidFill>
                  <a:srgbClr val="F1C58A"/>
                </a:solidFill>
                <a:latin typeface="Arial"/>
                <a:ea typeface="Arial"/>
                <a:cs typeface="Arial"/>
              </a:defRPr>
            </a:lvl3pPr>
            <a:lvl4pPr algn="l">
              <a:defRPr sz="1575" b="1">
                <a:solidFill>
                  <a:srgbClr val="F1C58A"/>
                </a:solidFill>
                <a:latin typeface="Arial"/>
                <a:ea typeface="Arial"/>
                <a:cs typeface="Arial"/>
              </a:defRPr>
            </a:lvl4pPr>
            <a:lvl5pPr algn="l">
              <a:defRPr sz="1575" b="1">
                <a:solidFill>
                  <a:srgbClr val="F1C58A"/>
                </a:solidFill>
                <a:latin typeface="Arial"/>
                <a:ea typeface="Arial"/>
                <a:cs typeface="Arial"/>
              </a:defRPr>
            </a:lvl5pPr>
            <a:lvl6pPr algn="l">
              <a:defRPr sz="1575" b="1">
                <a:solidFill>
                  <a:srgbClr val="F1C58A"/>
                </a:solidFill>
                <a:latin typeface="Arial"/>
                <a:ea typeface="Arial"/>
                <a:cs typeface="Arial"/>
              </a:defRPr>
            </a:lvl6pPr>
            <a:lvl7pPr algn="l">
              <a:defRPr sz="1575" b="1">
                <a:solidFill>
                  <a:srgbClr val="F1C58A"/>
                </a:solidFill>
                <a:latin typeface="Arial"/>
                <a:ea typeface="Arial"/>
                <a:cs typeface="Arial"/>
              </a:defRPr>
            </a:lvl7pPr>
            <a:lvl8pPr algn="l">
              <a:defRPr sz="1575" b="1">
                <a:solidFill>
                  <a:srgbClr val="F1C58A"/>
                </a:solidFill>
                <a:latin typeface="Arial"/>
                <a:ea typeface="Arial"/>
                <a:cs typeface="Arial"/>
              </a:defRPr>
            </a:lvl8pPr>
            <a:lvl9pPr algn="l">
              <a:defRPr sz="1575" b="1">
                <a:solidFill>
                  <a:srgbClr val="F1C58A"/>
                </a:solidFill>
                <a:latin typeface="Arial"/>
                <a:ea typeface="Arial"/>
                <a:cs typeface="Arial"/>
              </a:defRPr>
            </a:lvl9pPr>
          </a:lstStyle>
          <a:p xmlns:a="http://schemas.openxmlformats.org/drawingml/2006/main">
            <a:pPr algn="l">
              <a:defRPr sz="1575" b="1">
                <a:solidFill>
                  <a:srgbClr val="F1C58A"/>
                </a:solidFill>
                <a:latin typeface="Arial"/>
                <a:ea typeface="Arial"/>
                <a:cs typeface="Arial"/>
              </a:defRPr>
            </a:pPr>
            <a:r>
              <a:rPr sz="1575" b="1">
                <a:solidFill>
                  <a:srgbClr val="F1C58A"/>
                </a:solidFill>
                <a:latin typeface="Arial"/>
                <a:ea typeface="Arial"/>
                <a:cs typeface="Arial"/>
              </a:rPr>
              <a:t>19</a:t>
            </a:r>
          </a:p>
        </p:txBody>
      </p:sp>
    </p:spTree>
    <p:extLst>
      <p:ext uri="{BB962C8B-B14F-4D97-AF65-F5344CB8AC3E}">
        <p14:creationId xmlns:p14="http://schemas.microsoft.com/office/powerpoint/2010/main" val="679983386"/>
      </p:ext>
    </p:extLst>
  </p:cSld>
</p:sld>
</file>

<file path=ppt/slides/slide20.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CCF9A001-63F3-4331-9D0F-1478995CB939}"/>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Lessons from the owner's workflow</a:t>
            </a:r>
          </a:p>
        </p:txBody>
      </p:sp>
      <p:sp>
        <p:nvSpPr>
          <p:cNvPr id="2" name="lead">
            <a:extLst xmlns:a="http://schemas.openxmlformats.org/drawingml/2006/main">
              <a:ext uri="{FF2B5EF4-FFF2-40B4-BE49-F238E27FC236}">
                <a16:creationId xmlns:a16="http://schemas.microsoft.com/office/drawing/2014/main" id="{5A121865-953A-42C1-90A4-B5C48A8BEAF0}"/>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The owner's materials provide a process reference, not representative user evidence.</a:t>
            </a:r>
          </a:p>
        </p:txBody>
      </p:sp>
      <p:sp>
        <p:nvSpPr>
          <p:cNvPr id="3" name="column-heading-0">
            <a:extLst xmlns:a="http://schemas.openxmlformats.org/drawingml/2006/main">
              <a:ext uri="{FF2B5EF4-FFF2-40B4-BE49-F238E27FC236}">
                <a16:creationId xmlns:a16="http://schemas.microsoft.com/office/drawing/2014/main" id="{CDD4C864-00D1-47D4-AD05-2E0667CE1E0B}"/>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Useful ideas in the records</a:t>
            </a:r>
          </a:p>
        </p:txBody>
      </p:sp>
      <p:sp>
        <p:nvSpPr>
          <p:cNvPr id="4" name="column-0-detail-0">
            <a:extLst xmlns:a="http://schemas.openxmlformats.org/drawingml/2006/main">
              <a:ext uri="{FF2B5EF4-FFF2-40B4-BE49-F238E27FC236}">
                <a16:creationId xmlns:a16="http://schemas.microsoft.com/office/drawing/2014/main" id="{0380B845-1EE6-4DD5-A078-C0325D6C1661}"/>
              </a:ext>
            </a:extLst>
          </p:cNvPr>
          <p:cNvSpPr>
            <a:spLocks xmlns:a="http://schemas.openxmlformats.org/drawingml/2006/main" noGrp="1"/>
          </p:cNvSpPr>
          <p:nvPr/>
        </p:nvSpPr>
        <p:spPr>
          <a:xfrm xmlns:a="http://schemas.openxmlformats.org/drawingml/2006/main">
            <a:off x="76200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Trace career claims to factual evidence.</a:t>
            </a:r>
          </a:p>
        </p:txBody>
      </p:sp>
      <p:sp>
        <p:nvSpPr>
          <p:cNvPr id="5" name="column-0-detail-1">
            <a:extLst xmlns:a="http://schemas.openxmlformats.org/drawingml/2006/main">
              <a:ext uri="{FF2B5EF4-FFF2-40B4-BE49-F238E27FC236}">
                <a16:creationId xmlns:a16="http://schemas.microsoft.com/office/drawing/2014/main" id="{A414D100-1219-428A-A329-B9F745FE27C0}"/>
              </a:ext>
            </a:extLst>
          </p:cNvPr>
          <p:cNvSpPr>
            <a:spLocks xmlns:a="http://schemas.openxmlformats.org/drawingml/2006/main" noGrp="1"/>
          </p:cNvSpPr>
          <p:nvPr/>
        </p:nvSpPr>
        <p:spPr>
          <a:xfrm xmlns:a="http://schemas.openxmlformats.org/drawingml/2006/main">
            <a:off x="76200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Separate whether a job is genuine from whether it fits.</a:t>
            </a:r>
          </a:p>
        </p:txBody>
      </p:sp>
      <p:sp>
        <p:nvSpPr>
          <p:cNvPr id="6" name="column-0-detail-2">
            <a:extLst xmlns:a="http://schemas.openxmlformats.org/drawingml/2006/main">
              <a:ext uri="{FF2B5EF4-FFF2-40B4-BE49-F238E27FC236}">
                <a16:creationId xmlns:a16="http://schemas.microsoft.com/office/drawing/2014/main" id="{6E5CAD0B-91E2-4B0B-8522-B42E57B192FD}"/>
              </a:ext>
            </a:extLst>
          </p:cNvPr>
          <p:cNvSpPr>
            <a:spLocks xmlns:a="http://schemas.openxmlformats.org/drawingml/2006/main" noGrp="1"/>
          </p:cNvSpPr>
          <p:nvPr/>
        </p:nvSpPr>
        <p:spPr>
          <a:xfrm xmlns:a="http://schemas.openxmlformats.org/drawingml/2006/main">
            <a:off x="76200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Confirm submission and keep examples for practice.</a:t>
            </a:r>
          </a:p>
        </p:txBody>
      </p:sp>
      <p:sp>
        <p:nvSpPr>
          <p:cNvPr id="7" name="column-heading-1">
            <a:extLst xmlns:a="http://schemas.openxmlformats.org/drawingml/2006/main">
              <a:ext uri="{FF2B5EF4-FFF2-40B4-BE49-F238E27FC236}">
                <a16:creationId xmlns:a16="http://schemas.microsoft.com/office/drawing/2014/main" id="{6BE90619-4A36-4049-AE81-32462B661408}"/>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still needs checking</a:t>
            </a:r>
          </a:p>
        </p:txBody>
      </p:sp>
      <p:sp>
        <p:nvSpPr>
          <p:cNvPr id="8" name="column-1-detail-0">
            <a:extLst xmlns:a="http://schemas.openxmlformats.org/drawingml/2006/main">
              <a:ext uri="{FF2B5EF4-FFF2-40B4-BE49-F238E27FC236}">
                <a16:creationId xmlns:a16="http://schemas.microsoft.com/office/drawing/2014/main" id="{BEE8A858-6D23-4014-BAD4-2FDADE986357}"/>
              </a:ext>
            </a:extLst>
          </p:cNvPr>
          <p:cNvSpPr>
            <a:spLocks xmlns:a="http://schemas.openxmlformats.org/drawingml/2006/main" noGrp="1"/>
          </p:cNvSpPr>
          <p:nvPr/>
        </p:nvSpPr>
        <p:spPr>
          <a:xfrm xmlns:a="http://schemas.openxmlformats.org/drawingml/2006/main">
            <a:off x="638175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Conflicting guidance and a focus on technical careers.</a:t>
            </a:r>
          </a:p>
        </p:txBody>
      </p:sp>
      <p:sp>
        <p:nvSpPr>
          <p:cNvPr id="9" name="column-1-detail-1">
            <a:extLst xmlns:a="http://schemas.openxmlformats.org/drawingml/2006/main">
              <a:ext uri="{FF2B5EF4-FFF2-40B4-BE49-F238E27FC236}">
                <a16:creationId xmlns:a16="http://schemas.microsoft.com/office/drawing/2014/main" id="{7BF23ABB-DA42-4F14-8816-15CC6072FD09}"/>
              </a:ext>
            </a:extLst>
          </p:cNvPr>
          <p:cNvSpPr>
            <a:spLocks xmlns:a="http://schemas.openxmlformats.org/drawingml/2006/main" noGrp="1"/>
          </p:cNvSpPr>
          <p:nvPr/>
        </p:nvSpPr>
        <p:spPr>
          <a:xfrm xmlns:a="http://schemas.openxmlformats.org/drawingml/2006/main">
            <a:off x="638175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Rigid salary rules and the effort needed to keep records current.</a:t>
            </a:r>
          </a:p>
        </p:txBody>
      </p:sp>
      <p:sp>
        <p:nvSpPr>
          <p:cNvPr id="10" name="column-1-detail-2">
            <a:extLst xmlns:a="http://schemas.openxmlformats.org/drawingml/2006/main">
              <a:ext uri="{FF2B5EF4-FFF2-40B4-BE49-F238E27FC236}">
                <a16:creationId xmlns:a16="http://schemas.microsoft.com/office/drawing/2014/main" id="{97653EE1-12E5-416C-B55A-2EBEB6DA2508}"/>
              </a:ext>
            </a:extLst>
          </p:cNvPr>
          <p:cNvSpPr>
            <a:spLocks xmlns:a="http://schemas.openxmlformats.org/drawingml/2006/main" noGrp="1"/>
          </p:cNvSpPr>
          <p:nvPr/>
        </p:nvSpPr>
        <p:spPr>
          <a:xfrm xmlns:a="http://schemas.openxmlformats.org/drawingml/2006/main">
            <a:off x="638175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Past capture failures and how the workflow operates today.</a:t>
            </a:r>
          </a:p>
        </p:txBody>
      </p:sp>
      <p:sp>
        <p:nvSpPr>
          <p:cNvPr id="11" name="takeaway">
            <a:extLst xmlns:a="http://schemas.openxmlformats.org/drawingml/2006/main">
              <a:ext uri="{FF2B5EF4-FFF2-40B4-BE49-F238E27FC236}">
                <a16:creationId xmlns:a16="http://schemas.microsoft.com/office/drawing/2014/main" id="{1289A46C-0792-4E29-9E1A-8FC28A1BC5EE}"/>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Reuse useful principles. Test the current workflow before copying its complexity.</a:t>
            </a:r>
          </a:p>
        </p:txBody>
      </p:sp>
      <p:sp>
        <p:nvSpPr>
          <p:cNvPr id="12" name="evidence-boundary">
            <a:extLst xmlns:a="http://schemas.openxmlformats.org/drawingml/2006/main">
              <a:ext uri="{FF2B5EF4-FFF2-40B4-BE49-F238E27FC236}">
                <a16:creationId xmlns:a16="http://schemas.microsoft.com/office/drawing/2014/main" id="{8CB26CE8-CD5B-4913-8426-73D0457285B8}"/>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I01–I16. Bounded document/artifact review, not a current end-to-end operation test.</a:t>
            </a:r>
          </a:p>
        </p:txBody>
      </p:sp>
      <p:sp>
        <p:nvSpPr>
          <p:cNvPr id="13" name="slide-number">
            <a:extLst xmlns:a="http://schemas.openxmlformats.org/drawingml/2006/main">
              <a:ext uri="{FF2B5EF4-FFF2-40B4-BE49-F238E27FC236}">
                <a16:creationId xmlns:a16="http://schemas.microsoft.com/office/drawing/2014/main" id="{08066CA4-BABD-477E-815B-2541F7A13FB2}"/>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20</a:t>
            </a:r>
          </a:p>
        </p:txBody>
      </p:sp>
    </p:spTree>
    <p:extLst>
      <p:ext uri="{BB962C8B-B14F-4D97-AF65-F5344CB8AC3E}">
        <p14:creationId xmlns:p14="http://schemas.microsoft.com/office/powerpoint/2010/main" val="668342185"/>
      </p:ext>
    </p:extLst>
  </p:cSld>
</p:sld>
</file>

<file path=ppt/slides/slide21.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C0CEAAE-2059-4420-9196-C1F18EA96D05}"/>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Existing alternatives cover parts of the journey</a:t>
            </a:r>
          </a:p>
        </p:txBody>
      </p:sp>
      <p:sp>
        <p:nvSpPr>
          <p:cNvPr id="2" name="lead">
            <a:extLst xmlns:a="http://schemas.openxmlformats.org/drawingml/2006/main">
              <a:ext uri="{FF2B5EF4-FFF2-40B4-BE49-F238E27FC236}">
                <a16:creationId xmlns:a16="http://schemas.microsoft.com/office/drawing/2014/main" id="{CEE8E264-344A-472E-AA24-1EFA11E6C99A}"/>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JobHub would compete with combinations of tools and human support.</a:t>
            </a:r>
          </a:p>
        </p:txBody>
      </p:sp>
      <p:graphicFrame>
        <p:nvGraphicFramePr>
          <p:cNvPr id="3" name="">
            <a:extLst xmlns:a="http://schemas.openxmlformats.org/drawingml/2006/main">
              <a:ext uri="{FF2B5EF4-FFF2-40B4-BE49-F238E27FC236}">
                <a16:creationId xmlns:a16="http://schemas.microsoft.com/office/drawing/2014/main" id="{1FE4428A-6003-4506-911A-E083C447023A}"/>
              </a:ext>
            </a:extLst>
          </p:cNvPr>
          <p:cNvGraphicFramePr/>
          <p:nvPr/>
        </p:nvGraphicFramePr>
        <p:xfrm>
          <a:off xmlns:a="http://schemas.openxmlformats.org/drawingml/2006/main" x="723900" y="2533650"/>
          <a:ext xmlns:a="http://schemas.openxmlformats.org/drawingml/2006/main" cx="10820400" cy="3219450"/>
        </p:xfrm>
        <a:graphic xmlns:a="http://schemas.openxmlformats.org/drawingml/2006/main">
          <a:graphicData uri="http://schemas.openxmlformats.org/drawingml/2006/table">
            <a:tbl>
              <a:tblPr firstRow="1" bandRow="0"/>
              <a:tblGrid>
                <a:gridCol w="3714750"/>
                <a:gridCol w="7105650"/>
              </a:tblGrid>
              <a:tr h="457200">
                <a:tc>
                  <a:txBody>
                    <a:bodyPr wrap="square" lIns="133350" tIns="76200" rIns="133350" bIns="76200">
                      <a:noAutofit/>
                    </a:bodyPr>
                    <a:lstStyle/>
                    <a:p>
                      <a:r>
                        <a:rPr sz="1800" b="1">
                          <a:solidFill>
                            <a:srgbClr val="FFFFFF"/>
                          </a:solidFill>
                          <a:latin typeface="Arial"/>
                          <a:ea typeface="Arial"/>
                          <a:cs typeface="Arial"/>
                        </a:rPr>
                        <a:t>Alternative</a:t>
                      </a:r>
                    </a:p>
                  </a:txBody>
                  <a:tcPr marL="91440" marR="91440" marT="45720" marB="45720" anchor="ctr">
                    <a:lnL w="6668">
                      <a:solidFill>
                        <a:srgbClr val="D9D8D2"/>
                      </a:solidFill>
                      <a:prstDash val="solid"/>
                    </a:lnL>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76200" rIns="133350" bIns="76200">
                      <a:noAutofit/>
                    </a:bodyPr>
                    <a:lstStyle/>
                    <a:p>
                      <a:r>
                        <a:rPr sz="1800" b="1">
                          <a:solidFill>
                            <a:srgbClr val="FFFFFF"/>
                          </a:solidFill>
                          <a:latin typeface="Arial"/>
                          <a:ea typeface="Arial"/>
                          <a:cs typeface="Arial"/>
                        </a:rPr>
                        <a:t>Role in the workflow</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r>
              <a:tr h="690563">
                <a:tc>
                  <a:txBody>
                    <a:bodyPr wrap="square" lIns="133350" tIns="76200" rIns="133350" bIns="76200">
                      <a:noAutofit/>
                    </a:bodyPr>
                    <a:lstStyle/>
                    <a:p>
                      <a:r>
                        <a:rPr sz="1875" b="0">
                          <a:solidFill>
                            <a:srgbClr val="172D40"/>
                          </a:solidFill>
                          <a:latin typeface="Arial"/>
                          <a:ea typeface="Arial"/>
                          <a:cs typeface="Arial"/>
                        </a:rPr>
                        <a:t>Manual records and a master resume</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Preserve facts, reusable examples, versions and next steps.</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General AI assistants</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Help with drafting or preparation, subject to review.</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Specialised career platforms</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Address parts of tracking, tailoring, matching or practice.</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875" b="0">
                          <a:solidFill>
                            <a:srgbClr val="172D40"/>
                          </a:solidFill>
                          <a:latin typeface="Arial"/>
                          <a:ea typeface="Arial"/>
                          <a:cs typeface="Arial"/>
                        </a:rPr>
                        <a:t>Peers, coaches and career services</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875" b="0">
                          <a:solidFill>
                            <a:srgbClr val="172D40"/>
                          </a:solidFill>
                          <a:latin typeface="Arial"/>
                          <a:ea typeface="Arial"/>
                          <a:cs typeface="Arial"/>
                        </a:rPr>
                        <a:t>Provide context, feedback, rehearsal and support.</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bl>
          </a:graphicData>
        </a:graphic>
      </p:graphicFrame>
      <p:sp>
        <p:nvSpPr>
          <p:cNvPr id="4" name="evidence-boundary">
            <a:extLst xmlns:a="http://schemas.openxmlformats.org/drawingml/2006/main">
              <a:ext uri="{FF2B5EF4-FFF2-40B4-BE49-F238E27FC236}">
                <a16:creationId xmlns:a16="http://schemas.microsoft.com/office/drawing/2014/main" id="{9EEBEDC2-D18E-4963-A3DF-8AD89370F40E}"/>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Baseline research plus later accounts. Capability categories, not a current provider ranking.</a:t>
            </a:r>
          </a:p>
        </p:txBody>
      </p:sp>
      <p:sp>
        <p:nvSpPr>
          <p:cNvPr id="5" name="slide-number">
            <a:extLst xmlns:a="http://schemas.openxmlformats.org/drawingml/2006/main">
              <a:ext uri="{FF2B5EF4-FFF2-40B4-BE49-F238E27FC236}">
                <a16:creationId xmlns:a16="http://schemas.microsoft.com/office/drawing/2014/main" id="{D75F54A4-F0C0-4FAB-BEF9-F7B278CF7D20}"/>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21</a:t>
            </a:r>
          </a:p>
        </p:txBody>
      </p:sp>
    </p:spTree>
    <p:extLst>
      <p:ext uri="{BB962C8B-B14F-4D97-AF65-F5344CB8AC3E}">
        <p14:creationId xmlns:p14="http://schemas.microsoft.com/office/powerpoint/2010/main" val="2084299237"/>
      </p:ext>
    </p:extLst>
  </p:cSld>
</p:sld>
</file>

<file path=ppt/slides/slide22.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1DFC84AF-5548-4AB8-8515-638E83DD721C}"/>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Convenience has a review cost</a:t>
            </a:r>
          </a:p>
        </p:txBody>
      </p:sp>
      <p:sp>
        <p:nvSpPr>
          <p:cNvPr id="2" name="lead">
            <a:extLst xmlns:a="http://schemas.openxmlformats.org/drawingml/2006/main">
              <a:ext uri="{FF2B5EF4-FFF2-40B4-BE49-F238E27FC236}">
                <a16:creationId xmlns:a16="http://schemas.microsoft.com/office/drawing/2014/main" id="{CAF145A4-202B-47B1-9106-29C25BEC7C8C}"/>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 draft can save one kind of work while creating another.</a:t>
            </a:r>
          </a:p>
        </p:txBody>
      </p:sp>
      <p:sp>
        <p:nvSpPr>
          <p:cNvPr id="3" name="column-heading-0">
            <a:extLst xmlns:a="http://schemas.openxmlformats.org/drawingml/2006/main">
              <a:ext uri="{FF2B5EF4-FFF2-40B4-BE49-F238E27FC236}">
                <a16:creationId xmlns:a16="http://schemas.microsoft.com/office/drawing/2014/main" id="{5A486417-67DC-4012-ABF0-11697A19ACEF}"/>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Potential assistance</a:t>
            </a:r>
          </a:p>
        </p:txBody>
      </p:sp>
      <p:sp>
        <p:nvSpPr>
          <p:cNvPr id="4" name="column-0-detail-0">
            <a:extLst xmlns:a="http://schemas.openxmlformats.org/drawingml/2006/main">
              <a:ext uri="{FF2B5EF4-FFF2-40B4-BE49-F238E27FC236}">
                <a16:creationId xmlns:a16="http://schemas.microsoft.com/office/drawing/2014/main" id="{815C4EB9-3122-47FC-A40A-9EE1E802D055}"/>
              </a:ext>
            </a:extLst>
          </p:cNvPr>
          <p:cNvSpPr>
            <a:spLocks xmlns:a="http://schemas.openxmlformats.org/drawingml/2006/main" noGrp="1"/>
          </p:cNvSpPr>
          <p:nvPr/>
        </p:nvSpPr>
        <p:spPr>
          <a:xfrm xmlns:a="http://schemas.openxmlformats.org/drawingml/2006/main">
            <a:off x="76200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Rewording supplied information.</a:t>
            </a:r>
          </a:p>
        </p:txBody>
      </p:sp>
      <p:sp>
        <p:nvSpPr>
          <p:cNvPr id="5" name="column-0-detail-1">
            <a:extLst xmlns:a="http://schemas.openxmlformats.org/drawingml/2006/main">
              <a:ext uri="{FF2B5EF4-FFF2-40B4-BE49-F238E27FC236}">
                <a16:creationId xmlns:a16="http://schemas.microsoft.com/office/drawing/2014/main" id="{5D0DAEAB-EC9B-4802-86F4-0F8C0F9A10CC}"/>
              </a:ext>
            </a:extLst>
          </p:cNvPr>
          <p:cNvSpPr>
            <a:spLocks xmlns:a="http://schemas.openxmlformats.org/drawingml/2006/main" noGrp="1"/>
          </p:cNvSpPr>
          <p:nvPr/>
        </p:nvSpPr>
        <p:spPr>
          <a:xfrm xmlns:a="http://schemas.openxmlformats.org/drawingml/2006/main">
            <a:off x="76200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Organising evidence and preparation.</a:t>
            </a:r>
          </a:p>
        </p:txBody>
      </p:sp>
      <p:sp>
        <p:nvSpPr>
          <p:cNvPr id="6" name="column-0-detail-2">
            <a:extLst xmlns:a="http://schemas.openxmlformats.org/drawingml/2006/main">
              <a:ext uri="{FF2B5EF4-FFF2-40B4-BE49-F238E27FC236}">
                <a16:creationId xmlns:a16="http://schemas.microsoft.com/office/drawing/2014/main" id="{2D3C0E1B-C5CF-4159-B96E-7964CDFA602B}"/>
              </a:ext>
            </a:extLst>
          </p:cNvPr>
          <p:cNvSpPr>
            <a:spLocks xmlns:a="http://schemas.openxmlformats.org/drawingml/2006/main" noGrp="1"/>
          </p:cNvSpPr>
          <p:nvPr/>
        </p:nvSpPr>
        <p:spPr>
          <a:xfrm xmlns:a="http://schemas.openxmlformats.org/drawingml/2006/main">
            <a:off x="76200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Making the next action easier to see.</a:t>
            </a:r>
          </a:p>
        </p:txBody>
      </p:sp>
      <p:sp>
        <p:nvSpPr>
          <p:cNvPr id="7" name="column-heading-1">
            <a:extLst xmlns:a="http://schemas.openxmlformats.org/drawingml/2006/main">
              <a:ext uri="{FF2B5EF4-FFF2-40B4-BE49-F238E27FC236}">
                <a16:creationId xmlns:a16="http://schemas.microsoft.com/office/drawing/2014/main" id="{9D07EDA5-453F-4ECC-B0CA-53C827CE8E51}"/>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94B28"/>
                </a:solidFill>
                <a:latin typeface="Arial"/>
                <a:ea typeface="Arial"/>
                <a:cs typeface="Arial"/>
              </a:defRPr>
            </a:defPPr>
            <a:lvl1pPr algn="l">
              <a:defRPr sz="2325" b="1">
                <a:solidFill>
                  <a:srgbClr val="B94B28"/>
                </a:solidFill>
                <a:latin typeface="Arial"/>
                <a:ea typeface="Arial"/>
                <a:cs typeface="Arial"/>
              </a:defRPr>
            </a:lvl1pPr>
            <a:lvl2pPr algn="l">
              <a:defRPr sz="2325" b="1">
                <a:solidFill>
                  <a:srgbClr val="B94B28"/>
                </a:solidFill>
                <a:latin typeface="Arial"/>
                <a:ea typeface="Arial"/>
                <a:cs typeface="Arial"/>
              </a:defRPr>
            </a:lvl2pPr>
            <a:lvl3pPr algn="l">
              <a:defRPr sz="2325" b="1">
                <a:solidFill>
                  <a:srgbClr val="B94B28"/>
                </a:solidFill>
                <a:latin typeface="Arial"/>
                <a:ea typeface="Arial"/>
                <a:cs typeface="Arial"/>
              </a:defRPr>
            </a:lvl3pPr>
            <a:lvl4pPr algn="l">
              <a:defRPr sz="2325" b="1">
                <a:solidFill>
                  <a:srgbClr val="B94B28"/>
                </a:solidFill>
                <a:latin typeface="Arial"/>
                <a:ea typeface="Arial"/>
                <a:cs typeface="Arial"/>
              </a:defRPr>
            </a:lvl4pPr>
            <a:lvl5pPr algn="l">
              <a:defRPr sz="2325" b="1">
                <a:solidFill>
                  <a:srgbClr val="B94B28"/>
                </a:solidFill>
                <a:latin typeface="Arial"/>
                <a:ea typeface="Arial"/>
                <a:cs typeface="Arial"/>
              </a:defRPr>
            </a:lvl5pPr>
            <a:lvl6pPr algn="l">
              <a:defRPr sz="2325" b="1">
                <a:solidFill>
                  <a:srgbClr val="B94B28"/>
                </a:solidFill>
                <a:latin typeface="Arial"/>
                <a:ea typeface="Arial"/>
                <a:cs typeface="Arial"/>
              </a:defRPr>
            </a:lvl6pPr>
            <a:lvl7pPr algn="l">
              <a:defRPr sz="2325" b="1">
                <a:solidFill>
                  <a:srgbClr val="B94B28"/>
                </a:solidFill>
                <a:latin typeface="Arial"/>
                <a:ea typeface="Arial"/>
                <a:cs typeface="Arial"/>
              </a:defRPr>
            </a:lvl7pPr>
            <a:lvl8pPr algn="l">
              <a:defRPr sz="2325" b="1">
                <a:solidFill>
                  <a:srgbClr val="B94B28"/>
                </a:solidFill>
                <a:latin typeface="Arial"/>
                <a:ea typeface="Arial"/>
                <a:cs typeface="Arial"/>
              </a:defRPr>
            </a:lvl8pPr>
            <a:lvl9pPr algn="l">
              <a:defRPr sz="2325" b="1">
                <a:solidFill>
                  <a:srgbClr val="B94B28"/>
                </a:solidFill>
                <a:latin typeface="Arial"/>
                <a:ea typeface="Arial"/>
                <a:cs typeface="Arial"/>
              </a:defRPr>
            </a:lvl9pPr>
          </a:lstStyle>
          <a:p xmlns:a="http://schemas.openxmlformats.org/drawingml/2006/main">
            <a:pPr algn="l">
              <a:defRPr sz="2325" b="1">
                <a:solidFill>
                  <a:srgbClr val="B94B28"/>
                </a:solidFill>
                <a:latin typeface="Arial"/>
                <a:ea typeface="Arial"/>
                <a:cs typeface="Arial"/>
              </a:defRPr>
            </a:pPr>
            <a:r>
              <a:rPr sz="2325" b="1">
                <a:solidFill>
                  <a:srgbClr val="B94B28"/>
                </a:solidFill>
                <a:latin typeface="Arial"/>
                <a:ea typeface="Arial"/>
                <a:cs typeface="Arial"/>
              </a:rPr>
              <a:t>Work that remains</a:t>
            </a:r>
          </a:p>
        </p:txBody>
      </p:sp>
      <p:sp>
        <p:nvSpPr>
          <p:cNvPr id="8" name="column-1-detail-0">
            <a:extLst xmlns:a="http://schemas.openxmlformats.org/drawingml/2006/main">
              <a:ext uri="{FF2B5EF4-FFF2-40B4-BE49-F238E27FC236}">
                <a16:creationId xmlns:a16="http://schemas.microsoft.com/office/drawing/2014/main" id="{134D9153-E4FC-4CBE-84E8-4545AFCC41F7}"/>
              </a:ext>
            </a:extLst>
          </p:cNvPr>
          <p:cNvSpPr>
            <a:spLocks xmlns:a="http://schemas.openxmlformats.org/drawingml/2006/main" noGrp="1"/>
          </p:cNvSpPr>
          <p:nvPr/>
        </p:nvSpPr>
        <p:spPr>
          <a:xfrm xmlns:a="http://schemas.openxmlformats.org/drawingml/2006/main">
            <a:off x="638175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Check factual claims and source interpretation.</a:t>
            </a:r>
          </a:p>
        </p:txBody>
      </p:sp>
      <p:sp>
        <p:nvSpPr>
          <p:cNvPr id="9" name="column-1-detail-1">
            <a:extLst xmlns:a="http://schemas.openxmlformats.org/drawingml/2006/main">
              <a:ext uri="{FF2B5EF4-FFF2-40B4-BE49-F238E27FC236}">
                <a16:creationId xmlns:a16="http://schemas.microsoft.com/office/drawing/2014/main" id="{F0CFE80D-6FC8-4CB7-95FD-F6807C6B3962}"/>
              </a:ext>
            </a:extLst>
          </p:cNvPr>
          <p:cNvSpPr>
            <a:spLocks xmlns:a="http://schemas.openxmlformats.org/drawingml/2006/main" noGrp="1"/>
          </p:cNvSpPr>
          <p:nvPr/>
        </p:nvSpPr>
        <p:spPr>
          <a:xfrm xmlns:a="http://schemas.openxmlformats.org/drawingml/2006/main">
            <a:off x="638175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Inspect the final document and explain its content.</a:t>
            </a:r>
          </a:p>
        </p:txBody>
      </p:sp>
      <p:sp>
        <p:nvSpPr>
          <p:cNvPr id="10" name="column-1-detail-2">
            <a:extLst xmlns:a="http://schemas.openxmlformats.org/drawingml/2006/main">
              <a:ext uri="{FF2B5EF4-FFF2-40B4-BE49-F238E27FC236}">
                <a16:creationId xmlns:a16="http://schemas.microsoft.com/office/drawing/2014/main" id="{059F5D22-4B6B-4113-8247-572E2469319C}"/>
              </a:ext>
            </a:extLst>
          </p:cNvPr>
          <p:cNvSpPr>
            <a:spLocks xmlns:a="http://schemas.openxmlformats.org/drawingml/2006/main" noGrp="1"/>
          </p:cNvSpPr>
          <p:nvPr/>
        </p:nvSpPr>
        <p:spPr>
          <a:xfrm xmlns:a="http://schemas.openxmlformats.org/drawingml/2006/main">
            <a:off x="638175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Review what personal data is shared and retained.</a:t>
            </a:r>
          </a:p>
        </p:txBody>
      </p:sp>
      <p:sp>
        <p:nvSpPr>
          <p:cNvPr id="11" name="takeaway">
            <a:extLst xmlns:a="http://schemas.openxmlformats.org/drawingml/2006/main">
              <a:ext uri="{FF2B5EF4-FFF2-40B4-BE49-F238E27FC236}">
                <a16:creationId xmlns:a16="http://schemas.microsoft.com/office/drawing/2014/main" id="{B4464CCC-B04D-4359-B22A-9FA971022F57}"/>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Measure total effort, including correction and recovery. Net savings remain untested.</a:t>
            </a:r>
          </a:p>
        </p:txBody>
      </p:sp>
      <p:sp>
        <p:nvSpPr>
          <p:cNvPr id="12" name="evidence-boundary">
            <a:extLst xmlns:a="http://schemas.openxmlformats.org/drawingml/2006/main">
              <a:ext uri="{FF2B5EF4-FFF2-40B4-BE49-F238E27FC236}">
                <a16:creationId xmlns:a16="http://schemas.microsoft.com/office/drawing/2014/main" id="{59DCAB8A-309E-4692-AE62-CB0A13E6C4AD}"/>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F08 and F12. No comprehensive current provider-policy assessment, implemented privacy design or time study.</a:t>
            </a:r>
          </a:p>
        </p:txBody>
      </p:sp>
      <p:sp>
        <p:nvSpPr>
          <p:cNvPr id="13" name="slide-number">
            <a:extLst xmlns:a="http://schemas.openxmlformats.org/drawingml/2006/main">
              <a:ext uri="{FF2B5EF4-FFF2-40B4-BE49-F238E27FC236}">
                <a16:creationId xmlns:a16="http://schemas.microsoft.com/office/drawing/2014/main" id="{D93E5131-CCB9-4D46-9407-0652A2CFA29C}"/>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22</a:t>
            </a:r>
          </a:p>
        </p:txBody>
      </p:sp>
    </p:spTree>
    <p:extLst>
      <p:ext uri="{BB962C8B-B14F-4D97-AF65-F5344CB8AC3E}">
        <p14:creationId xmlns:p14="http://schemas.microsoft.com/office/powerpoint/2010/main" val="509683338"/>
      </p:ext>
    </p:extLst>
  </p:cSld>
</p:sld>
</file>

<file path=ppt/slides/slide23.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B18AF927-EC37-4493-A699-9115FF7B8AF7}"/>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Industry, occupation and arrangement</a:t>
            </a:r>
          </a:p>
        </p:txBody>
      </p:sp>
      <p:sp>
        <p:nvSpPr>
          <p:cNvPr id="2" name="lead">
            <a:extLst xmlns:a="http://schemas.openxmlformats.org/drawingml/2006/main">
              <a:ext uri="{FF2B5EF4-FFF2-40B4-BE49-F238E27FC236}">
                <a16:creationId xmlns:a16="http://schemas.microsoft.com/office/drawing/2014/main" id="{B968BCB7-0CE1-4373-9B33-87B429B981D3}"/>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extends the earlier evidence with 13 research baskets and six deeper inquiries.</a:t>
            </a:r>
          </a:p>
        </p:txBody>
      </p:sp>
      <p:sp>
        <p:nvSpPr>
          <p:cNvPr id="3" name="column-heading-0">
            <a:extLst xmlns:a="http://schemas.openxmlformats.org/drawingml/2006/main">
              <a:ext uri="{FF2B5EF4-FFF2-40B4-BE49-F238E27FC236}">
                <a16:creationId xmlns:a16="http://schemas.microsoft.com/office/drawing/2014/main" id="{D2D080D3-89CE-4181-8EDC-93E5C484D25A}"/>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the employer does</a:t>
            </a:r>
          </a:p>
        </p:txBody>
      </p:sp>
      <p:sp>
        <p:nvSpPr>
          <p:cNvPr id="4" name="column-0-detail-0">
            <a:extLst xmlns:a="http://schemas.openxmlformats.org/drawingml/2006/main">
              <a:ext uri="{FF2B5EF4-FFF2-40B4-BE49-F238E27FC236}">
                <a16:creationId xmlns:a16="http://schemas.microsoft.com/office/drawing/2014/main" id="{A65C88FD-B9FA-40E1-A519-5E686E0DE2D5}"/>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 hospital remains healthcare, including when publicly owned.</a:t>
            </a:r>
          </a:p>
        </p:txBody>
      </p:sp>
      <p:sp>
        <p:nvSpPr>
          <p:cNvPr id="5" name="column-0-detail-1">
            <a:extLst xmlns:a="http://schemas.openxmlformats.org/drawingml/2006/main">
              <a:ext uri="{FF2B5EF4-FFF2-40B4-BE49-F238E27FC236}">
                <a16:creationId xmlns:a16="http://schemas.microsoft.com/office/drawing/2014/main" id="{A1DD4AAE-7626-43B3-90AE-69B6B9F58A6E}"/>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An agency, contractual employer and client worksite can differ.</a:t>
            </a:r>
          </a:p>
        </p:txBody>
      </p:sp>
      <p:sp>
        <p:nvSpPr>
          <p:cNvPr id="6" name="column-heading-1">
            <a:extLst xmlns:a="http://schemas.openxmlformats.org/drawingml/2006/main">
              <a:ext uri="{FF2B5EF4-FFF2-40B4-BE49-F238E27FC236}">
                <a16:creationId xmlns:a16="http://schemas.microsoft.com/office/drawing/2014/main" id="{4C73B46F-C26C-495E-BBCD-C824D5A00D20}"/>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the person does</a:t>
            </a:r>
          </a:p>
        </p:txBody>
      </p:sp>
      <p:sp>
        <p:nvSpPr>
          <p:cNvPr id="7" name="column-1-detail-0">
            <a:extLst xmlns:a="http://schemas.openxmlformats.org/drawingml/2006/main">
              <a:ext uri="{FF2B5EF4-FFF2-40B4-BE49-F238E27FC236}">
                <a16:creationId xmlns:a16="http://schemas.microsoft.com/office/drawing/2014/main" id="{2CD62F4F-9695-41FA-9F4D-C343751AB7CA}"/>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Nursing and patient-care support have different requirements.</a:t>
            </a:r>
          </a:p>
        </p:txBody>
      </p:sp>
      <p:sp>
        <p:nvSpPr>
          <p:cNvPr id="8" name="column-1-detail-1">
            <a:extLst xmlns:a="http://schemas.openxmlformats.org/drawingml/2006/main">
              <a:ext uri="{FF2B5EF4-FFF2-40B4-BE49-F238E27FC236}">
                <a16:creationId xmlns:a16="http://schemas.microsoft.com/office/drawing/2014/main" id="{2B35CC25-CA78-4449-8EF4-927A3CC21BA8}"/>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Operations, sales and project work need their own context.</a:t>
            </a:r>
          </a:p>
        </p:txBody>
      </p:sp>
      <p:sp>
        <p:nvSpPr>
          <p:cNvPr id="9" name="takeaway">
            <a:extLst xmlns:a="http://schemas.openxmlformats.org/drawingml/2006/main">
              <a:ext uri="{FF2B5EF4-FFF2-40B4-BE49-F238E27FC236}">
                <a16:creationId xmlns:a16="http://schemas.microsoft.com/office/drawing/2014/main" id="{BA77057D-EBD4-4FAF-BF02-5759D026FEEA}"/>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These baskets organise research. They do not rank markets or define customer segments.</a:t>
            </a:r>
          </a:p>
        </p:txBody>
      </p:sp>
      <p:sp>
        <p:nvSpPr>
          <p:cNvPr id="10" name="evidence-boundary">
            <a:extLst xmlns:a="http://schemas.openxmlformats.org/drawingml/2006/main">
              <a:ext uri="{FF2B5EF4-FFF2-40B4-BE49-F238E27FC236}">
                <a16:creationId xmlns:a16="http://schemas.microsoft.com/office/drawing/2014/main" id="{4B74A2E0-AA37-4AA7-A172-DAFC99375363}"/>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Round 03 interpretation. Six deeper inquiries are non-IT. Public sources, not representative sampling.</a:t>
            </a:r>
          </a:p>
        </p:txBody>
      </p:sp>
      <p:sp>
        <p:nvSpPr>
          <p:cNvPr id="11" name="slide-number">
            <a:extLst xmlns:a="http://schemas.openxmlformats.org/drawingml/2006/main">
              <a:ext uri="{FF2B5EF4-FFF2-40B4-BE49-F238E27FC236}">
                <a16:creationId xmlns:a16="http://schemas.microsoft.com/office/drawing/2014/main" id="{24717E5D-D4F8-41C0-BF26-04B2C1A952BE}"/>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23</a:t>
            </a:r>
          </a:p>
        </p:txBody>
      </p:sp>
    </p:spTree>
    <p:extLst>
      <p:ext uri="{BB962C8B-B14F-4D97-AF65-F5344CB8AC3E}">
        <p14:creationId xmlns:p14="http://schemas.microsoft.com/office/powerpoint/2010/main" val="538236548"/>
      </p:ext>
    </p:extLst>
  </p:cSld>
</p:sld>
</file>

<file path=ppt/slides/slide24.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629085C-E7B2-45F4-80EF-2A993E996AA0}"/>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Six contexts, different preparation</a:t>
            </a:r>
          </a:p>
        </p:txBody>
      </p:sp>
      <p:sp>
        <p:nvSpPr>
          <p:cNvPr id="2" name="lead">
            <a:extLst xmlns:a="http://schemas.openxmlformats.org/drawingml/2006/main">
              <a:ext uri="{FF2B5EF4-FFF2-40B4-BE49-F238E27FC236}">
                <a16:creationId xmlns:a16="http://schemas.microsoft.com/office/drawing/2014/main" id="{6A919E30-0858-46D3-89AA-0D2761207172}"/>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Examples from the six deeper inquiries. Differences may reflect role and arrangement.</a:t>
            </a:r>
          </a:p>
        </p:txBody>
      </p:sp>
      <p:graphicFrame>
        <p:nvGraphicFramePr>
          <p:cNvPr id="3" name="">
            <a:extLst xmlns:a="http://schemas.openxmlformats.org/drawingml/2006/main">
              <a:ext uri="{FF2B5EF4-FFF2-40B4-BE49-F238E27FC236}">
                <a16:creationId xmlns:a16="http://schemas.microsoft.com/office/drawing/2014/main" id="{613ED394-972C-4C9D-AD0A-C4087BD28948}"/>
              </a:ext>
            </a:extLst>
          </p:cNvPr>
          <p:cNvGraphicFramePr/>
          <p:nvPr/>
        </p:nvGraphicFramePr>
        <p:xfrm>
          <a:off xmlns:a="http://schemas.openxmlformats.org/drawingml/2006/main" x="723900" y="2343150"/>
          <a:ext xmlns:a="http://schemas.openxmlformats.org/drawingml/2006/main" cx="10820400" cy="3371850"/>
        </p:xfrm>
        <a:graphic xmlns:a="http://schemas.openxmlformats.org/drawingml/2006/main">
          <a:graphicData uri="http://schemas.openxmlformats.org/drawingml/2006/table">
            <a:tbl>
              <a:tblPr firstRow="1" bandRow="0"/>
              <a:tblGrid>
                <a:gridCol w="2571750"/>
                <a:gridCol w="4191000"/>
                <a:gridCol w="4057650"/>
              </a:tblGrid>
              <a:tr h="400050">
                <a:tc>
                  <a:txBody>
                    <a:bodyPr wrap="square" lIns="133350" tIns="57150" rIns="133350" bIns="57150">
                      <a:noAutofit/>
                    </a:bodyPr>
                    <a:lstStyle/>
                    <a:p>
                      <a:r>
                        <a:rPr sz="1650" b="1">
                          <a:solidFill>
                            <a:srgbClr val="FFFFFF"/>
                          </a:solidFill>
                          <a:latin typeface="Arial"/>
                          <a:ea typeface="Arial"/>
                          <a:cs typeface="Arial"/>
                        </a:rPr>
                        <a:t>Context</a:t>
                      </a:r>
                    </a:p>
                  </a:txBody>
                  <a:tcPr marL="91440" marR="91440" marT="45720" marB="45720" anchor="ctr">
                    <a:lnL w="6668">
                      <a:solidFill>
                        <a:srgbClr val="D9D8D2"/>
                      </a:solidFill>
                      <a:prstDash val="solid"/>
                    </a:lnL>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57150" rIns="133350" bIns="57150">
                      <a:noAutofit/>
                    </a:bodyPr>
                    <a:lstStyle/>
                    <a:p>
                      <a:r>
                        <a:rPr sz="1650" b="1">
                          <a:solidFill>
                            <a:srgbClr val="FFFFFF"/>
                          </a:solidFill>
                          <a:latin typeface="Arial"/>
                          <a:ea typeface="Arial"/>
                          <a:cs typeface="Arial"/>
                        </a:rPr>
                        <a:t>Preparation question</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57150" rIns="133350" bIns="57150">
                      <a:noAutofit/>
                    </a:bodyPr>
                    <a:lstStyle/>
                    <a:p>
                      <a:r>
                        <a:rPr sz="1650" b="1">
                          <a:solidFill>
                            <a:srgbClr val="FFFFFF"/>
                          </a:solidFill>
                          <a:latin typeface="Arial"/>
                          <a:ea typeface="Arial"/>
                          <a:cs typeface="Arial"/>
                        </a:rPr>
                        <a:t>Evidence limit</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r>
              <a:tr h="495300">
                <a:tc>
                  <a:txBody>
                    <a:bodyPr wrap="square" lIns="133350" tIns="57150" rIns="133350" bIns="57150">
                      <a:noAutofit/>
                    </a:bodyPr>
                    <a:lstStyle/>
                    <a:p>
                      <a:r>
                        <a:rPr sz="1650" b="0">
                          <a:solidFill>
                            <a:srgbClr val="172D40"/>
                          </a:solidFill>
                          <a:latin typeface="Arial"/>
                          <a:ea typeface="Arial"/>
                          <a:cs typeface="Arial"/>
                        </a:rPr>
                        <a:t>Food / hospitality</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Service examples and availability</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Trials and journeys incomplete</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495300">
                <a:tc>
                  <a:txBody>
                    <a:bodyPr wrap="square" lIns="133350" tIns="57150" rIns="133350" bIns="57150">
                      <a:noAutofit/>
                    </a:bodyPr>
                    <a:lstStyle/>
                    <a:p>
                      <a:r>
                        <a:rPr sz="1650" b="0">
                          <a:solidFill>
                            <a:srgbClr val="172D40"/>
                          </a:solidFill>
                          <a:latin typeface="Arial"/>
                          <a:ea typeface="Arial"/>
                          <a:cs typeface="Arial"/>
                        </a:rPr>
                        <a:t>Healthcare / care</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Credentials, support role and shifts</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Requirements vary by role</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495300">
                <a:tc>
                  <a:txBody>
                    <a:bodyPr wrap="square" lIns="133350" tIns="57150" rIns="133350" bIns="57150">
                      <a:noAutofit/>
                    </a:bodyPr>
                    <a:lstStyle/>
                    <a:p>
                      <a:r>
                        <a:rPr sz="1650" b="0">
                          <a:solidFill>
                            <a:srgbClr val="172D40"/>
                          </a:solidFill>
                          <a:latin typeface="Arial"/>
                          <a:ea typeface="Arial"/>
                          <a:cs typeface="Arial"/>
                        </a:rPr>
                        <a:t>Logistics / transport</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Employer, site, duties and roster</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Recent full journeys missing</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495300">
                <a:tc>
                  <a:txBody>
                    <a:bodyPr wrap="square" lIns="133350" tIns="57150" rIns="133350" bIns="57150">
                      <a:noAutofit/>
                    </a:bodyPr>
                    <a:lstStyle/>
                    <a:p>
                      <a:r>
                        <a:rPr sz="1650" b="0">
                          <a:solidFill>
                            <a:srgbClr val="172D40"/>
                          </a:solidFill>
                          <a:latin typeface="Arial"/>
                          <a:ea typeface="Arial"/>
                          <a:cs typeface="Arial"/>
                        </a:rPr>
                        <a:t>Manufacturing / trades</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Actual technical work and reasoning</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Operator/trade evidence thin</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495300">
                <a:tc>
                  <a:txBody>
                    <a:bodyPr wrap="square" lIns="133350" tIns="57150" rIns="133350" bIns="57150">
                      <a:noAutofit/>
                    </a:bodyPr>
                    <a:lstStyle/>
                    <a:p>
                      <a:r>
                        <a:rPr sz="1650" b="0">
                          <a:solidFill>
                            <a:srgbClr val="172D40"/>
                          </a:solidFill>
                          <a:latin typeface="Arial"/>
                          <a:ea typeface="Arial"/>
                          <a:cs typeface="Arial"/>
                        </a:rPr>
                        <a:t>Finance / insurance</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Duties and fixed / variable pay</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Recent operations outcomes thin</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495300">
                <a:tc>
                  <a:txBody>
                    <a:bodyPr wrap="square" lIns="133350" tIns="57150" rIns="133350" bIns="57150">
                      <a:noAutofit/>
                    </a:bodyPr>
                    <a:lstStyle/>
                    <a:p>
                      <a:r>
                        <a:rPr sz="1650" b="0">
                          <a:solidFill>
                            <a:srgbClr val="172D40"/>
                          </a:solidFill>
                          <a:latin typeface="Arial"/>
                          <a:ea typeface="Arial"/>
                          <a:cs typeface="Arial"/>
                        </a:rPr>
                        <a:t>Creative / media</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Contribution and assessment scope</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Arts/project outcomes limited</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bl>
          </a:graphicData>
        </a:graphic>
      </p:graphicFrame>
      <p:sp>
        <p:nvSpPr>
          <p:cNvPr id="4" name="evidence-boundary">
            <a:extLst xmlns:a="http://schemas.openxmlformats.org/drawingml/2006/main">
              <a:ext uri="{FF2B5EF4-FFF2-40B4-BE49-F238E27FC236}">
                <a16:creationId xmlns:a16="http://schemas.microsoft.com/office/drawing/2014/main" id="{C6F53CDD-A9CD-4012-AD4B-20E48F9BC91E}"/>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Round 03 comparison. Source-attributed examples, not sector effects, standard tests or difficulty rankings.</a:t>
            </a:r>
          </a:p>
        </p:txBody>
      </p:sp>
      <p:sp>
        <p:nvSpPr>
          <p:cNvPr id="5" name="slide-number">
            <a:extLst xmlns:a="http://schemas.openxmlformats.org/drawingml/2006/main">
              <a:ext uri="{FF2B5EF4-FFF2-40B4-BE49-F238E27FC236}">
                <a16:creationId xmlns:a16="http://schemas.microsoft.com/office/drawing/2014/main" id="{797C4191-D6B7-429D-A3D0-D3FF2E80D9A6}"/>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24</a:t>
            </a:r>
          </a:p>
        </p:txBody>
      </p:sp>
    </p:spTree>
    <p:extLst>
      <p:ext uri="{BB962C8B-B14F-4D97-AF65-F5344CB8AC3E}">
        <p14:creationId xmlns:p14="http://schemas.microsoft.com/office/powerpoint/2010/main" val="293381981"/>
      </p:ext>
    </p:extLst>
  </p:cSld>
</p:sld>
</file>

<file path=ppt/slides/slide25.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57DA8107-0D85-4A1F-8693-1D93D8B428C5}"/>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What a “ghost job” claim can mean</a:t>
            </a:r>
          </a:p>
        </p:txBody>
      </p:sp>
      <p:sp>
        <p:nvSpPr>
          <p:cNvPr id="2" name="lead">
            <a:extLst xmlns:a="http://schemas.openxmlformats.org/drawingml/2006/main">
              <a:ext uri="{FF2B5EF4-FFF2-40B4-BE49-F238E27FC236}">
                <a16:creationId xmlns:a16="http://schemas.microsoft.com/office/drawing/2014/main" id="{C3CCB08B-55DC-4AD2-82D5-C7CCAF70383E}"/>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 repeated page, a disclosed future pool and a nonexistent vacancy need different evidence.</a:t>
            </a:r>
          </a:p>
        </p:txBody>
      </p:sp>
      <p:sp>
        <p:nvSpPr>
          <p:cNvPr id="3" name="column-heading-0">
            <a:extLst xmlns:a="http://schemas.openxmlformats.org/drawingml/2006/main">
              <a:ext uri="{FF2B5EF4-FFF2-40B4-BE49-F238E27FC236}">
                <a16:creationId xmlns:a16="http://schemas.microsoft.com/office/drawing/2014/main" id="{F542CB83-CB5F-41F0-A47F-D58BE0ECEA06}"/>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Different situations</a:t>
            </a:r>
          </a:p>
        </p:txBody>
      </p:sp>
      <p:sp>
        <p:nvSpPr>
          <p:cNvPr id="4" name="column-0-detail-0">
            <a:extLst xmlns:a="http://schemas.openxmlformats.org/drawingml/2006/main">
              <a:ext uri="{FF2B5EF4-FFF2-40B4-BE49-F238E27FC236}">
                <a16:creationId xmlns:a16="http://schemas.microsoft.com/office/drawing/2014/main" id="{CFF3B700-9288-4AE0-9268-10C067047FFD}"/>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Impersonation, an old copy and a future pool describe different situations.</a:t>
            </a:r>
          </a:p>
        </p:txBody>
      </p:sp>
      <p:sp>
        <p:nvSpPr>
          <p:cNvPr id="5" name="column-0-detail-1">
            <a:extLst xmlns:a="http://schemas.openxmlformats.org/drawingml/2006/main">
              <a:ext uri="{FF2B5EF4-FFF2-40B4-BE49-F238E27FC236}">
                <a16:creationId xmlns:a16="http://schemas.microsoft.com/office/drawing/2014/main" id="{A3B4EF85-1B0B-49B0-8E5A-2001620D3E9D}"/>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 pause or non-fill does not reveal the original hiring intent.</a:t>
            </a:r>
          </a:p>
        </p:txBody>
      </p:sp>
      <p:sp>
        <p:nvSpPr>
          <p:cNvPr id="6" name="column-heading-1">
            <a:extLst xmlns:a="http://schemas.openxmlformats.org/drawingml/2006/main">
              <a:ext uri="{FF2B5EF4-FFF2-40B4-BE49-F238E27FC236}">
                <a16:creationId xmlns:a16="http://schemas.microsoft.com/office/drawing/2014/main" id="{826F552F-CF4E-4C20-8909-20247A622678}"/>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Local historical case</a:t>
            </a:r>
          </a:p>
        </p:txBody>
      </p:sp>
      <p:sp>
        <p:nvSpPr>
          <p:cNvPr id="7" name="column-1-detail-0">
            <a:extLst xmlns:a="http://schemas.openxmlformats.org/drawingml/2006/main">
              <a:ext uri="{FF2B5EF4-FFF2-40B4-BE49-F238E27FC236}">
                <a16:creationId xmlns:a16="http://schemas.microsoft.com/office/drawing/2014/main" id="{C9F9205C-BD60-49E9-8DF2-18319C2AC110}"/>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MOM's 4 July 2018 alert reports a nonexistent translator job used to collect resumes for marketing.</a:t>
            </a:r>
          </a:p>
        </p:txBody>
      </p:sp>
      <p:sp>
        <p:nvSpPr>
          <p:cNvPr id="8" name="column-1-detail-1">
            <a:extLst xmlns:a="http://schemas.openxmlformats.org/drawingml/2006/main">
              <a:ext uri="{FF2B5EF4-FFF2-40B4-BE49-F238E27FC236}">
                <a16:creationId xmlns:a16="http://schemas.microsoft.com/office/drawing/2014/main" id="{8E4F591B-E5BA-4D30-AF1E-3A06587D2971}"/>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One unnamed agency case. The underlying event date is unknown.</a:t>
            </a:r>
          </a:p>
        </p:txBody>
      </p:sp>
      <p:sp>
        <p:nvSpPr>
          <p:cNvPr id="9" name="takeaway">
            <a:extLst xmlns:a="http://schemas.openxmlformats.org/drawingml/2006/main">
              <a:ext uri="{FF2B5EF4-FFF2-40B4-BE49-F238E27FC236}">
                <a16:creationId xmlns:a16="http://schemas.microsoft.com/office/drawing/2014/main" id="{206068DE-E5FC-4B8A-86F7-2FDE5AEE7E6C}"/>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A disclosed talent pool does not promise an immediate vacancy.</a:t>
            </a:r>
          </a:p>
        </p:txBody>
      </p:sp>
      <p:sp>
        <p:nvSpPr>
          <p:cNvPr id="10" name="evidence-boundary">
            <a:extLst xmlns:a="http://schemas.openxmlformats.org/drawingml/2006/main">
              <a:ext uri="{FF2B5EF4-FFF2-40B4-BE49-F238E27FC236}">
                <a16:creationId xmlns:a16="http://schemas.microsoft.com/office/drawing/2014/main" id="{4FFADA21-E3E0-40B7-8AFC-07E3E8F8FA5B}"/>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R3-G16: 2018 regulator account. R3-G07: disclosed pool. No current Singapore prevalence rate.</a:t>
            </a:r>
          </a:p>
        </p:txBody>
      </p:sp>
      <p:sp>
        <p:nvSpPr>
          <p:cNvPr id="11" name="slide-number">
            <a:extLst xmlns:a="http://schemas.openxmlformats.org/drawingml/2006/main">
              <a:ext uri="{FF2B5EF4-FFF2-40B4-BE49-F238E27FC236}">
                <a16:creationId xmlns:a16="http://schemas.microsoft.com/office/drawing/2014/main" id="{22954906-DC9E-4AC0-BFED-4D4BCC88B0C7}"/>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25</a:t>
            </a:r>
          </a:p>
        </p:txBody>
      </p:sp>
    </p:spTree>
    <p:extLst>
      <p:ext uri="{BB962C8B-B14F-4D97-AF65-F5344CB8AC3E}">
        <p14:creationId xmlns:p14="http://schemas.microsoft.com/office/powerpoint/2010/main" val="2100932503"/>
      </p:ext>
    </p:extLst>
  </p:cSld>
</p:sld>
</file>

<file path=ppt/slides/slide26.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14E9B2C-885C-404D-BF38-7B84C4E6389A}"/>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Verification leaves some questions open</a:t>
            </a:r>
          </a:p>
        </p:txBody>
      </p:sp>
      <p:sp>
        <p:nvSpPr>
          <p:cNvPr id="2" name="lead">
            <a:extLst xmlns:a="http://schemas.openxmlformats.org/drawingml/2006/main">
              <a:ext uri="{FF2B5EF4-FFF2-40B4-BE49-F238E27FC236}">
                <a16:creationId xmlns:a16="http://schemas.microsoft.com/office/drawing/2014/main" id="{522ACAAA-50C0-4FFC-91EE-2E5697085FDB}"/>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Record a dated requisition, role and location. Keep these five questions separate.</a:t>
            </a:r>
          </a:p>
        </p:txBody>
      </p:sp>
      <p:graphicFrame>
        <p:nvGraphicFramePr>
          <p:cNvPr id="3" name="">
            <a:extLst xmlns:a="http://schemas.openxmlformats.org/drawingml/2006/main">
              <a:ext uri="{FF2B5EF4-FFF2-40B4-BE49-F238E27FC236}">
                <a16:creationId xmlns:a16="http://schemas.microsoft.com/office/drawing/2014/main" id="{03263E7E-668B-4E4D-85D6-A189D02BACDB}"/>
              </a:ext>
            </a:extLst>
          </p:cNvPr>
          <p:cNvGraphicFramePr/>
          <p:nvPr/>
        </p:nvGraphicFramePr>
        <p:xfrm>
          <a:off xmlns:a="http://schemas.openxmlformats.org/drawingml/2006/main" x="723900" y="2343150"/>
          <a:ext xmlns:a="http://schemas.openxmlformats.org/drawingml/2006/main" cx="10820400" cy="3333750"/>
        </p:xfrm>
        <a:graphic xmlns:a="http://schemas.openxmlformats.org/drawingml/2006/main">
          <a:graphicData uri="http://schemas.openxmlformats.org/drawingml/2006/table">
            <a:tbl>
              <a:tblPr firstRow="1" bandRow="0"/>
              <a:tblGrid>
                <a:gridCol w="2667000"/>
                <a:gridCol w="3810000"/>
                <a:gridCol w="4343400"/>
              </a:tblGrid>
              <a:tr h="400050">
                <a:tc>
                  <a:txBody>
                    <a:bodyPr wrap="square" lIns="133350" tIns="57150" rIns="133350" bIns="57150">
                      <a:noAutofit/>
                    </a:bodyPr>
                    <a:lstStyle/>
                    <a:p>
                      <a:r>
                        <a:rPr sz="1650" b="1">
                          <a:solidFill>
                            <a:srgbClr val="FFFFFF"/>
                          </a:solidFill>
                          <a:latin typeface="Arial"/>
                          <a:ea typeface="Arial"/>
                          <a:cs typeface="Arial"/>
                        </a:rPr>
                        <a:t>Question</a:t>
                      </a:r>
                    </a:p>
                  </a:txBody>
                  <a:tcPr marL="91440" marR="91440" marT="45720" marB="45720" anchor="ctr">
                    <a:lnL w="6668">
                      <a:solidFill>
                        <a:srgbClr val="D9D8D2"/>
                      </a:solidFill>
                      <a:prstDash val="solid"/>
                    </a:lnL>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57150" rIns="133350" bIns="57150">
                      <a:noAutofit/>
                    </a:bodyPr>
                    <a:lstStyle/>
                    <a:p>
                      <a:r>
                        <a:rPr sz="1650" b="1">
                          <a:solidFill>
                            <a:srgbClr val="FFFFFF"/>
                          </a:solidFill>
                          <a:latin typeface="Arial"/>
                          <a:ea typeface="Arial"/>
                          <a:cs typeface="Arial"/>
                        </a:rPr>
                        <a:t>Useful evidence</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57150" rIns="133350" bIns="57150">
                      <a:noAutofit/>
                    </a:bodyPr>
                    <a:lstStyle/>
                    <a:p>
                      <a:r>
                        <a:rPr sz="1650" b="1">
                          <a:solidFill>
                            <a:srgbClr val="FFFFFF"/>
                          </a:solidFill>
                          <a:latin typeface="Arial"/>
                          <a:ea typeface="Arial"/>
                          <a:cs typeface="Arial"/>
                        </a:rPr>
                        <a:t>What can remain unknown</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r>
              <a:tr h="586740">
                <a:tc>
                  <a:txBody>
                    <a:bodyPr wrap="square" lIns="133350" tIns="57150" rIns="133350" bIns="57150">
                      <a:noAutofit/>
                    </a:bodyPr>
                    <a:lstStyle/>
                    <a:p>
                      <a:r>
                        <a:rPr sz="1650" b="0">
                          <a:solidFill>
                            <a:srgbClr val="172D40"/>
                          </a:solidFill>
                          <a:latin typeface="Arial"/>
                          <a:ea typeface="Arial"/>
                          <a:cs typeface="Arial"/>
                        </a:rPr>
                        <a:t>Authenticity</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Attributable identity and contact</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Approved headcount</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586740">
                <a:tc>
                  <a:txBody>
                    <a:bodyPr wrap="square" lIns="133350" tIns="57150" rIns="133350" bIns="57150">
                      <a:noAutofit/>
                    </a:bodyPr>
                    <a:lstStyle/>
                    <a:p>
                      <a:r>
                        <a:rPr sz="1650" b="0">
                          <a:solidFill>
                            <a:srgbClr val="172D40"/>
                          </a:solidFill>
                          <a:latin typeface="Arial"/>
                          <a:ea typeface="Arial"/>
                          <a:cs typeface="Arial"/>
                        </a:rPr>
                        <a:t>Visible status</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Original date, closure or pool label</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Internal current status</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586740">
                <a:tc>
                  <a:txBody>
                    <a:bodyPr wrap="square" lIns="133350" tIns="57150" rIns="133350" bIns="57150">
                      <a:noAutofit/>
                    </a:bodyPr>
                    <a:lstStyle/>
                    <a:p>
                      <a:r>
                        <a:rPr sz="1650" b="0">
                          <a:solidFill>
                            <a:srgbClr val="172D40"/>
                          </a:solidFill>
                          <a:latin typeface="Arial"/>
                          <a:ea typeface="Arial"/>
                          <a:cs typeface="Arial"/>
                        </a:rPr>
                        <a:t>External recruitment</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Dated activity for this requisition</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Whether hiring is continuing</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586740">
                <a:tc>
                  <a:txBody>
                    <a:bodyPr wrap="square" lIns="133350" tIns="57150" rIns="133350" bIns="57150">
                      <a:noAutofit/>
                    </a:bodyPr>
                    <a:lstStyle/>
                    <a:p>
                      <a:r>
                        <a:rPr sz="1650" b="0">
                          <a:solidFill>
                            <a:srgbClr val="172D40"/>
                          </a:solidFill>
                          <a:latin typeface="Arial"/>
                          <a:ea typeface="Arial"/>
                          <a:cs typeface="Arial"/>
                        </a:rPr>
                        <a:t>Eventual outcome</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Offer, hire, pause or cancellation</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Original intention</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586740">
                <a:tc>
                  <a:txBody>
                    <a:bodyPr wrap="square" lIns="133350" tIns="57150" rIns="133350" bIns="57150">
                      <a:noAutofit/>
                    </a:bodyPr>
                    <a:lstStyle/>
                    <a:p>
                      <a:r>
                        <a:rPr sz="1650" b="0">
                          <a:solidFill>
                            <a:srgbClr val="172D40"/>
                          </a:solidFill>
                          <a:latin typeface="Arial"/>
                          <a:ea typeface="Arial"/>
                          <a:cs typeface="Arial"/>
                        </a:rPr>
                        <a:t>Original intent</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Attributable, period-specific evidence</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57150" rIns="133350" bIns="57150">
                      <a:noAutofit/>
                    </a:bodyPr>
                    <a:lstStyle/>
                    <a:p>
                      <a:r>
                        <a:rPr sz="1650" b="0">
                          <a:solidFill>
                            <a:srgbClr val="172D40"/>
                          </a:solidFill>
                          <a:latin typeface="Arial"/>
                          <a:ea typeface="Arial"/>
                          <a:cs typeface="Arial"/>
                        </a:rPr>
                        <a:t>Motive from public signals alone</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bl>
          </a:graphicData>
        </a:graphic>
      </p:graphicFrame>
      <p:sp>
        <p:nvSpPr>
          <p:cNvPr id="4" name="evidence-boundary">
            <a:extLst xmlns:a="http://schemas.openxmlformats.org/drawingml/2006/main">
              <a:ext uri="{FF2B5EF4-FFF2-40B4-BE49-F238E27FC236}">
                <a16:creationId xmlns:a16="http://schemas.microsoft.com/office/drawing/2014/main" id="{2ED2BC19-BCEB-443D-A755-CEAD717AD3BC}"/>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Round 03 framework. A page, interview, repost or silence cannot establish intent. No detector or company score.</a:t>
            </a:r>
          </a:p>
        </p:txBody>
      </p:sp>
      <p:sp>
        <p:nvSpPr>
          <p:cNvPr id="5" name="slide-number">
            <a:extLst xmlns:a="http://schemas.openxmlformats.org/drawingml/2006/main">
              <a:ext uri="{FF2B5EF4-FFF2-40B4-BE49-F238E27FC236}">
                <a16:creationId xmlns:a16="http://schemas.microsoft.com/office/drawing/2014/main" id="{D7791F5C-FB24-4664-9345-5F4C22FE58C5}"/>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26</a:t>
            </a:r>
          </a:p>
        </p:txBody>
      </p:sp>
    </p:spTree>
    <p:extLst>
      <p:ext uri="{BB962C8B-B14F-4D97-AF65-F5344CB8AC3E}">
        <p14:creationId xmlns:p14="http://schemas.microsoft.com/office/powerpoint/2010/main" val="1290787648"/>
      </p:ext>
    </p:extLst>
  </p:cSld>
</p:sld>
</file>

<file path=ppt/slides/slide27.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21FFD5A5-9103-4E83-A8E8-71CB58A33394}"/>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What the extension changes</a:t>
            </a:r>
          </a:p>
        </p:txBody>
      </p:sp>
      <p:sp>
        <p:nvSpPr>
          <p:cNvPr id="2" name="lead">
            <a:extLst xmlns:a="http://schemas.openxmlformats.org/drawingml/2006/main">
              <a:ext uri="{FF2B5EF4-FFF2-40B4-BE49-F238E27FC236}">
                <a16:creationId xmlns:a16="http://schemas.microsoft.com/office/drawing/2014/main" id="{4729A1E3-0FE7-4AB7-A1AC-0BEE051DF939}"/>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broadens the questions. JobHub's usefulness remains a proposition to test.</a:t>
            </a:r>
          </a:p>
        </p:txBody>
      </p:sp>
      <p:sp>
        <p:nvSpPr>
          <p:cNvPr id="3" name="column-heading-0">
            <a:extLst xmlns:a="http://schemas.openxmlformats.org/drawingml/2006/main">
              <a:ext uri="{FF2B5EF4-FFF2-40B4-BE49-F238E27FC236}">
                <a16:creationId xmlns:a16="http://schemas.microsoft.com/office/drawing/2014/main" id="{8A97E23C-F913-432B-9B25-4ABCFE131B5A}"/>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Questions to preserve</a:t>
            </a:r>
          </a:p>
        </p:txBody>
      </p:sp>
      <p:sp>
        <p:nvSpPr>
          <p:cNvPr id="4" name="column-0-detail-0">
            <a:extLst xmlns:a="http://schemas.openxmlformats.org/drawingml/2006/main">
              <a:ext uri="{FF2B5EF4-FFF2-40B4-BE49-F238E27FC236}">
                <a16:creationId xmlns:a16="http://schemas.microsoft.com/office/drawing/2014/main" id="{53BC7651-8FAB-47CA-B029-7DDC65AE175E}"/>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Which real experience and role-specific requirements matter?</a:t>
            </a:r>
          </a:p>
        </p:txBody>
      </p:sp>
      <p:sp>
        <p:nvSpPr>
          <p:cNvPr id="5" name="column-0-detail-1">
            <a:extLst xmlns:a="http://schemas.openxmlformats.org/drawingml/2006/main">
              <a:ext uri="{FF2B5EF4-FFF2-40B4-BE49-F238E27FC236}">
                <a16:creationId xmlns:a16="http://schemas.microsoft.com/office/drawing/2014/main" id="{BB4A2897-F196-44E4-9988-6C5453ACF4A0}"/>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What should be clarified about duties, terms or recruitment?</a:t>
            </a:r>
          </a:p>
        </p:txBody>
      </p:sp>
      <p:sp>
        <p:nvSpPr>
          <p:cNvPr id="6" name="column-heading-1">
            <a:extLst xmlns:a="http://schemas.openxmlformats.org/drawingml/2006/main">
              <a:ext uri="{FF2B5EF4-FFF2-40B4-BE49-F238E27FC236}">
                <a16:creationId xmlns:a16="http://schemas.microsoft.com/office/drawing/2014/main" id="{CBEF0890-D44F-455B-9172-9D6909F06613}"/>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94B28"/>
                </a:solidFill>
                <a:latin typeface="Arial"/>
                <a:ea typeface="Arial"/>
                <a:cs typeface="Arial"/>
              </a:defRPr>
            </a:defPPr>
            <a:lvl1pPr algn="l">
              <a:defRPr sz="2325" b="1">
                <a:solidFill>
                  <a:srgbClr val="B94B28"/>
                </a:solidFill>
                <a:latin typeface="Arial"/>
                <a:ea typeface="Arial"/>
                <a:cs typeface="Arial"/>
              </a:defRPr>
            </a:lvl1pPr>
            <a:lvl2pPr algn="l">
              <a:defRPr sz="2325" b="1">
                <a:solidFill>
                  <a:srgbClr val="B94B28"/>
                </a:solidFill>
                <a:latin typeface="Arial"/>
                <a:ea typeface="Arial"/>
                <a:cs typeface="Arial"/>
              </a:defRPr>
            </a:lvl2pPr>
            <a:lvl3pPr algn="l">
              <a:defRPr sz="2325" b="1">
                <a:solidFill>
                  <a:srgbClr val="B94B28"/>
                </a:solidFill>
                <a:latin typeface="Arial"/>
                <a:ea typeface="Arial"/>
                <a:cs typeface="Arial"/>
              </a:defRPr>
            </a:lvl3pPr>
            <a:lvl4pPr algn="l">
              <a:defRPr sz="2325" b="1">
                <a:solidFill>
                  <a:srgbClr val="B94B28"/>
                </a:solidFill>
                <a:latin typeface="Arial"/>
                <a:ea typeface="Arial"/>
                <a:cs typeface="Arial"/>
              </a:defRPr>
            </a:lvl4pPr>
            <a:lvl5pPr algn="l">
              <a:defRPr sz="2325" b="1">
                <a:solidFill>
                  <a:srgbClr val="B94B28"/>
                </a:solidFill>
                <a:latin typeface="Arial"/>
                <a:ea typeface="Arial"/>
                <a:cs typeface="Arial"/>
              </a:defRPr>
            </a:lvl5pPr>
            <a:lvl6pPr algn="l">
              <a:defRPr sz="2325" b="1">
                <a:solidFill>
                  <a:srgbClr val="B94B28"/>
                </a:solidFill>
                <a:latin typeface="Arial"/>
                <a:ea typeface="Arial"/>
                <a:cs typeface="Arial"/>
              </a:defRPr>
            </a:lvl6pPr>
            <a:lvl7pPr algn="l">
              <a:defRPr sz="2325" b="1">
                <a:solidFill>
                  <a:srgbClr val="B94B28"/>
                </a:solidFill>
                <a:latin typeface="Arial"/>
                <a:ea typeface="Arial"/>
                <a:cs typeface="Arial"/>
              </a:defRPr>
            </a:lvl7pPr>
            <a:lvl8pPr algn="l">
              <a:defRPr sz="2325" b="1">
                <a:solidFill>
                  <a:srgbClr val="B94B28"/>
                </a:solidFill>
                <a:latin typeface="Arial"/>
                <a:ea typeface="Arial"/>
                <a:cs typeface="Arial"/>
              </a:defRPr>
            </a:lvl8pPr>
            <a:lvl9pPr algn="l">
              <a:defRPr sz="2325" b="1">
                <a:solidFill>
                  <a:srgbClr val="B94B28"/>
                </a:solidFill>
                <a:latin typeface="Arial"/>
                <a:ea typeface="Arial"/>
                <a:cs typeface="Arial"/>
              </a:defRPr>
            </a:lvl9pPr>
          </a:lstStyle>
          <a:p xmlns:a="http://schemas.openxmlformats.org/drawingml/2006/main">
            <a:pPr algn="l">
              <a:defRPr sz="2325" b="1">
                <a:solidFill>
                  <a:srgbClr val="B94B28"/>
                </a:solidFill>
                <a:latin typeface="Arial"/>
                <a:ea typeface="Arial"/>
                <a:cs typeface="Arial"/>
              </a:defRPr>
            </a:pPr>
            <a:r>
              <a:rPr sz="2325" b="1">
                <a:solidFill>
                  <a:srgbClr val="B94B28"/>
                </a:solidFill>
                <a:latin typeface="Arial"/>
                <a:ea typeface="Arial"/>
                <a:cs typeface="Arial"/>
              </a:rPr>
              <a:t>Evidence still needed</a:t>
            </a:r>
          </a:p>
        </p:txBody>
      </p:sp>
      <p:sp>
        <p:nvSpPr>
          <p:cNvPr id="7" name="column-1-detail-0">
            <a:extLst xmlns:a="http://schemas.openxmlformats.org/drawingml/2006/main">
              <a:ext uri="{FF2B5EF4-FFF2-40B4-BE49-F238E27FC236}">
                <a16:creationId xmlns:a16="http://schemas.microsoft.com/office/drawing/2014/main" id="{D2417F99-16A7-454C-B9F9-4FF528446912}"/>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AI use by occupation is thin. Manual and human routes remain relevant.</a:t>
            </a:r>
          </a:p>
        </p:txBody>
      </p:sp>
      <p:sp>
        <p:nvSpPr>
          <p:cNvPr id="8" name="column-1-detail-1">
            <a:extLst xmlns:a="http://schemas.openxmlformats.org/drawingml/2006/main">
              <a:ext uri="{FF2B5EF4-FFF2-40B4-BE49-F238E27FC236}">
                <a16:creationId xmlns:a16="http://schemas.microsoft.com/office/drawing/2014/main" id="{9EA47DF7-9CEB-4380-9EF8-8A68CAB57B21}"/>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Arts and operational-trades journeys remain partial. No market or benefit estimate follows.</a:t>
            </a:r>
          </a:p>
        </p:txBody>
      </p:sp>
      <p:sp>
        <p:nvSpPr>
          <p:cNvPr id="9" name="takeaway">
            <a:extLst xmlns:a="http://schemas.openxmlformats.org/drawingml/2006/main">
              <a:ext uri="{FF2B5EF4-FFF2-40B4-BE49-F238E27FC236}">
                <a16:creationId xmlns:a16="http://schemas.microsoft.com/office/drawing/2014/main" id="{474E1949-57E9-43FD-A737-B86666412421}"/>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Compare truthful preparation and total effort with manual and human alternatives.</a:t>
            </a:r>
          </a:p>
        </p:txBody>
      </p:sp>
      <p:sp>
        <p:nvSpPr>
          <p:cNvPr id="10" name="evidence-boundary">
            <a:extLst xmlns:a="http://schemas.openxmlformats.org/drawingml/2006/main">
              <a:ext uri="{FF2B5EF4-FFF2-40B4-BE49-F238E27FC236}">
                <a16:creationId xmlns:a16="http://schemas.microsoft.com/office/drawing/2014/main" id="{DBAB143C-376B-4447-A88C-3C5976744C6F}"/>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Round 03 interpretation and unresolved questions. No sector, platform, automation level or product scope selected.</a:t>
            </a:r>
          </a:p>
        </p:txBody>
      </p:sp>
      <p:sp>
        <p:nvSpPr>
          <p:cNvPr id="11" name="slide-number">
            <a:extLst xmlns:a="http://schemas.openxmlformats.org/drawingml/2006/main">
              <a:ext uri="{FF2B5EF4-FFF2-40B4-BE49-F238E27FC236}">
                <a16:creationId xmlns:a16="http://schemas.microsoft.com/office/drawing/2014/main" id="{6BB37168-F4D4-439C-BF7C-1C8198C939C7}"/>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27</a:t>
            </a:r>
          </a:p>
        </p:txBody>
      </p:sp>
    </p:spTree>
    <p:extLst>
      <p:ext uri="{BB962C8B-B14F-4D97-AF65-F5344CB8AC3E}">
        <p14:creationId xmlns:p14="http://schemas.microsoft.com/office/powerpoint/2010/main" val="242449535"/>
      </p:ext>
    </p:extLst>
  </p:cSld>
</p:sld>
</file>

<file path=ppt/slides/slide28.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2836E888-5EFB-4543-AC85-013A0D0C58E2}"/>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The evidence has clear boundaries</a:t>
            </a:r>
          </a:p>
        </p:txBody>
      </p:sp>
      <p:sp>
        <p:nvSpPr>
          <p:cNvPr id="2" name="lead">
            <a:extLst xmlns:a="http://schemas.openxmlformats.org/drawingml/2006/main">
              <a:ext uri="{FF2B5EF4-FFF2-40B4-BE49-F238E27FC236}">
                <a16:creationId xmlns:a16="http://schemas.microsoft.com/office/drawing/2014/main" id="{CB81C5E9-BAAD-4FCA-8BEB-B7019009C5F8}"/>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Understanding a mechanism is different from proving a product opportunity.</a:t>
            </a:r>
          </a:p>
        </p:txBody>
      </p:sp>
      <p:sp>
        <p:nvSpPr>
          <p:cNvPr id="3" name="column-heading-0">
            <a:extLst xmlns:a="http://schemas.openxmlformats.org/drawingml/2006/main">
              <a:ext uri="{FF2B5EF4-FFF2-40B4-BE49-F238E27FC236}">
                <a16:creationId xmlns:a16="http://schemas.microsoft.com/office/drawing/2014/main" id="{DC02A48F-F18E-4FDA-835F-FDD407BEA002}"/>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In the sources reviewed</a:t>
            </a:r>
          </a:p>
        </p:txBody>
      </p:sp>
      <p:sp>
        <p:nvSpPr>
          <p:cNvPr id="4" name="column-0-detail-0">
            <a:extLst xmlns:a="http://schemas.openxmlformats.org/drawingml/2006/main">
              <a:ext uri="{FF2B5EF4-FFF2-40B4-BE49-F238E27FC236}">
                <a16:creationId xmlns:a16="http://schemas.microsoft.com/office/drawing/2014/main" id="{EA2C83C5-7B45-452D-85BA-9A7165F1A075}"/>
              </a:ext>
            </a:extLst>
          </p:cNvPr>
          <p:cNvSpPr>
            <a:spLocks xmlns:a="http://schemas.openxmlformats.org/drawingml/2006/main" noGrp="1"/>
          </p:cNvSpPr>
          <p:nvPr/>
        </p:nvSpPr>
        <p:spPr>
          <a:xfrm xmlns:a="http://schemas.openxmlformats.org/drawingml/2006/main">
            <a:off x="76200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Repeated decisions and preparation work appear in accounts.</a:t>
            </a:r>
          </a:p>
        </p:txBody>
      </p:sp>
      <p:sp>
        <p:nvSpPr>
          <p:cNvPr id="5" name="column-0-detail-1">
            <a:extLst xmlns:a="http://schemas.openxmlformats.org/drawingml/2006/main">
              <a:ext uri="{FF2B5EF4-FFF2-40B4-BE49-F238E27FC236}">
                <a16:creationId xmlns:a16="http://schemas.microsoft.com/office/drawing/2014/main" id="{BC8D51ED-13FD-4F87-835B-D3AFD48F3B41}"/>
              </a:ext>
            </a:extLst>
          </p:cNvPr>
          <p:cNvSpPr>
            <a:spLocks xmlns:a="http://schemas.openxmlformats.org/drawingml/2006/main" noGrp="1"/>
          </p:cNvSpPr>
          <p:nvPr/>
        </p:nvSpPr>
        <p:spPr>
          <a:xfrm xmlns:a="http://schemas.openxmlformats.org/drawingml/2006/main">
            <a:off x="76200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Guidance favours verification and truthful examples.</a:t>
            </a:r>
          </a:p>
        </p:txBody>
      </p:sp>
      <p:sp>
        <p:nvSpPr>
          <p:cNvPr id="6" name="column-0-detail-2">
            <a:extLst xmlns:a="http://schemas.openxmlformats.org/drawingml/2006/main">
              <a:ext uri="{FF2B5EF4-FFF2-40B4-BE49-F238E27FC236}">
                <a16:creationId xmlns:a16="http://schemas.microsoft.com/office/drawing/2014/main" id="{CFA274BA-BC90-482C-B844-7153E996ED8B}"/>
              </a:ext>
            </a:extLst>
          </p:cNvPr>
          <p:cNvSpPr>
            <a:spLocks xmlns:a="http://schemas.openxmlformats.org/drawingml/2006/main" noGrp="1"/>
          </p:cNvSpPr>
          <p:nvPr/>
        </p:nvSpPr>
        <p:spPr>
          <a:xfrm xmlns:a="http://schemas.openxmlformats.org/drawingml/2006/main">
            <a:off x="76200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AI interventions can have different outcomes.</a:t>
            </a:r>
          </a:p>
        </p:txBody>
      </p:sp>
      <p:sp>
        <p:nvSpPr>
          <p:cNvPr id="7" name="column-heading-1">
            <a:extLst xmlns:a="http://schemas.openxmlformats.org/drawingml/2006/main">
              <a:ext uri="{FF2B5EF4-FFF2-40B4-BE49-F238E27FC236}">
                <a16:creationId xmlns:a16="http://schemas.microsoft.com/office/drawing/2014/main" id="{77CE9207-BB9B-4651-BD39-D52CA34BD90C}"/>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Still unknown</a:t>
            </a:r>
          </a:p>
        </p:txBody>
      </p:sp>
      <p:sp>
        <p:nvSpPr>
          <p:cNvPr id="8" name="column-1-detail-0">
            <a:extLst xmlns:a="http://schemas.openxmlformats.org/drawingml/2006/main">
              <a:ext uri="{FF2B5EF4-FFF2-40B4-BE49-F238E27FC236}">
                <a16:creationId xmlns:a16="http://schemas.microsoft.com/office/drawing/2014/main" id="{F8096ACA-9FDF-402E-986B-1479795630CD}"/>
              </a:ext>
            </a:extLst>
          </p:cNvPr>
          <p:cNvSpPr>
            <a:spLocks xmlns:a="http://schemas.openxmlformats.org/drawingml/2006/main" noGrp="1"/>
          </p:cNvSpPr>
          <p:nvPr/>
        </p:nvSpPr>
        <p:spPr>
          <a:xfrm xmlns:a="http://schemas.openxmlformats.org/drawingml/2006/main">
            <a:off x="638175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Which problems are most common or most burdensome.</a:t>
            </a:r>
          </a:p>
        </p:txBody>
      </p:sp>
      <p:sp>
        <p:nvSpPr>
          <p:cNvPr id="9" name="column-1-detail-1">
            <a:extLst xmlns:a="http://schemas.openxmlformats.org/drawingml/2006/main">
              <a:ext uri="{FF2B5EF4-FFF2-40B4-BE49-F238E27FC236}">
                <a16:creationId xmlns:a16="http://schemas.microsoft.com/office/drawing/2014/main" id="{6DE31BCE-7747-4722-9872-F83D15D5C0C7}"/>
              </a:ext>
            </a:extLst>
          </p:cNvPr>
          <p:cNvSpPr>
            <a:spLocks xmlns:a="http://schemas.openxmlformats.org/drawingml/2006/main" noGrp="1"/>
          </p:cNvSpPr>
          <p:nvPr/>
        </p:nvSpPr>
        <p:spPr>
          <a:xfrm xmlns:a="http://schemas.openxmlformats.org/drawingml/2006/main">
            <a:off x="638175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Which segment would benefit or pay.</a:t>
            </a:r>
          </a:p>
        </p:txBody>
      </p:sp>
      <p:sp>
        <p:nvSpPr>
          <p:cNvPr id="10" name="column-1-detail-2">
            <a:extLst xmlns:a="http://schemas.openxmlformats.org/drawingml/2006/main">
              <a:ext uri="{FF2B5EF4-FFF2-40B4-BE49-F238E27FC236}">
                <a16:creationId xmlns:a16="http://schemas.microsoft.com/office/drawing/2014/main" id="{8575106F-300E-4BE1-9DF4-96F6BD61DEA7}"/>
              </a:ext>
            </a:extLst>
          </p:cNvPr>
          <p:cNvSpPr>
            <a:spLocks xmlns:a="http://schemas.openxmlformats.org/drawingml/2006/main" noGrp="1"/>
          </p:cNvSpPr>
          <p:nvPr/>
        </p:nvSpPr>
        <p:spPr>
          <a:xfrm xmlns:a="http://schemas.openxmlformats.org/drawingml/2006/main">
            <a:off x="638175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Whether JobHub reduces total effort or improves outcomes.</a:t>
            </a:r>
          </a:p>
        </p:txBody>
      </p:sp>
      <p:sp>
        <p:nvSpPr>
          <p:cNvPr id="11" name="takeaway">
            <a:extLst xmlns:a="http://schemas.openxmlformats.org/drawingml/2006/main">
              <a:ext uri="{FF2B5EF4-FFF2-40B4-BE49-F238E27FC236}">
                <a16:creationId xmlns:a16="http://schemas.microsoft.com/office/drawing/2014/main" id="{B9502599-B5CE-4167-AD8C-CB96B4EA0E6B}"/>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Round 03 adds context. Multilingual, offline and operational-trades gaps remain.</a:t>
            </a:r>
          </a:p>
        </p:txBody>
      </p:sp>
      <p:sp>
        <p:nvSpPr>
          <p:cNvPr id="12" name="evidence-boundary">
            <a:extLst xmlns:a="http://schemas.openxmlformats.org/drawingml/2006/main">
              <a:ext uri="{FF2B5EF4-FFF2-40B4-BE49-F238E27FC236}">
                <a16:creationId xmlns:a16="http://schemas.microsoft.com/office/drawing/2014/main" id="{800E37A1-EB60-4281-A6E3-A821B01A0819}"/>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Selected sources and bounded internal evidence. No estimate of demand, prevalence or JobHub's hiring effect.</a:t>
            </a:r>
          </a:p>
        </p:txBody>
      </p:sp>
      <p:sp>
        <p:nvSpPr>
          <p:cNvPr id="13" name="slide-number">
            <a:extLst xmlns:a="http://schemas.openxmlformats.org/drawingml/2006/main">
              <a:ext uri="{FF2B5EF4-FFF2-40B4-BE49-F238E27FC236}">
                <a16:creationId xmlns:a16="http://schemas.microsoft.com/office/drawing/2014/main" id="{A0D2B33F-5FF3-457F-AA77-375238B05033}"/>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28</a:t>
            </a:r>
          </a:p>
        </p:txBody>
      </p:sp>
    </p:spTree>
    <p:extLst>
      <p:ext uri="{BB962C8B-B14F-4D97-AF65-F5344CB8AC3E}">
        <p14:creationId xmlns:p14="http://schemas.microsoft.com/office/powerpoint/2010/main" val="919314664"/>
      </p:ext>
    </p:extLst>
  </p:cSld>
</p:sld>
</file>

<file path=ppt/slides/slide29.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7" name="title">
            <a:extLst xmlns:a="http://schemas.openxmlformats.org/drawingml/2006/main">
              <a:ext uri="{FF2B5EF4-FFF2-40B4-BE49-F238E27FC236}">
                <a16:creationId xmlns:a16="http://schemas.microsoft.com/office/drawing/2014/main" id="{3B5B43DB-3DEC-4F5E-B92F-AE88489C6AF2}"/>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One small comparison could test usefulness</a:t>
            </a:r>
          </a:p>
        </p:txBody>
      </p:sp>
      <p:sp>
        <p:nvSpPr>
          <p:cNvPr id="2" name="lead">
            <a:extLst xmlns:a="http://schemas.openxmlformats.org/drawingml/2006/main">
              <a:ext uri="{FF2B5EF4-FFF2-40B4-BE49-F238E27FC236}">
                <a16:creationId xmlns:a16="http://schemas.microsoft.com/office/drawing/2014/main" id="{F7B2D936-D4B0-44FA-9E30-90407E0A7CBD}"/>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Candidate test: select truthful resume evidence for one fictional job.</a:t>
            </a:r>
          </a:p>
        </p:txBody>
      </p:sp>
      <p:sp>
        <p:nvSpPr>
          <p:cNvPr id="3" name="diagram-index-0">
            <a:extLst xmlns:a="http://schemas.openxmlformats.org/drawingml/2006/main">
              <a:ext uri="{FF2B5EF4-FFF2-40B4-BE49-F238E27FC236}">
                <a16:creationId xmlns:a16="http://schemas.microsoft.com/office/drawing/2014/main" id="{C668BCB8-7FA5-4FFC-99EE-08A1C2172D7F}"/>
              </a:ext>
            </a:extLst>
          </p:cNvPr>
          <p:cNvSpPr>
            <a:spLocks xmlns:a="http://schemas.openxmlformats.org/drawingml/2006/main" noGrp="1"/>
          </p:cNvSpPr>
          <p:nvPr/>
        </p:nvSpPr>
        <p:spPr>
          <a:xfrm xmlns:a="http://schemas.openxmlformats.org/drawingml/2006/main">
            <a:off x="762000" y="2571750"/>
            <a:ext cx="3390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01</a:t>
            </a:r>
          </a:p>
        </p:txBody>
      </p:sp>
      <p:sp>
        <p:nvSpPr>
          <p:cNvPr id="4" name="diagram-heading-0">
            <a:extLst xmlns:a="http://schemas.openxmlformats.org/drawingml/2006/main">
              <a:ext uri="{FF2B5EF4-FFF2-40B4-BE49-F238E27FC236}">
                <a16:creationId xmlns:a16="http://schemas.microsoft.com/office/drawing/2014/main" id="{03F7020A-571C-4E98-AD64-C239373D89E0}"/>
              </a:ext>
            </a:extLst>
          </p:cNvPr>
          <p:cNvSpPr>
            <a:spLocks xmlns:a="http://schemas.openxmlformats.org/drawingml/2006/main" noGrp="1"/>
          </p:cNvSpPr>
          <p:nvPr/>
        </p:nvSpPr>
        <p:spPr>
          <a:xfrm xmlns:a="http://schemas.openxmlformats.org/drawingml/2006/main">
            <a:off x="762000" y="344805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Same inputs</a:t>
            </a:r>
          </a:p>
        </p:txBody>
      </p:sp>
      <p:sp>
        <p:nvSpPr>
          <p:cNvPr id="5" name="diagram-detail-0">
            <a:extLst xmlns:a="http://schemas.openxmlformats.org/drawingml/2006/main">
              <a:ext uri="{FF2B5EF4-FFF2-40B4-BE49-F238E27FC236}">
                <a16:creationId xmlns:a16="http://schemas.microsoft.com/office/drawing/2014/main" id="{B3005E87-978D-4A5F-BC28-78BADA8FA482}"/>
              </a:ext>
            </a:extLst>
          </p:cNvPr>
          <p:cNvSpPr>
            <a:spLocks xmlns:a="http://schemas.openxmlformats.org/drawingml/2006/main" noGrp="1"/>
          </p:cNvSpPr>
          <p:nvPr/>
        </p:nvSpPr>
        <p:spPr>
          <a:xfrm xmlns:a="http://schemas.openxmlformats.org/drawingml/2006/main">
            <a:off x="762000" y="4248150"/>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Fictional candidate facts and one job.</a:t>
            </a:r>
          </a:p>
        </p:txBody>
      </p:sp>
      <p:sp>
        <p:nvSpPr>
          <p:cNvPr id="6" name="diagram-sequence-0">
            <a:extLst xmlns:a="http://schemas.openxmlformats.org/drawingml/2006/main">
              <a:ext uri="{FF2B5EF4-FFF2-40B4-BE49-F238E27FC236}">
                <a16:creationId xmlns:a16="http://schemas.microsoft.com/office/drawing/2014/main" id="{F234A25B-8698-4A37-AE9E-360959194FC2}"/>
              </a:ext>
            </a:extLst>
          </p:cNvPr>
          <p:cNvSpPr>
            <a:spLocks xmlns:a="http://schemas.openxmlformats.org/drawingml/2006/main" noGrp="1"/>
          </p:cNvSpPr>
          <p:nvPr/>
        </p:nvSpPr>
        <p:spPr>
          <a:xfrm xmlns:a="http://schemas.openxmlformats.org/drawingml/2006/main">
            <a:off x="1524000" y="3009900"/>
            <a:ext cx="2952750"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7" name="diagram-index-1">
            <a:extLst xmlns:a="http://schemas.openxmlformats.org/drawingml/2006/main">
              <a:ext uri="{FF2B5EF4-FFF2-40B4-BE49-F238E27FC236}">
                <a16:creationId xmlns:a16="http://schemas.microsoft.com/office/drawing/2014/main" id="{F95E684B-1642-4B3B-9ABD-F0DCE3975DE3}"/>
              </a:ext>
            </a:extLst>
          </p:cNvPr>
          <p:cNvSpPr>
            <a:spLocks xmlns:a="http://schemas.openxmlformats.org/drawingml/2006/main" noGrp="1"/>
          </p:cNvSpPr>
          <p:nvPr/>
        </p:nvSpPr>
        <p:spPr>
          <a:xfrm xmlns:a="http://schemas.openxmlformats.org/drawingml/2006/main">
            <a:off x="4476750" y="2571750"/>
            <a:ext cx="3390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02</a:t>
            </a:r>
          </a:p>
        </p:txBody>
      </p:sp>
      <p:sp>
        <p:nvSpPr>
          <p:cNvPr id="8" name="diagram-heading-1">
            <a:extLst xmlns:a="http://schemas.openxmlformats.org/drawingml/2006/main">
              <a:ext uri="{FF2B5EF4-FFF2-40B4-BE49-F238E27FC236}">
                <a16:creationId xmlns:a16="http://schemas.microsoft.com/office/drawing/2014/main" id="{FF73399E-6F8E-4DE2-AC01-8F902C997550}"/>
              </a:ext>
            </a:extLst>
          </p:cNvPr>
          <p:cNvSpPr>
            <a:spLocks xmlns:a="http://schemas.openxmlformats.org/drawingml/2006/main" noGrp="1"/>
          </p:cNvSpPr>
          <p:nvPr/>
        </p:nvSpPr>
        <p:spPr>
          <a:xfrm xmlns:a="http://schemas.openxmlformats.org/drawingml/2006/main">
            <a:off x="4476750" y="344805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Two approaches</a:t>
            </a:r>
          </a:p>
        </p:txBody>
      </p:sp>
      <p:sp>
        <p:nvSpPr>
          <p:cNvPr id="9" name="diagram-detail-1">
            <a:extLst xmlns:a="http://schemas.openxmlformats.org/drawingml/2006/main">
              <a:ext uri="{FF2B5EF4-FFF2-40B4-BE49-F238E27FC236}">
                <a16:creationId xmlns:a16="http://schemas.microsoft.com/office/drawing/2014/main" id="{BE001789-E9AC-402C-BB2A-AA6498E3CD20}"/>
              </a:ext>
            </a:extLst>
          </p:cNvPr>
          <p:cNvSpPr>
            <a:spLocks xmlns:a="http://schemas.openxmlformats.org/drawingml/2006/main" noGrp="1"/>
          </p:cNvSpPr>
          <p:nvPr/>
        </p:nvSpPr>
        <p:spPr>
          <a:xfrm xmlns:a="http://schemas.openxmlformats.org/drawingml/2006/main">
            <a:off x="4476750" y="4248150"/>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Manual master resume and reviewed AI assistance.</a:t>
            </a:r>
          </a:p>
        </p:txBody>
      </p:sp>
      <p:sp>
        <p:nvSpPr>
          <p:cNvPr id="10" name="diagram-sequence-1">
            <a:extLst xmlns:a="http://schemas.openxmlformats.org/drawingml/2006/main">
              <a:ext uri="{FF2B5EF4-FFF2-40B4-BE49-F238E27FC236}">
                <a16:creationId xmlns:a16="http://schemas.microsoft.com/office/drawing/2014/main" id="{CF1AA8CF-D4D9-4004-B40C-B75351E941BC}"/>
              </a:ext>
            </a:extLst>
          </p:cNvPr>
          <p:cNvSpPr>
            <a:spLocks xmlns:a="http://schemas.openxmlformats.org/drawingml/2006/main" noGrp="1"/>
          </p:cNvSpPr>
          <p:nvPr/>
        </p:nvSpPr>
        <p:spPr>
          <a:xfrm xmlns:a="http://schemas.openxmlformats.org/drawingml/2006/main">
            <a:off x="5238750" y="3009900"/>
            <a:ext cx="2952750"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11" name="diagram-index-2">
            <a:extLst xmlns:a="http://schemas.openxmlformats.org/drawingml/2006/main">
              <a:ext uri="{FF2B5EF4-FFF2-40B4-BE49-F238E27FC236}">
                <a16:creationId xmlns:a16="http://schemas.microsoft.com/office/drawing/2014/main" id="{6F4D9155-0C63-4FEC-B570-22278F04EFBC}"/>
              </a:ext>
            </a:extLst>
          </p:cNvPr>
          <p:cNvSpPr>
            <a:spLocks xmlns:a="http://schemas.openxmlformats.org/drawingml/2006/main" noGrp="1"/>
          </p:cNvSpPr>
          <p:nvPr/>
        </p:nvSpPr>
        <p:spPr>
          <a:xfrm xmlns:a="http://schemas.openxmlformats.org/drawingml/2006/main">
            <a:off x="8191500" y="2571750"/>
            <a:ext cx="3390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03</a:t>
            </a:r>
          </a:p>
        </p:txBody>
      </p:sp>
      <p:sp>
        <p:nvSpPr>
          <p:cNvPr id="12" name="diagram-heading-2">
            <a:extLst xmlns:a="http://schemas.openxmlformats.org/drawingml/2006/main">
              <a:ext uri="{FF2B5EF4-FFF2-40B4-BE49-F238E27FC236}">
                <a16:creationId xmlns:a16="http://schemas.microsoft.com/office/drawing/2014/main" id="{5E4DC514-9A88-44E7-9A72-C1ED95B0692F}"/>
              </a:ext>
            </a:extLst>
          </p:cNvPr>
          <p:cNvSpPr>
            <a:spLocks xmlns:a="http://schemas.openxmlformats.org/drawingml/2006/main" noGrp="1"/>
          </p:cNvSpPr>
          <p:nvPr/>
        </p:nvSpPr>
        <p:spPr>
          <a:xfrm xmlns:a="http://schemas.openxmlformats.org/drawingml/2006/main">
            <a:off x="8191500" y="3448050"/>
            <a:ext cx="3390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Compare</a:t>
            </a:r>
          </a:p>
        </p:txBody>
      </p:sp>
      <p:sp>
        <p:nvSpPr>
          <p:cNvPr id="13" name="diagram-detail-2">
            <a:extLst xmlns:a="http://schemas.openxmlformats.org/drawingml/2006/main">
              <a:ext uri="{FF2B5EF4-FFF2-40B4-BE49-F238E27FC236}">
                <a16:creationId xmlns:a16="http://schemas.microsoft.com/office/drawing/2014/main" id="{42A9CED1-6AA7-4CCF-AD28-4327E62DF6D2}"/>
              </a:ext>
            </a:extLst>
          </p:cNvPr>
          <p:cNvSpPr>
            <a:spLocks xmlns:a="http://schemas.openxmlformats.org/drawingml/2006/main" noGrp="1"/>
          </p:cNvSpPr>
          <p:nvPr/>
        </p:nvSpPr>
        <p:spPr>
          <a:xfrm xmlns:a="http://schemas.openxmlformats.org/drawingml/2006/main">
            <a:off x="8191500" y="4248150"/>
            <a:ext cx="33147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Unsupported claims, clarity, effort and recovery.</a:t>
            </a:r>
          </a:p>
        </p:txBody>
      </p:sp>
      <p:sp>
        <p:nvSpPr>
          <p:cNvPr id="14" name="takeaway">
            <a:extLst xmlns:a="http://schemas.openxmlformats.org/drawingml/2006/main">
              <a:ext uri="{FF2B5EF4-FFF2-40B4-BE49-F238E27FC236}">
                <a16:creationId xmlns:a16="http://schemas.microsoft.com/office/drawing/2014/main" id="{FCCC9162-D030-4584-99A5-90F4A1565050}"/>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Include career-change and frontline cases separately. The owner must accept the test first.</a:t>
            </a:r>
          </a:p>
        </p:txBody>
      </p:sp>
      <p:sp>
        <p:nvSpPr>
          <p:cNvPr id="15" name="evidence-boundary">
            <a:extLst xmlns:a="http://schemas.openxmlformats.org/drawingml/2006/main">
              <a:ext uri="{FF2B5EF4-FFF2-40B4-BE49-F238E27FC236}">
                <a16:creationId xmlns:a16="http://schemas.microsoft.com/office/drawing/2014/main" id="{0D72081D-05A6-4AB9-8EB8-AD2ADBC784E6}"/>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Proposed experiment from the decision gate. Not executed, user-validated or approved product scope.</a:t>
            </a:r>
          </a:p>
        </p:txBody>
      </p:sp>
      <p:sp>
        <p:nvSpPr>
          <p:cNvPr id="16" name="slide-number">
            <a:extLst xmlns:a="http://schemas.openxmlformats.org/drawingml/2006/main">
              <a:ext uri="{FF2B5EF4-FFF2-40B4-BE49-F238E27FC236}">
                <a16:creationId xmlns:a16="http://schemas.microsoft.com/office/drawing/2014/main" id="{B48FFE89-1DA2-4732-B4AA-7424E498BC9A}"/>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29</a:t>
            </a:r>
          </a:p>
        </p:txBody>
      </p:sp>
    </p:spTree>
    <p:extLst>
      <p:ext uri="{BB962C8B-B14F-4D97-AF65-F5344CB8AC3E}">
        <p14:creationId xmlns:p14="http://schemas.microsoft.com/office/powerpoint/2010/main" val="1897558930"/>
      </p:ext>
    </p:extLst>
  </p:cSld>
</p:sld>
</file>

<file path=ppt/slides/slide30.xml><?xml version="1.0" encoding="utf-8"?>
<p:sld xmlns:p="http://schemas.openxmlformats.org/presentationml/2006/main">
  <p:cSld>
    <p:bg>
      <p:bgPr>
        <a:solidFill xmlns:a="http://schemas.openxmlformats.org/drawingml/2006/main">
          <a:srgbClr val="102235"/>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3A8A1368-7B7B-4031-8A2C-85ED11A9EE44}"/>
              </a:ext>
            </a:extLst>
          </p:cNvPr>
          <p:cNvSpPr>
            <a:spLocks xmlns:a="http://schemas.openxmlformats.org/drawingml/2006/main" noGrp="1"/>
          </p:cNvSpPr>
          <p:nvPr/>
        </p:nvSpPr>
        <p:spPr>
          <a:xfrm xmlns:a="http://schemas.openxmlformats.org/drawingml/2006/main">
            <a:off x="723900" y="571500"/>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FFFFFF"/>
                </a:solidFill>
                <a:latin typeface="Arial"/>
                <a:ea typeface="Arial"/>
                <a:cs typeface="Arial"/>
              </a:defRPr>
            </a:defPPr>
            <a:lvl1pPr algn="l">
              <a:defRPr sz="3600" b="1">
                <a:solidFill>
                  <a:srgbClr val="FFFFFF"/>
                </a:solidFill>
                <a:latin typeface="Arial"/>
                <a:ea typeface="Arial"/>
                <a:cs typeface="Arial"/>
              </a:defRPr>
            </a:lvl1pPr>
            <a:lvl2pPr algn="l">
              <a:defRPr sz="3600" b="1">
                <a:solidFill>
                  <a:srgbClr val="FFFFFF"/>
                </a:solidFill>
                <a:latin typeface="Arial"/>
                <a:ea typeface="Arial"/>
                <a:cs typeface="Arial"/>
              </a:defRPr>
            </a:lvl2pPr>
            <a:lvl3pPr algn="l">
              <a:defRPr sz="3600" b="1">
                <a:solidFill>
                  <a:srgbClr val="FFFFFF"/>
                </a:solidFill>
                <a:latin typeface="Arial"/>
                <a:ea typeface="Arial"/>
                <a:cs typeface="Arial"/>
              </a:defRPr>
            </a:lvl3pPr>
            <a:lvl4pPr algn="l">
              <a:defRPr sz="3600" b="1">
                <a:solidFill>
                  <a:srgbClr val="FFFFFF"/>
                </a:solidFill>
                <a:latin typeface="Arial"/>
                <a:ea typeface="Arial"/>
                <a:cs typeface="Arial"/>
              </a:defRPr>
            </a:lvl4pPr>
            <a:lvl5pPr algn="l">
              <a:defRPr sz="3600" b="1">
                <a:solidFill>
                  <a:srgbClr val="FFFFFF"/>
                </a:solidFill>
                <a:latin typeface="Arial"/>
                <a:ea typeface="Arial"/>
                <a:cs typeface="Arial"/>
              </a:defRPr>
            </a:lvl5pPr>
            <a:lvl6pPr algn="l">
              <a:defRPr sz="3600" b="1">
                <a:solidFill>
                  <a:srgbClr val="FFFFFF"/>
                </a:solidFill>
                <a:latin typeface="Arial"/>
                <a:ea typeface="Arial"/>
                <a:cs typeface="Arial"/>
              </a:defRPr>
            </a:lvl6pPr>
            <a:lvl7pPr algn="l">
              <a:defRPr sz="3600" b="1">
                <a:solidFill>
                  <a:srgbClr val="FFFFFF"/>
                </a:solidFill>
                <a:latin typeface="Arial"/>
                <a:ea typeface="Arial"/>
                <a:cs typeface="Arial"/>
              </a:defRPr>
            </a:lvl7pPr>
            <a:lvl8pPr algn="l">
              <a:defRPr sz="3600" b="1">
                <a:solidFill>
                  <a:srgbClr val="FFFFFF"/>
                </a:solidFill>
                <a:latin typeface="Arial"/>
                <a:ea typeface="Arial"/>
                <a:cs typeface="Arial"/>
              </a:defRPr>
            </a:lvl8pPr>
            <a:lvl9pPr algn="l">
              <a:defRPr sz="3600" b="1">
                <a:solidFill>
                  <a:srgbClr val="FFFFFF"/>
                </a:solidFill>
                <a:latin typeface="Arial"/>
                <a:ea typeface="Arial"/>
                <a:cs typeface="Arial"/>
              </a:defRPr>
            </a:lvl9pPr>
          </a:lstStyle>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What should useful help preserve?</a:t>
            </a:r>
          </a:p>
        </p:txBody>
      </p:sp>
      <p:sp>
        <p:nvSpPr>
          <p:cNvPr id="2" name="synthesis">
            <a:extLst xmlns:a="http://schemas.openxmlformats.org/drawingml/2006/main">
              <a:ext uri="{FF2B5EF4-FFF2-40B4-BE49-F238E27FC236}">
                <a16:creationId xmlns:a16="http://schemas.microsoft.com/office/drawing/2014/main" id="{9E52A885-869F-4F80-8EC6-F98D8A6F324D}"/>
              </a:ext>
            </a:extLst>
          </p:cNvPr>
          <p:cNvSpPr>
            <a:spLocks xmlns:a="http://schemas.openxmlformats.org/drawingml/2006/main" noGrp="1"/>
          </p:cNvSpPr>
          <p:nvPr/>
        </p:nvSpPr>
        <p:spPr>
          <a:xfrm xmlns:a="http://schemas.openxmlformats.org/drawingml/2006/main">
            <a:off x="723900" y="2076450"/>
            <a:ext cx="10572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650" b="1">
                <a:solidFill>
                  <a:srgbClr val="FFFFFF"/>
                </a:solidFill>
                <a:latin typeface="Arial"/>
                <a:ea typeface="Arial"/>
                <a:cs typeface="Arial"/>
              </a:defRPr>
            </a:defPPr>
            <a:lvl1pPr algn="l">
              <a:defRPr sz="4650" b="1">
                <a:solidFill>
                  <a:srgbClr val="FFFFFF"/>
                </a:solidFill>
                <a:latin typeface="Arial"/>
                <a:ea typeface="Arial"/>
                <a:cs typeface="Arial"/>
              </a:defRPr>
            </a:lvl1pPr>
            <a:lvl2pPr algn="l">
              <a:defRPr sz="4650" b="1">
                <a:solidFill>
                  <a:srgbClr val="FFFFFF"/>
                </a:solidFill>
                <a:latin typeface="Arial"/>
                <a:ea typeface="Arial"/>
                <a:cs typeface="Arial"/>
              </a:defRPr>
            </a:lvl2pPr>
            <a:lvl3pPr algn="l">
              <a:defRPr sz="4650" b="1">
                <a:solidFill>
                  <a:srgbClr val="FFFFFF"/>
                </a:solidFill>
                <a:latin typeface="Arial"/>
                <a:ea typeface="Arial"/>
                <a:cs typeface="Arial"/>
              </a:defRPr>
            </a:lvl3pPr>
            <a:lvl4pPr algn="l">
              <a:defRPr sz="4650" b="1">
                <a:solidFill>
                  <a:srgbClr val="FFFFFF"/>
                </a:solidFill>
                <a:latin typeface="Arial"/>
                <a:ea typeface="Arial"/>
                <a:cs typeface="Arial"/>
              </a:defRPr>
            </a:lvl4pPr>
            <a:lvl5pPr algn="l">
              <a:defRPr sz="4650" b="1">
                <a:solidFill>
                  <a:srgbClr val="FFFFFF"/>
                </a:solidFill>
                <a:latin typeface="Arial"/>
                <a:ea typeface="Arial"/>
                <a:cs typeface="Arial"/>
              </a:defRPr>
            </a:lvl5pPr>
            <a:lvl6pPr algn="l">
              <a:defRPr sz="4650" b="1">
                <a:solidFill>
                  <a:srgbClr val="FFFFFF"/>
                </a:solidFill>
                <a:latin typeface="Arial"/>
                <a:ea typeface="Arial"/>
                <a:cs typeface="Arial"/>
              </a:defRPr>
            </a:lvl6pPr>
            <a:lvl7pPr algn="l">
              <a:defRPr sz="4650" b="1">
                <a:solidFill>
                  <a:srgbClr val="FFFFFF"/>
                </a:solidFill>
                <a:latin typeface="Arial"/>
                <a:ea typeface="Arial"/>
                <a:cs typeface="Arial"/>
              </a:defRPr>
            </a:lvl7pPr>
            <a:lvl8pPr algn="l">
              <a:defRPr sz="4650" b="1">
                <a:solidFill>
                  <a:srgbClr val="FFFFFF"/>
                </a:solidFill>
                <a:latin typeface="Arial"/>
                <a:ea typeface="Arial"/>
                <a:cs typeface="Arial"/>
              </a:defRPr>
            </a:lvl8pPr>
            <a:lvl9pPr algn="l">
              <a:defRPr sz="4650" b="1">
                <a:solidFill>
                  <a:srgbClr val="FFFFFF"/>
                </a:solidFill>
                <a:latin typeface="Arial"/>
                <a:ea typeface="Arial"/>
                <a:cs typeface="Arial"/>
              </a:defRPr>
            </a:lvl9pPr>
          </a:lstStyle>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The facts about the person.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The context of the opportunity.</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 clear next step.</a:t>
            </a:r>
          </a:p>
        </p:txBody>
      </p:sp>
      <p:sp>
        <p:nvSpPr>
          <p:cNvPr id="3" name="discussion-0">
            <a:extLst xmlns:a="http://schemas.openxmlformats.org/drawingml/2006/main">
              <a:ext uri="{FF2B5EF4-FFF2-40B4-BE49-F238E27FC236}">
                <a16:creationId xmlns:a16="http://schemas.microsoft.com/office/drawing/2014/main" id="{79714D69-F5B7-400F-8B43-7AF08966135A}"/>
              </a:ext>
            </a:extLst>
          </p:cNvPr>
          <p:cNvSpPr>
            <a:spLocks xmlns:a="http://schemas.openxmlformats.org/drawingml/2006/main" noGrp="1"/>
          </p:cNvSpPr>
          <p:nvPr/>
        </p:nvSpPr>
        <p:spPr>
          <a:xfrm xmlns:a="http://schemas.openxmlformats.org/drawingml/2006/main">
            <a:off x="723900" y="4895850"/>
            <a:ext cx="5143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1C58A"/>
                </a:solidFill>
                <a:latin typeface="Arial"/>
                <a:ea typeface="Arial"/>
                <a:cs typeface="Arial"/>
              </a:defRPr>
            </a:defPPr>
            <a:lvl1pPr algn="l">
              <a:defRPr sz="1950" b="1">
                <a:solidFill>
                  <a:srgbClr val="F1C58A"/>
                </a:solidFill>
                <a:latin typeface="Arial"/>
                <a:ea typeface="Arial"/>
                <a:cs typeface="Arial"/>
              </a:defRPr>
            </a:lvl1pPr>
            <a:lvl2pPr algn="l">
              <a:defRPr sz="1950" b="1">
                <a:solidFill>
                  <a:srgbClr val="F1C58A"/>
                </a:solidFill>
                <a:latin typeface="Arial"/>
                <a:ea typeface="Arial"/>
                <a:cs typeface="Arial"/>
              </a:defRPr>
            </a:lvl2pPr>
            <a:lvl3pPr algn="l">
              <a:defRPr sz="1950" b="1">
                <a:solidFill>
                  <a:srgbClr val="F1C58A"/>
                </a:solidFill>
                <a:latin typeface="Arial"/>
                <a:ea typeface="Arial"/>
                <a:cs typeface="Arial"/>
              </a:defRPr>
            </a:lvl3pPr>
            <a:lvl4pPr algn="l">
              <a:defRPr sz="1950" b="1">
                <a:solidFill>
                  <a:srgbClr val="F1C58A"/>
                </a:solidFill>
                <a:latin typeface="Arial"/>
                <a:ea typeface="Arial"/>
                <a:cs typeface="Arial"/>
              </a:defRPr>
            </a:lvl4pPr>
            <a:lvl5pPr algn="l">
              <a:defRPr sz="1950" b="1">
                <a:solidFill>
                  <a:srgbClr val="F1C58A"/>
                </a:solidFill>
                <a:latin typeface="Arial"/>
                <a:ea typeface="Arial"/>
                <a:cs typeface="Arial"/>
              </a:defRPr>
            </a:lvl5pPr>
            <a:lvl6pPr algn="l">
              <a:defRPr sz="1950" b="1">
                <a:solidFill>
                  <a:srgbClr val="F1C58A"/>
                </a:solidFill>
                <a:latin typeface="Arial"/>
                <a:ea typeface="Arial"/>
                <a:cs typeface="Arial"/>
              </a:defRPr>
            </a:lvl6pPr>
            <a:lvl7pPr algn="l">
              <a:defRPr sz="1950" b="1">
                <a:solidFill>
                  <a:srgbClr val="F1C58A"/>
                </a:solidFill>
                <a:latin typeface="Arial"/>
                <a:ea typeface="Arial"/>
                <a:cs typeface="Arial"/>
              </a:defRPr>
            </a:lvl7pPr>
            <a:lvl8pPr algn="l">
              <a:defRPr sz="1950" b="1">
                <a:solidFill>
                  <a:srgbClr val="F1C58A"/>
                </a:solidFill>
                <a:latin typeface="Arial"/>
                <a:ea typeface="Arial"/>
                <a:cs typeface="Arial"/>
              </a:defRPr>
            </a:lvl8pPr>
            <a:lvl9pPr algn="l">
              <a:defRPr sz="1950" b="1">
                <a:solidFill>
                  <a:srgbClr val="F1C58A"/>
                </a:solidFill>
                <a:latin typeface="Arial"/>
                <a:ea typeface="Arial"/>
                <a:cs typeface="Arial"/>
              </a:defRPr>
            </a:lvl9pPr>
          </a:lstStyle>
          <a:p xmlns:a="http://schemas.openxmlformats.org/drawingml/2006/main">
            <a:pPr algn="l">
              <a:defRPr sz="1950" b="1">
                <a:solidFill>
                  <a:srgbClr val="F1C58A"/>
                </a:solidFill>
                <a:latin typeface="Arial"/>
                <a:ea typeface="Arial"/>
                <a:cs typeface="Arial"/>
              </a:defRPr>
            </a:pPr>
            <a:r>
              <a:rPr sz="1950" b="1">
                <a:solidFill>
                  <a:srgbClr val="F1C58A"/>
                </a:solidFill>
                <a:latin typeface="Arial"/>
                <a:ea typeface="Arial"/>
                <a:cs typeface="Arial"/>
              </a:rPr>
              <a:t>For the next discussion</a:t>
            </a:r>
          </a:p>
        </p:txBody>
      </p:sp>
      <p:sp>
        <p:nvSpPr>
          <p:cNvPr id="4" name="discussion-detail-0">
            <a:extLst xmlns:a="http://schemas.openxmlformats.org/drawingml/2006/main">
              <a:ext uri="{FF2B5EF4-FFF2-40B4-BE49-F238E27FC236}">
                <a16:creationId xmlns:a16="http://schemas.microsoft.com/office/drawing/2014/main" id="{4DB95A4A-5063-43E0-9194-C84239D3C27A}"/>
              </a:ext>
            </a:extLst>
          </p:cNvPr>
          <p:cNvSpPr>
            <a:spLocks xmlns:a="http://schemas.openxmlformats.org/drawingml/2006/main" noGrp="1"/>
          </p:cNvSpPr>
          <p:nvPr/>
        </p:nvSpPr>
        <p:spPr>
          <a:xfrm xmlns:a="http://schemas.openxmlformats.org/drawingml/2006/main">
            <a:off x="723900" y="5334000"/>
            <a:ext cx="5048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7E1E3"/>
                </a:solidFill>
                <a:latin typeface="Arial"/>
                <a:ea typeface="Arial"/>
                <a:cs typeface="Arial"/>
              </a:defRPr>
            </a:defPPr>
            <a:lvl1pPr algn="l">
              <a:defRPr sz="1800" b="0">
                <a:solidFill>
                  <a:srgbClr val="D7E1E3"/>
                </a:solidFill>
                <a:latin typeface="Arial"/>
                <a:ea typeface="Arial"/>
                <a:cs typeface="Arial"/>
              </a:defRPr>
            </a:lvl1pPr>
            <a:lvl2pPr algn="l">
              <a:defRPr sz="1800" b="0">
                <a:solidFill>
                  <a:srgbClr val="D7E1E3"/>
                </a:solidFill>
                <a:latin typeface="Arial"/>
                <a:ea typeface="Arial"/>
                <a:cs typeface="Arial"/>
              </a:defRPr>
            </a:lvl2pPr>
            <a:lvl3pPr algn="l">
              <a:defRPr sz="1800" b="0">
                <a:solidFill>
                  <a:srgbClr val="D7E1E3"/>
                </a:solidFill>
                <a:latin typeface="Arial"/>
                <a:ea typeface="Arial"/>
                <a:cs typeface="Arial"/>
              </a:defRPr>
            </a:lvl3pPr>
            <a:lvl4pPr algn="l">
              <a:defRPr sz="1800" b="0">
                <a:solidFill>
                  <a:srgbClr val="D7E1E3"/>
                </a:solidFill>
                <a:latin typeface="Arial"/>
                <a:ea typeface="Arial"/>
                <a:cs typeface="Arial"/>
              </a:defRPr>
            </a:lvl4pPr>
            <a:lvl5pPr algn="l">
              <a:defRPr sz="1800" b="0">
                <a:solidFill>
                  <a:srgbClr val="D7E1E3"/>
                </a:solidFill>
                <a:latin typeface="Arial"/>
                <a:ea typeface="Arial"/>
                <a:cs typeface="Arial"/>
              </a:defRPr>
            </a:lvl5pPr>
            <a:lvl6pPr algn="l">
              <a:defRPr sz="1800" b="0">
                <a:solidFill>
                  <a:srgbClr val="D7E1E3"/>
                </a:solidFill>
                <a:latin typeface="Arial"/>
                <a:ea typeface="Arial"/>
                <a:cs typeface="Arial"/>
              </a:defRPr>
            </a:lvl6pPr>
            <a:lvl7pPr algn="l">
              <a:defRPr sz="1800" b="0">
                <a:solidFill>
                  <a:srgbClr val="D7E1E3"/>
                </a:solidFill>
                <a:latin typeface="Arial"/>
                <a:ea typeface="Arial"/>
                <a:cs typeface="Arial"/>
              </a:defRPr>
            </a:lvl7pPr>
            <a:lvl8pPr algn="l">
              <a:defRPr sz="1800" b="0">
                <a:solidFill>
                  <a:srgbClr val="D7E1E3"/>
                </a:solidFill>
                <a:latin typeface="Arial"/>
                <a:ea typeface="Arial"/>
                <a:cs typeface="Arial"/>
              </a:defRPr>
            </a:lvl8pPr>
            <a:lvl9pPr algn="l">
              <a:defRPr sz="1800" b="0">
                <a:solidFill>
                  <a:srgbClr val="D7E1E3"/>
                </a:solidFill>
                <a:latin typeface="Arial"/>
                <a:ea typeface="Arial"/>
                <a:cs typeface="Arial"/>
              </a:defRPr>
            </a:lvl9pPr>
          </a:lstStyle>
          <a:p xmlns:a="http://schemas.openxmlformats.org/drawingml/2006/main">
            <a:pPr algn="l">
              <a:defRPr sz="1800" b="0">
                <a:solidFill>
                  <a:srgbClr val="D7E1E3"/>
                </a:solidFill>
                <a:latin typeface="Arial"/>
                <a:ea typeface="Arial"/>
                <a:cs typeface="Arial"/>
              </a:defRPr>
            </a:pPr>
            <a:r>
              <a:rPr sz="1800" b="0">
                <a:solidFill>
                  <a:srgbClr val="D7E1E3"/>
                </a:solidFill>
                <a:latin typeface="Arial"/>
                <a:ea typeface="Arial"/>
                <a:cs typeface="Arial"/>
              </a:rPr>
              <a:t>Which task deserves a fair comparison with today's alternatives?</a:t>
            </a:r>
          </a:p>
        </p:txBody>
      </p:sp>
      <p:sp>
        <p:nvSpPr>
          <p:cNvPr id="5" name="discussion-1">
            <a:extLst xmlns:a="http://schemas.openxmlformats.org/drawingml/2006/main">
              <a:ext uri="{FF2B5EF4-FFF2-40B4-BE49-F238E27FC236}">
                <a16:creationId xmlns:a16="http://schemas.microsoft.com/office/drawing/2014/main" id="{03F3E3FC-C95C-4855-93BC-381E59787211}"/>
              </a:ext>
            </a:extLst>
          </p:cNvPr>
          <p:cNvSpPr>
            <a:spLocks xmlns:a="http://schemas.openxmlformats.org/drawingml/2006/main" noGrp="1"/>
          </p:cNvSpPr>
          <p:nvPr/>
        </p:nvSpPr>
        <p:spPr>
          <a:xfrm xmlns:a="http://schemas.openxmlformats.org/drawingml/2006/main">
            <a:off x="6343650" y="4895850"/>
            <a:ext cx="5143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1C58A"/>
                </a:solidFill>
                <a:latin typeface="Arial"/>
                <a:ea typeface="Arial"/>
                <a:cs typeface="Arial"/>
              </a:defRPr>
            </a:defPPr>
            <a:lvl1pPr algn="l">
              <a:defRPr sz="1950" b="1">
                <a:solidFill>
                  <a:srgbClr val="F1C58A"/>
                </a:solidFill>
                <a:latin typeface="Arial"/>
                <a:ea typeface="Arial"/>
                <a:cs typeface="Arial"/>
              </a:defRPr>
            </a:lvl1pPr>
            <a:lvl2pPr algn="l">
              <a:defRPr sz="1950" b="1">
                <a:solidFill>
                  <a:srgbClr val="F1C58A"/>
                </a:solidFill>
                <a:latin typeface="Arial"/>
                <a:ea typeface="Arial"/>
                <a:cs typeface="Arial"/>
              </a:defRPr>
            </a:lvl2pPr>
            <a:lvl3pPr algn="l">
              <a:defRPr sz="1950" b="1">
                <a:solidFill>
                  <a:srgbClr val="F1C58A"/>
                </a:solidFill>
                <a:latin typeface="Arial"/>
                <a:ea typeface="Arial"/>
                <a:cs typeface="Arial"/>
              </a:defRPr>
            </a:lvl3pPr>
            <a:lvl4pPr algn="l">
              <a:defRPr sz="1950" b="1">
                <a:solidFill>
                  <a:srgbClr val="F1C58A"/>
                </a:solidFill>
                <a:latin typeface="Arial"/>
                <a:ea typeface="Arial"/>
                <a:cs typeface="Arial"/>
              </a:defRPr>
            </a:lvl4pPr>
            <a:lvl5pPr algn="l">
              <a:defRPr sz="1950" b="1">
                <a:solidFill>
                  <a:srgbClr val="F1C58A"/>
                </a:solidFill>
                <a:latin typeface="Arial"/>
                <a:ea typeface="Arial"/>
                <a:cs typeface="Arial"/>
              </a:defRPr>
            </a:lvl5pPr>
            <a:lvl6pPr algn="l">
              <a:defRPr sz="1950" b="1">
                <a:solidFill>
                  <a:srgbClr val="F1C58A"/>
                </a:solidFill>
                <a:latin typeface="Arial"/>
                <a:ea typeface="Arial"/>
                <a:cs typeface="Arial"/>
              </a:defRPr>
            </a:lvl6pPr>
            <a:lvl7pPr algn="l">
              <a:defRPr sz="1950" b="1">
                <a:solidFill>
                  <a:srgbClr val="F1C58A"/>
                </a:solidFill>
                <a:latin typeface="Arial"/>
                <a:ea typeface="Arial"/>
                <a:cs typeface="Arial"/>
              </a:defRPr>
            </a:lvl7pPr>
            <a:lvl8pPr algn="l">
              <a:defRPr sz="1950" b="1">
                <a:solidFill>
                  <a:srgbClr val="F1C58A"/>
                </a:solidFill>
                <a:latin typeface="Arial"/>
                <a:ea typeface="Arial"/>
                <a:cs typeface="Arial"/>
              </a:defRPr>
            </a:lvl8pPr>
            <a:lvl9pPr algn="l">
              <a:defRPr sz="1950" b="1">
                <a:solidFill>
                  <a:srgbClr val="F1C58A"/>
                </a:solidFill>
                <a:latin typeface="Arial"/>
                <a:ea typeface="Arial"/>
                <a:cs typeface="Arial"/>
              </a:defRPr>
            </a:lvl9pPr>
          </a:lstStyle>
          <a:p xmlns:a="http://schemas.openxmlformats.org/drawingml/2006/main">
            <a:pPr algn="l">
              <a:defRPr sz="1950" b="1">
                <a:solidFill>
                  <a:srgbClr val="F1C58A"/>
                </a:solidFill>
                <a:latin typeface="Arial"/>
                <a:ea typeface="Arial"/>
                <a:cs typeface="Arial"/>
              </a:defRPr>
            </a:pPr>
            <a:r>
              <a:rPr sz="1950" b="1">
                <a:solidFill>
                  <a:srgbClr val="F1C58A"/>
                </a:solidFill>
                <a:latin typeface="Arial"/>
                <a:ea typeface="Arial"/>
                <a:cs typeface="Arial"/>
              </a:rPr>
              <a:t>Before building</a:t>
            </a:r>
          </a:p>
        </p:txBody>
      </p:sp>
      <p:sp>
        <p:nvSpPr>
          <p:cNvPr id="6" name="discussion-detail-1">
            <a:extLst xmlns:a="http://schemas.openxmlformats.org/drawingml/2006/main">
              <a:ext uri="{FF2B5EF4-FFF2-40B4-BE49-F238E27FC236}">
                <a16:creationId xmlns:a16="http://schemas.microsoft.com/office/drawing/2014/main" id="{81EC098D-109B-4776-A35C-AA7C6330017F}"/>
              </a:ext>
            </a:extLst>
          </p:cNvPr>
          <p:cNvSpPr>
            <a:spLocks xmlns:a="http://schemas.openxmlformats.org/drawingml/2006/main" noGrp="1"/>
          </p:cNvSpPr>
          <p:nvPr/>
        </p:nvSpPr>
        <p:spPr>
          <a:xfrm xmlns:a="http://schemas.openxmlformats.org/drawingml/2006/main">
            <a:off x="6343650" y="5334000"/>
            <a:ext cx="5048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7E1E3"/>
                </a:solidFill>
                <a:latin typeface="Arial"/>
                <a:ea typeface="Arial"/>
                <a:cs typeface="Arial"/>
              </a:defRPr>
            </a:defPPr>
            <a:lvl1pPr algn="l">
              <a:defRPr sz="1800" b="0">
                <a:solidFill>
                  <a:srgbClr val="D7E1E3"/>
                </a:solidFill>
                <a:latin typeface="Arial"/>
                <a:ea typeface="Arial"/>
                <a:cs typeface="Arial"/>
              </a:defRPr>
            </a:lvl1pPr>
            <a:lvl2pPr algn="l">
              <a:defRPr sz="1800" b="0">
                <a:solidFill>
                  <a:srgbClr val="D7E1E3"/>
                </a:solidFill>
                <a:latin typeface="Arial"/>
                <a:ea typeface="Arial"/>
                <a:cs typeface="Arial"/>
              </a:defRPr>
            </a:lvl2pPr>
            <a:lvl3pPr algn="l">
              <a:defRPr sz="1800" b="0">
                <a:solidFill>
                  <a:srgbClr val="D7E1E3"/>
                </a:solidFill>
                <a:latin typeface="Arial"/>
                <a:ea typeface="Arial"/>
                <a:cs typeface="Arial"/>
              </a:defRPr>
            </a:lvl3pPr>
            <a:lvl4pPr algn="l">
              <a:defRPr sz="1800" b="0">
                <a:solidFill>
                  <a:srgbClr val="D7E1E3"/>
                </a:solidFill>
                <a:latin typeface="Arial"/>
                <a:ea typeface="Arial"/>
                <a:cs typeface="Arial"/>
              </a:defRPr>
            </a:lvl4pPr>
            <a:lvl5pPr algn="l">
              <a:defRPr sz="1800" b="0">
                <a:solidFill>
                  <a:srgbClr val="D7E1E3"/>
                </a:solidFill>
                <a:latin typeface="Arial"/>
                <a:ea typeface="Arial"/>
                <a:cs typeface="Arial"/>
              </a:defRPr>
            </a:lvl5pPr>
            <a:lvl6pPr algn="l">
              <a:defRPr sz="1800" b="0">
                <a:solidFill>
                  <a:srgbClr val="D7E1E3"/>
                </a:solidFill>
                <a:latin typeface="Arial"/>
                <a:ea typeface="Arial"/>
                <a:cs typeface="Arial"/>
              </a:defRPr>
            </a:lvl6pPr>
            <a:lvl7pPr algn="l">
              <a:defRPr sz="1800" b="0">
                <a:solidFill>
                  <a:srgbClr val="D7E1E3"/>
                </a:solidFill>
                <a:latin typeface="Arial"/>
                <a:ea typeface="Arial"/>
                <a:cs typeface="Arial"/>
              </a:defRPr>
            </a:lvl7pPr>
            <a:lvl8pPr algn="l">
              <a:defRPr sz="1800" b="0">
                <a:solidFill>
                  <a:srgbClr val="D7E1E3"/>
                </a:solidFill>
                <a:latin typeface="Arial"/>
                <a:ea typeface="Arial"/>
                <a:cs typeface="Arial"/>
              </a:defRPr>
            </a:lvl8pPr>
            <a:lvl9pPr algn="l">
              <a:defRPr sz="1800" b="0">
                <a:solidFill>
                  <a:srgbClr val="D7E1E3"/>
                </a:solidFill>
                <a:latin typeface="Arial"/>
                <a:ea typeface="Arial"/>
                <a:cs typeface="Arial"/>
              </a:defRPr>
            </a:lvl9pPr>
          </a:lstStyle>
          <a:p xmlns:a="http://schemas.openxmlformats.org/drawingml/2006/main">
            <a:pPr algn="l">
              <a:defRPr sz="1800" b="0">
                <a:solidFill>
                  <a:srgbClr val="D7E1E3"/>
                </a:solidFill>
                <a:latin typeface="Arial"/>
                <a:ea typeface="Arial"/>
                <a:cs typeface="Arial"/>
              </a:defRPr>
            </a:pPr>
            <a:r>
              <a:rPr sz="1800" b="0">
                <a:solidFill>
                  <a:srgbClr val="D7E1E3"/>
                </a:solidFill>
                <a:latin typeface="Arial"/>
                <a:ea typeface="Arial"/>
                <a:cs typeface="Arial"/>
              </a:rPr>
              <a:t>What evidence would make us narrow, change or reject the idea?</a:t>
            </a:r>
          </a:p>
        </p:txBody>
      </p:sp>
      <p:sp>
        <p:nvSpPr>
          <p:cNvPr id="7" name="evidence-boundary">
            <a:extLst xmlns:a="http://schemas.openxmlformats.org/drawingml/2006/main">
              <a:ext uri="{FF2B5EF4-FFF2-40B4-BE49-F238E27FC236}">
                <a16:creationId xmlns:a16="http://schemas.microsoft.com/office/drawing/2014/main" id="{293DBDD0-889C-4247-8FD9-4FB9763FE754}"/>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D7E1E3"/>
                </a:solidFill>
                <a:latin typeface="Arial"/>
                <a:ea typeface="Arial"/>
                <a:cs typeface="Arial"/>
              </a:defRPr>
            </a:defPPr>
            <a:lvl1pPr algn="l">
              <a:defRPr sz="1350" b="0">
                <a:solidFill>
                  <a:srgbClr val="D7E1E3"/>
                </a:solidFill>
                <a:latin typeface="Arial"/>
                <a:ea typeface="Arial"/>
                <a:cs typeface="Arial"/>
              </a:defRPr>
            </a:lvl1pPr>
            <a:lvl2pPr algn="l">
              <a:defRPr sz="1350" b="0">
                <a:solidFill>
                  <a:srgbClr val="D7E1E3"/>
                </a:solidFill>
                <a:latin typeface="Arial"/>
                <a:ea typeface="Arial"/>
                <a:cs typeface="Arial"/>
              </a:defRPr>
            </a:lvl2pPr>
            <a:lvl3pPr algn="l">
              <a:defRPr sz="1350" b="0">
                <a:solidFill>
                  <a:srgbClr val="D7E1E3"/>
                </a:solidFill>
                <a:latin typeface="Arial"/>
                <a:ea typeface="Arial"/>
                <a:cs typeface="Arial"/>
              </a:defRPr>
            </a:lvl3pPr>
            <a:lvl4pPr algn="l">
              <a:defRPr sz="1350" b="0">
                <a:solidFill>
                  <a:srgbClr val="D7E1E3"/>
                </a:solidFill>
                <a:latin typeface="Arial"/>
                <a:ea typeface="Arial"/>
                <a:cs typeface="Arial"/>
              </a:defRPr>
            </a:lvl4pPr>
            <a:lvl5pPr algn="l">
              <a:defRPr sz="1350" b="0">
                <a:solidFill>
                  <a:srgbClr val="D7E1E3"/>
                </a:solidFill>
                <a:latin typeface="Arial"/>
                <a:ea typeface="Arial"/>
                <a:cs typeface="Arial"/>
              </a:defRPr>
            </a:lvl5pPr>
            <a:lvl6pPr algn="l">
              <a:defRPr sz="1350" b="0">
                <a:solidFill>
                  <a:srgbClr val="D7E1E3"/>
                </a:solidFill>
                <a:latin typeface="Arial"/>
                <a:ea typeface="Arial"/>
                <a:cs typeface="Arial"/>
              </a:defRPr>
            </a:lvl6pPr>
            <a:lvl7pPr algn="l">
              <a:defRPr sz="1350" b="0">
                <a:solidFill>
                  <a:srgbClr val="D7E1E3"/>
                </a:solidFill>
                <a:latin typeface="Arial"/>
                <a:ea typeface="Arial"/>
                <a:cs typeface="Arial"/>
              </a:defRPr>
            </a:lvl7pPr>
            <a:lvl8pPr algn="l">
              <a:defRPr sz="1350" b="0">
                <a:solidFill>
                  <a:srgbClr val="D7E1E3"/>
                </a:solidFill>
                <a:latin typeface="Arial"/>
                <a:ea typeface="Arial"/>
                <a:cs typeface="Arial"/>
              </a:defRPr>
            </a:lvl8pPr>
            <a:lvl9pPr algn="l">
              <a:defRPr sz="1350" b="0">
                <a:solidFill>
                  <a:srgbClr val="D7E1E3"/>
                </a:solidFill>
                <a:latin typeface="Arial"/>
                <a:ea typeface="Arial"/>
                <a:cs typeface="Arial"/>
              </a:defRPr>
            </a:lvl9pPr>
          </a:lstStyle>
          <a:p xmlns:a="http://schemas.openxmlformats.org/drawingml/2006/main">
            <a:pPr algn="l">
              <a:defRPr sz="1350" b="0">
                <a:solidFill>
                  <a:srgbClr val="D7E1E3"/>
                </a:solidFill>
                <a:latin typeface="Arial"/>
                <a:ea typeface="Arial"/>
                <a:cs typeface="Arial"/>
              </a:defRPr>
            </a:pPr>
            <a:r>
              <a:rPr sz="1350" b="0">
                <a:solidFill>
                  <a:srgbClr val="D7E1E3"/>
                </a:solidFill>
                <a:latin typeface="Arial"/>
                <a:ea typeface="Arial"/>
                <a:cs typeface="Arial"/>
              </a:rPr>
              <a:t>Research synthesis and discussion questions. Product decisions remain open.</a:t>
            </a:r>
          </a:p>
        </p:txBody>
      </p:sp>
      <p:sp>
        <p:nvSpPr>
          <p:cNvPr id="8" name="slide-number">
            <a:extLst xmlns:a="http://schemas.openxmlformats.org/drawingml/2006/main">
              <a:ext uri="{FF2B5EF4-FFF2-40B4-BE49-F238E27FC236}">
                <a16:creationId xmlns:a16="http://schemas.microsoft.com/office/drawing/2014/main" id="{3D75EFE8-58E0-4CA8-ABAE-85F404E4CA4F}"/>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1C58A"/>
                </a:solidFill>
                <a:latin typeface="Arial"/>
                <a:ea typeface="Arial"/>
                <a:cs typeface="Arial"/>
              </a:defRPr>
            </a:defPPr>
            <a:lvl1pPr algn="l">
              <a:defRPr sz="1575" b="1">
                <a:solidFill>
                  <a:srgbClr val="F1C58A"/>
                </a:solidFill>
                <a:latin typeface="Arial"/>
                <a:ea typeface="Arial"/>
                <a:cs typeface="Arial"/>
              </a:defRPr>
            </a:lvl1pPr>
            <a:lvl2pPr algn="l">
              <a:defRPr sz="1575" b="1">
                <a:solidFill>
                  <a:srgbClr val="F1C58A"/>
                </a:solidFill>
                <a:latin typeface="Arial"/>
                <a:ea typeface="Arial"/>
                <a:cs typeface="Arial"/>
              </a:defRPr>
            </a:lvl2pPr>
            <a:lvl3pPr algn="l">
              <a:defRPr sz="1575" b="1">
                <a:solidFill>
                  <a:srgbClr val="F1C58A"/>
                </a:solidFill>
                <a:latin typeface="Arial"/>
                <a:ea typeface="Arial"/>
                <a:cs typeface="Arial"/>
              </a:defRPr>
            </a:lvl3pPr>
            <a:lvl4pPr algn="l">
              <a:defRPr sz="1575" b="1">
                <a:solidFill>
                  <a:srgbClr val="F1C58A"/>
                </a:solidFill>
                <a:latin typeface="Arial"/>
                <a:ea typeface="Arial"/>
                <a:cs typeface="Arial"/>
              </a:defRPr>
            </a:lvl4pPr>
            <a:lvl5pPr algn="l">
              <a:defRPr sz="1575" b="1">
                <a:solidFill>
                  <a:srgbClr val="F1C58A"/>
                </a:solidFill>
                <a:latin typeface="Arial"/>
                <a:ea typeface="Arial"/>
                <a:cs typeface="Arial"/>
              </a:defRPr>
            </a:lvl5pPr>
            <a:lvl6pPr algn="l">
              <a:defRPr sz="1575" b="1">
                <a:solidFill>
                  <a:srgbClr val="F1C58A"/>
                </a:solidFill>
                <a:latin typeface="Arial"/>
                <a:ea typeface="Arial"/>
                <a:cs typeface="Arial"/>
              </a:defRPr>
            </a:lvl6pPr>
            <a:lvl7pPr algn="l">
              <a:defRPr sz="1575" b="1">
                <a:solidFill>
                  <a:srgbClr val="F1C58A"/>
                </a:solidFill>
                <a:latin typeface="Arial"/>
                <a:ea typeface="Arial"/>
                <a:cs typeface="Arial"/>
              </a:defRPr>
            </a:lvl7pPr>
            <a:lvl8pPr algn="l">
              <a:defRPr sz="1575" b="1">
                <a:solidFill>
                  <a:srgbClr val="F1C58A"/>
                </a:solidFill>
                <a:latin typeface="Arial"/>
                <a:ea typeface="Arial"/>
                <a:cs typeface="Arial"/>
              </a:defRPr>
            </a:lvl8pPr>
            <a:lvl9pPr algn="l">
              <a:defRPr sz="1575" b="1">
                <a:solidFill>
                  <a:srgbClr val="F1C58A"/>
                </a:solidFill>
                <a:latin typeface="Arial"/>
                <a:ea typeface="Arial"/>
                <a:cs typeface="Arial"/>
              </a:defRPr>
            </a:lvl9pPr>
          </a:lstStyle>
          <a:p xmlns:a="http://schemas.openxmlformats.org/drawingml/2006/main">
            <a:pPr algn="l">
              <a:defRPr sz="1575" b="1">
                <a:solidFill>
                  <a:srgbClr val="F1C58A"/>
                </a:solidFill>
                <a:latin typeface="Arial"/>
                <a:ea typeface="Arial"/>
                <a:cs typeface="Arial"/>
              </a:defRPr>
            </a:pPr>
            <a:r>
              <a:rPr sz="1575" b="1">
                <a:solidFill>
                  <a:srgbClr val="F1C58A"/>
                </a:solidFill>
                <a:latin typeface="Arial"/>
                <a:ea typeface="Arial"/>
                <a:cs typeface="Arial"/>
              </a:rPr>
              <a:t>30</a:t>
            </a:r>
          </a:p>
        </p:txBody>
      </p:sp>
    </p:spTree>
    <p:extLst>
      <p:ext uri="{BB962C8B-B14F-4D97-AF65-F5344CB8AC3E}">
        <p14:creationId xmlns:p14="http://schemas.microsoft.com/office/powerpoint/2010/main" val="889170149"/>
      </p:ext>
    </p:extLst>
  </p:cSld>
</p:sld>
</file>

<file path=ppt/slides/slide31.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C09FB22-3F36-496D-8B19-4727C76CC9AF}"/>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Appendix: how the research rounds differ</a:t>
            </a:r>
          </a:p>
        </p:txBody>
      </p:sp>
      <p:sp>
        <p:nvSpPr>
          <p:cNvPr id="2" name="lead">
            <a:extLst xmlns:a="http://schemas.openxmlformats.org/drawingml/2006/main">
              <a:ext uri="{FF2B5EF4-FFF2-40B4-BE49-F238E27FC236}">
                <a16:creationId xmlns:a16="http://schemas.microsoft.com/office/drawing/2014/main" id="{18F94228-40A1-458F-A505-A169CE0A4727}"/>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Earlier work informs the context, but does not outrank later corrections.</a:t>
            </a:r>
          </a:p>
        </p:txBody>
      </p:sp>
      <p:graphicFrame>
        <p:nvGraphicFramePr>
          <p:cNvPr id="3" name="">
            <a:extLst xmlns:a="http://schemas.openxmlformats.org/drawingml/2006/main">
              <a:ext uri="{FF2B5EF4-FFF2-40B4-BE49-F238E27FC236}">
                <a16:creationId xmlns:a16="http://schemas.microsoft.com/office/drawing/2014/main" id="{2BA857EF-64AE-4F1F-B5D0-EE99A157A51E}"/>
              </a:ext>
            </a:extLst>
          </p:cNvPr>
          <p:cNvGraphicFramePr/>
          <p:nvPr/>
        </p:nvGraphicFramePr>
        <p:xfrm>
          <a:off xmlns:a="http://schemas.openxmlformats.org/drawingml/2006/main" x="723900" y="2533650"/>
          <a:ext xmlns:a="http://schemas.openxmlformats.org/drawingml/2006/main" cx="10820400" cy="3219450"/>
        </p:xfrm>
        <a:graphic xmlns:a="http://schemas.openxmlformats.org/drawingml/2006/main">
          <a:graphicData uri="http://schemas.openxmlformats.org/drawingml/2006/table">
            <a:tbl>
              <a:tblPr firstRow="1" bandRow="0"/>
              <a:tblGrid>
                <a:gridCol w="1714500"/>
                <a:gridCol w="4476750"/>
                <a:gridCol w="4629150"/>
              </a:tblGrid>
              <a:tr h="457200">
                <a:tc>
                  <a:txBody>
                    <a:bodyPr wrap="square" lIns="133350" tIns="76200" rIns="133350" bIns="76200">
                      <a:noAutofit/>
                    </a:bodyPr>
                    <a:lstStyle/>
                    <a:p>
                      <a:r>
                        <a:rPr sz="1725" b="1">
                          <a:solidFill>
                            <a:srgbClr val="FFFFFF"/>
                          </a:solidFill>
                          <a:latin typeface="Arial"/>
                          <a:ea typeface="Arial"/>
                          <a:cs typeface="Arial"/>
                        </a:rPr>
                        <a:t>Round</a:t>
                      </a:r>
                    </a:p>
                  </a:txBody>
                  <a:tcPr marL="91440" marR="91440" marT="45720" marB="45720" anchor="ctr">
                    <a:lnL w="6668">
                      <a:solidFill>
                        <a:srgbClr val="D9D8D2"/>
                      </a:solidFill>
                      <a:prstDash val="solid"/>
                    </a:lnL>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76200" rIns="133350" bIns="76200">
                      <a:noAutofit/>
                    </a:bodyPr>
                    <a:lstStyle/>
                    <a:p>
                      <a:r>
                        <a:rPr sz="1725" b="1">
                          <a:solidFill>
                            <a:srgbClr val="FFFFFF"/>
                          </a:solidFill>
                          <a:latin typeface="Arial"/>
                          <a:ea typeface="Arial"/>
                          <a:cs typeface="Arial"/>
                        </a:rPr>
                        <a:t>Contribution</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c>
                  <a:txBody>
                    <a:bodyPr wrap="square" lIns="133350" tIns="76200" rIns="133350" bIns="76200">
                      <a:noAutofit/>
                    </a:bodyPr>
                    <a:lstStyle/>
                    <a:p>
                      <a:r>
                        <a:rPr sz="1725" b="1">
                          <a:solidFill>
                            <a:srgbClr val="FFFFFF"/>
                          </a:solidFill>
                          <a:latin typeface="Arial"/>
                          <a:ea typeface="Arial"/>
                          <a:cs typeface="Arial"/>
                        </a:rPr>
                        <a:t>Boundary</a:t>
                      </a:r>
                    </a:p>
                  </a:txBody>
                  <a:tcPr marL="91440" marR="91440" marT="45720" marB="45720" anchor="ctr">
                    <a:lnR w="6668">
                      <a:solidFill>
                        <a:srgbClr val="D9D8D2"/>
                      </a:solidFill>
                      <a:prstDash val="solid"/>
                    </a:lnR>
                    <a:lnT w="6668">
                      <a:solidFill>
                        <a:srgbClr val="D9D8D2"/>
                      </a:solidFill>
                      <a:prstDash val="solid"/>
                    </a:lnT>
                    <a:lnB w="6668">
                      <a:solidFill>
                        <a:srgbClr val="D9D8D2"/>
                      </a:solidFill>
                      <a:prstDash val="solid"/>
                    </a:lnB>
                    <a:solidFill>
                      <a:srgbClr val="102235"/>
                    </a:solidFill>
                  </a:tcPr>
                </a:tc>
              </a:tr>
              <a:tr h="690563">
                <a:tc>
                  <a:txBody>
                    <a:bodyPr wrap="square" lIns="133350" tIns="76200" rIns="133350" bIns="76200">
                      <a:noAutofit/>
                    </a:bodyPr>
                    <a:lstStyle/>
                    <a:p>
                      <a:r>
                        <a:rPr sz="1725" b="0">
                          <a:solidFill>
                            <a:srgbClr val="172D40"/>
                          </a:solidFill>
                          <a:latin typeface="Arial"/>
                          <a:ea typeface="Arial"/>
                          <a:cs typeface="Arial"/>
                        </a:rPr>
                        <a:t>00</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725" b="0">
                          <a:solidFill>
                            <a:srgbClr val="172D40"/>
                          </a:solidFill>
                          <a:latin typeface="Arial"/>
                          <a:ea typeface="Arial"/>
                          <a:cs typeface="Arial"/>
                        </a:rPr>
                        <a:t>Domain, alternatives and AI-era development orientation.</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725" b="0">
                          <a:solidFill>
                            <a:srgbClr val="172D40"/>
                          </a:solidFill>
                          <a:latin typeface="Arial"/>
                          <a:ea typeface="Arial"/>
                          <a:cs typeface="Arial"/>
                        </a:rPr>
                        <a:t>Desk-research proposals, not product validation.</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725" b="0">
                          <a:solidFill>
                            <a:srgbClr val="172D40"/>
                          </a:solidFill>
                          <a:latin typeface="Arial"/>
                          <a:ea typeface="Arial"/>
                          <a:cs typeface="Arial"/>
                        </a:rPr>
                        <a:t>01</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725" b="0">
                          <a:solidFill>
                            <a:srgbClr val="172D40"/>
                          </a:solidFill>
                          <a:latin typeface="Arial"/>
                          <a:ea typeface="Arial"/>
                          <a:cs typeface="Arial"/>
                        </a:rPr>
                        <a:t>Bounded public-web accounts and hypothesis checks.</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725" b="0">
                          <a:solidFill>
                            <a:srgbClr val="172D40"/>
                          </a:solidFill>
                          <a:latin typeface="Arial"/>
                          <a:ea typeface="Arial"/>
                          <a:cs typeface="Arial"/>
                        </a:rPr>
                        <a:t>No prevalence ranking. Precise device-loss story unresolved.</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725" b="0">
                          <a:solidFill>
                            <a:srgbClr val="172D40"/>
                          </a:solidFill>
                          <a:latin typeface="Arial"/>
                          <a:ea typeface="Arial"/>
                          <a:cs typeface="Arial"/>
                        </a:rPr>
                        <a:t>02</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725" b="0">
                          <a:solidFill>
                            <a:srgbClr val="172D40"/>
                          </a:solidFill>
                          <a:latin typeface="Arial"/>
                          <a:ea typeface="Arial"/>
                          <a:cs typeface="Arial"/>
                        </a:rPr>
                        <a:t>Expanded pain, practice, guidance, caption and internal-process evidence.</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725" b="0">
                          <a:solidFill>
                            <a:srgbClr val="172D40"/>
                          </a:solidFill>
                          <a:latin typeface="Arial"/>
                          <a:ea typeface="Arial"/>
                          <a:cs typeface="Arial"/>
                        </a:rPr>
                        <a:t>Earlier fictional comparison stays historical. No user testing.</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r h="690563">
                <a:tc>
                  <a:txBody>
                    <a:bodyPr wrap="square" lIns="133350" tIns="76200" rIns="133350" bIns="76200">
                      <a:noAutofit/>
                    </a:bodyPr>
                    <a:lstStyle/>
                    <a:p>
                      <a:r>
                        <a:rPr sz="1725" b="0">
                          <a:solidFill>
                            <a:srgbClr val="172D40"/>
                          </a:solidFill>
                          <a:latin typeface="Arial"/>
                          <a:ea typeface="Arial"/>
                          <a:cs typeface="Arial"/>
                        </a:rPr>
                        <a:t>03</a:t>
                      </a:r>
                    </a:p>
                  </a:txBody>
                  <a:tcPr marL="91440" marR="91440" marT="45720" marB="45720" anchor="ctr">
                    <a:lnL w="6668">
                      <a:solidFill>
                        <a:srgbClr val="D9D8D2"/>
                      </a:solidFill>
                      <a:prstDash val="solid"/>
                    </a:lnL>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725" b="0">
                          <a:solidFill>
                            <a:srgbClr val="172D40"/>
                          </a:solidFill>
                          <a:latin typeface="Arial"/>
                          <a:ea typeface="Arial"/>
                          <a:cs typeface="Arial"/>
                        </a:rPr>
                        <a:t>13 profiles, six deeper inquiries and vacancy-credibility distinctions.</a:t>
                      </a:r>
                    </a:p>
                  </a:txBody>
                  <a:tcPr marL="91440" marR="91440" marT="45720" marB="45720" anchor="ctr">
                    <a:lnR w="6668">
                      <a:solidFill>
                        <a:srgbClr val="D9D8D2"/>
                      </a:solidFill>
                      <a:prstDash val="solid"/>
                    </a:lnR>
                    <a:lnB w="6668">
                      <a:solidFill>
                        <a:srgbClr val="D9D8D2"/>
                      </a:solidFill>
                      <a:prstDash val="solid"/>
                    </a:lnB>
                    <a:solidFill>
                      <a:srgbClr val="FAF6EE"/>
                    </a:solidFill>
                  </a:tcPr>
                </a:tc>
                <a:tc>
                  <a:txBody>
                    <a:bodyPr wrap="square" lIns="133350" tIns="76200" rIns="133350" bIns="76200">
                      <a:noAutofit/>
                    </a:bodyPr>
                    <a:lstStyle/>
                    <a:p>
                      <a:r>
                        <a:rPr sz="1725" b="0">
                          <a:solidFill>
                            <a:srgbClr val="172D40"/>
                          </a:solidFill>
                          <a:latin typeface="Arial"/>
                          <a:ea typeface="Arial"/>
                          <a:cs typeface="Arial"/>
                        </a:rPr>
                        <a:t>Purposive desk research. Gaps and historical cases stay visible.</a:t>
                      </a:r>
                    </a:p>
                  </a:txBody>
                  <a:tcPr marL="91440" marR="91440" marT="45720" marB="45720" anchor="ctr">
                    <a:lnR w="6668">
                      <a:solidFill>
                        <a:srgbClr val="D9D8D2"/>
                      </a:solidFill>
                      <a:prstDash val="solid"/>
                    </a:lnR>
                    <a:lnB w="6668">
                      <a:solidFill>
                        <a:srgbClr val="D9D8D2"/>
                      </a:solidFill>
                      <a:prstDash val="solid"/>
                    </a:lnB>
                    <a:solidFill>
                      <a:srgbClr val="FAF6EE"/>
                    </a:solidFill>
                  </a:tcPr>
                </a:tc>
              </a:tr>
            </a:tbl>
          </a:graphicData>
        </a:graphic>
      </p:graphicFrame>
      <p:sp>
        <p:nvSpPr>
          <p:cNvPr id="4" name="evidence-boundary">
            <a:extLst xmlns:a="http://schemas.openxmlformats.org/drawingml/2006/main">
              <a:ext uri="{FF2B5EF4-FFF2-40B4-BE49-F238E27FC236}">
                <a16:creationId xmlns:a16="http://schemas.microsoft.com/office/drawing/2014/main" id="{42815CCF-B408-4698-AF9B-A083102F8E76}"/>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Round 03 extends the evidence. Rounds 04–06 remain optional plans. No product decision follows.</a:t>
            </a:r>
          </a:p>
        </p:txBody>
      </p:sp>
      <p:sp>
        <p:nvSpPr>
          <p:cNvPr id="5" name="slide-number">
            <a:extLst xmlns:a="http://schemas.openxmlformats.org/drawingml/2006/main">
              <a:ext uri="{FF2B5EF4-FFF2-40B4-BE49-F238E27FC236}">
                <a16:creationId xmlns:a16="http://schemas.microsoft.com/office/drawing/2014/main" id="{015F9FB0-370D-4EE5-A04A-7EDC3E456789}"/>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31</a:t>
            </a:r>
          </a:p>
        </p:txBody>
      </p:sp>
    </p:spTree>
    <p:extLst>
      <p:ext uri="{BB962C8B-B14F-4D97-AF65-F5344CB8AC3E}">
        <p14:creationId xmlns:p14="http://schemas.microsoft.com/office/powerpoint/2010/main" val="1267664156"/>
      </p:ext>
    </p:extLst>
  </p:cSld>
</p:sld>
</file>

<file path=ppt/slides/slide32.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BF2A9886-2038-40C3-B6FD-5365D139B2C6}"/>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Appendix: what the videos contributed</a:t>
            </a:r>
          </a:p>
        </p:txBody>
      </p:sp>
      <p:sp>
        <p:nvSpPr>
          <p:cNvPr id="2" name="lead">
            <a:extLst xmlns:a="http://schemas.openxmlformats.org/drawingml/2006/main">
              <a:ext uri="{FF2B5EF4-FFF2-40B4-BE49-F238E27FC236}">
                <a16:creationId xmlns:a16="http://schemas.microsoft.com/office/drawing/2014/main" id="{ECA30CF6-234A-42C8-912B-477E38C9132C}"/>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Ten caption reviews across eight creator families added examples and questions.</a:t>
            </a:r>
          </a:p>
        </p:txBody>
      </p:sp>
      <p:sp>
        <p:nvSpPr>
          <p:cNvPr id="3" name="column-heading-0">
            <a:extLst xmlns:a="http://schemas.openxmlformats.org/drawingml/2006/main">
              <a:ext uri="{FF2B5EF4-FFF2-40B4-BE49-F238E27FC236}">
                <a16:creationId xmlns:a16="http://schemas.microsoft.com/office/drawing/2014/main" id="{78138578-BD00-4719-8F6E-9FDA3E67677A}"/>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Useful contributions</a:t>
            </a:r>
          </a:p>
        </p:txBody>
      </p:sp>
      <p:sp>
        <p:nvSpPr>
          <p:cNvPr id="4" name="column-0-detail-0">
            <a:extLst xmlns:a="http://schemas.openxmlformats.org/drawingml/2006/main">
              <a:ext uri="{FF2B5EF4-FFF2-40B4-BE49-F238E27FC236}">
                <a16:creationId xmlns:a16="http://schemas.microsoft.com/office/drawing/2014/main" id="{C25D1F20-00D8-42D2-B22F-E185146EC8D8}"/>
              </a:ext>
            </a:extLst>
          </p:cNvPr>
          <p:cNvSpPr>
            <a:spLocks xmlns:a="http://schemas.openxmlformats.org/drawingml/2006/main" noGrp="1"/>
          </p:cNvSpPr>
          <p:nvPr/>
        </p:nvSpPr>
        <p:spPr>
          <a:xfrm xmlns:a="http://schemas.openxmlformats.org/drawingml/2006/main">
            <a:off x="76200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Red-flag clarification questions and alternative explanations.</a:t>
            </a:r>
          </a:p>
        </p:txBody>
      </p:sp>
      <p:sp>
        <p:nvSpPr>
          <p:cNvPr id="5" name="column-0-detail-1">
            <a:extLst xmlns:a="http://schemas.openxmlformats.org/drawingml/2006/main">
              <a:ext uri="{FF2B5EF4-FFF2-40B4-BE49-F238E27FC236}">
                <a16:creationId xmlns:a16="http://schemas.microsoft.com/office/drawing/2014/main" id="{F7EBA65B-C243-4E99-B9C5-882921D74548}"/>
              </a:ext>
            </a:extLst>
          </p:cNvPr>
          <p:cNvSpPr>
            <a:spLocks xmlns:a="http://schemas.openxmlformats.org/drawingml/2006/main" noGrp="1"/>
          </p:cNvSpPr>
          <p:nvPr/>
        </p:nvSpPr>
        <p:spPr>
          <a:xfrm xmlns:a="http://schemas.openxmlformats.org/drawingml/2006/main">
            <a:off x="76200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Fact-first drafting and narrated title-change checking.</a:t>
            </a:r>
          </a:p>
        </p:txBody>
      </p:sp>
      <p:sp>
        <p:nvSpPr>
          <p:cNvPr id="6" name="column-0-detail-2">
            <a:extLst xmlns:a="http://schemas.openxmlformats.org/drawingml/2006/main">
              <a:ext uri="{FF2B5EF4-FFF2-40B4-BE49-F238E27FC236}">
                <a16:creationId xmlns:a16="http://schemas.microsoft.com/office/drawing/2014/main" id="{D2CF04E1-2B70-48CD-8CFD-1C449F3EB443}"/>
              </a:ext>
            </a:extLst>
          </p:cNvPr>
          <p:cNvSpPr>
            <a:spLocks xmlns:a="http://schemas.openxmlformats.org/drawingml/2006/main" noGrp="1"/>
          </p:cNvSpPr>
          <p:nvPr/>
        </p:nvSpPr>
        <p:spPr>
          <a:xfrm xmlns:a="http://schemas.openxmlformats.org/drawingml/2006/main">
            <a:off x="76200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Experience notebooks and spoken interview practice.</a:t>
            </a:r>
          </a:p>
        </p:txBody>
      </p:sp>
      <p:sp>
        <p:nvSpPr>
          <p:cNvPr id="7" name="column-heading-1">
            <a:extLst xmlns:a="http://schemas.openxmlformats.org/drawingml/2006/main">
              <a:ext uri="{FF2B5EF4-FFF2-40B4-BE49-F238E27FC236}">
                <a16:creationId xmlns:a16="http://schemas.microsoft.com/office/drawing/2014/main" id="{A4C0F0AB-70B7-4276-9536-9C8EBA3E2B3B}"/>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Important limits</a:t>
            </a:r>
          </a:p>
        </p:txBody>
      </p:sp>
      <p:sp>
        <p:nvSpPr>
          <p:cNvPr id="8" name="column-1-detail-0">
            <a:extLst xmlns:a="http://schemas.openxmlformats.org/drawingml/2006/main">
              <a:ext uri="{FF2B5EF4-FFF2-40B4-BE49-F238E27FC236}">
                <a16:creationId xmlns:a16="http://schemas.microsoft.com/office/drawing/2014/main" id="{0DEB459B-0251-4902-A67E-E145521B4EAF}"/>
              </a:ext>
            </a:extLst>
          </p:cNvPr>
          <p:cNvSpPr>
            <a:spLocks xmlns:a="http://schemas.openxmlformats.org/drawingml/2006/main" noGrp="1"/>
          </p:cNvSpPr>
          <p:nvPr/>
        </p:nvSpPr>
        <p:spPr>
          <a:xfrm xmlns:a="http://schemas.openxmlformats.org/drawingml/2006/main">
            <a:off x="638175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Advice and tutorials dominate the sample.</a:t>
            </a:r>
          </a:p>
        </p:txBody>
      </p:sp>
      <p:sp>
        <p:nvSpPr>
          <p:cNvPr id="9" name="column-1-detail-1">
            <a:extLst xmlns:a="http://schemas.openxmlformats.org/drawingml/2006/main">
              <a:ext uri="{FF2B5EF4-FFF2-40B4-BE49-F238E27FC236}">
                <a16:creationId xmlns:a16="http://schemas.microsoft.com/office/drawing/2014/main" id="{F42C496E-E782-47BF-B91E-E5565FF61D36}"/>
              </a:ext>
            </a:extLst>
          </p:cNvPr>
          <p:cNvSpPr>
            <a:spLocks xmlns:a="http://schemas.openxmlformats.org/drawingml/2006/main" noGrp="1"/>
          </p:cNvSpPr>
          <p:nvPr/>
        </p:nvSpPr>
        <p:spPr>
          <a:xfrm xmlns:a="http://schemas.openxmlformats.org/drawingml/2006/main">
            <a:off x="638175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Caption text received review, not audio or screen verification.</a:t>
            </a:r>
          </a:p>
        </p:txBody>
      </p:sp>
      <p:sp>
        <p:nvSpPr>
          <p:cNvPr id="10" name="column-1-detail-2">
            <a:extLst xmlns:a="http://schemas.openxmlformats.org/drawingml/2006/main">
              <a:ext uri="{FF2B5EF4-FFF2-40B4-BE49-F238E27FC236}">
                <a16:creationId xmlns:a16="http://schemas.microsoft.com/office/drawing/2014/main" id="{DC08CF39-E7FF-4693-AC59-1437A55C4C9D}"/>
              </a:ext>
            </a:extLst>
          </p:cNvPr>
          <p:cNvSpPr>
            <a:spLocks xmlns:a="http://schemas.openxmlformats.org/drawingml/2006/main" noGrp="1"/>
          </p:cNvSpPr>
          <p:nvPr/>
        </p:nvSpPr>
        <p:spPr>
          <a:xfrm xmlns:a="http://schemas.openxmlformats.org/drawingml/2006/main">
            <a:off x="638175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One salary video concerns older international raise advice.</a:t>
            </a:r>
          </a:p>
        </p:txBody>
      </p:sp>
      <p:sp>
        <p:nvSpPr>
          <p:cNvPr id="11" name="takeaway">
            <a:extLst xmlns:a="http://schemas.openxmlformats.org/drawingml/2006/main">
              <a:ext uri="{FF2B5EF4-FFF2-40B4-BE49-F238E27FC236}">
                <a16:creationId xmlns:a16="http://schemas.microsoft.com/office/drawing/2014/main" id="{E2D9E7AB-FA68-457B-BEB6-C52FE225FB54}"/>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Popularity and repeated statistics do not establish credibility or outcomes.</a:t>
            </a:r>
          </a:p>
        </p:txBody>
      </p:sp>
      <p:sp>
        <p:nvSpPr>
          <p:cNvPr id="12" name="evidence-boundary">
            <a:extLst xmlns:a="http://schemas.openxmlformats.org/drawingml/2006/main">
              <a:ext uri="{FF2B5EF4-FFF2-40B4-BE49-F238E27FC236}">
                <a16:creationId xmlns:a16="http://schemas.microsoft.com/office/drawing/2014/main" id="{BD5E55FD-D39E-4468-9DC8-1CAC2F252E99}"/>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V01–V10. Broad video statistics stayed excluded from substantive conclusions.</a:t>
            </a:r>
          </a:p>
        </p:txBody>
      </p:sp>
      <p:sp>
        <p:nvSpPr>
          <p:cNvPr id="13" name="slide-number">
            <a:extLst xmlns:a="http://schemas.openxmlformats.org/drawingml/2006/main">
              <a:ext uri="{FF2B5EF4-FFF2-40B4-BE49-F238E27FC236}">
                <a16:creationId xmlns:a16="http://schemas.microsoft.com/office/drawing/2014/main" id="{3FA3454F-5FC4-47E1-AD24-F350E7204F6B}"/>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32</a:t>
            </a:r>
          </a:p>
        </p:txBody>
      </p:sp>
    </p:spTree>
    <p:extLst>
      <p:ext uri="{BB962C8B-B14F-4D97-AF65-F5344CB8AC3E}">
        <p14:creationId xmlns:p14="http://schemas.microsoft.com/office/powerpoint/2010/main" val="2103124483"/>
      </p:ext>
    </p:extLst>
  </p:cSld>
</p:sld>
</file>

<file path=ppt/slides/slide33.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FBB5B8B1-9BF2-4BD6-A52F-B400D10CB7FD}"/>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Appendix: small, explainable development steps</a:t>
            </a:r>
          </a:p>
        </p:txBody>
      </p:sp>
      <p:sp>
        <p:nvSpPr>
          <p:cNvPr id="2" name="lead">
            <a:extLst xmlns:a="http://schemas.openxmlformats.org/drawingml/2006/main">
              <a:ext uri="{FF2B5EF4-FFF2-40B4-BE49-F238E27FC236}">
                <a16:creationId xmlns:a16="http://schemas.microsoft.com/office/drawing/2014/main" id="{8EE167DB-6B78-48E8-AA25-13F4567BCD12}"/>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Earlier research proposes a lighter process while retaining technical ownership.</a:t>
            </a:r>
          </a:p>
        </p:txBody>
      </p:sp>
      <p:sp>
        <p:nvSpPr>
          <p:cNvPr id="3" name="diagram-index-0">
            <a:extLst xmlns:a="http://schemas.openxmlformats.org/drawingml/2006/main">
              <a:ext uri="{FF2B5EF4-FFF2-40B4-BE49-F238E27FC236}">
                <a16:creationId xmlns:a16="http://schemas.microsoft.com/office/drawing/2014/main" id="{1D29F9A4-262C-4A45-BF37-360A4804B1FA}"/>
              </a:ext>
            </a:extLst>
          </p:cNvPr>
          <p:cNvSpPr>
            <a:spLocks xmlns:a="http://schemas.openxmlformats.org/drawingml/2006/main" noGrp="1"/>
          </p:cNvSpPr>
          <p:nvPr/>
        </p:nvSpPr>
        <p:spPr>
          <a:xfrm xmlns:a="http://schemas.openxmlformats.org/drawingml/2006/main">
            <a:off x="762000"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01</a:t>
            </a:r>
          </a:p>
        </p:txBody>
      </p:sp>
      <p:sp>
        <p:nvSpPr>
          <p:cNvPr id="4" name="diagram-heading-0">
            <a:extLst xmlns:a="http://schemas.openxmlformats.org/drawingml/2006/main">
              <a:ext uri="{FF2B5EF4-FFF2-40B4-BE49-F238E27FC236}">
                <a16:creationId xmlns:a16="http://schemas.microsoft.com/office/drawing/2014/main" id="{0E189888-5F4D-44F7-A253-B7FB11F186C5}"/>
              </a:ext>
            </a:extLst>
          </p:cNvPr>
          <p:cNvSpPr>
            <a:spLocks xmlns:a="http://schemas.openxmlformats.org/drawingml/2006/main" noGrp="1"/>
          </p:cNvSpPr>
          <p:nvPr/>
        </p:nvSpPr>
        <p:spPr>
          <a:xfrm xmlns:a="http://schemas.openxmlformats.org/drawingml/2006/main">
            <a:off x="762000"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Brief</a:t>
            </a:r>
          </a:p>
        </p:txBody>
      </p:sp>
      <p:sp>
        <p:nvSpPr>
          <p:cNvPr id="5" name="diagram-detail-0">
            <a:extLst xmlns:a="http://schemas.openxmlformats.org/drawingml/2006/main">
              <a:ext uri="{FF2B5EF4-FFF2-40B4-BE49-F238E27FC236}">
                <a16:creationId xmlns:a16="http://schemas.microsoft.com/office/drawing/2014/main" id="{C54215FD-AB6B-4BC5-ADBB-3562C6221878}"/>
              </a:ext>
            </a:extLst>
          </p:cNvPr>
          <p:cNvSpPr>
            <a:spLocks xmlns:a="http://schemas.openxmlformats.org/drawingml/2006/main" noGrp="1"/>
          </p:cNvSpPr>
          <p:nvPr/>
        </p:nvSpPr>
        <p:spPr>
          <a:xfrm xmlns:a="http://schemas.openxmlformats.org/drawingml/2006/main">
            <a:off x="762000"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One behaviour and clear boundaries.</a:t>
            </a:r>
          </a:p>
        </p:txBody>
      </p:sp>
      <p:sp>
        <p:nvSpPr>
          <p:cNvPr id="6" name="diagram-sequence-0">
            <a:extLst xmlns:a="http://schemas.openxmlformats.org/drawingml/2006/main">
              <a:ext uri="{FF2B5EF4-FFF2-40B4-BE49-F238E27FC236}">
                <a16:creationId xmlns:a16="http://schemas.microsoft.com/office/drawing/2014/main" id="{0676BBD0-BEAB-46C1-B537-E22D33B68E28}"/>
              </a:ext>
            </a:extLst>
          </p:cNvPr>
          <p:cNvSpPr>
            <a:spLocks xmlns:a="http://schemas.openxmlformats.org/drawingml/2006/main" noGrp="1"/>
          </p:cNvSpPr>
          <p:nvPr/>
        </p:nvSpPr>
        <p:spPr>
          <a:xfrm xmlns:a="http://schemas.openxmlformats.org/drawingml/2006/main">
            <a:off x="1524000" y="3009900"/>
            <a:ext cx="2024063"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7" name="diagram-index-1">
            <a:extLst xmlns:a="http://schemas.openxmlformats.org/drawingml/2006/main">
              <a:ext uri="{FF2B5EF4-FFF2-40B4-BE49-F238E27FC236}">
                <a16:creationId xmlns:a16="http://schemas.microsoft.com/office/drawing/2014/main" id="{3FD2BAD4-785E-44A5-8081-AB640E7E3AF6}"/>
              </a:ext>
            </a:extLst>
          </p:cNvPr>
          <p:cNvSpPr>
            <a:spLocks xmlns:a="http://schemas.openxmlformats.org/drawingml/2006/main" noGrp="1"/>
          </p:cNvSpPr>
          <p:nvPr/>
        </p:nvSpPr>
        <p:spPr>
          <a:xfrm xmlns:a="http://schemas.openxmlformats.org/drawingml/2006/main">
            <a:off x="3548063"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02</a:t>
            </a:r>
          </a:p>
        </p:txBody>
      </p:sp>
      <p:sp>
        <p:nvSpPr>
          <p:cNvPr id="8" name="diagram-heading-1">
            <a:extLst xmlns:a="http://schemas.openxmlformats.org/drawingml/2006/main">
              <a:ext uri="{FF2B5EF4-FFF2-40B4-BE49-F238E27FC236}">
                <a16:creationId xmlns:a16="http://schemas.microsoft.com/office/drawing/2014/main" id="{E90DCE57-5A77-438E-91F4-D2EB2D568211}"/>
              </a:ext>
            </a:extLst>
          </p:cNvPr>
          <p:cNvSpPr>
            <a:spLocks xmlns:a="http://schemas.openxmlformats.org/drawingml/2006/main" noGrp="1"/>
          </p:cNvSpPr>
          <p:nvPr/>
        </p:nvSpPr>
        <p:spPr>
          <a:xfrm xmlns:a="http://schemas.openxmlformats.org/drawingml/2006/main">
            <a:off x="3548063"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Build</a:t>
            </a:r>
          </a:p>
        </p:txBody>
      </p:sp>
      <p:sp>
        <p:nvSpPr>
          <p:cNvPr id="9" name="diagram-detail-1">
            <a:extLst xmlns:a="http://schemas.openxmlformats.org/drawingml/2006/main">
              <a:ext uri="{FF2B5EF4-FFF2-40B4-BE49-F238E27FC236}">
                <a16:creationId xmlns:a16="http://schemas.microsoft.com/office/drawing/2014/main" id="{857E8907-4B0D-4BA2-902E-910FA4BC9471}"/>
              </a:ext>
            </a:extLst>
          </p:cNvPr>
          <p:cNvSpPr>
            <a:spLocks xmlns:a="http://schemas.openxmlformats.org/drawingml/2006/main" noGrp="1"/>
          </p:cNvSpPr>
          <p:nvPr/>
        </p:nvSpPr>
        <p:spPr>
          <a:xfrm xmlns:a="http://schemas.openxmlformats.org/drawingml/2006/main">
            <a:off x="3548063"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A small implementation slice.</a:t>
            </a:r>
          </a:p>
        </p:txBody>
      </p:sp>
      <p:sp>
        <p:nvSpPr>
          <p:cNvPr id="10" name="diagram-sequence-1">
            <a:extLst xmlns:a="http://schemas.openxmlformats.org/drawingml/2006/main">
              <a:ext uri="{FF2B5EF4-FFF2-40B4-BE49-F238E27FC236}">
                <a16:creationId xmlns:a16="http://schemas.microsoft.com/office/drawing/2014/main" id="{E5B7D6FD-AF5D-4E16-BD2C-5F552CBC4845}"/>
              </a:ext>
            </a:extLst>
          </p:cNvPr>
          <p:cNvSpPr>
            <a:spLocks xmlns:a="http://schemas.openxmlformats.org/drawingml/2006/main" noGrp="1"/>
          </p:cNvSpPr>
          <p:nvPr/>
        </p:nvSpPr>
        <p:spPr>
          <a:xfrm xmlns:a="http://schemas.openxmlformats.org/drawingml/2006/main">
            <a:off x="4310063" y="3009900"/>
            <a:ext cx="2024063"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11" name="diagram-index-2">
            <a:extLst xmlns:a="http://schemas.openxmlformats.org/drawingml/2006/main">
              <a:ext uri="{FF2B5EF4-FFF2-40B4-BE49-F238E27FC236}">
                <a16:creationId xmlns:a16="http://schemas.microsoft.com/office/drawing/2014/main" id="{873EF43F-D49B-477A-B228-4F8157C62FF1}"/>
              </a:ext>
            </a:extLst>
          </p:cNvPr>
          <p:cNvSpPr>
            <a:spLocks xmlns:a="http://schemas.openxmlformats.org/drawingml/2006/main" noGrp="1"/>
          </p:cNvSpPr>
          <p:nvPr/>
        </p:nvSpPr>
        <p:spPr>
          <a:xfrm xmlns:a="http://schemas.openxmlformats.org/drawingml/2006/main">
            <a:off x="6334125"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03</a:t>
            </a:r>
          </a:p>
        </p:txBody>
      </p:sp>
      <p:sp>
        <p:nvSpPr>
          <p:cNvPr id="12" name="diagram-heading-2">
            <a:extLst xmlns:a="http://schemas.openxmlformats.org/drawingml/2006/main">
              <a:ext uri="{FF2B5EF4-FFF2-40B4-BE49-F238E27FC236}">
                <a16:creationId xmlns:a16="http://schemas.microsoft.com/office/drawing/2014/main" id="{0B2E1986-E136-403E-8BEC-FCB7C97637D7}"/>
              </a:ext>
            </a:extLst>
          </p:cNvPr>
          <p:cNvSpPr>
            <a:spLocks xmlns:a="http://schemas.openxmlformats.org/drawingml/2006/main" noGrp="1"/>
          </p:cNvSpPr>
          <p:nvPr/>
        </p:nvSpPr>
        <p:spPr>
          <a:xfrm xmlns:a="http://schemas.openxmlformats.org/drawingml/2006/main">
            <a:off x="6334125"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Verify</a:t>
            </a:r>
          </a:p>
        </p:txBody>
      </p:sp>
      <p:sp>
        <p:nvSpPr>
          <p:cNvPr id="13" name="diagram-detail-2">
            <a:extLst xmlns:a="http://schemas.openxmlformats.org/drawingml/2006/main">
              <a:ext uri="{FF2B5EF4-FFF2-40B4-BE49-F238E27FC236}">
                <a16:creationId xmlns:a16="http://schemas.microsoft.com/office/drawing/2014/main" id="{9AADB004-7EF0-4821-A4AE-52F66D93AC28}"/>
              </a:ext>
            </a:extLst>
          </p:cNvPr>
          <p:cNvSpPr>
            <a:spLocks xmlns:a="http://schemas.openxmlformats.org/drawingml/2006/main" noGrp="1"/>
          </p:cNvSpPr>
          <p:nvPr/>
        </p:nvSpPr>
        <p:spPr>
          <a:xfrm xmlns:a="http://schemas.openxmlformats.org/drawingml/2006/main">
            <a:off x="6334125"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Tests and independent review.</a:t>
            </a:r>
          </a:p>
        </p:txBody>
      </p:sp>
      <p:sp>
        <p:nvSpPr>
          <p:cNvPr id="14" name="diagram-sequence-2">
            <a:extLst xmlns:a="http://schemas.openxmlformats.org/drawingml/2006/main">
              <a:ext uri="{FF2B5EF4-FFF2-40B4-BE49-F238E27FC236}">
                <a16:creationId xmlns:a16="http://schemas.microsoft.com/office/drawing/2014/main" id="{1094AEA9-39A2-4F0B-B267-2264DD8459F5}"/>
              </a:ext>
            </a:extLst>
          </p:cNvPr>
          <p:cNvSpPr>
            <a:spLocks xmlns:a="http://schemas.openxmlformats.org/drawingml/2006/main" noGrp="1"/>
          </p:cNvSpPr>
          <p:nvPr/>
        </p:nvSpPr>
        <p:spPr>
          <a:xfrm xmlns:a="http://schemas.openxmlformats.org/drawingml/2006/main">
            <a:off x="7096125" y="3009900"/>
            <a:ext cx="2024063" cy="0"/>
          </a:xfrm>
          <a:prstGeom xmlns:a="http://schemas.openxmlformats.org/drawingml/2006/main" prst="line">
            <a:avLst/>
          </a:prstGeom>
          <a:noFill xmlns:a="http://schemas.openxmlformats.org/drawingml/2006/main"/>
          <a:ln xmlns:a="http://schemas.openxmlformats.org/drawingml/2006/main" w="19050">
            <a:solidFill>
              <a:srgbClr val="166B65"/>
            </a:solidFill>
            <a:prstDash val="solid"/>
          </a:ln>
        </p:spPr>
      </p:sp>
      <p:sp>
        <p:nvSpPr>
          <p:cNvPr id="15" name="diagram-index-3">
            <a:extLst xmlns:a="http://schemas.openxmlformats.org/drawingml/2006/main">
              <a:ext uri="{FF2B5EF4-FFF2-40B4-BE49-F238E27FC236}">
                <a16:creationId xmlns:a16="http://schemas.microsoft.com/office/drawing/2014/main" id="{BB3CC213-3FDD-46A9-B0AE-6443252CAE29}"/>
              </a:ext>
            </a:extLst>
          </p:cNvPr>
          <p:cNvSpPr>
            <a:spLocks xmlns:a="http://schemas.openxmlformats.org/drawingml/2006/main" noGrp="1"/>
          </p:cNvSpPr>
          <p:nvPr/>
        </p:nvSpPr>
        <p:spPr>
          <a:xfrm xmlns:a="http://schemas.openxmlformats.org/drawingml/2006/main">
            <a:off x="9120188" y="2571750"/>
            <a:ext cx="2462213"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750" b="1">
                <a:solidFill>
                  <a:srgbClr val="B94B28"/>
                </a:solidFill>
                <a:latin typeface="Arial"/>
                <a:ea typeface="Arial"/>
                <a:cs typeface="Arial"/>
              </a:defRPr>
            </a:defPPr>
            <a:lvl1pPr algn="l">
              <a:defRPr sz="3750" b="1">
                <a:solidFill>
                  <a:srgbClr val="B94B28"/>
                </a:solidFill>
                <a:latin typeface="Arial"/>
                <a:ea typeface="Arial"/>
                <a:cs typeface="Arial"/>
              </a:defRPr>
            </a:lvl1pPr>
            <a:lvl2pPr algn="l">
              <a:defRPr sz="3750" b="1">
                <a:solidFill>
                  <a:srgbClr val="B94B28"/>
                </a:solidFill>
                <a:latin typeface="Arial"/>
                <a:ea typeface="Arial"/>
                <a:cs typeface="Arial"/>
              </a:defRPr>
            </a:lvl2pPr>
            <a:lvl3pPr algn="l">
              <a:defRPr sz="3750" b="1">
                <a:solidFill>
                  <a:srgbClr val="B94B28"/>
                </a:solidFill>
                <a:latin typeface="Arial"/>
                <a:ea typeface="Arial"/>
                <a:cs typeface="Arial"/>
              </a:defRPr>
            </a:lvl3pPr>
            <a:lvl4pPr algn="l">
              <a:defRPr sz="3750" b="1">
                <a:solidFill>
                  <a:srgbClr val="B94B28"/>
                </a:solidFill>
                <a:latin typeface="Arial"/>
                <a:ea typeface="Arial"/>
                <a:cs typeface="Arial"/>
              </a:defRPr>
            </a:lvl4pPr>
            <a:lvl5pPr algn="l">
              <a:defRPr sz="3750" b="1">
                <a:solidFill>
                  <a:srgbClr val="B94B28"/>
                </a:solidFill>
                <a:latin typeface="Arial"/>
                <a:ea typeface="Arial"/>
                <a:cs typeface="Arial"/>
              </a:defRPr>
            </a:lvl5pPr>
            <a:lvl6pPr algn="l">
              <a:defRPr sz="3750" b="1">
                <a:solidFill>
                  <a:srgbClr val="B94B28"/>
                </a:solidFill>
                <a:latin typeface="Arial"/>
                <a:ea typeface="Arial"/>
                <a:cs typeface="Arial"/>
              </a:defRPr>
            </a:lvl6pPr>
            <a:lvl7pPr algn="l">
              <a:defRPr sz="3750" b="1">
                <a:solidFill>
                  <a:srgbClr val="B94B28"/>
                </a:solidFill>
                <a:latin typeface="Arial"/>
                <a:ea typeface="Arial"/>
                <a:cs typeface="Arial"/>
              </a:defRPr>
            </a:lvl7pPr>
            <a:lvl8pPr algn="l">
              <a:defRPr sz="3750" b="1">
                <a:solidFill>
                  <a:srgbClr val="B94B28"/>
                </a:solidFill>
                <a:latin typeface="Arial"/>
                <a:ea typeface="Arial"/>
                <a:cs typeface="Arial"/>
              </a:defRPr>
            </a:lvl8pPr>
            <a:lvl9pPr algn="l">
              <a:defRPr sz="3750" b="1">
                <a:solidFill>
                  <a:srgbClr val="B94B28"/>
                </a:solidFill>
                <a:latin typeface="Arial"/>
                <a:ea typeface="Arial"/>
                <a:cs typeface="Arial"/>
              </a:defRPr>
            </a:lvl9pPr>
          </a:lstStyle>
          <a:p xmlns:a="http://schemas.openxmlformats.org/drawingml/2006/main">
            <a:pPr algn="l">
              <a:defRPr sz="3750" b="1">
                <a:solidFill>
                  <a:srgbClr val="B94B28"/>
                </a:solidFill>
                <a:latin typeface="Arial"/>
                <a:ea typeface="Arial"/>
                <a:cs typeface="Arial"/>
              </a:defRPr>
            </a:pPr>
            <a:r>
              <a:rPr sz="3750" b="1">
                <a:solidFill>
                  <a:srgbClr val="B94B28"/>
                </a:solidFill>
                <a:latin typeface="Arial"/>
                <a:ea typeface="Arial"/>
                <a:cs typeface="Arial"/>
              </a:rPr>
              <a:t>04</a:t>
            </a:r>
          </a:p>
        </p:txBody>
      </p:sp>
      <p:sp>
        <p:nvSpPr>
          <p:cNvPr id="16" name="diagram-heading-3">
            <a:extLst xmlns:a="http://schemas.openxmlformats.org/drawingml/2006/main">
              <a:ext uri="{FF2B5EF4-FFF2-40B4-BE49-F238E27FC236}">
                <a16:creationId xmlns:a16="http://schemas.microsoft.com/office/drawing/2014/main" id="{ACD741FF-5DDA-43C9-ADC0-AB2C14C2DD76}"/>
              </a:ext>
            </a:extLst>
          </p:cNvPr>
          <p:cNvSpPr>
            <a:spLocks xmlns:a="http://schemas.openxmlformats.org/drawingml/2006/main" noGrp="1"/>
          </p:cNvSpPr>
          <p:nvPr/>
        </p:nvSpPr>
        <p:spPr>
          <a:xfrm xmlns:a="http://schemas.openxmlformats.org/drawingml/2006/main">
            <a:off x="9120188" y="3448050"/>
            <a:ext cx="2462213"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40"/>
                </a:solidFill>
                <a:latin typeface="Arial"/>
                <a:ea typeface="Arial"/>
                <a:cs typeface="Arial"/>
              </a:defRPr>
            </a:defPPr>
            <a:lvl1pPr algn="l">
              <a:defRPr sz="2325" b="1">
                <a:solidFill>
                  <a:srgbClr val="172D40"/>
                </a:solidFill>
                <a:latin typeface="Arial"/>
                <a:ea typeface="Arial"/>
                <a:cs typeface="Arial"/>
              </a:defRPr>
            </a:lvl1pPr>
            <a:lvl2pPr algn="l">
              <a:defRPr sz="2325" b="1">
                <a:solidFill>
                  <a:srgbClr val="172D40"/>
                </a:solidFill>
                <a:latin typeface="Arial"/>
                <a:ea typeface="Arial"/>
                <a:cs typeface="Arial"/>
              </a:defRPr>
            </a:lvl2pPr>
            <a:lvl3pPr algn="l">
              <a:defRPr sz="2325" b="1">
                <a:solidFill>
                  <a:srgbClr val="172D40"/>
                </a:solidFill>
                <a:latin typeface="Arial"/>
                <a:ea typeface="Arial"/>
                <a:cs typeface="Arial"/>
              </a:defRPr>
            </a:lvl3pPr>
            <a:lvl4pPr algn="l">
              <a:defRPr sz="2325" b="1">
                <a:solidFill>
                  <a:srgbClr val="172D40"/>
                </a:solidFill>
                <a:latin typeface="Arial"/>
                <a:ea typeface="Arial"/>
                <a:cs typeface="Arial"/>
              </a:defRPr>
            </a:lvl4pPr>
            <a:lvl5pPr algn="l">
              <a:defRPr sz="2325" b="1">
                <a:solidFill>
                  <a:srgbClr val="172D40"/>
                </a:solidFill>
                <a:latin typeface="Arial"/>
                <a:ea typeface="Arial"/>
                <a:cs typeface="Arial"/>
              </a:defRPr>
            </a:lvl5pPr>
            <a:lvl6pPr algn="l">
              <a:defRPr sz="2325" b="1">
                <a:solidFill>
                  <a:srgbClr val="172D40"/>
                </a:solidFill>
                <a:latin typeface="Arial"/>
                <a:ea typeface="Arial"/>
                <a:cs typeface="Arial"/>
              </a:defRPr>
            </a:lvl6pPr>
            <a:lvl7pPr algn="l">
              <a:defRPr sz="2325" b="1">
                <a:solidFill>
                  <a:srgbClr val="172D40"/>
                </a:solidFill>
                <a:latin typeface="Arial"/>
                <a:ea typeface="Arial"/>
                <a:cs typeface="Arial"/>
              </a:defRPr>
            </a:lvl7pPr>
            <a:lvl8pPr algn="l">
              <a:defRPr sz="2325" b="1">
                <a:solidFill>
                  <a:srgbClr val="172D40"/>
                </a:solidFill>
                <a:latin typeface="Arial"/>
                <a:ea typeface="Arial"/>
                <a:cs typeface="Arial"/>
              </a:defRPr>
            </a:lvl8pPr>
            <a:lvl9pPr algn="l">
              <a:defRPr sz="2325" b="1">
                <a:solidFill>
                  <a:srgbClr val="172D40"/>
                </a:solidFill>
                <a:latin typeface="Arial"/>
                <a:ea typeface="Arial"/>
                <a:cs typeface="Arial"/>
              </a:defRPr>
            </a:lvl9pPr>
          </a:lstStyle>
          <a:p xmlns:a="http://schemas.openxmlformats.org/drawingml/2006/main">
            <a:pPr algn="l">
              <a:defRPr sz="2325" b="1">
                <a:solidFill>
                  <a:srgbClr val="172D40"/>
                </a:solidFill>
                <a:latin typeface="Arial"/>
                <a:ea typeface="Arial"/>
                <a:cs typeface="Arial"/>
              </a:defRPr>
            </a:pPr>
            <a:r>
              <a:rPr sz="2325" b="1">
                <a:solidFill>
                  <a:srgbClr val="172D40"/>
                </a:solidFill>
                <a:latin typeface="Arial"/>
                <a:ea typeface="Arial"/>
                <a:cs typeface="Arial"/>
              </a:rPr>
              <a:t>Explain</a:t>
            </a:r>
          </a:p>
        </p:txBody>
      </p:sp>
      <p:sp>
        <p:nvSpPr>
          <p:cNvPr id="17" name="diagram-detail-3">
            <a:extLst xmlns:a="http://schemas.openxmlformats.org/drawingml/2006/main">
              <a:ext uri="{FF2B5EF4-FFF2-40B4-BE49-F238E27FC236}">
                <a16:creationId xmlns:a16="http://schemas.microsoft.com/office/drawing/2014/main" id="{9F2CAC1F-F5F4-465A-A71C-FA755E5EC83A}"/>
              </a:ext>
            </a:extLst>
          </p:cNvPr>
          <p:cNvSpPr>
            <a:spLocks xmlns:a="http://schemas.openxmlformats.org/drawingml/2006/main" noGrp="1"/>
          </p:cNvSpPr>
          <p:nvPr/>
        </p:nvSpPr>
        <p:spPr>
          <a:xfrm xmlns:a="http://schemas.openxmlformats.org/drawingml/2006/main">
            <a:off x="9120188" y="4248150"/>
            <a:ext cx="2386013"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Record decisions and revise the brief.</a:t>
            </a:r>
          </a:p>
        </p:txBody>
      </p:sp>
      <p:sp>
        <p:nvSpPr>
          <p:cNvPr id="18" name="takeaway">
            <a:extLst xmlns:a="http://schemas.openxmlformats.org/drawingml/2006/main">
              <a:ext uri="{FF2B5EF4-FFF2-40B4-BE49-F238E27FC236}">
                <a16:creationId xmlns:a16="http://schemas.microsoft.com/office/drawing/2014/main" id="{6C304547-A819-40AB-B5F3-8D436C7A1065}"/>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Given / When / Then clarifies examples. Turning them into tests stays optional.</a:t>
            </a:r>
          </a:p>
        </p:txBody>
      </p:sp>
      <p:sp>
        <p:nvSpPr>
          <p:cNvPr id="19" name="evidence-boundary">
            <a:extLst xmlns:a="http://schemas.openxmlformats.org/drawingml/2006/main">
              <a:ext uri="{FF2B5EF4-FFF2-40B4-BE49-F238E27FC236}">
                <a16:creationId xmlns:a16="http://schemas.microsoft.com/office/drawing/2014/main" id="{583CC588-8C77-4070-9D82-4F00EFC42AD7}"/>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Round 00 development recommendation. No local productivity benchmark or stack choice.</a:t>
            </a:r>
          </a:p>
        </p:txBody>
      </p:sp>
      <p:sp>
        <p:nvSpPr>
          <p:cNvPr id="20" name="slide-number">
            <a:extLst xmlns:a="http://schemas.openxmlformats.org/drawingml/2006/main">
              <a:ext uri="{FF2B5EF4-FFF2-40B4-BE49-F238E27FC236}">
                <a16:creationId xmlns:a16="http://schemas.microsoft.com/office/drawing/2014/main" id="{5F74C2A3-B6EB-4F9A-84E7-3D1279AE41A1}"/>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33</a:t>
            </a:r>
          </a:p>
        </p:txBody>
      </p:sp>
    </p:spTree>
    <p:extLst>
      <p:ext uri="{BB962C8B-B14F-4D97-AF65-F5344CB8AC3E}">
        <p14:creationId xmlns:p14="http://schemas.microsoft.com/office/powerpoint/2010/main" val="2013622172"/>
      </p:ext>
    </p:extLst>
  </p:cSld>
</p:sld>
</file>

<file path=ppt/slides/slide34.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6E89D6AC-74B0-4B7E-86C2-B8886D1E8E8F}"/>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Appendix: platform and provider choices stay open</a:t>
            </a:r>
          </a:p>
        </p:txBody>
      </p:sp>
      <p:sp>
        <p:nvSpPr>
          <p:cNvPr id="2" name="lead">
            <a:extLst xmlns:a="http://schemas.openxmlformats.org/drawingml/2006/main">
              <a:ext uri="{FF2B5EF4-FFF2-40B4-BE49-F238E27FC236}">
                <a16:creationId xmlns:a16="http://schemas.microsoft.com/office/drawing/2014/main" id="{B4798995-E550-45D2-9D38-1CA38666FC88}"/>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The research does not select a mobile app, web stack or winning AI provider.</a:t>
            </a:r>
          </a:p>
        </p:txBody>
      </p:sp>
      <p:sp>
        <p:nvSpPr>
          <p:cNvPr id="3" name="column-heading-0">
            <a:extLst xmlns:a="http://schemas.openxmlformats.org/drawingml/2006/main">
              <a:ext uri="{FF2B5EF4-FFF2-40B4-BE49-F238E27FC236}">
                <a16:creationId xmlns:a16="http://schemas.microsoft.com/office/drawing/2014/main" id="{51184882-E232-4832-82A1-B1C0C37778EF}"/>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Comparisons still needed</a:t>
            </a:r>
          </a:p>
        </p:txBody>
      </p:sp>
      <p:sp>
        <p:nvSpPr>
          <p:cNvPr id="4" name="column-0-detail-0">
            <a:extLst xmlns:a="http://schemas.openxmlformats.org/drawingml/2006/main">
              <a:ext uri="{FF2B5EF4-FFF2-40B4-BE49-F238E27FC236}">
                <a16:creationId xmlns:a16="http://schemas.microsoft.com/office/drawing/2014/main" id="{5BD43E4A-F068-422B-8E7F-4DCDC55334A8}"/>
              </a:ext>
            </a:extLst>
          </p:cNvPr>
          <p:cNvSpPr>
            <a:spLocks xmlns:a="http://schemas.openxmlformats.org/drawingml/2006/main" noGrp="1"/>
          </p:cNvSpPr>
          <p:nvPr/>
        </p:nvSpPr>
        <p:spPr>
          <a:xfrm xmlns:a="http://schemas.openxmlformats.org/drawingml/2006/main">
            <a:off x="76200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Manual baseline versus a bounded assisted task.</a:t>
            </a:r>
          </a:p>
        </p:txBody>
      </p:sp>
      <p:sp>
        <p:nvSpPr>
          <p:cNvPr id="5" name="column-0-detail-1">
            <a:extLst xmlns:a="http://schemas.openxmlformats.org/drawingml/2006/main">
              <a:ext uri="{FF2B5EF4-FFF2-40B4-BE49-F238E27FC236}">
                <a16:creationId xmlns:a16="http://schemas.microsoft.com/office/drawing/2014/main" id="{C1C46C1F-8720-442B-9BBC-47FDD45752DE}"/>
              </a:ext>
            </a:extLst>
          </p:cNvPr>
          <p:cNvSpPr>
            <a:spLocks xmlns:a="http://schemas.openxmlformats.org/drawingml/2006/main" noGrp="1"/>
          </p:cNvSpPr>
          <p:nvPr/>
        </p:nvSpPr>
        <p:spPr>
          <a:xfrm xmlns:a="http://schemas.openxmlformats.org/drawingml/2006/main">
            <a:off x="76200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Web, mobile and cross-device recovery under realistic constraints.</a:t>
            </a:r>
          </a:p>
        </p:txBody>
      </p:sp>
      <p:sp>
        <p:nvSpPr>
          <p:cNvPr id="6" name="column-0-detail-2">
            <a:extLst xmlns:a="http://schemas.openxmlformats.org/drawingml/2006/main">
              <a:ext uri="{FF2B5EF4-FFF2-40B4-BE49-F238E27FC236}">
                <a16:creationId xmlns:a16="http://schemas.microsoft.com/office/drawing/2014/main" id="{391B9513-5F3F-44DF-90B5-6F2E6E8A62B7}"/>
              </a:ext>
            </a:extLst>
          </p:cNvPr>
          <p:cNvSpPr>
            <a:spLocks xmlns:a="http://schemas.openxmlformats.org/drawingml/2006/main" noGrp="1"/>
          </p:cNvSpPr>
          <p:nvPr/>
        </p:nvSpPr>
        <p:spPr>
          <a:xfrm xmlns:a="http://schemas.openxmlformats.org/drawingml/2006/main">
            <a:off x="76200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ChatGPT, Claude and other relevant tools on identical inputs.</a:t>
            </a:r>
          </a:p>
        </p:txBody>
      </p:sp>
      <p:sp>
        <p:nvSpPr>
          <p:cNvPr id="7" name="column-heading-1">
            <a:extLst xmlns:a="http://schemas.openxmlformats.org/drawingml/2006/main">
              <a:ext uri="{FF2B5EF4-FFF2-40B4-BE49-F238E27FC236}">
                <a16:creationId xmlns:a16="http://schemas.microsoft.com/office/drawing/2014/main" id="{B280145B-B98D-4CAD-8282-F1E9F3EAD7EC}"/>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Decisions before real data</a:t>
            </a:r>
          </a:p>
        </p:txBody>
      </p:sp>
      <p:sp>
        <p:nvSpPr>
          <p:cNvPr id="8" name="column-1-detail-0">
            <a:extLst xmlns:a="http://schemas.openxmlformats.org/drawingml/2006/main">
              <a:ext uri="{FF2B5EF4-FFF2-40B4-BE49-F238E27FC236}">
                <a16:creationId xmlns:a16="http://schemas.microsoft.com/office/drawing/2014/main" id="{8AE7A0F1-CFE1-4791-AC60-D01D3D742FB2}"/>
              </a:ext>
            </a:extLst>
          </p:cNvPr>
          <p:cNvSpPr>
            <a:spLocks xmlns:a="http://schemas.openxmlformats.org/drawingml/2006/main" noGrp="1"/>
          </p:cNvSpPr>
          <p:nvPr/>
        </p:nvSpPr>
        <p:spPr>
          <a:xfrm xmlns:a="http://schemas.openxmlformats.org/drawingml/2006/main">
            <a:off x="638175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What information to share, with whom and for how long.</a:t>
            </a:r>
          </a:p>
        </p:txBody>
      </p:sp>
      <p:sp>
        <p:nvSpPr>
          <p:cNvPr id="9" name="column-1-detail-1">
            <a:extLst xmlns:a="http://schemas.openxmlformats.org/drawingml/2006/main">
              <a:ext uri="{FF2B5EF4-FFF2-40B4-BE49-F238E27FC236}">
                <a16:creationId xmlns:a16="http://schemas.microsoft.com/office/drawing/2014/main" id="{54E4307B-171F-4B4E-83E8-4E44DE6DE790}"/>
              </a:ext>
            </a:extLst>
          </p:cNvPr>
          <p:cNvSpPr>
            <a:spLocks xmlns:a="http://schemas.openxmlformats.org/drawingml/2006/main" noGrp="1"/>
          </p:cNvSpPr>
          <p:nvPr/>
        </p:nvSpPr>
        <p:spPr>
          <a:xfrm xmlns:a="http://schemas.openxmlformats.org/drawingml/2006/main">
            <a:off x="638175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Approval, access, deletion and error-recovery requirements.</a:t>
            </a:r>
          </a:p>
        </p:txBody>
      </p:sp>
      <p:sp>
        <p:nvSpPr>
          <p:cNvPr id="10" name="column-1-detail-2">
            <a:extLst xmlns:a="http://schemas.openxmlformats.org/drawingml/2006/main">
              <a:ext uri="{FF2B5EF4-FFF2-40B4-BE49-F238E27FC236}">
                <a16:creationId xmlns:a16="http://schemas.microsoft.com/office/drawing/2014/main" id="{EB5A8FB6-6347-4719-BEED-E97A9633F54C}"/>
              </a:ext>
            </a:extLst>
          </p:cNvPr>
          <p:cNvSpPr>
            <a:spLocks xmlns:a="http://schemas.openxmlformats.org/drawingml/2006/main" noGrp="1"/>
          </p:cNvSpPr>
          <p:nvPr/>
        </p:nvSpPr>
        <p:spPr>
          <a:xfrm xmlns:a="http://schemas.openxmlformats.org/drawingml/2006/main">
            <a:off x="638175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Accuracy and total effort, including checking and correction.</a:t>
            </a:r>
          </a:p>
        </p:txBody>
      </p:sp>
      <p:sp>
        <p:nvSpPr>
          <p:cNvPr id="11" name="takeaway">
            <a:extLst xmlns:a="http://schemas.openxmlformats.org/drawingml/2006/main">
              <a:ext uri="{FF2B5EF4-FFF2-40B4-BE49-F238E27FC236}">
                <a16:creationId xmlns:a16="http://schemas.microsoft.com/office/drawing/2014/main" id="{6227AEDF-2934-48B9-B903-68315BB365E5}"/>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Feature documentation and named-tool stories do not establish comparative performance.</a:t>
            </a:r>
          </a:p>
        </p:txBody>
      </p:sp>
      <p:sp>
        <p:nvSpPr>
          <p:cNvPr id="12" name="evidence-boundary">
            <a:extLst xmlns:a="http://schemas.openxmlformats.org/drawingml/2006/main">
              <a:ext uri="{FF2B5EF4-FFF2-40B4-BE49-F238E27FC236}">
                <a16:creationId xmlns:a16="http://schemas.microsoft.com/office/drawing/2014/main" id="{335AD14D-6F1D-4412-9ABA-DF3BDD724EA7}"/>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Earlier limited policy inspection. No current matched tool test or implemented privacy design.</a:t>
            </a:r>
          </a:p>
        </p:txBody>
      </p:sp>
      <p:sp>
        <p:nvSpPr>
          <p:cNvPr id="13" name="slide-number">
            <a:extLst xmlns:a="http://schemas.openxmlformats.org/drawingml/2006/main">
              <a:ext uri="{FF2B5EF4-FFF2-40B4-BE49-F238E27FC236}">
                <a16:creationId xmlns:a16="http://schemas.microsoft.com/office/drawing/2014/main" id="{A1BD3C2E-E87D-4915-8410-9AB3A9750C8F}"/>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34</a:t>
            </a:r>
          </a:p>
        </p:txBody>
      </p:sp>
    </p:spTree>
    <p:extLst>
      <p:ext uri="{BB962C8B-B14F-4D97-AF65-F5344CB8AC3E}">
        <p14:creationId xmlns:p14="http://schemas.microsoft.com/office/powerpoint/2010/main" val="545450827"/>
      </p:ext>
    </p:extLst>
  </p:cSld>
</p:sld>
</file>

<file path=ppt/slides/slide35.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47686ADB-FF20-4CA8-B8F6-EB0EFDC20484}"/>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S01  Retail and wholesale</a:t>
            </a:r>
          </a:p>
        </p:txBody>
      </p:sp>
      <p:sp>
        <p:nvSpPr>
          <p:cNvPr id="2" name="lead">
            <a:extLst xmlns:a="http://schemas.openxmlformats.org/drawingml/2006/main">
              <a:ext uri="{FF2B5EF4-FFF2-40B4-BE49-F238E27FC236}">
                <a16:creationId xmlns:a16="http://schemas.microsoft.com/office/drawing/2014/main" id="{0F0A83DF-E5D4-4AFD-AA7C-C29918D582F9}"/>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Breadth only, a short context summary.</a:t>
            </a:r>
          </a:p>
        </p:txBody>
      </p:sp>
      <p:sp>
        <p:nvSpPr>
          <p:cNvPr id="3" name="column-heading-0">
            <a:extLst xmlns:a="http://schemas.openxmlformats.org/drawingml/2006/main">
              <a:ext uri="{FF2B5EF4-FFF2-40B4-BE49-F238E27FC236}">
                <a16:creationId xmlns:a16="http://schemas.microsoft.com/office/drawing/2014/main" id="{D9DA3504-CB70-490E-AB32-A82DAAD35511}"/>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8A2F72BF-EF0D-4258-9F56-52EE55C8F0F4}"/>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Retail sales, stock support and wholesale professional work are different contexts.</a:t>
            </a:r>
          </a:p>
        </p:txBody>
      </p:sp>
      <p:sp>
        <p:nvSpPr>
          <p:cNvPr id="5" name="column-0-detail-1">
            <a:extLst xmlns:a="http://schemas.openxmlformats.org/drawingml/2006/main">
              <a:ext uri="{FF2B5EF4-FFF2-40B4-BE49-F238E27FC236}">
                <a16:creationId xmlns:a16="http://schemas.microsoft.com/office/drawing/2014/main" id="{69EBC816-DEE5-4BD4-B30C-6434944595B0}"/>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 retail account includes walk-ins and an outlet QR application. Wholesale has a conversion route.</a:t>
            </a:r>
          </a:p>
        </p:txBody>
      </p:sp>
      <p:sp>
        <p:nvSpPr>
          <p:cNvPr id="6" name="column-heading-1">
            <a:extLst xmlns:a="http://schemas.openxmlformats.org/drawingml/2006/main">
              <a:ext uri="{FF2B5EF4-FFF2-40B4-BE49-F238E27FC236}">
                <a16:creationId xmlns:a16="http://schemas.microsoft.com/office/drawing/2014/main" id="{F2313329-954E-4DD3-801A-260DE0807140}"/>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matters</a:t>
            </a:r>
          </a:p>
        </p:txBody>
      </p:sp>
      <p:sp>
        <p:nvSpPr>
          <p:cNvPr id="7" name="column-1-detail-0">
            <a:extLst xmlns:a="http://schemas.openxmlformats.org/drawingml/2006/main">
              <a:ext uri="{FF2B5EF4-FFF2-40B4-BE49-F238E27FC236}">
                <a16:creationId xmlns:a16="http://schemas.microsoft.com/office/drawing/2014/main" id="{6FA0B194-1FE9-414A-80FC-3245A7A8DFDC}"/>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Clarify availability, commitment length, outlet and actual duties.</a:t>
            </a:r>
          </a:p>
        </p:txBody>
      </p:sp>
      <p:sp>
        <p:nvSpPr>
          <p:cNvPr id="8" name="column-1-detail-1">
            <a:extLst xmlns:a="http://schemas.openxmlformats.org/drawingml/2006/main">
              <a:ext uri="{FF2B5EF4-FFF2-40B4-BE49-F238E27FC236}">
                <a16:creationId xmlns:a16="http://schemas.microsoft.com/office/drawing/2014/main" id="{F98C8481-B1BD-4FD5-A38B-E04F2C40EE41}"/>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Keep service or stock examples truthful. Ask how basic and variable pay are defined.</a:t>
            </a:r>
          </a:p>
        </p:txBody>
      </p:sp>
      <p:sp>
        <p:nvSpPr>
          <p:cNvPr id="9" name="evidence-boundary">
            <a:extLst xmlns:a="http://schemas.openxmlformats.org/drawingml/2006/main">
              <a:ext uri="{FF2B5EF4-FFF2-40B4-BE49-F238E27FC236}">
                <a16:creationId xmlns:a16="http://schemas.microsoft.com/office/drawing/2014/main" id="{3CE0089E-A463-4BD4-B7E4-9D45C3F2DA0D}"/>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Breadth only. QR use does not authenticate an opening. No typical hiring sequence or AI-use finding.</a:t>
            </a:r>
          </a:p>
        </p:txBody>
      </p:sp>
      <p:sp>
        <p:nvSpPr>
          <p:cNvPr id="10" name="slide-number">
            <a:extLst xmlns:a="http://schemas.openxmlformats.org/drawingml/2006/main">
              <a:ext uri="{FF2B5EF4-FFF2-40B4-BE49-F238E27FC236}">
                <a16:creationId xmlns:a16="http://schemas.microsoft.com/office/drawing/2014/main" id="{D236A03D-D0B1-49F7-9EE8-3301545FFB3D}"/>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35</a:t>
            </a:r>
          </a:p>
        </p:txBody>
      </p:sp>
    </p:spTree>
    <p:extLst>
      <p:ext uri="{BB962C8B-B14F-4D97-AF65-F5344CB8AC3E}">
        <p14:creationId xmlns:p14="http://schemas.microsoft.com/office/powerpoint/2010/main" val="1453950235"/>
      </p:ext>
    </p:extLst>
  </p:cSld>
</p:sld>
</file>

<file path=ppt/slides/slide36.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DFA52132-B549-459E-9061-CADF261758E3}"/>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S02  Food and hospitality</a:t>
            </a:r>
          </a:p>
        </p:txBody>
      </p:sp>
      <p:sp>
        <p:nvSpPr>
          <p:cNvPr id="2" name="lead">
            <a:extLst xmlns:a="http://schemas.openxmlformats.org/drawingml/2006/main">
              <a:ext uri="{FF2B5EF4-FFF2-40B4-BE49-F238E27FC236}">
                <a16:creationId xmlns:a16="http://schemas.microsoft.com/office/drawing/2014/main" id="{D817A3BD-BAED-4E8A-BFFB-021861B3048C}"/>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Deeper inquiry with explicit gaps.</a:t>
            </a:r>
          </a:p>
        </p:txBody>
      </p:sp>
      <p:sp>
        <p:nvSpPr>
          <p:cNvPr id="3" name="column-heading-0">
            <a:extLst xmlns:a="http://schemas.openxmlformats.org/drawingml/2006/main">
              <a:ext uri="{FF2B5EF4-FFF2-40B4-BE49-F238E27FC236}">
                <a16:creationId xmlns:a16="http://schemas.microsoft.com/office/drawing/2014/main" id="{66645B7B-2311-47F0-9CD6-855D0A35D238}"/>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ACAC6FD8-9063-41B1-BB05-F1D4259D1B54}"/>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Restaurant crew and hotel guest-service or culinary work involve different tasks.</a:t>
            </a:r>
          </a:p>
        </p:txBody>
      </p:sp>
      <p:sp>
        <p:nvSpPr>
          <p:cNvPr id="5" name="column-0-detail-1">
            <a:extLst xmlns:a="http://schemas.openxmlformats.org/drawingml/2006/main">
              <a:ext uri="{FF2B5EF4-FFF2-40B4-BE49-F238E27FC236}">
                <a16:creationId xmlns:a16="http://schemas.microsoft.com/office/drawing/2014/main" id="{7A0F8723-6555-4694-BA59-6B02E7AA55B5}"/>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 25 August 2025 hotel walk-in and separate restaurant application accounts document routes.</a:t>
            </a:r>
          </a:p>
        </p:txBody>
      </p:sp>
      <p:sp>
        <p:nvSpPr>
          <p:cNvPr id="6" name="column-heading-1">
            <a:extLst xmlns:a="http://schemas.openxmlformats.org/drawingml/2006/main">
              <a:ext uri="{FF2B5EF4-FFF2-40B4-BE49-F238E27FC236}">
                <a16:creationId xmlns:a16="http://schemas.microsoft.com/office/drawing/2014/main" id="{6DA4E42F-0306-446C-BCAE-8A22E57CA7AA}"/>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matters</a:t>
            </a:r>
          </a:p>
        </p:txBody>
      </p:sp>
      <p:sp>
        <p:nvSpPr>
          <p:cNvPr id="7" name="column-1-detail-0">
            <a:extLst xmlns:a="http://schemas.openxmlformats.org/drawingml/2006/main">
              <a:ext uri="{FF2B5EF4-FFF2-40B4-BE49-F238E27FC236}">
                <a16:creationId xmlns:a16="http://schemas.microsoft.com/office/drawing/2014/main" id="{CE74D3CC-D7ED-4609-BE9E-616AB2B43201}"/>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Prepare real service examples and clear availability. Ask about nights, travel and actual tasks.</a:t>
            </a:r>
          </a:p>
        </p:txBody>
      </p:sp>
      <p:sp>
        <p:nvSpPr>
          <p:cNvPr id="8" name="column-1-detail-1">
            <a:extLst xmlns:a="http://schemas.openxmlformats.org/drawingml/2006/main">
              <a:ext uri="{FF2B5EF4-FFF2-40B4-BE49-F238E27FC236}">
                <a16:creationId xmlns:a16="http://schemas.microsoft.com/office/drawing/2014/main" id="{0707E814-B542-4D01-93D4-9A2905E967EC}"/>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Clarify any trial's scope and payment. A proposed trial is not a confirmed shift or offer.</a:t>
            </a:r>
          </a:p>
        </p:txBody>
      </p:sp>
      <p:sp>
        <p:nvSpPr>
          <p:cNvPr id="9" name="evidence-boundary">
            <a:extLst xmlns:a="http://schemas.openxmlformats.org/drawingml/2006/main">
              <a:ext uri="{FF2B5EF4-FFF2-40B4-BE49-F238E27FC236}">
                <a16:creationId xmlns:a16="http://schemas.microsoft.com/office/drawing/2014/main" id="{F2FAB0D2-F444-46B8-A8C4-E564F6FEBC54}"/>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Deeper inquiry. One hotel family and unverified reviews. Housekeeping, outcomes and AI use remain thin.</a:t>
            </a:r>
          </a:p>
        </p:txBody>
      </p:sp>
      <p:sp>
        <p:nvSpPr>
          <p:cNvPr id="10" name="slide-number">
            <a:extLst xmlns:a="http://schemas.openxmlformats.org/drawingml/2006/main">
              <a:ext uri="{FF2B5EF4-FFF2-40B4-BE49-F238E27FC236}">
                <a16:creationId xmlns:a16="http://schemas.microsoft.com/office/drawing/2014/main" id="{3E341879-BC83-45DE-BC08-E3D0780FAEBB}"/>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36</a:t>
            </a:r>
          </a:p>
        </p:txBody>
      </p:sp>
    </p:spTree>
    <p:extLst>
      <p:ext uri="{BB962C8B-B14F-4D97-AF65-F5344CB8AC3E}">
        <p14:creationId xmlns:p14="http://schemas.microsoft.com/office/powerpoint/2010/main" val="30136815"/>
      </p:ext>
    </p:extLst>
  </p:cSld>
</p:sld>
</file>

<file path=ppt/slides/slide37.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559F7859-BFE2-4FAD-85F9-36596C1EC3FE}"/>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S03  Healthcare and social care</a:t>
            </a:r>
          </a:p>
        </p:txBody>
      </p:sp>
      <p:sp>
        <p:nvSpPr>
          <p:cNvPr id="2" name="lead">
            <a:extLst xmlns:a="http://schemas.openxmlformats.org/drawingml/2006/main">
              <a:ext uri="{FF2B5EF4-FFF2-40B4-BE49-F238E27FC236}">
                <a16:creationId xmlns:a16="http://schemas.microsoft.com/office/drawing/2014/main" id="{E325709D-B823-4A8E-8CF4-8AE49A07D933}"/>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Deeper inquiry with explicit gaps.</a:t>
            </a:r>
          </a:p>
        </p:txBody>
      </p:sp>
      <p:sp>
        <p:nvSpPr>
          <p:cNvPr id="3" name="column-heading-0">
            <a:extLst xmlns:a="http://schemas.openxmlformats.org/drawingml/2006/main">
              <a:ext uri="{FF2B5EF4-FFF2-40B4-BE49-F238E27FC236}">
                <a16:creationId xmlns:a16="http://schemas.microsoft.com/office/drawing/2014/main" id="{40D2CA2F-F07D-4A49-92E7-6C59D17567F4}"/>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C5C4A7A8-2F98-48DE-A966-401F1BE6FB5C}"/>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Nursing, patient-care support and social-work associate roles have different requirements.</a:t>
            </a:r>
          </a:p>
        </p:txBody>
      </p:sp>
      <p:sp>
        <p:nvSpPr>
          <p:cNvPr id="5" name="column-0-detail-1">
            <a:extLst xmlns:a="http://schemas.openxmlformats.org/drawingml/2006/main">
              <a:ext uri="{FF2B5EF4-FFF2-40B4-BE49-F238E27FC236}">
                <a16:creationId xmlns:a16="http://schemas.microsoft.com/office/drawing/2014/main" id="{890AFDE4-973A-4FE4-BEC3-FD22D930BF8C}"/>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Local-graduate registration guidance and particular employer posts describe distinct routes.</a:t>
            </a:r>
          </a:p>
        </p:txBody>
      </p:sp>
      <p:sp>
        <p:nvSpPr>
          <p:cNvPr id="6" name="column-heading-1">
            <a:extLst xmlns:a="http://schemas.openxmlformats.org/drawingml/2006/main">
              <a:ext uri="{FF2B5EF4-FFF2-40B4-BE49-F238E27FC236}">
                <a16:creationId xmlns:a16="http://schemas.microsoft.com/office/drawing/2014/main" id="{DBD915DD-7ABE-4995-A823-77AE25B057A7}"/>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matters</a:t>
            </a:r>
          </a:p>
        </p:txBody>
      </p:sp>
      <p:sp>
        <p:nvSpPr>
          <p:cNvPr id="7" name="column-1-detail-0">
            <a:extLst xmlns:a="http://schemas.openxmlformats.org/drawingml/2006/main">
              <a:ext uri="{FF2B5EF4-FFF2-40B4-BE49-F238E27FC236}">
                <a16:creationId xmlns:a16="http://schemas.microsoft.com/office/drawing/2014/main" id="{B7F49102-0644-444B-8D40-A3D34CACE988}"/>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Separate required credentials, preferred experience and transferable skills.</a:t>
            </a:r>
          </a:p>
        </p:txBody>
      </p:sp>
      <p:sp>
        <p:nvSpPr>
          <p:cNvPr id="8" name="column-1-detail-1">
            <a:extLst xmlns:a="http://schemas.openxmlformats.org/drawingml/2006/main">
              <a:ext uri="{FF2B5EF4-FFF2-40B4-BE49-F238E27FC236}">
                <a16:creationId xmlns:a16="http://schemas.microsoft.com/office/drawing/2014/main" id="{E076235C-4D0C-4BFD-B4FF-4F732490F445}"/>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Check shifts, site and induction. Volunteering alone does not establish professional qualification.</a:t>
            </a:r>
          </a:p>
        </p:txBody>
      </p:sp>
      <p:sp>
        <p:nvSpPr>
          <p:cNvPr id="9" name="evidence-boundary">
            <a:extLst xmlns:a="http://schemas.openxmlformats.org/drawingml/2006/main">
              <a:ext uri="{FF2B5EF4-FFF2-40B4-BE49-F238E27FC236}">
                <a16:creationId xmlns:a16="http://schemas.microsoft.com/office/drawing/2014/main" id="{02E360F4-9137-4CD7-913D-3DC0DBA134A6}"/>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Deeper inquiry. Role-specific guidance and selected accounts. Recent care-assistant offer sequences remain missing.</a:t>
            </a:r>
          </a:p>
        </p:txBody>
      </p:sp>
      <p:sp>
        <p:nvSpPr>
          <p:cNvPr id="10" name="slide-number">
            <a:extLst xmlns:a="http://schemas.openxmlformats.org/drawingml/2006/main">
              <a:ext uri="{FF2B5EF4-FFF2-40B4-BE49-F238E27FC236}">
                <a16:creationId xmlns:a16="http://schemas.microsoft.com/office/drawing/2014/main" id="{D3F5EA97-469F-4E2B-A11A-272822008139}"/>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37</a:t>
            </a:r>
          </a:p>
        </p:txBody>
      </p:sp>
    </p:spTree>
    <p:extLst>
      <p:ext uri="{BB962C8B-B14F-4D97-AF65-F5344CB8AC3E}">
        <p14:creationId xmlns:p14="http://schemas.microsoft.com/office/powerpoint/2010/main" val="784145907"/>
      </p:ext>
    </p:extLst>
  </p:cSld>
</p:sld>
</file>

<file path=ppt/slides/slide38.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0E9F9F12-8AA5-4A1B-A915-61D881E63EDE}"/>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S04  Education and training</a:t>
            </a:r>
          </a:p>
        </p:txBody>
      </p:sp>
      <p:sp>
        <p:nvSpPr>
          <p:cNvPr id="2" name="lead">
            <a:extLst xmlns:a="http://schemas.openxmlformats.org/drawingml/2006/main">
              <a:ext uri="{FF2B5EF4-FFF2-40B4-BE49-F238E27FC236}">
                <a16:creationId xmlns:a16="http://schemas.microsoft.com/office/drawing/2014/main" id="{9ACBE1EB-71FB-4ED3-81BB-F9C1BBFCEE8F}"/>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Breadth only, a short context summary.</a:t>
            </a:r>
          </a:p>
        </p:txBody>
      </p:sp>
      <p:sp>
        <p:nvSpPr>
          <p:cNvPr id="3" name="column-heading-0">
            <a:extLst xmlns:a="http://schemas.openxmlformats.org/drawingml/2006/main">
              <a:ext uri="{FF2B5EF4-FFF2-40B4-BE49-F238E27FC236}">
                <a16:creationId xmlns:a16="http://schemas.microsoft.com/office/drawing/2014/main" id="{4CEF0862-9926-4A83-B1B0-442764B3C21F}"/>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B5E734E5-76FD-40DB-89E6-BFBA705FE68F}"/>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The inspected examples concern preschool entry and employer comparison.</a:t>
            </a:r>
          </a:p>
        </p:txBody>
      </p:sp>
      <p:sp>
        <p:nvSpPr>
          <p:cNvPr id="5" name="column-0-detail-1">
            <a:extLst xmlns:a="http://schemas.openxmlformats.org/drawingml/2006/main">
              <a:ext uri="{FF2B5EF4-FFF2-40B4-BE49-F238E27FC236}">
                <a16:creationId xmlns:a16="http://schemas.microsoft.com/office/drawing/2014/main" id="{0D6BF6BF-9376-4D1D-8EBA-165AE54F742F}"/>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One work-and-study programme combines employer screening with qualification training.</a:t>
            </a:r>
          </a:p>
        </p:txBody>
      </p:sp>
      <p:sp>
        <p:nvSpPr>
          <p:cNvPr id="6" name="column-heading-1">
            <a:extLst xmlns:a="http://schemas.openxmlformats.org/drawingml/2006/main">
              <a:ext uri="{FF2B5EF4-FFF2-40B4-BE49-F238E27FC236}">
                <a16:creationId xmlns:a16="http://schemas.microsoft.com/office/drawing/2014/main" id="{113B91E8-17E1-42D8-BEA6-2DCAAAEBA4C7}"/>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matters</a:t>
            </a:r>
          </a:p>
        </p:txBody>
      </p:sp>
      <p:sp>
        <p:nvSpPr>
          <p:cNvPr id="7" name="column-1-detail-0">
            <a:extLst xmlns:a="http://schemas.openxmlformats.org/drawingml/2006/main">
              <a:ext uri="{FF2B5EF4-FFF2-40B4-BE49-F238E27FC236}">
                <a16:creationId xmlns:a16="http://schemas.microsoft.com/office/drawing/2014/main" id="{74A38239-FE78-41D9-BFDB-B5796BE36A90}"/>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Check the exact role, certification and course or employer obligations.</a:t>
            </a:r>
          </a:p>
        </p:txBody>
      </p:sp>
      <p:sp>
        <p:nvSpPr>
          <p:cNvPr id="8" name="column-1-detail-1">
            <a:extLst xmlns:a="http://schemas.openxmlformats.org/drawingml/2006/main">
              <a:ext uri="{FF2B5EF4-FFF2-40B4-BE49-F238E27FC236}">
                <a16:creationId xmlns:a16="http://schemas.microsoft.com/office/drawing/2014/main" id="{0A0E0479-0700-4188-A11D-B2611D8A2AF3}"/>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Confirm written pay. The programme page has inconsistent salary sections.</a:t>
            </a:r>
          </a:p>
        </p:txBody>
      </p:sp>
      <p:sp>
        <p:nvSpPr>
          <p:cNvPr id="9" name="evidence-boundary">
            <a:extLst xmlns:a="http://schemas.openxmlformats.org/drawingml/2006/main">
              <a:ext uri="{FF2B5EF4-FFF2-40B4-BE49-F238E27FC236}">
                <a16:creationId xmlns:a16="http://schemas.microsoft.com/office/drawing/2014/main" id="{7C9CD231-2882-4020-B21E-B4416029D00B}"/>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Breadth only. Preschool examples cannot represent all education. No reliable pay or outcome benchmark.</a:t>
            </a:r>
          </a:p>
        </p:txBody>
      </p:sp>
      <p:sp>
        <p:nvSpPr>
          <p:cNvPr id="10" name="slide-number">
            <a:extLst xmlns:a="http://schemas.openxmlformats.org/drawingml/2006/main">
              <a:ext uri="{FF2B5EF4-FFF2-40B4-BE49-F238E27FC236}">
                <a16:creationId xmlns:a16="http://schemas.microsoft.com/office/drawing/2014/main" id="{5ED50869-BF25-4C69-A30C-B96872CAA04D}"/>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38</a:t>
            </a:r>
          </a:p>
        </p:txBody>
      </p:sp>
    </p:spTree>
    <p:extLst>
      <p:ext uri="{BB962C8B-B14F-4D97-AF65-F5344CB8AC3E}">
        <p14:creationId xmlns:p14="http://schemas.microsoft.com/office/powerpoint/2010/main" val="899497269"/>
      </p:ext>
    </p:extLst>
  </p:cSld>
</p:sld>
</file>

<file path=ppt/slides/slide39.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859E67ED-7131-4A89-AC34-4682CCC29EE9}"/>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S05  Logistics and transport</a:t>
            </a:r>
          </a:p>
        </p:txBody>
      </p:sp>
      <p:sp>
        <p:nvSpPr>
          <p:cNvPr id="2" name="lead">
            <a:extLst xmlns:a="http://schemas.openxmlformats.org/drawingml/2006/main">
              <a:ext uri="{FF2B5EF4-FFF2-40B4-BE49-F238E27FC236}">
                <a16:creationId xmlns:a16="http://schemas.microsoft.com/office/drawing/2014/main" id="{F78231BF-1661-4D6C-AF1B-F609207E8FE1}"/>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Deeper inquiry with explicit gaps.</a:t>
            </a:r>
          </a:p>
        </p:txBody>
      </p:sp>
      <p:sp>
        <p:nvSpPr>
          <p:cNvPr id="3" name="column-heading-0">
            <a:extLst xmlns:a="http://schemas.openxmlformats.org/drawingml/2006/main">
              <a:ext uri="{FF2B5EF4-FFF2-40B4-BE49-F238E27FC236}">
                <a16:creationId xmlns:a16="http://schemas.microsoft.com/office/drawing/2014/main" id="{FA6303C9-7FAF-406B-A80A-ED7B2828FB44}"/>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A60208D1-53A3-47CD-B564-1DD480C6D1D4}"/>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Warehouse deployment, terminal driving and a graduate logistics search are different routes.</a:t>
            </a:r>
          </a:p>
        </p:txBody>
      </p:sp>
      <p:sp>
        <p:nvSpPr>
          <p:cNvPr id="5" name="column-0-detail-1">
            <a:extLst xmlns:a="http://schemas.openxmlformats.org/drawingml/2006/main">
              <a:ext uri="{FF2B5EF4-FFF2-40B4-BE49-F238E27FC236}">
                <a16:creationId xmlns:a16="http://schemas.microsoft.com/office/drawing/2014/main" id="{F420ABF2-4BEF-4D39-8642-7142E48A1370}"/>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The terminal employer describes training. A graduate reports boards, commute and title uncertainty.</a:t>
            </a:r>
          </a:p>
        </p:txBody>
      </p:sp>
      <p:sp>
        <p:nvSpPr>
          <p:cNvPr id="6" name="column-heading-1">
            <a:extLst xmlns:a="http://schemas.openxmlformats.org/drawingml/2006/main">
              <a:ext uri="{FF2B5EF4-FFF2-40B4-BE49-F238E27FC236}">
                <a16:creationId xmlns:a16="http://schemas.microsoft.com/office/drawing/2014/main" id="{1104C4D6-A07A-4F56-87D4-D55BF9626E40}"/>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matters</a:t>
            </a:r>
          </a:p>
        </p:txBody>
      </p:sp>
      <p:sp>
        <p:nvSpPr>
          <p:cNvPr id="7" name="column-1-detail-0">
            <a:extLst xmlns:a="http://schemas.openxmlformats.org/drawingml/2006/main">
              <a:ext uri="{FF2B5EF4-FFF2-40B4-BE49-F238E27FC236}">
                <a16:creationId xmlns:a16="http://schemas.microsoft.com/office/drawing/2014/main" id="{157BFD94-677E-4DD1-8F0B-BFCFFE5C19AC}"/>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Check who employs you, the client site, duties, transport and roster.</a:t>
            </a:r>
          </a:p>
        </p:txBody>
      </p:sp>
      <p:sp>
        <p:nvSpPr>
          <p:cNvPr id="8" name="column-1-detail-1">
            <a:extLst xmlns:a="http://schemas.openxmlformats.org/drawingml/2006/main">
              <a:ext uri="{FF2B5EF4-FFF2-40B4-BE49-F238E27FC236}">
                <a16:creationId xmlns:a16="http://schemas.microsoft.com/office/drawing/2014/main" id="{3DD91D50-A0B5-4F5E-A2C6-BF0EBEA207A2}"/>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Separate licence requirements, actual training and pay components. Verify deployment terms.</a:t>
            </a:r>
          </a:p>
        </p:txBody>
      </p:sp>
      <p:sp>
        <p:nvSpPr>
          <p:cNvPr id="9" name="evidence-boundary">
            <a:extLst xmlns:a="http://schemas.openxmlformats.org/drawingml/2006/main">
              <a:ext uri="{FF2B5EF4-FFF2-40B4-BE49-F238E27FC236}">
                <a16:creationId xmlns:a16="http://schemas.microsoft.com/office/drawing/2014/main" id="{E73A8CA1-44EF-462E-9B1B-47CCDFF67BAB}"/>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Deeper inquiry. Recent warehouse/driver journeys and assessments remain incomplete. Agency intent is unknown.</a:t>
            </a:r>
          </a:p>
        </p:txBody>
      </p:sp>
      <p:sp>
        <p:nvSpPr>
          <p:cNvPr id="10" name="slide-number">
            <a:extLst xmlns:a="http://schemas.openxmlformats.org/drawingml/2006/main">
              <a:ext uri="{FF2B5EF4-FFF2-40B4-BE49-F238E27FC236}">
                <a16:creationId xmlns:a16="http://schemas.microsoft.com/office/drawing/2014/main" id="{83540EB1-20E4-4226-9AF1-F6DF48843C0F}"/>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39</a:t>
            </a:r>
          </a:p>
        </p:txBody>
      </p:sp>
    </p:spTree>
    <p:extLst>
      <p:ext uri="{BB962C8B-B14F-4D97-AF65-F5344CB8AC3E}">
        <p14:creationId xmlns:p14="http://schemas.microsoft.com/office/powerpoint/2010/main" val="317610003"/>
      </p:ext>
    </p:extLst>
  </p:cSld>
</p:sld>
</file>

<file path=ppt/slides/slide40.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50548826-F27B-4C2A-A470-22E8EC112230}"/>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S06  Construction and built environment</a:t>
            </a:r>
          </a:p>
        </p:txBody>
      </p:sp>
      <p:sp>
        <p:nvSpPr>
          <p:cNvPr id="2" name="lead">
            <a:extLst xmlns:a="http://schemas.openxmlformats.org/drawingml/2006/main">
              <a:ext uri="{FF2B5EF4-FFF2-40B4-BE49-F238E27FC236}">
                <a16:creationId xmlns:a16="http://schemas.microsoft.com/office/drawing/2014/main" id="{F077774F-B3F3-4AE9-A2B7-90A85F74B61C}"/>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Breadth only, a short context summary.</a:t>
            </a:r>
          </a:p>
        </p:txBody>
      </p:sp>
      <p:sp>
        <p:nvSpPr>
          <p:cNvPr id="3" name="column-heading-0">
            <a:extLst xmlns:a="http://schemas.openxmlformats.org/drawingml/2006/main">
              <a:ext uri="{FF2B5EF4-FFF2-40B4-BE49-F238E27FC236}">
                <a16:creationId xmlns:a16="http://schemas.microsoft.com/office/drawing/2014/main" id="{FA9AA761-D854-4143-B92E-424094154216}"/>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1449BF0D-CDE3-4D98-9DAB-247F7ACDC51F}"/>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 consultancy advertises a site technical-officer role and separately invites future interest.</a:t>
            </a:r>
          </a:p>
        </p:txBody>
      </p:sp>
      <p:sp>
        <p:nvSpPr>
          <p:cNvPr id="5" name="column-0-detail-1">
            <a:extLst xmlns:a="http://schemas.openxmlformats.org/drawingml/2006/main">
              <a:ext uri="{FF2B5EF4-FFF2-40B4-BE49-F238E27FC236}">
                <a16:creationId xmlns:a16="http://schemas.microsoft.com/office/drawing/2014/main" id="{30636A18-E8F7-4CCA-A24F-408EE4E6C4A7}"/>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Site work, project support and building trades should retain their own scope.</a:t>
            </a:r>
          </a:p>
        </p:txBody>
      </p:sp>
      <p:sp>
        <p:nvSpPr>
          <p:cNvPr id="6" name="column-heading-1">
            <a:extLst xmlns:a="http://schemas.openxmlformats.org/drawingml/2006/main">
              <a:ext uri="{FF2B5EF4-FFF2-40B4-BE49-F238E27FC236}">
                <a16:creationId xmlns:a16="http://schemas.microsoft.com/office/drawing/2014/main" id="{B9E12433-4A87-4744-AD5E-C8183B8F9AA2}"/>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matters</a:t>
            </a:r>
          </a:p>
        </p:txBody>
      </p:sp>
      <p:sp>
        <p:nvSpPr>
          <p:cNvPr id="7" name="column-1-detail-0">
            <a:extLst xmlns:a="http://schemas.openxmlformats.org/drawingml/2006/main">
              <a:ext uri="{FF2B5EF4-FFF2-40B4-BE49-F238E27FC236}">
                <a16:creationId xmlns:a16="http://schemas.microsoft.com/office/drawing/2014/main" id="{5C79BBC0-DC74-4BBD-A284-81E9F03BAD4A}"/>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Check the site, employing party, project timing and actual duties.</a:t>
            </a:r>
          </a:p>
        </p:txBody>
      </p:sp>
      <p:sp>
        <p:nvSpPr>
          <p:cNvPr id="8" name="column-1-detail-1">
            <a:extLst xmlns:a="http://schemas.openxmlformats.org/drawingml/2006/main">
              <a:ext uri="{FF2B5EF4-FFF2-40B4-BE49-F238E27FC236}">
                <a16:creationId xmlns:a16="http://schemas.microsoft.com/office/drawing/2014/main" id="{8DEF7A1E-ABBD-4DA1-A374-3A2CDC50D2BB}"/>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Read mandatory and preferred credentials literally. A future pool has a different promise.</a:t>
            </a:r>
          </a:p>
        </p:txBody>
      </p:sp>
      <p:sp>
        <p:nvSpPr>
          <p:cNvPr id="9" name="evidence-boundary">
            <a:extLst xmlns:a="http://schemas.openxmlformats.org/drawingml/2006/main">
              <a:ext uri="{FF2B5EF4-FFF2-40B4-BE49-F238E27FC236}">
                <a16:creationId xmlns:a16="http://schemas.microsoft.com/office/drawing/2014/main" id="{BDD114B8-88C0-491C-A913-0095E1B4D58F}"/>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Breadth only. One consultancy page, posted 20 February 2026. No typical trade process or current hire verified.</a:t>
            </a:r>
          </a:p>
        </p:txBody>
      </p:sp>
      <p:sp>
        <p:nvSpPr>
          <p:cNvPr id="10" name="slide-number">
            <a:extLst xmlns:a="http://schemas.openxmlformats.org/drawingml/2006/main">
              <a:ext uri="{FF2B5EF4-FFF2-40B4-BE49-F238E27FC236}">
                <a16:creationId xmlns:a16="http://schemas.microsoft.com/office/drawing/2014/main" id="{DEEE39F0-64EE-4D91-8950-6CB6D60B10E1}"/>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40</a:t>
            </a:r>
          </a:p>
        </p:txBody>
      </p:sp>
    </p:spTree>
    <p:extLst>
      <p:ext uri="{BB962C8B-B14F-4D97-AF65-F5344CB8AC3E}">
        <p14:creationId xmlns:p14="http://schemas.microsoft.com/office/powerpoint/2010/main" val="1785168025"/>
      </p:ext>
    </p:extLst>
  </p:cSld>
</p:sld>
</file>

<file path=ppt/slides/slide41.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A4364E71-4E4C-4F82-B3D4-29756A5212CB}"/>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S07  Manufacturing and trades</a:t>
            </a:r>
          </a:p>
        </p:txBody>
      </p:sp>
      <p:sp>
        <p:nvSpPr>
          <p:cNvPr id="2" name="lead">
            <a:extLst xmlns:a="http://schemas.openxmlformats.org/drawingml/2006/main">
              <a:ext uri="{FF2B5EF4-FFF2-40B4-BE49-F238E27FC236}">
                <a16:creationId xmlns:a16="http://schemas.microsoft.com/office/drawing/2014/main" id="{027CF05C-2101-4CEB-B29C-F7952886C794}"/>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Deeper inquiry with explicit gaps.</a:t>
            </a:r>
          </a:p>
        </p:txBody>
      </p:sp>
      <p:sp>
        <p:nvSpPr>
          <p:cNvPr id="3" name="column-heading-0">
            <a:extLst xmlns:a="http://schemas.openxmlformats.org/drawingml/2006/main">
              <a:ext uri="{FF2B5EF4-FFF2-40B4-BE49-F238E27FC236}">
                <a16:creationId xmlns:a16="http://schemas.microsoft.com/office/drawing/2014/main" id="{B39E0FCA-9CBD-4160-B9E8-A457C25F0F3E}"/>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AA3AE5B0-5EF3-4BB2-822E-FC461D2255D2}"/>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Semiconductor-engineering accounts discuss knowledge gaps, technical questions and quizzes.</a:t>
            </a:r>
          </a:p>
        </p:txBody>
      </p:sp>
      <p:sp>
        <p:nvSpPr>
          <p:cNvPr id="5" name="column-0-detail-1">
            <a:extLst xmlns:a="http://schemas.openxmlformats.org/drawingml/2006/main">
              <a:ext uri="{FF2B5EF4-FFF2-40B4-BE49-F238E27FC236}">
                <a16:creationId xmlns:a16="http://schemas.microsoft.com/office/drawing/2014/main" id="{E8899377-08F4-4E26-B9CA-D7C140927CED}"/>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 manufacturer describes direct, graduate and internship channels. These are not hiring outcomes.</a:t>
            </a:r>
          </a:p>
        </p:txBody>
      </p:sp>
      <p:sp>
        <p:nvSpPr>
          <p:cNvPr id="6" name="column-heading-1">
            <a:extLst xmlns:a="http://schemas.openxmlformats.org/drawingml/2006/main">
              <a:ext uri="{FF2B5EF4-FFF2-40B4-BE49-F238E27FC236}">
                <a16:creationId xmlns:a16="http://schemas.microsoft.com/office/drawing/2014/main" id="{40DE5314-AB79-4D3F-B6EE-2E49787F44B4}"/>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matters</a:t>
            </a:r>
          </a:p>
        </p:txBody>
      </p:sp>
      <p:sp>
        <p:nvSpPr>
          <p:cNvPr id="7" name="column-1-detail-0">
            <a:extLst xmlns:a="http://schemas.openxmlformats.org/drawingml/2006/main">
              <a:ext uri="{FF2B5EF4-FFF2-40B4-BE49-F238E27FC236}">
                <a16:creationId xmlns:a16="http://schemas.microsoft.com/office/drawing/2014/main" id="{B4663737-A999-4412-8ABD-543DBD80F500}"/>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Explain work personally performed, tools used and reasoning. Keep training needs visible.</a:t>
            </a:r>
          </a:p>
        </p:txBody>
      </p:sp>
      <p:sp>
        <p:nvSpPr>
          <p:cNvPr id="8" name="column-1-detail-1">
            <a:extLst xmlns:a="http://schemas.openxmlformats.org/drawingml/2006/main">
              <a:ext uri="{FF2B5EF4-FFF2-40B4-BE49-F238E27FC236}">
                <a16:creationId xmlns:a16="http://schemas.microsoft.com/office/drawing/2014/main" id="{F71B4AEC-07E4-4FB1-97BD-F6AA1BFE5A46}"/>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Reported mini-exams differ from machine trials. AI study advice does not show actual use.</a:t>
            </a:r>
          </a:p>
        </p:txBody>
      </p:sp>
      <p:sp>
        <p:nvSpPr>
          <p:cNvPr id="9" name="evidence-boundary">
            <a:extLst xmlns:a="http://schemas.openxmlformats.org/drawingml/2006/main">
              <a:ext uri="{FF2B5EF4-FFF2-40B4-BE49-F238E27FC236}">
                <a16:creationId xmlns:a16="http://schemas.microsoft.com/office/drawing/2014/main" id="{40369AAD-F1F2-4F34-AFA2-FE8BC32F0459}"/>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Deeper inquiry, partial. Singapore operator/machinist journeys remain missing. Trades supplement is non-Singapore.</a:t>
            </a:r>
          </a:p>
        </p:txBody>
      </p:sp>
      <p:sp>
        <p:nvSpPr>
          <p:cNvPr id="10" name="slide-number">
            <a:extLst xmlns:a="http://schemas.openxmlformats.org/drawingml/2006/main">
              <a:ext uri="{FF2B5EF4-FFF2-40B4-BE49-F238E27FC236}">
                <a16:creationId xmlns:a16="http://schemas.microsoft.com/office/drawing/2014/main" id="{B03D868F-7987-484D-BD58-7A8D2D29DDEF}"/>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41</a:t>
            </a:r>
          </a:p>
        </p:txBody>
      </p:sp>
    </p:spTree>
    <p:extLst>
      <p:ext uri="{BB962C8B-B14F-4D97-AF65-F5344CB8AC3E}">
        <p14:creationId xmlns:p14="http://schemas.microsoft.com/office/powerpoint/2010/main" val="1172734586"/>
      </p:ext>
    </p:extLst>
  </p:cSld>
</p:sld>
</file>

<file path=ppt/slides/slide42.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23E97BDE-2C32-4486-ABCC-AE2067D8E8FC}"/>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S08  Finance and insurance</a:t>
            </a:r>
          </a:p>
        </p:txBody>
      </p:sp>
      <p:sp>
        <p:nvSpPr>
          <p:cNvPr id="2" name="lead">
            <a:extLst xmlns:a="http://schemas.openxmlformats.org/drawingml/2006/main">
              <a:ext uri="{FF2B5EF4-FFF2-40B4-BE49-F238E27FC236}">
                <a16:creationId xmlns:a16="http://schemas.microsoft.com/office/drawing/2014/main" id="{8A5C226B-7E2D-4FAC-A088-27010CBE64EB}"/>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Deeper inquiry with explicit gaps.</a:t>
            </a:r>
          </a:p>
        </p:txBody>
      </p:sp>
      <p:sp>
        <p:nvSpPr>
          <p:cNvPr id="3" name="column-heading-0">
            <a:extLst xmlns:a="http://schemas.openxmlformats.org/drawingml/2006/main">
              <a:ext uri="{FF2B5EF4-FFF2-40B4-BE49-F238E27FC236}">
                <a16:creationId xmlns:a16="http://schemas.microsoft.com/office/drawing/2014/main" id="{F4859C91-C47B-4D84-8B0C-799BA00C764C}"/>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8B55A239-5E0E-49DA-B4A2-9C4A2F5CD70E}"/>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Operations, advice/sales and internal specialist transfers involve different duties.</a:t>
            </a:r>
          </a:p>
        </p:txBody>
      </p:sp>
      <p:sp>
        <p:nvSpPr>
          <p:cNvPr id="5" name="column-0-detail-1">
            <a:extLst xmlns:a="http://schemas.openxmlformats.org/drawingml/2006/main">
              <a:ext uri="{FF2B5EF4-FFF2-40B4-BE49-F238E27FC236}">
                <a16:creationId xmlns:a16="http://schemas.microsoft.com/office/drawing/2014/main" id="{CFAAC538-8133-485A-B5DE-D3A5F70382E0}"/>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An Income account published 31 December 2020 reports an operations career switch.</a:t>
            </a:r>
          </a:p>
        </p:txBody>
      </p:sp>
      <p:sp>
        <p:nvSpPr>
          <p:cNvPr id="6" name="column-heading-1">
            <a:extLst xmlns:a="http://schemas.openxmlformats.org/drawingml/2006/main">
              <a:ext uri="{FF2B5EF4-FFF2-40B4-BE49-F238E27FC236}">
                <a16:creationId xmlns:a16="http://schemas.microsoft.com/office/drawing/2014/main" id="{8B79BF6C-8C84-4D8B-A8D5-A2E979236426}"/>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matters</a:t>
            </a:r>
          </a:p>
        </p:txBody>
      </p:sp>
      <p:sp>
        <p:nvSpPr>
          <p:cNvPr id="7" name="column-1-detail-0">
            <a:extLst xmlns:a="http://schemas.openxmlformats.org/drawingml/2006/main">
              <a:ext uri="{FF2B5EF4-FFF2-40B4-BE49-F238E27FC236}">
                <a16:creationId xmlns:a16="http://schemas.microsoft.com/office/drawing/2014/main" id="{F3555DC2-A15C-444B-B99F-9FCC5F022738}"/>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Map actual transferable responsibilities to the role. Read the named employer and arrangement.</a:t>
            </a:r>
          </a:p>
        </p:txBody>
      </p:sp>
      <p:sp>
        <p:nvSpPr>
          <p:cNvPr id="8" name="column-1-detail-1">
            <a:extLst xmlns:a="http://schemas.openxmlformats.org/drawingml/2006/main">
              <a:ext uri="{FF2B5EF4-FFF2-40B4-BE49-F238E27FC236}">
                <a16:creationId xmlns:a16="http://schemas.microsoft.com/office/drawing/2014/main" id="{2AA15836-0872-428A-B22F-3907393781B0}"/>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Separate basic salary, conditional allowances and variable incentives. Verify the actual offer.</a:t>
            </a:r>
          </a:p>
        </p:txBody>
      </p:sp>
      <p:sp>
        <p:nvSpPr>
          <p:cNvPr id="9" name="evidence-boundary">
            <a:extLst xmlns:a="http://schemas.openxmlformats.org/drawingml/2006/main">
              <a:ext uri="{FF2B5EF4-FFF2-40B4-BE49-F238E27FC236}">
                <a16:creationId xmlns:a16="http://schemas.microsoft.com/office/drawing/2014/main" id="{2DF2AB45-DCA0-419F-A7EB-6C9F0150C211}"/>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Deeper inquiry. The 2020 account is historical and curated. Recent operations outcomes and work tests remain thin.</a:t>
            </a:r>
          </a:p>
        </p:txBody>
      </p:sp>
      <p:sp>
        <p:nvSpPr>
          <p:cNvPr id="10" name="slide-number">
            <a:extLst xmlns:a="http://schemas.openxmlformats.org/drawingml/2006/main">
              <a:ext uri="{FF2B5EF4-FFF2-40B4-BE49-F238E27FC236}">
                <a16:creationId xmlns:a16="http://schemas.microsoft.com/office/drawing/2014/main" id="{25B46AD3-5DD4-468E-941A-5E6B5F379E3B}"/>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42</a:t>
            </a:r>
          </a:p>
        </p:txBody>
      </p:sp>
    </p:spTree>
    <p:extLst>
      <p:ext uri="{BB962C8B-B14F-4D97-AF65-F5344CB8AC3E}">
        <p14:creationId xmlns:p14="http://schemas.microsoft.com/office/powerpoint/2010/main" val="1713174930"/>
      </p:ext>
    </p:extLst>
  </p:cSld>
</p:sld>
</file>

<file path=ppt/slides/slide43.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8223A7C4-44D3-40A8-920D-5736261B3AE3}"/>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S09  Professional and support services</a:t>
            </a:r>
          </a:p>
        </p:txBody>
      </p:sp>
      <p:sp>
        <p:nvSpPr>
          <p:cNvPr id="2" name="lead">
            <a:extLst xmlns:a="http://schemas.openxmlformats.org/drawingml/2006/main">
              <a:ext uri="{FF2B5EF4-FFF2-40B4-BE49-F238E27FC236}">
                <a16:creationId xmlns:a16="http://schemas.microsoft.com/office/drawing/2014/main" id="{73477AD7-FD98-47FD-98B0-5D1B9F32AAA5}"/>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Breadth only, a short context summary.</a:t>
            </a:r>
          </a:p>
        </p:txBody>
      </p:sp>
      <p:sp>
        <p:nvSpPr>
          <p:cNvPr id="3" name="column-heading-0">
            <a:extLst xmlns:a="http://schemas.openxmlformats.org/drawingml/2006/main">
              <a:ext uri="{FF2B5EF4-FFF2-40B4-BE49-F238E27FC236}">
                <a16:creationId xmlns:a16="http://schemas.microsoft.com/office/drawing/2014/main" id="{70710A20-BB54-41F8-A38B-4191263C653E}"/>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70EFD50A-53EC-472B-ABD2-577A9A115FD3}"/>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This broad basket separates professional services, administration and outsourced support.</a:t>
            </a:r>
          </a:p>
        </p:txBody>
      </p:sp>
      <p:sp>
        <p:nvSpPr>
          <p:cNvPr id="5" name="column-0-detail-1">
            <a:extLst xmlns:a="http://schemas.openxmlformats.org/drawingml/2006/main">
              <a:ext uri="{FF2B5EF4-FFF2-40B4-BE49-F238E27FC236}">
                <a16:creationId xmlns:a16="http://schemas.microsoft.com/office/drawing/2014/main" id="{300B3727-08EF-4AA0-91FC-038D2796BE66}"/>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The inspected material concerns cleaning policy and one security worker's career-change question.</a:t>
            </a:r>
          </a:p>
        </p:txBody>
      </p:sp>
      <p:sp>
        <p:nvSpPr>
          <p:cNvPr id="6" name="column-heading-1">
            <a:extLst xmlns:a="http://schemas.openxmlformats.org/drawingml/2006/main">
              <a:ext uri="{FF2B5EF4-FFF2-40B4-BE49-F238E27FC236}">
                <a16:creationId xmlns:a16="http://schemas.microsoft.com/office/drawing/2014/main" id="{B404EFFA-47F7-44C4-8BC7-91047B2B9708}"/>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matters</a:t>
            </a:r>
          </a:p>
        </p:txBody>
      </p:sp>
      <p:sp>
        <p:nvSpPr>
          <p:cNvPr id="7" name="column-1-detail-0">
            <a:extLst xmlns:a="http://schemas.openxmlformats.org/drawingml/2006/main">
              <a:ext uri="{FF2B5EF4-FFF2-40B4-BE49-F238E27FC236}">
                <a16:creationId xmlns:a16="http://schemas.microsoft.com/office/drawing/2014/main" id="{BB0FA7D8-DCEC-41E1-8FC7-62D3834386D9}"/>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Keep the client site distinct from the employer. Ask about deployment, hours and pay components.</a:t>
            </a:r>
          </a:p>
        </p:txBody>
      </p:sp>
      <p:sp>
        <p:nvSpPr>
          <p:cNvPr id="8" name="column-1-detail-1">
            <a:extLst xmlns:a="http://schemas.openxmlformats.org/drawingml/2006/main">
              <a:ext uri="{FF2B5EF4-FFF2-40B4-BE49-F238E27FC236}">
                <a16:creationId xmlns:a16="http://schemas.microsoft.com/office/drawing/2014/main" id="{1B98B374-CDCA-4A3F-A962-954B08A90EA1}"/>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Check actual qualifications and transferable tasks. Professional-service hiring needs more evidence.</a:t>
            </a:r>
          </a:p>
        </p:txBody>
      </p:sp>
      <p:sp>
        <p:nvSpPr>
          <p:cNvPr id="9" name="evidence-boundary">
            <a:extLst xmlns:a="http://schemas.openxmlformats.org/drawingml/2006/main">
              <a:ext uri="{FF2B5EF4-FFF2-40B4-BE49-F238E27FC236}">
                <a16:creationId xmlns:a16="http://schemas.microsoft.com/office/drawing/2014/main" id="{7C1FCF45-B3C4-4A7D-9099-41EFFA1F1169}"/>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Breadth only. Cleaning/security examples cannot stand for consultants, accountants or all business services.</a:t>
            </a:r>
          </a:p>
        </p:txBody>
      </p:sp>
      <p:sp>
        <p:nvSpPr>
          <p:cNvPr id="10" name="slide-number">
            <a:extLst xmlns:a="http://schemas.openxmlformats.org/drawingml/2006/main">
              <a:ext uri="{FF2B5EF4-FFF2-40B4-BE49-F238E27FC236}">
                <a16:creationId xmlns:a16="http://schemas.microsoft.com/office/drawing/2014/main" id="{D25289DB-2725-4AA4-9946-D2C3BE1DEC46}"/>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43</a:t>
            </a:r>
          </a:p>
        </p:txBody>
      </p:sp>
    </p:spTree>
    <p:extLst>
      <p:ext uri="{BB962C8B-B14F-4D97-AF65-F5344CB8AC3E}">
        <p14:creationId xmlns:p14="http://schemas.microsoft.com/office/powerpoint/2010/main" val="286792805"/>
      </p:ext>
    </p:extLst>
  </p:cSld>
</p:sld>
</file>

<file path=ppt/slides/slide44.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2B0629ED-EF8B-4E91-8817-E3073FCC2874}"/>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S10  Creative, media and arts</a:t>
            </a:r>
          </a:p>
        </p:txBody>
      </p:sp>
      <p:sp>
        <p:nvSpPr>
          <p:cNvPr id="2" name="lead">
            <a:extLst xmlns:a="http://schemas.openxmlformats.org/drawingml/2006/main">
              <a:ext uri="{FF2B5EF4-FFF2-40B4-BE49-F238E27FC236}">
                <a16:creationId xmlns:a16="http://schemas.microsoft.com/office/drawing/2014/main" id="{28314F97-850A-476F-A988-4AE334BF6C4C}"/>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Deeper inquiry with explicit gaps.</a:t>
            </a:r>
          </a:p>
        </p:txBody>
      </p:sp>
      <p:sp>
        <p:nvSpPr>
          <p:cNvPr id="3" name="column-heading-0">
            <a:extLst xmlns:a="http://schemas.openxmlformats.org/drawingml/2006/main">
              <a:ext uri="{FF2B5EF4-FFF2-40B4-BE49-F238E27FC236}">
                <a16:creationId xmlns:a16="http://schemas.microsoft.com/office/drawing/2014/main" id="{2BA7E216-D46F-4847-88E9-3246463F5C8A}"/>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5105C998-FB98-4F21-907C-E2D3BB78C439}"/>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Design portfolios, media tasks and performance self-tapes provide different evidence.</a:t>
            </a:r>
          </a:p>
        </p:txBody>
      </p:sp>
      <p:sp>
        <p:nvSpPr>
          <p:cNvPr id="5" name="column-0-detail-1">
            <a:extLst xmlns:a="http://schemas.openxmlformats.org/drawingml/2006/main">
              <a:ext uri="{FF2B5EF4-FFF2-40B4-BE49-F238E27FC236}">
                <a16:creationId xmlns:a16="http://schemas.microsoft.com/office/drawing/2014/main" id="{F2250986-8707-4323-8C5F-E2C941827023}"/>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Wild Rice's 21 November 2025 open call concerned possible 2026/27 casting, not one production.</a:t>
            </a:r>
          </a:p>
        </p:txBody>
      </p:sp>
      <p:sp>
        <p:nvSpPr>
          <p:cNvPr id="6" name="column-heading-1">
            <a:extLst xmlns:a="http://schemas.openxmlformats.org/drawingml/2006/main">
              <a:ext uri="{FF2B5EF4-FFF2-40B4-BE49-F238E27FC236}">
                <a16:creationId xmlns:a16="http://schemas.microsoft.com/office/drawing/2014/main" id="{FCA8CA3F-0F31-4735-BF2E-C793517EB194}"/>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matters</a:t>
            </a:r>
          </a:p>
        </p:txBody>
      </p:sp>
      <p:sp>
        <p:nvSpPr>
          <p:cNvPr id="7" name="column-1-detail-0">
            <a:extLst xmlns:a="http://schemas.openxmlformats.org/drawingml/2006/main">
              <a:ext uri="{FF2B5EF4-FFF2-40B4-BE49-F238E27FC236}">
                <a16:creationId xmlns:a16="http://schemas.microsoft.com/office/drawing/2014/main" id="{9DB0061D-7C31-4C4F-8C63-7D176428C413}"/>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Explain actual contribution. Clarify test scope, time, payment and permitted use.</a:t>
            </a:r>
          </a:p>
        </p:txBody>
      </p:sp>
      <p:sp>
        <p:nvSpPr>
          <p:cNvPr id="8" name="column-1-detail-1">
            <a:extLst xmlns:a="http://schemas.openxmlformats.org/drawingml/2006/main">
              <a:ext uri="{FF2B5EF4-FFF2-40B4-BE49-F238E27FC236}">
                <a16:creationId xmlns:a16="http://schemas.microsoft.com/office/drawing/2014/main" id="{F2D03F23-6C68-474B-AB8F-A2F86A082956}"/>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Keep a disclosed casting pool distinct from a current job. Its December 2025 deadlines have passed.</a:t>
            </a:r>
          </a:p>
        </p:txBody>
      </p:sp>
      <p:sp>
        <p:nvSpPr>
          <p:cNvPr id="9" name="evidence-boundary">
            <a:extLst xmlns:a="http://schemas.openxmlformats.org/drawingml/2006/main">
              <a:ext uri="{FF2B5EF4-FFF2-40B4-BE49-F238E27FC236}">
                <a16:creationId xmlns:a16="http://schemas.microsoft.com/office/drawing/2014/main" id="{A3E45763-489F-4C7B-A299-3F9C2CE83C7F}"/>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Deeper inquiry, partial. Audition notice is historical. Arts pay, actual casting and project outcomes remain gaps.</a:t>
            </a:r>
          </a:p>
        </p:txBody>
      </p:sp>
      <p:sp>
        <p:nvSpPr>
          <p:cNvPr id="10" name="slide-number">
            <a:extLst xmlns:a="http://schemas.openxmlformats.org/drawingml/2006/main">
              <a:ext uri="{FF2B5EF4-FFF2-40B4-BE49-F238E27FC236}">
                <a16:creationId xmlns:a16="http://schemas.microsoft.com/office/drawing/2014/main" id="{9FD6D022-491F-4065-8976-6F73765C1231}"/>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44</a:t>
            </a:r>
          </a:p>
        </p:txBody>
      </p:sp>
    </p:spTree>
    <p:extLst>
      <p:ext uri="{BB962C8B-B14F-4D97-AF65-F5344CB8AC3E}">
        <p14:creationId xmlns:p14="http://schemas.microsoft.com/office/powerpoint/2010/main" val="1990515458"/>
      </p:ext>
    </p:extLst>
  </p:cSld>
</p:sld>
</file>

<file path=ppt/slides/slide45.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BFE22B92-7AD3-42E8-9B30-51D2FCCE9A0B}"/>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S11  Public and community work</a:t>
            </a:r>
          </a:p>
        </p:txBody>
      </p:sp>
      <p:sp>
        <p:nvSpPr>
          <p:cNvPr id="2" name="lead">
            <a:extLst xmlns:a="http://schemas.openxmlformats.org/drawingml/2006/main">
              <a:ext uri="{FF2B5EF4-FFF2-40B4-BE49-F238E27FC236}">
                <a16:creationId xmlns:a16="http://schemas.microsoft.com/office/drawing/2014/main" id="{0A47D85F-7309-44E6-841D-D22245C53792}"/>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Breadth only, a short context summary.</a:t>
            </a:r>
          </a:p>
        </p:txBody>
      </p:sp>
      <p:sp>
        <p:nvSpPr>
          <p:cNvPr id="3" name="column-heading-0">
            <a:extLst xmlns:a="http://schemas.openxmlformats.org/drawingml/2006/main">
              <a:ext uri="{FF2B5EF4-FFF2-40B4-BE49-F238E27FC236}">
                <a16:creationId xmlns:a16="http://schemas.microsoft.com/office/drawing/2014/main" id="{05BF5BEB-ED03-4C0B-A74D-588C0432AF15}"/>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D435ED35-BC27-4691-9B1E-2DF05A4D7A4E}"/>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Careers@Gov is an official channel for ministries and statutory boards.</a:t>
            </a:r>
          </a:p>
        </p:txBody>
      </p:sp>
      <p:sp>
        <p:nvSpPr>
          <p:cNvPr id="5" name="column-0-detail-1">
            <a:extLst xmlns:a="http://schemas.openxmlformats.org/drawingml/2006/main">
              <a:ext uri="{FF2B5EF4-FFF2-40B4-BE49-F238E27FC236}">
                <a16:creationId xmlns:a16="http://schemas.microsoft.com/office/drawing/2014/main" id="{F3273749-DE03-4873-A53B-6195A4B3A4CE}"/>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A separate public account reports an eventual offer after waits across two organisations.</a:t>
            </a:r>
          </a:p>
        </p:txBody>
      </p:sp>
      <p:sp>
        <p:nvSpPr>
          <p:cNvPr id="6" name="column-heading-1">
            <a:extLst xmlns:a="http://schemas.openxmlformats.org/drawingml/2006/main">
              <a:ext uri="{FF2B5EF4-FFF2-40B4-BE49-F238E27FC236}">
                <a16:creationId xmlns:a16="http://schemas.microsoft.com/office/drawing/2014/main" id="{463C04B4-FE7B-48C0-A37A-3F76B4CEFFE1}"/>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matters</a:t>
            </a:r>
          </a:p>
        </p:txBody>
      </p:sp>
      <p:sp>
        <p:nvSpPr>
          <p:cNvPr id="7" name="column-1-detail-0">
            <a:extLst xmlns:a="http://schemas.openxmlformats.org/drawingml/2006/main">
              <a:ext uri="{FF2B5EF4-FFF2-40B4-BE49-F238E27FC236}">
                <a16:creationId xmlns:a16="http://schemas.microsoft.com/office/drawing/2014/main" id="{CCA5AD89-E87B-40B3-8795-95C55E0F1AE9}"/>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Record the application stage, promised update and follow-up date separately.</a:t>
            </a:r>
          </a:p>
        </p:txBody>
      </p:sp>
      <p:sp>
        <p:nvSpPr>
          <p:cNvPr id="8" name="column-1-detail-1">
            <a:extLst xmlns:a="http://schemas.openxmlformats.org/drawingml/2006/main">
              <a:ext uri="{FF2B5EF4-FFF2-40B4-BE49-F238E27FC236}">
                <a16:creationId xmlns:a16="http://schemas.microsoft.com/office/drawing/2014/main" id="{DE2508C2-0118-4C17-8AD8-4033465B1A76}"/>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Keep duties and requirements role-specific. Public hospitals and schools retain their actual activity.</a:t>
            </a:r>
          </a:p>
        </p:txBody>
      </p:sp>
      <p:sp>
        <p:nvSpPr>
          <p:cNvPr id="9" name="evidence-boundary">
            <a:extLst xmlns:a="http://schemas.openxmlformats.org/drawingml/2006/main">
              <a:ext uri="{FF2B5EF4-FFF2-40B4-BE49-F238E27FC236}">
                <a16:creationId xmlns:a16="http://schemas.microsoft.com/office/drawing/2014/main" id="{EF337423-CCC9-4DA4-A7C1-0AE23D129560}"/>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Breadth only. One unverified account, uncertain dates. Its backup-candidate explanation remains speculation.</a:t>
            </a:r>
          </a:p>
        </p:txBody>
      </p:sp>
      <p:sp>
        <p:nvSpPr>
          <p:cNvPr id="10" name="slide-number">
            <a:extLst xmlns:a="http://schemas.openxmlformats.org/drawingml/2006/main">
              <a:ext uri="{FF2B5EF4-FFF2-40B4-BE49-F238E27FC236}">
                <a16:creationId xmlns:a16="http://schemas.microsoft.com/office/drawing/2014/main" id="{9C27A092-6189-4E58-AAC0-4626B1B9C607}"/>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45</a:t>
            </a:r>
          </a:p>
        </p:txBody>
      </p:sp>
    </p:spTree>
    <p:extLst>
      <p:ext uri="{BB962C8B-B14F-4D97-AF65-F5344CB8AC3E}">
        <p14:creationId xmlns:p14="http://schemas.microsoft.com/office/powerpoint/2010/main" val="575772043"/>
      </p:ext>
    </p:extLst>
  </p:cSld>
</p:sld>
</file>

<file path=ppt/slides/slide46.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196C4A78-275C-4A47-9BA7-D50F36D9EAE6}"/>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S12  IT and digital services</a:t>
            </a:r>
          </a:p>
        </p:txBody>
      </p:sp>
      <p:sp>
        <p:nvSpPr>
          <p:cNvPr id="2" name="lead">
            <a:extLst xmlns:a="http://schemas.openxmlformats.org/drawingml/2006/main">
              <a:ext uri="{FF2B5EF4-FFF2-40B4-BE49-F238E27FC236}">
                <a16:creationId xmlns:a16="http://schemas.microsoft.com/office/drawing/2014/main" id="{04E380C2-27FA-41C5-B40E-E827C60A4FD0}"/>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Breadth only, a short context summary.</a:t>
            </a:r>
          </a:p>
        </p:txBody>
      </p:sp>
      <p:sp>
        <p:nvSpPr>
          <p:cNvPr id="3" name="column-heading-0">
            <a:extLst xmlns:a="http://schemas.openxmlformats.org/drawingml/2006/main">
              <a:ext uri="{FF2B5EF4-FFF2-40B4-BE49-F238E27FC236}">
                <a16:creationId xmlns:a16="http://schemas.microsoft.com/office/drawing/2014/main" id="{93E5CD82-61A2-4148-A164-73936295FA6A}"/>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D2B496B4-4520-4726-BE3C-BC8DFF53C6F0}"/>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IT support, development and digital operations can occur across employer industries.</a:t>
            </a:r>
          </a:p>
        </p:txBody>
      </p:sp>
      <p:sp>
        <p:nvSpPr>
          <p:cNvPr id="5" name="column-0-detail-1">
            <a:extLst xmlns:a="http://schemas.openxmlformats.org/drawingml/2006/main">
              <a:ext uri="{FF2B5EF4-FFF2-40B4-BE49-F238E27FC236}">
                <a16:creationId xmlns:a16="http://schemas.microsoft.com/office/drawing/2014/main" id="{5F3E3AAF-0301-4A1A-8A3F-34C0CEF4C0AF}"/>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EnterpriseSG links ICT/media career frameworks. The linked documents were not thereby inspected.</a:t>
            </a:r>
          </a:p>
        </p:txBody>
      </p:sp>
      <p:sp>
        <p:nvSpPr>
          <p:cNvPr id="6" name="column-heading-1">
            <a:extLst xmlns:a="http://schemas.openxmlformats.org/drawingml/2006/main">
              <a:ext uri="{FF2B5EF4-FFF2-40B4-BE49-F238E27FC236}">
                <a16:creationId xmlns:a16="http://schemas.microsoft.com/office/drawing/2014/main" id="{58AD7D2C-F684-4C6A-A14E-907B5D008C76}"/>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matters</a:t>
            </a:r>
          </a:p>
        </p:txBody>
      </p:sp>
      <p:sp>
        <p:nvSpPr>
          <p:cNvPr id="7" name="column-1-detail-0">
            <a:extLst xmlns:a="http://schemas.openxmlformats.org/drawingml/2006/main">
              <a:ext uri="{FF2B5EF4-FFF2-40B4-BE49-F238E27FC236}">
                <a16:creationId xmlns:a16="http://schemas.microsoft.com/office/drawing/2014/main" id="{56140F61-A200-40E1-A322-AE93A264E739}"/>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Keep earlier-round technical examples separately dated and attributed.</a:t>
            </a:r>
          </a:p>
        </p:txBody>
      </p:sp>
      <p:sp>
        <p:nvSpPr>
          <p:cNvPr id="8" name="column-1-detail-1">
            <a:extLst xmlns:a="http://schemas.openxmlformats.org/drawingml/2006/main">
              <a:ext uri="{FF2B5EF4-FFF2-40B4-BE49-F238E27FC236}">
                <a16:creationId xmlns:a16="http://schemas.microsoft.com/office/drawing/2014/main" id="{C8BBA52A-5EB1-4009-BB50-3791CC3DAD63}"/>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Check actual duties and personally evidenced skills. No new typical test or AI-use rate follows.</a:t>
            </a:r>
          </a:p>
        </p:txBody>
      </p:sp>
      <p:sp>
        <p:nvSpPr>
          <p:cNvPr id="9" name="evidence-boundary">
            <a:extLst xmlns:a="http://schemas.openxmlformats.org/drawingml/2006/main">
              <a:ext uri="{FF2B5EF4-FFF2-40B4-BE49-F238E27FC236}">
                <a16:creationId xmlns:a16="http://schemas.microsoft.com/office/drawing/2014/main" id="{573CECC4-C523-41CC-AB85-52F0B9691F9E}"/>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Breadth only, thin context. Earlier technology-heavy evidence does not make this round a fresh IT study.</a:t>
            </a:r>
          </a:p>
        </p:txBody>
      </p:sp>
      <p:sp>
        <p:nvSpPr>
          <p:cNvPr id="10" name="slide-number">
            <a:extLst xmlns:a="http://schemas.openxmlformats.org/drawingml/2006/main">
              <a:ext uri="{FF2B5EF4-FFF2-40B4-BE49-F238E27FC236}">
                <a16:creationId xmlns:a16="http://schemas.microsoft.com/office/drawing/2014/main" id="{E1413841-7F49-4055-9FC0-BD04B8F96F2C}"/>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46</a:t>
            </a:r>
          </a:p>
        </p:txBody>
      </p:sp>
    </p:spTree>
    <p:extLst>
      <p:ext uri="{BB962C8B-B14F-4D97-AF65-F5344CB8AC3E}">
        <p14:creationId xmlns:p14="http://schemas.microsoft.com/office/powerpoint/2010/main" val="134286521"/>
      </p:ext>
    </p:extLst>
  </p:cSld>
</p:sld>
</file>

<file path=ppt/slides/slide47.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A65371C7-C6C8-4FA7-9125-3DA39552AD3C}"/>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S13  Personal and repair services</a:t>
            </a:r>
          </a:p>
        </p:txBody>
      </p:sp>
      <p:sp>
        <p:nvSpPr>
          <p:cNvPr id="2" name="lead">
            <a:extLst xmlns:a="http://schemas.openxmlformats.org/drawingml/2006/main">
              <a:ext uri="{FF2B5EF4-FFF2-40B4-BE49-F238E27FC236}">
                <a16:creationId xmlns:a16="http://schemas.microsoft.com/office/drawing/2014/main" id="{22F8E97A-8D65-4826-AC02-E313577EA4A9}"/>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Round 03 profile. Breadth only, a short context summary.</a:t>
            </a:r>
          </a:p>
        </p:txBody>
      </p:sp>
      <p:sp>
        <p:nvSpPr>
          <p:cNvPr id="3" name="column-heading-0">
            <a:extLst xmlns:a="http://schemas.openxmlformats.org/drawingml/2006/main">
              <a:ext uri="{FF2B5EF4-FFF2-40B4-BE49-F238E27FC236}">
                <a16:creationId xmlns:a16="http://schemas.microsoft.com/office/drawing/2014/main" id="{33A03281-C7C4-4F5E-A939-7764FF0E1A72}"/>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Roles and routes</a:t>
            </a:r>
          </a:p>
        </p:txBody>
      </p:sp>
      <p:sp>
        <p:nvSpPr>
          <p:cNvPr id="4" name="column-0-detail-0">
            <a:extLst xmlns:a="http://schemas.openxmlformats.org/drawingml/2006/main">
              <a:ext uri="{FF2B5EF4-FFF2-40B4-BE49-F238E27FC236}">
                <a16:creationId xmlns:a16="http://schemas.microsoft.com/office/drawing/2014/main" id="{1F01D89B-D1AE-4B4A-9D57-25928B9F0799}"/>
              </a:ext>
            </a:extLst>
          </p:cNvPr>
          <p:cNvSpPr>
            <a:spLocks xmlns:a="http://schemas.openxmlformats.org/drawingml/2006/main" noGrp="1"/>
          </p:cNvSpPr>
          <p:nvPr/>
        </p:nvSpPr>
        <p:spPr>
          <a:xfrm xmlns:a="http://schemas.openxmlformats.org/drawingml/2006/main">
            <a:off x="76200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Vehicle recovery/repair and hair/beauty service advertisements describe different work.</a:t>
            </a:r>
          </a:p>
        </p:txBody>
      </p:sp>
      <p:sp>
        <p:nvSpPr>
          <p:cNvPr id="5" name="column-0-detail-1">
            <a:extLst xmlns:a="http://schemas.openxmlformats.org/drawingml/2006/main">
              <a:ext uri="{FF2B5EF4-FFF2-40B4-BE49-F238E27FC236}">
                <a16:creationId xmlns:a16="http://schemas.microsoft.com/office/drawing/2014/main" id="{D6E95226-1832-43F0-8FB7-DB63BED45B04}"/>
              </a:ext>
            </a:extLst>
          </p:cNvPr>
          <p:cNvSpPr>
            <a:spLocks xmlns:a="http://schemas.openxmlformats.org/drawingml/2006/main" noGrp="1"/>
          </p:cNvSpPr>
          <p:nvPr/>
        </p:nvSpPr>
        <p:spPr>
          <a:xfrm xmlns:a="http://schemas.openxmlformats.org/drawingml/2006/main">
            <a:off x="76200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Two employers mention direct applications or training. Their actual intake status is unknown.</a:t>
            </a:r>
          </a:p>
        </p:txBody>
      </p:sp>
      <p:sp>
        <p:nvSpPr>
          <p:cNvPr id="6" name="column-heading-1">
            <a:extLst xmlns:a="http://schemas.openxmlformats.org/drawingml/2006/main">
              <a:ext uri="{FF2B5EF4-FFF2-40B4-BE49-F238E27FC236}">
                <a16:creationId xmlns:a16="http://schemas.microsoft.com/office/drawing/2014/main" id="{CABC2485-9E4D-4E80-8390-C0B9E0770251}"/>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What matters</a:t>
            </a:r>
          </a:p>
        </p:txBody>
      </p:sp>
      <p:sp>
        <p:nvSpPr>
          <p:cNvPr id="7" name="column-1-detail-0">
            <a:extLst xmlns:a="http://schemas.openxmlformats.org/drawingml/2006/main">
              <a:ext uri="{FF2B5EF4-FFF2-40B4-BE49-F238E27FC236}">
                <a16:creationId xmlns:a16="http://schemas.microsoft.com/office/drawing/2014/main" id="{BCC7073E-0E28-44B8-BE4B-541DB2B26F18}"/>
              </a:ext>
            </a:extLst>
          </p:cNvPr>
          <p:cNvSpPr>
            <a:spLocks xmlns:a="http://schemas.openxmlformats.org/drawingml/2006/main" noGrp="1"/>
          </p:cNvSpPr>
          <p:nvPr/>
        </p:nvSpPr>
        <p:spPr>
          <a:xfrm xmlns:a="http://schemas.openxmlformats.org/drawingml/2006/main">
            <a:off x="6381750" y="31813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Check the actual role, licence or training route, location and working hours.</a:t>
            </a:r>
          </a:p>
        </p:txBody>
      </p:sp>
      <p:sp>
        <p:nvSpPr>
          <p:cNvPr id="8" name="column-1-detail-1">
            <a:extLst xmlns:a="http://schemas.openxmlformats.org/drawingml/2006/main">
              <a:ext uri="{FF2B5EF4-FFF2-40B4-BE49-F238E27FC236}">
                <a16:creationId xmlns:a16="http://schemas.microsoft.com/office/drawing/2014/main" id="{487ED4E3-6F71-45E9-819D-7D055DACAE58}"/>
              </a:ext>
            </a:extLst>
          </p:cNvPr>
          <p:cNvSpPr>
            <a:spLocks xmlns:a="http://schemas.openxmlformats.org/drawingml/2006/main" noGrp="1"/>
          </p:cNvSpPr>
          <p:nvPr/>
        </p:nvSpPr>
        <p:spPr>
          <a:xfrm xmlns:a="http://schemas.openxmlformats.org/drawingml/2006/main">
            <a:off x="6381750" y="4400550"/>
            <a:ext cx="5000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Read basic pay and commission separately. Ask what the proposed pay formula guarantees.</a:t>
            </a:r>
          </a:p>
        </p:txBody>
      </p:sp>
      <p:sp>
        <p:nvSpPr>
          <p:cNvPr id="9" name="evidence-boundary">
            <a:extLst xmlns:a="http://schemas.openxmlformats.org/drawingml/2006/main">
              <a:ext uri="{FF2B5EF4-FFF2-40B4-BE49-F238E27FC236}">
                <a16:creationId xmlns:a16="http://schemas.microsoft.com/office/drawing/2014/main" id="{F7292C3E-E6F0-4EA1-B96C-B42EA5FB6564}"/>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Breadth only. Two employer statements, no completed seeker journey. No industry-wide pay or licence rule.</a:t>
            </a:r>
          </a:p>
        </p:txBody>
      </p:sp>
      <p:sp>
        <p:nvSpPr>
          <p:cNvPr id="10" name="slide-number">
            <a:extLst xmlns:a="http://schemas.openxmlformats.org/drawingml/2006/main">
              <a:ext uri="{FF2B5EF4-FFF2-40B4-BE49-F238E27FC236}">
                <a16:creationId xmlns:a16="http://schemas.microsoft.com/office/drawing/2014/main" id="{C6A68599-27B3-4FFB-89C1-5DEC37931BAD}"/>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47</a:t>
            </a:r>
          </a:p>
        </p:txBody>
      </p:sp>
    </p:spTree>
    <p:extLst>
      <p:ext uri="{BB962C8B-B14F-4D97-AF65-F5344CB8AC3E}">
        <p14:creationId xmlns:p14="http://schemas.microsoft.com/office/powerpoint/2010/main" val="1435706110"/>
      </p:ext>
    </p:extLst>
  </p:cSld>
</p:sld>
</file>

<file path=ppt/slides/slide48.xml><?xml version="1.0" encoding="utf-8"?>
<p:sld xmlns:p="http://schemas.openxmlformats.org/presentationml/2006/main">
  <p:cSld>
    <p:bg>
      <p:bgPr>
        <a:solidFill xmlns:a="http://schemas.openxmlformats.org/drawingml/2006/main">
          <a:srgbClr val="FAF6EE"/>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05E039EF-7FF7-4CBC-9BF4-27F342F50AE7}"/>
              </a:ext>
            </a:extLst>
          </p:cNvPr>
          <p:cNvSpPr>
            <a:spLocks xmlns:a="http://schemas.openxmlformats.org/drawingml/2006/main" noGrp="1"/>
          </p:cNvSpPr>
          <p:nvPr/>
        </p:nvSpPr>
        <p:spPr>
          <a:xfrm xmlns:a="http://schemas.openxmlformats.org/drawingml/2006/main">
            <a:off x="723900" y="514350"/>
            <a:ext cx="1076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40"/>
                </a:solidFill>
                <a:latin typeface="Arial"/>
                <a:ea typeface="Arial"/>
                <a:cs typeface="Arial"/>
              </a:defRPr>
            </a:defPPr>
            <a:lvl1pPr algn="l">
              <a:defRPr sz="3450" b="1">
                <a:solidFill>
                  <a:srgbClr val="172D40"/>
                </a:solidFill>
                <a:latin typeface="Arial"/>
                <a:ea typeface="Arial"/>
                <a:cs typeface="Arial"/>
              </a:defRPr>
            </a:lvl1pPr>
            <a:lvl2pPr algn="l">
              <a:defRPr sz="3450" b="1">
                <a:solidFill>
                  <a:srgbClr val="172D40"/>
                </a:solidFill>
                <a:latin typeface="Arial"/>
                <a:ea typeface="Arial"/>
                <a:cs typeface="Arial"/>
              </a:defRPr>
            </a:lvl2pPr>
            <a:lvl3pPr algn="l">
              <a:defRPr sz="3450" b="1">
                <a:solidFill>
                  <a:srgbClr val="172D40"/>
                </a:solidFill>
                <a:latin typeface="Arial"/>
                <a:ea typeface="Arial"/>
                <a:cs typeface="Arial"/>
              </a:defRPr>
            </a:lvl3pPr>
            <a:lvl4pPr algn="l">
              <a:defRPr sz="3450" b="1">
                <a:solidFill>
                  <a:srgbClr val="172D40"/>
                </a:solidFill>
                <a:latin typeface="Arial"/>
                <a:ea typeface="Arial"/>
                <a:cs typeface="Arial"/>
              </a:defRPr>
            </a:lvl4pPr>
            <a:lvl5pPr algn="l">
              <a:defRPr sz="3450" b="1">
                <a:solidFill>
                  <a:srgbClr val="172D40"/>
                </a:solidFill>
                <a:latin typeface="Arial"/>
                <a:ea typeface="Arial"/>
                <a:cs typeface="Arial"/>
              </a:defRPr>
            </a:lvl5pPr>
            <a:lvl6pPr algn="l">
              <a:defRPr sz="3450" b="1">
                <a:solidFill>
                  <a:srgbClr val="172D40"/>
                </a:solidFill>
                <a:latin typeface="Arial"/>
                <a:ea typeface="Arial"/>
                <a:cs typeface="Arial"/>
              </a:defRPr>
            </a:lvl6pPr>
            <a:lvl7pPr algn="l">
              <a:defRPr sz="3450" b="1">
                <a:solidFill>
                  <a:srgbClr val="172D40"/>
                </a:solidFill>
                <a:latin typeface="Arial"/>
                <a:ea typeface="Arial"/>
                <a:cs typeface="Arial"/>
              </a:defRPr>
            </a:lvl7pPr>
            <a:lvl8pPr algn="l">
              <a:defRPr sz="3450" b="1">
                <a:solidFill>
                  <a:srgbClr val="172D40"/>
                </a:solidFill>
                <a:latin typeface="Arial"/>
                <a:ea typeface="Arial"/>
                <a:cs typeface="Arial"/>
              </a:defRPr>
            </a:lvl8pPr>
            <a:lvl9pPr algn="l">
              <a:defRPr sz="3450" b="1">
                <a:solidFill>
                  <a:srgbClr val="172D40"/>
                </a:solidFill>
                <a:latin typeface="Arial"/>
                <a:ea typeface="Arial"/>
                <a:cs typeface="Arial"/>
              </a:defRPr>
            </a:lvl9pPr>
          </a:lstStyle>
          <a:p xmlns:a="http://schemas.openxmlformats.org/drawingml/2006/main">
            <a:pPr algn="l">
              <a:defRPr sz="3450" b="1">
                <a:solidFill>
                  <a:srgbClr val="172D40"/>
                </a:solidFill>
                <a:latin typeface="Arial"/>
                <a:ea typeface="Arial"/>
                <a:cs typeface="Arial"/>
              </a:defRPr>
            </a:pPr>
            <a:r>
              <a:rPr sz="3450" b="1">
                <a:solidFill>
                  <a:srgbClr val="172D40"/>
                </a:solidFill>
                <a:latin typeface="Arial"/>
                <a:ea typeface="Arial"/>
                <a:cs typeface="Arial"/>
              </a:rPr>
              <a:t>Appendix: evidence guide</a:t>
            </a:r>
          </a:p>
        </p:txBody>
      </p:sp>
      <p:sp>
        <p:nvSpPr>
          <p:cNvPr id="2" name="lead">
            <a:extLst xmlns:a="http://schemas.openxmlformats.org/drawingml/2006/main">
              <a:ext uri="{FF2B5EF4-FFF2-40B4-BE49-F238E27FC236}">
                <a16:creationId xmlns:a16="http://schemas.microsoft.com/office/drawing/2014/main" id="{D361237B-08BE-45F2-A121-E0143C5C918E}"/>
              </a:ext>
            </a:extLst>
          </p:cNvPr>
          <p:cNvSpPr>
            <a:spLocks xmlns:a="http://schemas.openxmlformats.org/drawingml/2006/main" noGrp="1"/>
          </p:cNvSpPr>
          <p:nvPr/>
        </p:nvSpPr>
        <p:spPr>
          <a:xfrm xmlns:a="http://schemas.openxmlformats.org/drawingml/2006/main">
            <a:off x="762000" y="1628775"/>
            <a:ext cx="10620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2616B"/>
                </a:solidFill>
                <a:latin typeface="Arial"/>
                <a:ea typeface="Arial"/>
                <a:cs typeface="Arial"/>
              </a:defRPr>
            </a:defPPr>
            <a:lvl1pPr algn="l">
              <a:defRPr sz="2025" b="0">
                <a:solidFill>
                  <a:srgbClr val="52616B"/>
                </a:solidFill>
                <a:latin typeface="Arial"/>
                <a:ea typeface="Arial"/>
                <a:cs typeface="Arial"/>
              </a:defRPr>
            </a:lvl1pPr>
            <a:lvl2pPr algn="l">
              <a:defRPr sz="2025" b="0">
                <a:solidFill>
                  <a:srgbClr val="52616B"/>
                </a:solidFill>
                <a:latin typeface="Arial"/>
                <a:ea typeface="Arial"/>
                <a:cs typeface="Arial"/>
              </a:defRPr>
            </a:lvl2pPr>
            <a:lvl3pPr algn="l">
              <a:defRPr sz="2025" b="0">
                <a:solidFill>
                  <a:srgbClr val="52616B"/>
                </a:solidFill>
                <a:latin typeface="Arial"/>
                <a:ea typeface="Arial"/>
                <a:cs typeface="Arial"/>
              </a:defRPr>
            </a:lvl3pPr>
            <a:lvl4pPr algn="l">
              <a:defRPr sz="2025" b="0">
                <a:solidFill>
                  <a:srgbClr val="52616B"/>
                </a:solidFill>
                <a:latin typeface="Arial"/>
                <a:ea typeface="Arial"/>
                <a:cs typeface="Arial"/>
              </a:defRPr>
            </a:lvl4pPr>
            <a:lvl5pPr algn="l">
              <a:defRPr sz="2025" b="0">
                <a:solidFill>
                  <a:srgbClr val="52616B"/>
                </a:solidFill>
                <a:latin typeface="Arial"/>
                <a:ea typeface="Arial"/>
                <a:cs typeface="Arial"/>
              </a:defRPr>
            </a:lvl5pPr>
            <a:lvl6pPr algn="l">
              <a:defRPr sz="2025" b="0">
                <a:solidFill>
                  <a:srgbClr val="52616B"/>
                </a:solidFill>
                <a:latin typeface="Arial"/>
                <a:ea typeface="Arial"/>
                <a:cs typeface="Arial"/>
              </a:defRPr>
            </a:lvl6pPr>
            <a:lvl7pPr algn="l">
              <a:defRPr sz="2025" b="0">
                <a:solidFill>
                  <a:srgbClr val="52616B"/>
                </a:solidFill>
                <a:latin typeface="Arial"/>
                <a:ea typeface="Arial"/>
                <a:cs typeface="Arial"/>
              </a:defRPr>
            </a:lvl7pPr>
            <a:lvl8pPr algn="l">
              <a:defRPr sz="2025" b="0">
                <a:solidFill>
                  <a:srgbClr val="52616B"/>
                </a:solidFill>
                <a:latin typeface="Arial"/>
                <a:ea typeface="Arial"/>
                <a:cs typeface="Arial"/>
              </a:defRPr>
            </a:lvl8pPr>
            <a:lvl9pPr algn="l">
              <a:defRPr sz="2025" b="0">
                <a:solidFill>
                  <a:srgbClr val="52616B"/>
                </a:solidFill>
                <a:latin typeface="Arial"/>
                <a:ea typeface="Arial"/>
                <a:cs typeface="Arial"/>
              </a:defRPr>
            </a:lvl9pPr>
          </a:lstStyle>
          <a:p xmlns:a="http://schemas.openxmlformats.org/drawingml/2006/main">
            <a:pPr algn="l">
              <a:defRPr sz="2025" b="0">
                <a:solidFill>
                  <a:srgbClr val="52616B"/>
                </a:solidFill>
                <a:latin typeface="Arial"/>
                <a:ea typeface="Arial"/>
                <a:cs typeface="Arial"/>
              </a:defRPr>
            </a:pPr>
            <a:r>
              <a:rPr sz="2025" b="0">
                <a:solidFill>
                  <a:srgbClr val="52616B"/>
                </a:solidFill>
                <a:latin typeface="Arial"/>
                <a:ea typeface="Arial"/>
                <a:cs typeface="Arial"/>
              </a:rPr>
              <a:t>Each slide's reading notes link to the relevant records and selected original sources.</a:t>
            </a:r>
          </a:p>
        </p:txBody>
      </p:sp>
      <p:sp>
        <p:nvSpPr>
          <p:cNvPr id="3" name="column-heading-0">
            <a:extLst xmlns:a="http://schemas.openxmlformats.org/drawingml/2006/main">
              <a:ext uri="{FF2B5EF4-FFF2-40B4-BE49-F238E27FC236}">
                <a16:creationId xmlns:a16="http://schemas.microsoft.com/office/drawing/2014/main" id="{198B2D29-3CB7-4C25-8EEE-19C7D8DA4413}"/>
              </a:ext>
            </a:extLst>
          </p:cNvPr>
          <p:cNvSpPr>
            <a:spLocks xmlns:a="http://schemas.openxmlformats.org/drawingml/2006/main" noGrp="1"/>
          </p:cNvSpPr>
          <p:nvPr/>
        </p:nvSpPr>
        <p:spPr>
          <a:xfrm xmlns:a="http://schemas.openxmlformats.org/drawingml/2006/main">
            <a:off x="76200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Rounds 01–02</a:t>
            </a:r>
          </a:p>
        </p:txBody>
      </p:sp>
      <p:sp>
        <p:nvSpPr>
          <p:cNvPr id="4" name="column-0-detail-0">
            <a:extLst xmlns:a="http://schemas.openxmlformats.org/drawingml/2006/main">
              <a:ext uri="{FF2B5EF4-FFF2-40B4-BE49-F238E27FC236}">
                <a16:creationId xmlns:a16="http://schemas.microsoft.com/office/drawing/2014/main" id="{BB139B87-499F-4193-8757-DC434A820439}"/>
              </a:ext>
            </a:extLst>
          </p:cNvPr>
          <p:cNvSpPr>
            <a:spLocks xmlns:a="http://schemas.openxmlformats.org/drawingml/2006/main" noGrp="1"/>
          </p:cNvSpPr>
          <p:nvPr/>
        </p:nvSpPr>
        <p:spPr>
          <a:xfrm xmlns:a="http://schemas.openxmlformats.org/drawingml/2006/main">
            <a:off x="76200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P01–P12: reported practices, studies and career guidance.</a:t>
            </a:r>
          </a:p>
        </p:txBody>
      </p:sp>
      <p:sp>
        <p:nvSpPr>
          <p:cNvPr id="5" name="column-0-detail-1">
            <a:extLst xmlns:a="http://schemas.openxmlformats.org/drawingml/2006/main">
              <a:ext uri="{FF2B5EF4-FFF2-40B4-BE49-F238E27FC236}">
                <a16:creationId xmlns:a16="http://schemas.microsoft.com/office/drawing/2014/main" id="{0A3DA2CC-79B1-4B5F-9F55-315C8AC949CA}"/>
              </a:ext>
            </a:extLst>
          </p:cNvPr>
          <p:cNvSpPr>
            <a:spLocks xmlns:a="http://schemas.openxmlformats.org/drawingml/2006/main" noGrp="1"/>
          </p:cNvSpPr>
          <p:nvPr/>
        </p:nvSpPr>
        <p:spPr>
          <a:xfrm xmlns:a="http://schemas.openxmlformats.org/drawingml/2006/main">
            <a:off x="76200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D01–D12: authenticity, fit, compensation and negotiation.</a:t>
            </a:r>
          </a:p>
        </p:txBody>
      </p:sp>
      <p:sp>
        <p:nvSpPr>
          <p:cNvPr id="6" name="column-0-detail-2">
            <a:extLst xmlns:a="http://schemas.openxmlformats.org/drawingml/2006/main">
              <a:ext uri="{FF2B5EF4-FFF2-40B4-BE49-F238E27FC236}">
                <a16:creationId xmlns:a16="http://schemas.microsoft.com/office/drawing/2014/main" id="{0AAAEC82-0CF9-4CE7-A344-9677FA7EDE96}"/>
              </a:ext>
            </a:extLst>
          </p:cNvPr>
          <p:cNvSpPr>
            <a:spLocks xmlns:a="http://schemas.openxmlformats.org/drawingml/2006/main" noGrp="1"/>
          </p:cNvSpPr>
          <p:nvPr/>
        </p:nvSpPr>
        <p:spPr>
          <a:xfrm xmlns:a="http://schemas.openxmlformats.org/drawingml/2006/main">
            <a:off x="76200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C01–C02: distinct writing-assistance experiments.</a:t>
            </a:r>
          </a:p>
        </p:txBody>
      </p:sp>
      <p:sp>
        <p:nvSpPr>
          <p:cNvPr id="7" name="column-heading-1">
            <a:extLst xmlns:a="http://schemas.openxmlformats.org/drawingml/2006/main">
              <a:ext uri="{FF2B5EF4-FFF2-40B4-BE49-F238E27FC236}">
                <a16:creationId xmlns:a16="http://schemas.microsoft.com/office/drawing/2014/main" id="{D5D88536-D30F-4585-AC0C-D02D3E94FD28}"/>
              </a:ext>
            </a:extLst>
          </p:cNvPr>
          <p:cNvSpPr>
            <a:spLocks xmlns:a="http://schemas.openxmlformats.org/drawingml/2006/main" noGrp="1"/>
          </p:cNvSpPr>
          <p:nvPr/>
        </p:nvSpPr>
        <p:spPr>
          <a:xfrm xmlns:a="http://schemas.openxmlformats.org/drawingml/2006/main">
            <a:off x="6381750" y="2533650"/>
            <a:ext cx="5095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66B65"/>
                </a:solidFill>
                <a:latin typeface="Arial"/>
                <a:ea typeface="Arial"/>
                <a:cs typeface="Arial"/>
              </a:defRPr>
            </a:defPPr>
            <a:lvl1pPr algn="l">
              <a:defRPr sz="2325" b="1">
                <a:solidFill>
                  <a:srgbClr val="166B65"/>
                </a:solidFill>
                <a:latin typeface="Arial"/>
                <a:ea typeface="Arial"/>
                <a:cs typeface="Arial"/>
              </a:defRPr>
            </a:lvl1pPr>
            <a:lvl2pPr algn="l">
              <a:defRPr sz="2325" b="1">
                <a:solidFill>
                  <a:srgbClr val="166B65"/>
                </a:solidFill>
                <a:latin typeface="Arial"/>
                <a:ea typeface="Arial"/>
                <a:cs typeface="Arial"/>
              </a:defRPr>
            </a:lvl2pPr>
            <a:lvl3pPr algn="l">
              <a:defRPr sz="2325" b="1">
                <a:solidFill>
                  <a:srgbClr val="166B65"/>
                </a:solidFill>
                <a:latin typeface="Arial"/>
                <a:ea typeface="Arial"/>
                <a:cs typeface="Arial"/>
              </a:defRPr>
            </a:lvl3pPr>
            <a:lvl4pPr algn="l">
              <a:defRPr sz="2325" b="1">
                <a:solidFill>
                  <a:srgbClr val="166B65"/>
                </a:solidFill>
                <a:latin typeface="Arial"/>
                <a:ea typeface="Arial"/>
                <a:cs typeface="Arial"/>
              </a:defRPr>
            </a:lvl4pPr>
            <a:lvl5pPr algn="l">
              <a:defRPr sz="2325" b="1">
                <a:solidFill>
                  <a:srgbClr val="166B65"/>
                </a:solidFill>
                <a:latin typeface="Arial"/>
                <a:ea typeface="Arial"/>
                <a:cs typeface="Arial"/>
              </a:defRPr>
            </a:lvl5pPr>
            <a:lvl6pPr algn="l">
              <a:defRPr sz="2325" b="1">
                <a:solidFill>
                  <a:srgbClr val="166B65"/>
                </a:solidFill>
                <a:latin typeface="Arial"/>
                <a:ea typeface="Arial"/>
                <a:cs typeface="Arial"/>
              </a:defRPr>
            </a:lvl6pPr>
            <a:lvl7pPr algn="l">
              <a:defRPr sz="2325" b="1">
                <a:solidFill>
                  <a:srgbClr val="166B65"/>
                </a:solidFill>
                <a:latin typeface="Arial"/>
                <a:ea typeface="Arial"/>
                <a:cs typeface="Arial"/>
              </a:defRPr>
            </a:lvl7pPr>
            <a:lvl8pPr algn="l">
              <a:defRPr sz="2325" b="1">
                <a:solidFill>
                  <a:srgbClr val="166B65"/>
                </a:solidFill>
                <a:latin typeface="Arial"/>
                <a:ea typeface="Arial"/>
                <a:cs typeface="Arial"/>
              </a:defRPr>
            </a:lvl8pPr>
            <a:lvl9pPr algn="l">
              <a:defRPr sz="2325" b="1">
                <a:solidFill>
                  <a:srgbClr val="166B65"/>
                </a:solidFill>
                <a:latin typeface="Arial"/>
                <a:ea typeface="Arial"/>
                <a:cs typeface="Arial"/>
              </a:defRPr>
            </a:lvl9pPr>
          </a:lstStyle>
          <a:p xmlns:a="http://schemas.openxmlformats.org/drawingml/2006/main">
            <a:pPr algn="l">
              <a:defRPr sz="2325" b="1">
                <a:solidFill>
                  <a:srgbClr val="166B65"/>
                </a:solidFill>
                <a:latin typeface="Arial"/>
                <a:ea typeface="Arial"/>
                <a:cs typeface="Arial"/>
              </a:defRPr>
            </a:pPr>
            <a:r>
              <a:rPr sz="2325" b="1">
                <a:solidFill>
                  <a:srgbClr val="166B65"/>
                </a:solidFill>
                <a:latin typeface="Arial"/>
                <a:ea typeface="Arial"/>
                <a:cs typeface="Arial"/>
              </a:rPr>
              <a:t>Round 03 extension</a:t>
            </a:r>
          </a:p>
        </p:txBody>
      </p:sp>
      <p:sp>
        <p:nvSpPr>
          <p:cNvPr id="8" name="column-1-detail-0">
            <a:extLst xmlns:a="http://schemas.openxmlformats.org/drawingml/2006/main">
              <a:ext uri="{FF2B5EF4-FFF2-40B4-BE49-F238E27FC236}">
                <a16:creationId xmlns:a16="http://schemas.microsoft.com/office/drawing/2014/main" id="{84D0EE11-CBC9-4F43-840A-4101CBA63859}"/>
              </a:ext>
            </a:extLst>
          </p:cNvPr>
          <p:cNvSpPr>
            <a:spLocks xmlns:a="http://schemas.openxmlformats.org/drawingml/2006/main" noGrp="1"/>
          </p:cNvSpPr>
          <p:nvPr/>
        </p:nvSpPr>
        <p:spPr>
          <a:xfrm xmlns:a="http://schemas.openxmlformats.org/drawingml/2006/main">
            <a:off x="6381750" y="318135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R3-M/A/B/C: breadth and sector records.</a:t>
            </a:r>
          </a:p>
        </p:txBody>
      </p:sp>
      <p:sp>
        <p:nvSpPr>
          <p:cNvPr id="9" name="column-1-detail-1">
            <a:extLst xmlns:a="http://schemas.openxmlformats.org/drawingml/2006/main">
              <a:ext uri="{FF2B5EF4-FFF2-40B4-BE49-F238E27FC236}">
                <a16:creationId xmlns:a16="http://schemas.microsoft.com/office/drawing/2014/main" id="{793731C4-B67F-4665-8F0F-F45C8F22F6EA}"/>
              </a:ext>
            </a:extLst>
          </p:cNvPr>
          <p:cNvSpPr>
            <a:spLocks xmlns:a="http://schemas.openxmlformats.org/drawingml/2006/main" noGrp="1"/>
          </p:cNvSpPr>
          <p:nvPr/>
        </p:nvSpPr>
        <p:spPr>
          <a:xfrm xmlns:a="http://schemas.openxmlformats.org/drawingml/2006/main">
            <a:off x="6381750" y="4010025"/>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R3-G: vacancy credibility. R3-P: practice and gap checks.</a:t>
            </a:r>
          </a:p>
        </p:txBody>
      </p:sp>
      <p:sp>
        <p:nvSpPr>
          <p:cNvPr id="10" name="column-1-detail-2">
            <a:extLst xmlns:a="http://schemas.openxmlformats.org/drawingml/2006/main">
              <a:ext uri="{FF2B5EF4-FFF2-40B4-BE49-F238E27FC236}">
                <a16:creationId xmlns:a16="http://schemas.microsoft.com/office/drawing/2014/main" id="{3AF31F51-A32A-4BB0-B131-FC2759E3C2CD}"/>
              </a:ext>
            </a:extLst>
          </p:cNvPr>
          <p:cNvSpPr>
            <a:spLocks xmlns:a="http://schemas.openxmlformats.org/drawingml/2006/main" noGrp="1"/>
          </p:cNvSpPr>
          <p:nvPr/>
        </p:nvSpPr>
        <p:spPr>
          <a:xfrm xmlns:a="http://schemas.openxmlformats.org/drawingml/2006/main">
            <a:off x="6381750" y="4838700"/>
            <a:ext cx="5000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2D40"/>
                </a:solidFill>
                <a:latin typeface="Arial"/>
                <a:ea typeface="Arial"/>
                <a:cs typeface="Arial"/>
              </a:defRPr>
            </a:defPPr>
            <a:lvl1pPr algn="l">
              <a:defRPr sz="2025" b="0">
                <a:solidFill>
                  <a:srgbClr val="172D40"/>
                </a:solidFill>
                <a:latin typeface="Arial"/>
                <a:ea typeface="Arial"/>
                <a:cs typeface="Arial"/>
              </a:defRPr>
            </a:lvl1pPr>
            <a:lvl2pPr algn="l">
              <a:defRPr sz="2025" b="0">
                <a:solidFill>
                  <a:srgbClr val="172D40"/>
                </a:solidFill>
                <a:latin typeface="Arial"/>
                <a:ea typeface="Arial"/>
                <a:cs typeface="Arial"/>
              </a:defRPr>
            </a:lvl2pPr>
            <a:lvl3pPr algn="l">
              <a:defRPr sz="2025" b="0">
                <a:solidFill>
                  <a:srgbClr val="172D40"/>
                </a:solidFill>
                <a:latin typeface="Arial"/>
                <a:ea typeface="Arial"/>
                <a:cs typeface="Arial"/>
              </a:defRPr>
            </a:lvl3pPr>
            <a:lvl4pPr algn="l">
              <a:defRPr sz="2025" b="0">
                <a:solidFill>
                  <a:srgbClr val="172D40"/>
                </a:solidFill>
                <a:latin typeface="Arial"/>
                <a:ea typeface="Arial"/>
                <a:cs typeface="Arial"/>
              </a:defRPr>
            </a:lvl4pPr>
            <a:lvl5pPr algn="l">
              <a:defRPr sz="2025" b="0">
                <a:solidFill>
                  <a:srgbClr val="172D40"/>
                </a:solidFill>
                <a:latin typeface="Arial"/>
                <a:ea typeface="Arial"/>
                <a:cs typeface="Arial"/>
              </a:defRPr>
            </a:lvl5pPr>
            <a:lvl6pPr algn="l">
              <a:defRPr sz="2025" b="0">
                <a:solidFill>
                  <a:srgbClr val="172D40"/>
                </a:solidFill>
                <a:latin typeface="Arial"/>
                <a:ea typeface="Arial"/>
                <a:cs typeface="Arial"/>
              </a:defRPr>
            </a:lvl6pPr>
            <a:lvl7pPr algn="l">
              <a:defRPr sz="2025" b="0">
                <a:solidFill>
                  <a:srgbClr val="172D40"/>
                </a:solidFill>
                <a:latin typeface="Arial"/>
                <a:ea typeface="Arial"/>
                <a:cs typeface="Arial"/>
              </a:defRPr>
            </a:lvl7pPr>
            <a:lvl8pPr algn="l">
              <a:defRPr sz="2025" b="0">
                <a:solidFill>
                  <a:srgbClr val="172D40"/>
                </a:solidFill>
                <a:latin typeface="Arial"/>
                <a:ea typeface="Arial"/>
                <a:cs typeface="Arial"/>
              </a:defRPr>
            </a:lvl8pPr>
            <a:lvl9pPr algn="l">
              <a:defRPr sz="2025" b="0">
                <a:solidFill>
                  <a:srgbClr val="172D40"/>
                </a:solidFill>
                <a:latin typeface="Arial"/>
                <a:ea typeface="Arial"/>
                <a:cs typeface="Arial"/>
              </a:defRPr>
            </a:lvl9pPr>
          </a:lstStyle>
          <a:p xmlns:a="http://schemas.openxmlformats.org/drawingml/2006/main">
            <a:pPr algn="l">
              <a:defRPr sz="2025" b="0">
                <a:solidFill>
                  <a:srgbClr val="172D40"/>
                </a:solidFill>
                <a:latin typeface="Arial"/>
                <a:ea typeface="Arial"/>
                <a:cs typeface="Arial"/>
              </a:defRPr>
            </a:pPr>
            <a:r>
              <a:rPr sz="2025" b="0">
                <a:solidFill>
                  <a:srgbClr val="172D40"/>
                </a:solidFill>
                <a:latin typeface="Arial"/>
                <a:ea typeface="Arial"/>
                <a:cs typeface="Arial"/>
              </a:rPr>
              <a:t>13 profiles, six deeper reports and explicit limitations.</a:t>
            </a:r>
          </a:p>
        </p:txBody>
      </p:sp>
      <p:sp>
        <p:nvSpPr>
          <p:cNvPr id="11" name="takeaway">
            <a:extLst xmlns:a="http://schemas.openxmlformats.org/drawingml/2006/main">
              <a:ext uri="{FF2B5EF4-FFF2-40B4-BE49-F238E27FC236}">
                <a16:creationId xmlns:a16="http://schemas.microsoft.com/office/drawing/2014/main" id="{3B8D62CF-641E-43AE-818C-B44072CED9BB}"/>
              </a:ext>
            </a:extLst>
          </p:cNvPr>
          <p:cNvSpPr>
            <a:spLocks xmlns:a="http://schemas.openxmlformats.org/drawingml/2006/main" noGrp="1"/>
          </p:cNvSpPr>
          <p:nvPr/>
        </p:nvSpPr>
        <p:spPr>
          <a:xfrm xmlns:a="http://schemas.openxmlformats.org/drawingml/2006/main">
            <a:off x="762000" y="5676900"/>
            <a:ext cx="10620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6B65"/>
                </a:solidFill>
                <a:latin typeface="Arial"/>
                <a:ea typeface="Arial"/>
                <a:cs typeface="Arial"/>
              </a:defRPr>
            </a:defPPr>
            <a:lvl1pPr algn="l">
              <a:defRPr sz="1875" b="1">
                <a:solidFill>
                  <a:srgbClr val="166B65"/>
                </a:solidFill>
                <a:latin typeface="Arial"/>
                <a:ea typeface="Arial"/>
                <a:cs typeface="Arial"/>
              </a:defRPr>
            </a:lvl1pPr>
            <a:lvl2pPr algn="l">
              <a:defRPr sz="1875" b="1">
                <a:solidFill>
                  <a:srgbClr val="166B65"/>
                </a:solidFill>
                <a:latin typeface="Arial"/>
                <a:ea typeface="Arial"/>
                <a:cs typeface="Arial"/>
              </a:defRPr>
            </a:lvl2pPr>
            <a:lvl3pPr algn="l">
              <a:defRPr sz="1875" b="1">
                <a:solidFill>
                  <a:srgbClr val="166B65"/>
                </a:solidFill>
                <a:latin typeface="Arial"/>
                <a:ea typeface="Arial"/>
                <a:cs typeface="Arial"/>
              </a:defRPr>
            </a:lvl3pPr>
            <a:lvl4pPr algn="l">
              <a:defRPr sz="1875" b="1">
                <a:solidFill>
                  <a:srgbClr val="166B65"/>
                </a:solidFill>
                <a:latin typeface="Arial"/>
                <a:ea typeface="Arial"/>
                <a:cs typeface="Arial"/>
              </a:defRPr>
            </a:lvl4pPr>
            <a:lvl5pPr algn="l">
              <a:defRPr sz="1875" b="1">
                <a:solidFill>
                  <a:srgbClr val="166B65"/>
                </a:solidFill>
                <a:latin typeface="Arial"/>
                <a:ea typeface="Arial"/>
                <a:cs typeface="Arial"/>
              </a:defRPr>
            </a:lvl5pPr>
            <a:lvl6pPr algn="l">
              <a:defRPr sz="1875" b="1">
                <a:solidFill>
                  <a:srgbClr val="166B65"/>
                </a:solidFill>
                <a:latin typeface="Arial"/>
                <a:ea typeface="Arial"/>
                <a:cs typeface="Arial"/>
              </a:defRPr>
            </a:lvl6pPr>
            <a:lvl7pPr algn="l">
              <a:defRPr sz="1875" b="1">
                <a:solidFill>
                  <a:srgbClr val="166B65"/>
                </a:solidFill>
                <a:latin typeface="Arial"/>
                <a:ea typeface="Arial"/>
                <a:cs typeface="Arial"/>
              </a:defRPr>
            </a:lvl7pPr>
            <a:lvl8pPr algn="l">
              <a:defRPr sz="1875" b="1">
                <a:solidFill>
                  <a:srgbClr val="166B65"/>
                </a:solidFill>
                <a:latin typeface="Arial"/>
                <a:ea typeface="Arial"/>
                <a:cs typeface="Arial"/>
              </a:defRPr>
            </a:lvl8pPr>
            <a:lvl9pPr algn="l">
              <a:defRPr sz="1875" b="1">
                <a:solidFill>
                  <a:srgbClr val="166B65"/>
                </a:solidFill>
                <a:latin typeface="Arial"/>
                <a:ea typeface="Arial"/>
                <a:cs typeface="Arial"/>
              </a:defRPr>
            </a:lvl9pPr>
          </a:lstStyle>
          <a:p xmlns:a="http://schemas.openxmlformats.org/drawingml/2006/main">
            <a:pPr algn="l">
              <a:defRPr sz="1875" b="1">
                <a:solidFill>
                  <a:srgbClr val="166B65"/>
                </a:solidFill>
                <a:latin typeface="Arial"/>
                <a:ea typeface="Arial"/>
                <a:cs typeface="Arial"/>
              </a:defRPr>
            </a:pPr>
            <a:r>
              <a:rPr sz="1875" b="1">
                <a:solidFill>
                  <a:srgbClr val="166B65"/>
                </a:solidFill>
                <a:latin typeface="Arial"/>
                <a:ea typeface="Arial"/>
                <a:cs typeface="Arial"/>
              </a:rPr>
              <a:t>Multiple records can repeat one source. Each source needs its own appraisal.</a:t>
            </a:r>
          </a:p>
        </p:txBody>
      </p:sp>
      <p:sp>
        <p:nvSpPr>
          <p:cNvPr id="12" name="evidence-boundary">
            <a:extLst xmlns:a="http://schemas.openxmlformats.org/drawingml/2006/main">
              <a:ext uri="{FF2B5EF4-FFF2-40B4-BE49-F238E27FC236}">
                <a16:creationId xmlns:a16="http://schemas.microsoft.com/office/drawing/2014/main" id="{A57129A5-A8E3-4307-89CD-889CE128564A}"/>
              </a:ext>
            </a:extLst>
          </p:cNvPr>
          <p:cNvSpPr>
            <a:spLocks xmlns:a="http://schemas.openxmlformats.org/drawingml/2006/main" noGrp="1"/>
          </p:cNvSpPr>
          <p:nvPr/>
        </p:nvSpPr>
        <p:spPr>
          <a:xfrm xmlns:a="http://schemas.openxmlformats.org/drawingml/2006/main">
            <a:off x="762000" y="62484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2616B"/>
                </a:solidFill>
                <a:latin typeface="Arial"/>
                <a:ea typeface="Arial"/>
                <a:cs typeface="Arial"/>
              </a:defRPr>
            </a:defPPr>
            <a:lvl1pPr algn="l">
              <a:defRPr sz="1350" b="0">
                <a:solidFill>
                  <a:srgbClr val="52616B"/>
                </a:solidFill>
                <a:latin typeface="Arial"/>
                <a:ea typeface="Arial"/>
                <a:cs typeface="Arial"/>
              </a:defRPr>
            </a:lvl1pPr>
            <a:lvl2pPr algn="l">
              <a:defRPr sz="1350" b="0">
                <a:solidFill>
                  <a:srgbClr val="52616B"/>
                </a:solidFill>
                <a:latin typeface="Arial"/>
                <a:ea typeface="Arial"/>
                <a:cs typeface="Arial"/>
              </a:defRPr>
            </a:lvl2pPr>
            <a:lvl3pPr algn="l">
              <a:defRPr sz="1350" b="0">
                <a:solidFill>
                  <a:srgbClr val="52616B"/>
                </a:solidFill>
                <a:latin typeface="Arial"/>
                <a:ea typeface="Arial"/>
                <a:cs typeface="Arial"/>
              </a:defRPr>
            </a:lvl3pPr>
            <a:lvl4pPr algn="l">
              <a:defRPr sz="1350" b="0">
                <a:solidFill>
                  <a:srgbClr val="52616B"/>
                </a:solidFill>
                <a:latin typeface="Arial"/>
                <a:ea typeface="Arial"/>
                <a:cs typeface="Arial"/>
              </a:defRPr>
            </a:lvl4pPr>
            <a:lvl5pPr algn="l">
              <a:defRPr sz="1350" b="0">
                <a:solidFill>
                  <a:srgbClr val="52616B"/>
                </a:solidFill>
                <a:latin typeface="Arial"/>
                <a:ea typeface="Arial"/>
                <a:cs typeface="Arial"/>
              </a:defRPr>
            </a:lvl5pPr>
            <a:lvl6pPr algn="l">
              <a:defRPr sz="1350" b="0">
                <a:solidFill>
                  <a:srgbClr val="52616B"/>
                </a:solidFill>
                <a:latin typeface="Arial"/>
                <a:ea typeface="Arial"/>
                <a:cs typeface="Arial"/>
              </a:defRPr>
            </a:lvl6pPr>
            <a:lvl7pPr algn="l">
              <a:defRPr sz="1350" b="0">
                <a:solidFill>
                  <a:srgbClr val="52616B"/>
                </a:solidFill>
                <a:latin typeface="Arial"/>
                <a:ea typeface="Arial"/>
                <a:cs typeface="Arial"/>
              </a:defRPr>
            </a:lvl7pPr>
            <a:lvl8pPr algn="l">
              <a:defRPr sz="1350" b="0">
                <a:solidFill>
                  <a:srgbClr val="52616B"/>
                </a:solidFill>
                <a:latin typeface="Arial"/>
                <a:ea typeface="Arial"/>
                <a:cs typeface="Arial"/>
              </a:defRPr>
            </a:lvl8pPr>
            <a:lvl9pPr algn="l">
              <a:defRPr sz="1350" b="0">
                <a:solidFill>
                  <a:srgbClr val="52616B"/>
                </a:solidFill>
                <a:latin typeface="Arial"/>
                <a:ea typeface="Arial"/>
                <a:cs typeface="Arial"/>
              </a:defRPr>
            </a:lvl9pPr>
          </a:lstStyle>
          <a:p xmlns:a="http://schemas.openxmlformats.org/drawingml/2006/main">
            <a:pPr algn="l">
              <a:defRPr sz="1350" b="0">
                <a:solidFill>
                  <a:srgbClr val="52616B"/>
                </a:solidFill>
                <a:latin typeface="Arial"/>
                <a:ea typeface="Arial"/>
                <a:cs typeface="Arial"/>
              </a:defRPr>
            </a:pPr>
            <a:r>
              <a:rPr sz="1350" b="0">
                <a:solidFill>
                  <a:srgbClr val="52616B"/>
                </a:solidFill>
                <a:latin typeface="Arial"/>
                <a:ea typeface="Arial"/>
                <a:cs typeface="Arial"/>
              </a:rPr>
              <a:t>Earlier P/D/C/I/V IDs remain Round 02 unless qualified. Round 03 uses R3-. Cutoff: 19 October 2026.</a:t>
            </a:r>
          </a:p>
        </p:txBody>
      </p:sp>
      <p:sp>
        <p:nvSpPr>
          <p:cNvPr id="13" name="slide-number">
            <a:extLst xmlns:a="http://schemas.openxmlformats.org/drawingml/2006/main">
              <a:ext uri="{FF2B5EF4-FFF2-40B4-BE49-F238E27FC236}">
                <a16:creationId xmlns:a16="http://schemas.microsoft.com/office/drawing/2014/main" id="{8CD38DFC-923B-46B9-9F29-5DBD794F8373}"/>
              </a:ext>
            </a:extLst>
          </p:cNvPr>
          <p:cNvSpPr>
            <a:spLocks xmlns:a="http://schemas.openxmlformats.org/drawingml/2006/main" noGrp="1"/>
          </p:cNvSpPr>
          <p:nvPr/>
        </p:nvSpPr>
        <p:spPr>
          <a:xfrm xmlns:a="http://schemas.openxmlformats.org/drawingml/2006/main">
            <a:off x="11068050" y="62484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94B28"/>
                </a:solidFill>
                <a:latin typeface="Arial"/>
                <a:ea typeface="Arial"/>
                <a:cs typeface="Arial"/>
              </a:defRPr>
            </a:defPPr>
            <a:lvl1pPr algn="l">
              <a:defRPr sz="1575" b="1">
                <a:solidFill>
                  <a:srgbClr val="B94B28"/>
                </a:solidFill>
                <a:latin typeface="Arial"/>
                <a:ea typeface="Arial"/>
                <a:cs typeface="Arial"/>
              </a:defRPr>
            </a:lvl1pPr>
            <a:lvl2pPr algn="l">
              <a:defRPr sz="1575" b="1">
                <a:solidFill>
                  <a:srgbClr val="B94B28"/>
                </a:solidFill>
                <a:latin typeface="Arial"/>
                <a:ea typeface="Arial"/>
                <a:cs typeface="Arial"/>
              </a:defRPr>
            </a:lvl2pPr>
            <a:lvl3pPr algn="l">
              <a:defRPr sz="1575" b="1">
                <a:solidFill>
                  <a:srgbClr val="B94B28"/>
                </a:solidFill>
                <a:latin typeface="Arial"/>
                <a:ea typeface="Arial"/>
                <a:cs typeface="Arial"/>
              </a:defRPr>
            </a:lvl3pPr>
            <a:lvl4pPr algn="l">
              <a:defRPr sz="1575" b="1">
                <a:solidFill>
                  <a:srgbClr val="B94B28"/>
                </a:solidFill>
                <a:latin typeface="Arial"/>
                <a:ea typeface="Arial"/>
                <a:cs typeface="Arial"/>
              </a:defRPr>
            </a:lvl4pPr>
            <a:lvl5pPr algn="l">
              <a:defRPr sz="1575" b="1">
                <a:solidFill>
                  <a:srgbClr val="B94B28"/>
                </a:solidFill>
                <a:latin typeface="Arial"/>
                <a:ea typeface="Arial"/>
                <a:cs typeface="Arial"/>
              </a:defRPr>
            </a:lvl5pPr>
            <a:lvl6pPr algn="l">
              <a:defRPr sz="1575" b="1">
                <a:solidFill>
                  <a:srgbClr val="B94B28"/>
                </a:solidFill>
                <a:latin typeface="Arial"/>
                <a:ea typeface="Arial"/>
                <a:cs typeface="Arial"/>
              </a:defRPr>
            </a:lvl6pPr>
            <a:lvl7pPr algn="l">
              <a:defRPr sz="1575" b="1">
                <a:solidFill>
                  <a:srgbClr val="B94B28"/>
                </a:solidFill>
                <a:latin typeface="Arial"/>
                <a:ea typeface="Arial"/>
                <a:cs typeface="Arial"/>
              </a:defRPr>
            </a:lvl7pPr>
            <a:lvl8pPr algn="l">
              <a:defRPr sz="1575" b="1">
                <a:solidFill>
                  <a:srgbClr val="B94B28"/>
                </a:solidFill>
                <a:latin typeface="Arial"/>
                <a:ea typeface="Arial"/>
                <a:cs typeface="Arial"/>
              </a:defRPr>
            </a:lvl8pPr>
            <a:lvl9pPr algn="l">
              <a:defRPr sz="1575" b="1">
                <a:solidFill>
                  <a:srgbClr val="B94B28"/>
                </a:solidFill>
                <a:latin typeface="Arial"/>
                <a:ea typeface="Arial"/>
                <a:cs typeface="Arial"/>
              </a:defRPr>
            </a:lvl9pPr>
          </a:lstStyle>
          <a:p xmlns:a="http://schemas.openxmlformats.org/drawingml/2006/main">
            <a:pPr algn="l">
              <a:defRPr sz="1575" b="1">
                <a:solidFill>
                  <a:srgbClr val="B94B28"/>
                </a:solidFill>
                <a:latin typeface="Arial"/>
                <a:ea typeface="Arial"/>
                <a:cs typeface="Arial"/>
              </a:defRPr>
            </a:pPr>
            <a:r>
              <a:rPr sz="1575" b="1">
                <a:solidFill>
                  <a:srgbClr val="B94B28"/>
                </a:solidFill>
                <a:latin typeface="Arial"/>
                <a:ea typeface="Arial"/>
                <a:cs typeface="Arial"/>
              </a:rPr>
              <a:t>48</a:t>
            </a:r>
          </a:p>
        </p:txBody>
      </p:sp>
    </p:spTree>
    <p:extLst>
      <p:ext uri="{BB962C8B-B14F-4D97-AF65-F5344CB8AC3E}">
        <p14:creationId xmlns:p14="http://schemas.microsoft.com/office/powerpoint/2010/main" val="7443181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2026-10-18T16:33:48.9410000Z</dcterms:created>
  <dcterms:modified xsi:type="dcterms:W3CDTF">2026-10-18T16:33:48.9410000Z</dcterms:modified>
</coreProperties>
</file>